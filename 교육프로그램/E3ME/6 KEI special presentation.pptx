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65" r:id="rId2"/>
    <p:sldId id="317" r:id="rId3"/>
    <p:sldId id="305" r:id="rId4"/>
    <p:sldId id="315" r:id="rId5"/>
    <p:sldId id="284" r:id="rId6"/>
    <p:sldId id="318" r:id="rId7"/>
    <p:sldId id="338" r:id="rId8"/>
    <p:sldId id="319" r:id="rId9"/>
    <p:sldId id="286" r:id="rId10"/>
    <p:sldId id="302" r:id="rId11"/>
    <p:sldId id="303" r:id="rId12"/>
    <p:sldId id="287" r:id="rId13"/>
    <p:sldId id="288" r:id="rId14"/>
    <p:sldId id="304" r:id="rId15"/>
    <p:sldId id="330" r:id="rId16"/>
    <p:sldId id="306" r:id="rId17"/>
    <p:sldId id="289" r:id="rId18"/>
    <p:sldId id="290" r:id="rId19"/>
    <p:sldId id="291" r:id="rId20"/>
    <p:sldId id="334" r:id="rId21"/>
    <p:sldId id="293" r:id="rId22"/>
    <p:sldId id="323" r:id="rId23"/>
    <p:sldId id="331" r:id="rId24"/>
    <p:sldId id="335" r:id="rId25"/>
    <p:sldId id="332" r:id="rId26"/>
    <p:sldId id="336" r:id="rId27"/>
    <p:sldId id="333" r:id="rId28"/>
    <p:sldId id="337" r:id="rId29"/>
    <p:sldId id="309" r:id="rId30"/>
    <p:sldId id="327" r:id="rId31"/>
    <p:sldId id="316" r:id="rId32"/>
    <p:sldId id="328" r:id="rId33"/>
    <p:sldId id="329" r:id="rId34"/>
    <p:sldId id="313" r:id="rId35"/>
  </p:sldIdLst>
  <p:sldSz cx="9144000" cy="6858000" type="screen4x3"/>
  <p:notesSz cx="6888163" cy="100187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F5FCF"/>
    <a:srgbClr val="9148C8"/>
    <a:srgbClr val="FF3300"/>
    <a:srgbClr val="FFFF66"/>
    <a:srgbClr val="FF9900"/>
    <a:srgbClr val="CC00FF"/>
    <a:srgbClr val="333399"/>
    <a:srgbClr val="FFFF99"/>
    <a:srgbClr val="FFCC99"/>
    <a:srgbClr val="FFFF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941" autoAdjust="0"/>
    <p:restoredTop sz="98346" autoAdjust="0"/>
  </p:normalViewPr>
  <p:slideViewPr>
    <p:cSldViewPr>
      <p:cViewPr varScale="1">
        <p:scale>
          <a:sx n="103" d="100"/>
          <a:sy n="103" d="100"/>
        </p:scale>
        <p:origin x="-84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5466" cy="501339"/>
          </a:xfrm>
          <a:prstGeom prst="rect">
            <a:avLst/>
          </a:prstGeom>
        </p:spPr>
        <p:txBody>
          <a:bodyPr vert="horz" lIns="93113" tIns="46557" rIns="93113" bIns="46557" rtlCol="0"/>
          <a:lstStyle>
            <a:lvl1pPr algn="l">
              <a:defRPr sz="1200"/>
            </a:lvl1pPr>
          </a:lstStyle>
          <a:p>
            <a:endParaRPr kumimoji="1" lang="en-GB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901074" y="1"/>
            <a:ext cx="2985465" cy="501339"/>
          </a:xfrm>
          <a:prstGeom prst="rect">
            <a:avLst/>
          </a:prstGeom>
        </p:spPr>
        <p:txBody>
          <a:bodyPr vert="horz" lIns="93113" tIns="46557" rIns="93113" bIns="46557" rtlCol="0"/>
          <a:lstStyle>
            <a:lvl1pPr algn="r">
              <a:defRPr sz="1200"/>
            </a:lvl1pPr>
          </a:lstStyle>
          <a:p>
            <a:fld id="{730F6000-4FCD-4703-99C0-A6E332053408}" type="datetimeFigureOut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1" y="9515762"/>
            <a:ext cx="2985466" cy="501338"/>
          </a:xfrm>
          <a:prstGeom prst="rect">
            <a:avLst/>
          </a:prstGeom>
        </p:spPr>
        <p:txBody>
          <a:bodyPr vert="horz" lIns="93113" tIns="46557" rIns="93113" bIns="46557" rtlCol="0" anchor="b"/>
          <a:lstStyle>
            <a:lvl1pPr algn="l">
              <a:defRPr sz="1200"/>
            </a:lvl1pPr>
          </a:lstStyle>
          <a:p>
            <a:endParaRPr kumimoji="1" lang="en-GB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901074" y="9515762"/>
            <a:ext cx="2985465" cy="501338"/>
          </a:xfrm>
          <a:prstGeom prst="rect">
            <a:avLst/>
          </a:prstGeom>
        </p:spPr>
        <p:txBody>
          <a:bodyPr vert="horz" lIns="93113" tIns="46557" rIns="93113" bIns="46557" rtlCol="0" anchor="b"/>
          <a:lstStyle>
            <a:lvl1pPr algn="r">
              <a:defRPr sz="1200"/>
            </a:lvl1pPr>
          </a:lstStyle>
          <a:p>
            <a:fld id="{DF55DA00-2ABE-4ADE-B0D6-38CC93C1C632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  <p:extLst>
      <p:ext uri="{BB962C8B-B14F-4D97-AF65-F5344CB8AC3E}">
        <p14:creationId xmlns:p14="http://schemas.microsoft.com/office/powerpoint/2010/main" xmlns="" val="4201881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871" cy="500936"/>
          </a:xfrm>
          <a:prstGeom prst="rect">
            <a:avLst/>
          </a:prstGeom>
        </p:spPr>
        <p:txBody>
          <a:bodyPr vert="horz" lIns="93113" tIns="46557" rIns="93113" bIns="46557" rtlCol="0"/>
          <a:lstStyle>
            <a:lvl1pPr algn="l">
              <a:defRPr sz="1200"/>
            </a:lvl1pPr>
          </a:lstStyle>
          <a:p>
            <a:endParaRPr kumimoji="1" lang="en-GB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3113" tIns="46557" rIns="93113" bIns="46557" rtlCol="0"/>
          <a:lstStyle>
            <a:lvl1pPr algn="r">
              <a:defRPr sz="1200"/>
            </a:lvl1pPr>
          </a:lstStyle>
          <a:p>
            <a:fld id="{E10C1E5C-0D03-43F6-8627-CD4C5A64F9EE}" type="datetimeFigureOut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38213" y="750888"/>
            <a:ext cx="5011737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13" tIns="46557" rIns="93113" bIns="46557" rtlCol="0" anchor="ctr"/>
          <a:lstStyle/>
          <a:p>
            <a:endParaRPr lang="en-GB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8817" y="4758890"/>
            <a:ext cx="5510530" cy="4508421"/>
          </a:xfrm>
          <a:prstGeom prst="rect">
            <a:avLst/>
          </a:prstGeom>
        </p:spPr>
        <p:txBody>
          <a:bodyPr vert="horz" lIns="93113" tIns="46557" rIns="93113" bIns="46557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1" y="9516039"/>
            <a:ext cx="2984871" cy="500936"/>
          </a:xfrm>
          <a:prstGeom prst="rect">
            <a:avLst/>
          </a:prstGeom>
        </p:spPr>
        <p:txBody>
          <a:bodyPr vert="horz" lIns="93113" tIns="46557" rIns="93113" bIns="46557" rtlCol="0" anchor="b"/>
          <a:lstStyle>
            <a:lvl1pPr algn="l">
              <a:defRPr sz="1200"/>
            </a:lvl1pPr>
          </a:lstStyle>
          <a:p>
            <a:endParaRPr kumimoji="1" lang="en-GB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0936"/>
          </a:xfrm>
          <a:prstGeom prst="rect">
            <a:avLst/>
          </a:prstGeom>
        </p:spPr>
        <p:txBody>
          <a:bodyPr vert="horz" lIns="93113" tIns="46557" rIns="93113" bIns="46557" rtlCol="0" anchor="b"/>
          <a:lstStyle>
            <a:lvl1pPr algn="r">
              <a:defRPr sz="1200"/>
            </a:lvl1pPr>
          </a:lstStyle>
          <a:p>
            <a:fld id="{7C768E1C-CCD7-4025-BC39-7DCDDA2271B5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  <p:extLst>
      <p:ext uri="{BB962C8B-B14F-4D97-AF65-F5344CB8AC3E}">
        <p14:creationId xmlns:p14="http://schemas.microsoft.com/office/powerpoint/2010/main" xmlns="" val="294948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768E1C-CCD7-4025-BC39-7DCDDA2271B5}" type="slidenum">
              <a:rPr kumimoji="1" lang="en-GB" smtClean="0"/>
              <a:pPr/>
              <a:t>4</a:t>
            </a:fld>
            <a:endParaRPr kumimoji="1" lang="en-GB"/>
          </a:p>
        </p:txBody>
      </p:sp>
    </p:spTree>
    <p:extLst>
      <p:ext uri="{BB962C8B-B14F-4D97-AF65-F5344CB8AC3E}">
        <p14:creationId xmlns:p14="http://schemas.microsoft.com/office/powerpoint/2010/main" xmlns="" val="1993370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5B20AE-35F3-45CA-AE17-1DA026086EA7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64947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en-GB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1F529-F856-4931-8447-088602A22A59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3454B-F734-4369-84AE-3812FB9AE77A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3C033-13DE-46D6-9389-BE76724EE83D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85177-7C61-4133-BBE0-3401FC252D1E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D2160-69B6-482E-9EF4-D0C4F58EEE3C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94C4B-4FBE-45C0-BB5A-72D6D685F9B0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EEF85-5311-4526-83EA-6784D5196698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0CCA4-E433-41F8-85C2-1219C057371F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en-GB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41CB3-FF35-4420-B40B-0227ABDB6E5C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0AAC6-DAA3-4BE4-A72B-70D61C7D77C4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17E37-74A1-427A-9A70-71CE4B869CC1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en-GB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en-GB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en-GB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432C-4948-49F5-BFE1-35A73BAEF775}" type="datetime1">
              <a:rPr kumimoji="1" lang="en-GB" smtClean="0"/>
              <a:pPr/>
              <a:t>02/09/2015</a:t>
            </a:fld>
            <a:endParaRPr kumimoji="1" lang="en-GB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en-GB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45150-415A-45BE-B763-5B3BB87B199F}" type="slidenum">
              <a:rPr kumimoji="1" lang="en-GB" smtClean="0"/>
              <a:pPr/>
              <a:t>‹#›</a:t>
            </a:fld>
            <a:endParaRPr kumimoji="1"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png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/>
          <p:cNvSpPr txBox="1"/>
          <p:nvPr/>
        </p:nvSpPr>
        <p:spPr>
          <a:xfrm>
            <a:off x="4593110" y="5208289"/>
            <a:ext cx="271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20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 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18326" y="476672"/>
            <a:ext cx="68741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>
                <a:ea typeface="メイリオ" pitchFamily="50" charset="-128"/>
                <a:cs typeface="メイリオ" pitchFamily="50" charset="-128"/>
              </a:rPr>
              <a:t>Modelling the power sector in East </a:t>
            </a:r>
            <a:r>
              <a:rPr lang="en-US" altLang="ja-JP" sz="3200" dirty="0" smtClean="0">
                <a:ea typeface="メイリオ" pitchFamily="50" charset="-128"/>
                <a:cs typeface="メイリオ" pitchFamily="50" charset="-128"/>
              </a:rPr>
              <a:t>Asia:</a:t>
            </a:r>
          </a:p>
          <a:p>
            <a:r>
              <a:rPr lang="en-US" altLang="ja-JP" sz="3200" dirty="0" smtClean="0">
                <a:ea typeface="メイリオ" pitchFamily="50" charset="-128"/>
                <a:cs typeface="メイリオ" pitchFamily="50" charset="-128"/>
              </a:rPr>
              <a:t>Economic </a:t>
            </a:r>
            <a:r>
              <a:rPr lang="en-US" altLang="ja-JP" sz="3200" dirty="0">
                <a:ea typeface="メイリオ" pitchFamily="50" charset="-128"/>
                <a:cs typeface="メイリオ" pitchFamily="50" charset="-128"/>
              </a:rPr>
              <a:t>and Environmental </a:t>
            </a:r>
            <a:r>
              <a:rPr lang="en-US" altLang="ja-JP" sz="3200" dirty="0" smtClean="0">
                <a:ea typeface="メイリオ" pitchFamily="50" charset="-128"/>
                <a:cs typeface="メイリオ" pitchFamily="50" charset="-128"/>
              </a:rPr>
              <a:t>impacts</a:t>
            </a:r>
          </a:p>
          <a:p>
            <a:r>
              <a:rPr lang="en-US" altLang="ja-JP" sz="3200" dirty="0" smtClean="0">
                <a:ea typeface="メイリオ" pitchFamily="50" charset="-128"/>
                <a:cs typeface="メイリオ" pitchFamily="50" charset="-128"/>
              </a:rPr>
              <a:t>by </a:t>
            </a:r>
            <a:r>
              <a:rPr lang="en-US" altLang="ja-JP" sz="3200" dirty="0">
                <a:ea typeface="メイリオ" pitchFamily="50" charset="-128"/>
                <a:cs typeface="メイリオ" pitchFamily="50" charset="-128"/>
              </a:rPr>
              <a:t>choices of Power </a:t>
            </a:r>
            <a:r>
              <a:rPr lang="en-US" altLang="ja-JP" sz="3200" dirty="0" smtClean="0">
                <a:ea typeface="メイリオ" pitchFamily="50" charset="-128"/>
                <a:cs typeface="メイリオ" pitchFamily="50" charset="-128"/>
              </a:rPr>
              <a:t>Sources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615034" y="3140968"/>
            <a:ext cx="7956152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　　　　　　　　</a:t>
            </a:r>
            <a:r>
              <a:rPr lang="en-US" altLang="ja-JP" sz="2800" dirty="0" err="1" smtClean="0">
                <a:latin typeface="+mj-lt"/>
                <a:ea typeface="メイリオ" pitchFamily="50" charset="-128"/>
                <a:cs typeface="メイリオ" pitchFamily="50" charset="-128"/>
              </a:rPr>
              <a:t>Soocheol</a:t>
            </a:r>
            <a:r>
              <a:rPr lang="en-US" altLang="ja-JP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800" dirty="0">
                <a:latin typeface="+mj-lt"/>
                <a:ea typeface="メイリオ" pitchFamily="50" charset="-128"/>
                <a:cs typeface="メイリオ" pitchFamily="50" charset="-128"/>
              </a:rPr>
              <a:t>Lee</a:t>
            </a:r>
          </a:p>
          <a:p>
            <a:r>
              <a:rPr lang="ja-JP" altLang="en-US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　　　　　　　（</a:t>
            </a:r>
            <a:r>
              <a:rPr lang="en-US" altLang="ja-JP" sz="2800" dirty="0" err="1">
                <a:latin typeface="+mj-lt"/>
                <a:ea typeface="メイリオ" pitchFamily="50" charset="-128"/>
                <a:cs typeface="メイリオ" pitchFamily="50" charset="-128"/>
              </a:rPr>
              <a:t>Meijo</a:t>
            </a:r>
            <a:r>
              <a:rPr lang="en-US" altLang="ja-JP" sz="2800" dirty="0">
                <a:latin typeface="+mj-lt"/>
                <a:ea typeface="メイリオ" pitchFamily="50" charset="-128"/>
                <a:cs typeface="メイリオ" pitchFamily="50" charset="-128"/>
              </a:rPr>
              <a:t> University</a:t>
            </a:r>
            <a:r>
              <a:rPr lang="ja-JP" altLang="en-US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）</a:t>
            </a:r>
            <a:endParaRPr lang="en-US" altLang="ja-JP" sz="2800" dirty="0" smtClean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Co-authors</a:t>
            </a:r>
            <a:endParaRPr lang="en-US" altLang="ja-JP" sz="2400" dirty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Yuki Ogawa</a:t>
            </a:r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（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Kyoto University</a:t>
            </a:r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）</a:t>
            </a:r>
            <a:endParaRPr lang="en-US" altLang="ja-JP" sz="2400" dirty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400" dirty="0">
                <a:latin typeface="+mj-lt"/>
                <a:ea typeface="メイリオ" pitchFamily="50" charset="-128"/>
                <a:cs typeface="メイリオ" pitchFamily="50" charset="-128"/>
              </a:rPr>
              <a:t>Jean-Francois </a:t>
            </a:r>
            <a:r>
              <a:rPr lang="en-US" altLang="ja-JP" sz="2400" dirty="0" err="1">
                <a:latin typeface="+mj-lt"/>
                <a:ea typeface="メイリオ" pitchFamily="50" charset="-128"/>
                <a:cs typeface="メイリオ" pitchFamily="50" charset="-128"/>
              </a:rPr>
              <a:t>Mercure</a:t>
            </a:r>
            <a:endParaRPr lang="en-US" altLang="ja-JP" sz="2400" dirty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（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Cambridge </a:t>
            </a:r>
            <a:r>
              <a:rPr lang="en-US" altLang="ja-JP" sz="2400" dirty="0">
                <a:latin typeface="+mj-lt"/>
                <a:ea typeface="メイリオ" pitchFamily="50" charset="-128"/>
                <a:cs typeface="メイリオ" pitchFamily="50" charset="-128"/>
              </a:rPr>
              <a:t>Centre of Climate Change Mitigation 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Research</a:t>
            </a:r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）</a:t>
            </a:r>
            <a:endParaRPr lang="en-US" altLang="ja-JP" sz="2400" dirty="0" smtClean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Hector Pollitt</a:t>
            </a: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（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Cambridge Econometrics</a:t>
            </a:r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）</a:t>
            </a:r>
            <a:endParaRPr lang="en-GB" altLang="ja-JP" sz="2400" dirty="0"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11" name="直線コネクタ 10"/>
          <p:cNvCxnSpPr/>
          <p:nvPr/>
        </p:nvCxnSpPr>
        <p:spPr>
          <a:xfrm>
            <a:off x="251520" y="2060848"/>
            <a:ext cx="864096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971600" y="756000"/>
            <a:ext cx="6304739" cy="51706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indent="-742950">
              <a:spcAft>
                <a:spcPts val="1800"/>
              </a:spcAft>
              <a:buAutoNum type="arabicPeriod"/>
            </a:pPr>
            <a:r>
              <a:rPr lang="en-US" altLang="ja-JP" sz="54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Research Objective</a:t>
            </a:r>
          </a:p>
          <a:p>
            <a:pPr>
              <a:spcAft>
                <a:spcPts val="1800"/>
              </a:spcAft>
            </a:pPr>
            <a:r>
              <a:rPr lang="en-US" altLang="ja-JP" sz="54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2. Modeling Tool</a:t>
            </a:r>
          </a:p>
          <a:p>
            <a:pPr>
              <a:spcAft>
                <a:spcPts val="1800"/>
              </a:spcAft>
            </a:pPr>
            <a:r>
              <a:rPr lang="en-US" altLang="ja-JP" sz="54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3. Scenarios</a:t>
            </a:r>
          </a:p>
          <a:p>
            <a:pPr>
              <a:spcAft>
                <a:spcPts val="1800"/>
              </a:spcAft>
            </a:pPr>
            <a:r>
              <a:rPr lang="en-US" altLang="ja-JP" sz="54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4. Results</a:t>
            </a:r>
          </a:p>
          <a:p>
            <a:pPr>
              <a:spcAft>
                <a:spcPts val="1800"/>
              </a:spcAft>
            </a:pPr>
            <a:r>
              <a:rPr lang="en-US" altLang="ja-JP" sz="54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5. Conclusion</a:t>
            </a:r>
            <a:endParaRPr lang="ja-JP" altLang="en-US" sz="5400" dirty="0"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3797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9468544" y="2166318"/>
            <a:ext cx="8496944" cy="41900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5" name="角丸四角形 4"/>
          <p:cNvSpPr/>
          <p:nvPr/>
        </p:nvSpPr>
        <p:spPr>
          <a:xfrm>
            <a:off x="9684568" y="2276872"/>
            <a:ext cx="8140352" cy="1800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 smtClean="0">
                <a:solidFill>
                  <a:schemeClr val="bg1"/>
                </a:solidFill>
              </a:rPr>
              <a:t>ケンブリッジ大学気候変動研究所（４ＣＭＲ）が開発した</a:t>
            </a:r>
            <a:r>
              <a:rPr lang="en-US" altLang="ja-JP" sz="2000" b="1" dirty="0" err="1" smtClean="0">
                <a:solidFill>
                  <a:schemeClr val="bg1"/>
                </a:solidFill>
              </a:rPr>
              <a:t>FTT:Power</a:t>
            </a:r>
            <a:r>
              <a:rPr lang="ja-JP" altLang="en-US" sz="2000" b="1" dirty="0" smtClean="0">
                <a:solidFill>
                  <a:schemeClr val="bg1"/>
                </a:solidFill>
              </a:rPr>
              <a:t>（</a:t>
            </a:r>
            <a:r>
              <a:rPr lang="en-US" altLang="ja-JP" sz="2000" b="1" dirty="0" smtClean="0">
                <a:solidFill>
                  <a:schemeClr val="bg1"/>
                </a:solidFill>
              </a:rPr>
              <a:t>Future </a:t>
            </a:r>
            <a:r>
              <a:rPr lang="en-US" altLang="ja-JP" sz="2000" b="1" dirty="0">
                <a:solidFill>
                  <a:schemeClr val="bg1"/>
                </a:solidFill>
              </a:rPr>
              <a:t>Technology Transformations for the power sector </a:t>
            </a:r>
            <a:r>
              <a:rPr lang="ja-JP" altLang="en-US" sz="2000" b="1" dirty="0" smtClean="0">
                <a:solidFill>
                  <a:schemeClr val="bg1"/>
                </a:solidFill>
              </a:rPr>
              <a:t>）モデルおよびケンブリッジエコノメトリックスの</a:t>
            </a:r>
            <a:r>
              <a:rPr lang="en-US" altLang="ja-JP" sz="2000" b="1" dirty="0" smtClean="0">
                <a:solidFill>
                  <a:schemeClr val="bg1"/>
                </a:solidFill>
              </a:rPr>
              <a:t>E3ME</a:t>
            </a:r>
            <a:r>
              <a:rPr lang="ja-JP" altLang="en-US" sz="2000" b="1" dirty="0" smtClean="0">
                <a:solidFill>
                  <a:schemeClr val="bg1"/>
                </a:solidFill>
              </a:rPr>
              <a:t>モデルを、東アジア（日本、中国、韓国、台湾）における電源政策（選択）が、それぞれの環境（</a:t>
            </a:r>
            <a:r>
              <a:rPr lang="en-US" altLang="ja-JP" sz="2000" b="1" dirty="0" smtClean="0">
                <a:solidFill>
                  <a:schemeClr val="bg1"/>
                </a:solidFill>
              </a:rPr>
              <a:t>CO2</a:t>
            </a:r>
            <a:r>
              <a:rPr lang="ja-JP" altLang="en-US" sz="2000" b="1" dirty="0" smtClean="0">
                <a:solidFill>
                  <a:schemeClr val="bg1"/>
                </a:solidFill>
              </a:rPr>
              <a:t>）と経済（</a:t>
            </a:r>
            <a:r>
              <a:rPr lang="en-US" altLang="ja-JP" sz="2000" b="1" dirty="0" smtClean="0">
                <a:solidFill>
                  <a:schemeClr val="bg1"/>
                </a:solidFill>
              </a:rPr>
              <a:t>GDP</a:t>
            </a:r>
            <a:r>
              <a:rPr lang="ja-JP" altLang="en-US" sz="2000" b="1" dirty="0" err="1" smtClean="0">
                <a:solidFill>
                  <a:schemeClr val="bg1"/>
                </a:solidFill>
              </a:rPr>
              <a:t>、</a:t>
            </a:r>
            <a:r>
              <a:rPr lang="ja-JP" altLang="en-US" sz="2000" b="1" dirty="0" smtClean="0">
                <a:solidFill>
                  <a:schemeClr val="bg1"/>
                </a:solidFill>
              </a:rPr>
              <a:t>雇用など）にどのような影響を与えるのか定量的に分析</a:t>
            </a:r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角丸四角形 6"/>
          <p:cNvSpPr/>
          <p:nvPr/>
        </p:nvSpPr>
        <p:spPr>
          <a:xfrm>
            <a:off x="9684568" y="4299317"/>
            <a:ext cx="8140352" cy="1800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b="1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0062859" y="4368420"/>
            <a:ext cx="77620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chemeClr val="bg1"/>
                </a:solidFill>
              </a:rPr>
              <a:t>原子力発電に制約をかけた場合に、それぞれの環境と</a:t>
            </a:r>
            <a:endParaRPr kumimoji="1" lang="en-US" altLang="ja-JP" sz="2400" dirty="0" smtClean="0">
              <a:solidFill>
                <a:schemeClr val="bg1"/>
              </a:solidFill>
            </a:endParaRPr>
          </a:p>
          <a:p>
            <a:r>
              <a:rPr kumimoji="1" lang="ja-JP" altLang="en-US" sz="2400" dirty="0" smtClean="0">
                <a:solidFill>
                  <a:schemeClr val="bg1"/>
                </a:solidFill>
              </a:rPr>
              <a:t>経済、特に再生可能エネルギーのシェアに与える影響分析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9972600" y="5220977"/>
            <a:ext cx="77540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>
                <a:solidFill>
                  <a:schemeClr val="bg1"/>
                </a:solidFill>
              </a:rPr>
              <a:t>石炭</a:t>
            </a:r>
            <a:r>
              <a:rPr lang="ja-JP" altLang="en-US" sz="2400" dirty="0">
                <a:solidFill>
                  <a:schemeClr val="bg1"/>
                </a:solidFill>
              </a:rPr>
              <a:t>火力</a:t>
            </a:r>
            <a:r>
              <a:rPr lang="ja-JP" altLang="en-US" sz="2400" dirty="0" smtClean="0">
                <a:solidFill>
                  <a:schemeClr val="bg1"/>
                </a:solidFill>
              </a:rPr>
              <a:t>に</a:t>
            </a:r>
            <a:r>
              <a:rPr kumimoji="1" lang="ja-JP" altLang="en-US" sz="2400" dirty="0" smtClean="0">
                <a:solidFill>
                  <a:schemeClr val="bg1"/>
                </a:solidFill>
              </a:rPr>
              <a:t>制約をかけた場合に、それぞれの環境と経済、</a:t>
            </a:r>
            <a:endParaRPr kumimoji="1" lang="en-US" altLang="ja-JP" sz="2400" dirty="0" smtClean="0">
              <a:solidFill>
                <a:schemeClr val="bg1"/>
              </a:solidFill>
            </a:endParaRPr>
          </a:p>
          <a:p>
            <a:r>
              <a:rPr kumimoji="1" lang="ja-JP" altLang="en-US" sz="2400" dirty="0" smtClean="0">
                <a:solidFill>
                  <a:schemeClr val="bg1"/>
                </a:solidFill>
              </a:rPr>
              <a:t>特に再生可能エネルギーのシェアに与える影響分析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0" name="星 6 9"/>
          <p:cNvSpPr/>
          <p:nvPr/>
        </p:nvSpPr>
        <p:spPr>
          <a:xfrm>
            <a:off x="9759912" y="4437248"/>
            <a:ext cx="378291" cy="428732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1" name="星 6 10"/>
          <p:cNvSpPr/>
          <p:nvPr/>
        </p:nvSpPr>
        <p:spPr>
          <a:xfrm>
            <a:off x="9700478" y="5268245"/>
            <a:ext cx="378291" cy="428732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2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3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720000" y="1916832"/>
            <a:ext cx="7351500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Quantitative Analysis </a:t>
            </a:r>
            <a:r>
              <a:rPr lang="en-US" sz="2800" dirty="0" smtClean="0">
                <a:ea typeface="メイリオ" pitchFamily="50" charset="-128"/>
                <a:cs typeface="メイリオ" pitchFamily="50" charset="-128"/>
              </a:rPr>
              <a:t>of...</a:t>
            </a:r>
            <a:endParaRPr lang="en-US" sz="3600" dirty="0" smtClean="0">
              <a:ea typeface="メイリオ" pitchFamily="50" charset="-128"/>
              <a:cs typeface="メイリオ" pitchFamily="50" charset="-128"/>
            </a:endParaRPr>
          </a:p>
          <a:p>
            <a:endParaRPr kumimoji="1" lang="en-US" dirty="0"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3600" dirty="0" smtClean="0"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Power Mix</a:t>
            </a:r>
          </a:p>
          <a:p>
            <a:r>
              <a:rPr kumimoji="1" lang="ja-JP" altLang="en-US" sz="3600" dirty="0" smtClean="0"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Environmental Effect (CO</a:t>
            </a:r>
            <a:r>
              <a:rPr lang="en-US" altLang="ja-JP" sz="2000" dirty="0" smtClean="0">
                <a:ea typeface="メイリオ" pitchFamily="50" charset="-128"/>
                <a:cs typeface="メイリオ" pitchFamily="50" charset="-128"/>
              </a:rPr>
              <a:t>2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 Emission)</a:t>
            </a:r>
            <a:endParaRPr kumimoji="1" lang="en-US" altLang="ja-JP" sz="3600" dirty="0" smtClean="0"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3600" dirty="0" smtClean="0"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Economic Effect(GDP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etc.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)</a:t>
            </a:r>
          </a:p>
          <a:p>
            <a:endParaRPr kumimoji="1" lang="en-US" sz="1600" dirty="0">
              <a:ea typeface="メイリオ" pitchFamily="50" charset="-128"/>
              <a:cs typeface="メイリオ" pitchFamily="50" charset="-128"/>
            </a:endParaRPr>
          </a:p>
          <a:p>
            <a:r>
              <a:rPr kumimoji="1" lang="en-GB" sz="2800" dirty="0" smtClean="0">
                <a:ea typeface="メイリオ" pitchFamily="50" charset="-128"/>
                <a:cs typeface="メイリオ" pitchFamily="50" charset="-128"/>
              </a:rPr>
              <a:t>by </a:t>
            </a:r>
            <a:r>
              <a:rPr kumimoji="1" lang="en-GB" sz="40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Choices of Power Sources</a:t>
            </a:r>
            <a:endParaRPr kumimoji="1" lang="en-GB" sz="36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  <a:p>
            <a:r>
              <a:rPr lang="en-GB" sz="2800" dirty="0" smtClean="0">
                <a:ea typeface="メイリオ" pitchFamily="50" charset="-128"/>
                <a:cs typeface="メイリオ" pitchFamily="50" charset="-128"/>
              </a:rPr>
              <a:t>in </a:t>
            </a:r>
            <a:r>
              <a:rPr lang="en-GB" sz="3600" dirty="0" smtClean="0">
                <a:ea typeface="メイリオ" pitchFamily="50" charset="-128"/>
                <a:cs typeface="メイリオ" pitchFamily="50" charset="-128"/>
              </a:rPr>
              <a:t>East Asia </a:t>
            </a:r>
            <a:r>
              <a:rPr lang="en-GB" sz="2800" dirty="0" smtClean="0">
                <a:ea typeface="メイリオ" pitchFamily="50" charset="-128"/>
                <a:cs typeface="メイリオ" pitchFamily="50" charset="-128"/>
              </a:rPr>
              <a:t>(Japan, China, Korea, Taiwan)</a:t>
            </a:r>
            <a:endParaRPr kumimoji="1" lang="en-GB" sz="2800" dirty="0"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971600" y="756000"/>
            <a:ext cx="63047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indent="-742950">
              <a:spcAft>
                <a:spcPts val="3000"/>
              </a:spcAft>
              <a:buAutoNum type="arabicPeriod"/>
            </a:pPr>
            <a:r>
              <a:rPr lang="en-US" altLang="ja-JP" sz="54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Research Objective</a:t>
            </a:r>
            <a:endParaRPr lang="ja-JP" altLang="en-US" sz="5400" dirty="0"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483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9468544" y="2166318"/>
            <a:ext cx="8496944" cy="41900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角丸四角形 4"/>
          <p:cNvSpPr/>
          <p:nvPr/>
        </p:nvSpPr>
        <p:spPr>
          <a:xfrm>
            <a:off x="9684568" y="2276872"/>
            <a:ext cx="8140352" cy="1800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 smtClean="0"/>
              <a:t>ケンブリッジ大学気候変動研究所（４ＣＭＲ）が開発した</a:t>
            </a:r>
            <a:r>
              <a:rPr lang="en-US" altLang="ja-JP" sz="2000" b="1" dirty="0" err="1" smtClean="0"/>
              <a:t>FTT:Power</a:t>
            </a:r>
            <a:r>
              <a:rPr lang="ja-JP" altLang="en-US" sz="2000" b="1" dirty="0" smtClean="0"/>
              <a:t>（</a:t>
            </a:r>
            <a:r>
              <a:rPr lang="en-US" altLang="ja-JP" sz="2000" b="1" dirty="0" smtClean="0"/>
              <a:t>Future </a:t>
            </a:r>
            <a:r>
              <a:rPr lang="en-US" altLang="ja-JP" sz="2000" b="1" dirty="0"/>
              <a:t>Technology Transformations for the power sector </a:t>
            </a:r>
            <a:r>
              <a:rPr lang="ja-JP" altLang="en-US" sz="2000" b="1" dirty="0" smtClean="0"/>
              <a:t>）モデルおよびケンブリッジエコノメトリックスの</a:t>
            </a:r>
            <a:r>
              <a:rPr lang="en-US" altLang="ja-JP" sz="2000" b="1" dirty="0" smtClean="0"/>
              <a:t>E3ME</a:t>
            </a:r>
            <a:r>
              <a:rPr lang="ja-JP" altLang="en-US" sz="2000" b="1" dirty="0" smtClean="0"/>
              <a:t>モデルを、東アジア（日本、中国、韓国、台湾）における電源政策（選択）が、それぞれの環境（</a:t>
            </a:r>
            <a:r>
              <a:rPr lang="en-US" altLang="ja-JP" sz="2000" b="1" dirty="0" smtClean="0"/>
              <a:t>CO2</a:t>
            </a:r>
            <a:r>
              <a:rPr lang="ja-JP" altLang="en-US" sz="2000" b="1" dirty="0" smtClean="0"/>
              <a:t>）と経済（</a:t>
            </a:r>
            <a:r>
              <a:rPr lang="en-US" altLang="ja-JP" sz="2000" b="1" dirty="0" smtClean="0"/>
              <a:t>GDP</a:t>
            </a:r>
            <a:r>
              <a:rPr lang="ja-JP" altLang="en-US" sz="2000" b="1" dirty="0" err="1" smtClean="0"/>
              <a:t>、</a:t>
            </a:r>
            <a:r>
              <a:rPr lang="ja-JP" altLang="en-US" sz="2000" b="1" dirty="0" smtClean="0"/>
              <a:t>雇用など）にどのような影響を与えるのか定量的に分析</a:t>
            </a:r>
            <a:endParaRPr kumimoji="1" lang="ja-JP" altLang="en-US" sz="2000" b="1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707904" y="17728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7" name="角丸四角形 6"/>
          <p:cNvSpPr/>
          <p:nvPr/>
        </p:nvSpPr>
        <p:spPr>
          <a:xfrm>
            <a:off x="9684568" y="4299317"/>
            <a:ext cx="8140352" cy="1800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sz="2000" b="1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0062859" y="4368420"/>
            <a:ext cx="77620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原子力発電に制約をかけた場合に、それぞれの環境と</a:t>
            </a:r>
            <a:endParaRPr kumimoji="1" lang="en-US" altLang="ja-JP" sz="2400" dirty="0" smtClean="0"/>
          </a:p>
          <a:p>
            <a:r>
              <a:rPr kumimoji="1" lang="ja-JP" altLang="en-US" sz="2400" dirty="0" smtClean="0"/>
              <a:t>経済、特に再生可能エネルギーのシェアに与える影響分析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9972600" y="5220977"/>
            <a:ext cx="77540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石炭</a:t>
            </a:r>
            <a:r>
              <a:rPr lang="ja-JP" altLang="en-US" sz="2400" dirty="0"/>
              <a:t>火力</a:t>
            </a:r>
            <a:r>
              <a:rPr lang="ja-JP" altLang="en-US" sz="2400" dirty="0" smtClean="0"/>
              <a:t>に</a:t>
            </a:r>
            <a:r>
              <a:rPr kumimoji="1" lang="ja-JP" altLang="en-US" sz="2400" dirty="0" smtClean="0"/>
              <a:t>制約をかけた場合に、それぞれの環境と経済、</a:t>
            </a:r>
            <a:endParaRPr kumimoji="1" lang="en-US" altLang="ja-JP" sz="2400" dirty="0" smtClean="0"/>
          </a:p>
          <a:p>
            <a:r>
              <a:rPr kumimoji="1" lang="ja-JP" altLang="en-US" sz="2400" dirty="0" smtClean="0"/>
              <a:t>特に再生可能エネルギーのシェアに与える影響分析</a:t>
            </a:r>
            <a:endParaRPr kumimoji="1" lang="ja-JP" altLang="en-US" sz="2400" dirty="0"/>
          </a:p>
        </p:txBody>
      </p:sp>
      <p:sp>
        <p:nvSpPr>
          <p:cNvPr id="10" name="星 6 9"/>
          <p:cNvSpPr/>
          <p:nvPr/>
        </p:nvSpPr>
        <p:spPr>
          <a:xfrm>
            <a:off x="9759912" y="4437248"/>
            <a:ext cx="378291" cy="428732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星 6 10"/>
          <p:cNvSpPr/>
          <p:nvPr/>
        </p:nvSpPr>
        <p:spPr>
          <a:xfrm>
            <a:off x="9700478" y="5268245"/>
            <a:ext cx="378291" cy="428732"/>
          </a:xfrm>
          <a:prstGeom prst="star6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4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20000" y="1918800"/>
            <a:ext cx="824448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Analyzed Energy Policies…</a:t>
            </a:r>
          </a:p>
          <a:p>
            <a:endParaRPr lang="en-US" altLang="ja-JP" sz="1600" dirty="0" smtClean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32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3200" dirty="0" smtClean="0">
                <a:latin typeface="+mj-lt"/>
                <a:ea typeface="メイリオ" pitchFamily="50" charset="-128"/>
                <a:cs typeface="メイリオ" pitchFamily="50" charset="-128"/>
              </a:rPr>
              <a:t>Regulation on </a:t>
            </a:r>
            <a:r>
              <a:rPr lang="en-US" altLang="ja-JP" sz="32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Nuclear Power</a:t>
            </a:r>
          </a:p>
          <a:p>
            <a:r>
              <a:rPr lang="ja-JP" altLang="en-US" sz="32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3200" dirty="0" smtClean="0">
                <a:latin typeface="+mj-lt"/>
                <a:ea typeface="メイリオ" pitchFamily="50" charset="-128"/>
                <a:cs typeface="メイリオ" pitchFamily="50" charset="-128"/>
              </a:rPr>
              <a:t>Regulation on </a:t>
            </a:r>
            <a:r>
              <a:rPr lang="en-US" altLang="ja-JP" sz="32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Coal-Fired Power</a:t>
            </a:r>
          </a:p>
          <a:p>
            <a:r>
              <a:rPr lang="ja-JP" altLang="en-US" sz="32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3200" dirty="0" smtClean="0">
                <a:latin typeface="+mj-lt"/>
                <a:ea typeface="メイリオ" pitchFamily="50" charset="-128"/>
                <a:cs typeface="メイリオ" pitchFamily="50" charset="-128"/>
              </a:rPr>
              <a:t>Regulation on </a:t>
            </a:r>
            <a:r>
              <a:rPr lang="en-US" altLang="ja-JP" sz="32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Both</a:t>
            </a:r>
            <a:r>
              <a:rPr lang="en-US" altLang="ja-JP" sz="3200" dirty="0" smtClean="0">
                <a:latin typeface="+mj-lt"/>
                <a:ea typeface="メイリオ" pitchFamily="50" charset="-128"/>
                <a:cs typeface="メイリオ" pitchFamily="50" charset="-128"/>
              </a:rPr>
              <a:t> above</a:t>
            </a:r>
          </a:p>
          <a:p>
            <a:endParaRPr lang="en-US" altLang="ja-JP" sz="2800" dirty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What effect does transition has to…</a:t>
            </a:r>
          </a:p>
          <a:p>
            <a:r>
              <a:rPr lang="en-US" altLang="ja-JP" sz="2800" dirty="0">
                <a:latin typeface="+mj-lt"/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 </a:t>
            </a:r>
            <a:r>
              <a:rPr lang="ja-JP" altLang="en-US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Nuclear waste free</a:t>
            </a:r>
          </a:p>
          <a:p>
            <a:r>
              <a:rPr lang="ja-JP" altLang="en-US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  ・</a:t>
            </a:r>
            <a:r>
              <a:rPr lang="en-US" altLang="ja-JP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Less CO2 intensive</a:t>
            </a:r>
          </a:p>
          <a:p>
            <a:r>
              <a:rPr lang="en-US" altLang="ja-JP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the power sector?</a:t>
            </a:r>
          </a:p>
        </p:txBody>
      </p:sp>
      <p:sp>
        <p:nvSpPr>
          <p:cNvPr id="2" name="左中かっこ 1"/>
          <p:cNvSpPr/>
          <p:nvPr/>
        </p:nvSpPr>
        <p:spPr>
          <a:xfrm>
            <a:off x="611560" y="4680000"/>
            <a:ext cx="113840" cy="865618"/>
          </a:xfrm>
          <a:prstGeom prst="leftBrac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GB"/>
          </a:p>
        </p:txBody>
      </p:sp>
      <p:sp>
        <p:nvSpPr>
          <p:cNvPr id="17" name="正方形/長方形 16"/>
          <p:cNvSpPr/>
          <p:nvPr/>
        </p:nvSpPr>
        <p:spPr>
          <a:xfrm>
            <a:off x="971600" y="756000"/>
            <a:ext cx="630473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indent="-742950">
              <a:spcAft>
                <a:spcPts val="3000"/>
              </a:spcAft>
              <a:buAutoNum type="arabicPeriod"/>
            </a:pPr>
            <a:r>
              <a:rPr lang="en-US" altLang="ja-JP" sz="54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Research Objective</a:t>
            </a:r>
            <a:endParaRPr lang="ja-JP" altLang="en-US" sz="5400" dirty="0"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483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5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4" name="グループ化 3"/>
          <p:cNvGrpSpPr/>
          <p:nvPr/>
        </p:nvGrpSpPr>
        <p:grpSpPr>
          <a:xfrm>
            <a:off x="1331640" y="2132856"/>
            <a:ext cx="6336704" cy="3138147"/>
            <a:chOff x="1331640" y="2132856"/>
            <a:chExt cx="6336704" cy="3138147"/>
          </a:xfrm>
        </p:grpSpPr>
        <p:sp>
          <p:nvSpPr>
            <p:cNvPr id="3" name="正方形/長方形 2"/>
            <p:cNvSpPr/>
            <p:nvPr/>
          </p:nvSpPr>
          <p:spPr>
            <a:xfrm>
              <a:off x="1331640" y="2132856"/>
              <a:ext cx="6336704" cy="3138147"/>
            </a:xfrm>
            <a:prstGeom prst="rect">
              <a:avLst/>
            </a:pr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GB"/>
            </a:p>
          </p:txBody>
        </p:sp>
        <p:pic>
          <p:nvPicPr>
            <p:cNvPr id="2" name="図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900201" y="2463047"/>
              <a:ext cx="5199583" cy="168603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146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 bwMode="auto">
            <a:xfrm>
              <a:off x="3307406" y="4221088"/>
              <a:ext cx="2385173" cy="7136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</a:extLst>
          </p:spPr>
        </p:pic>
      </p:grpSp>
      <p:sp>
        <p:nvSpPr>
          <p:cNvPr id="8" name="正方形/長方形 7"/>
          <p:cNvSpPr/>
          <p:nvPr/>
        </p:nvSpPr>
        <p:spPr>
          <a:xfrm>
            <a:off x="971600" y="756000"/>
            <a:ext cx="486319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54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2. Modeling Tool</a:t>
            </a:r>
            <a:endParaRPr lang="ja-JP" altLang="en-US" sz="5400" dirty="0"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198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6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11560" y="1664331"/>
            <a:ext cx="8387424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E3ME-Asia Model</a:t>
            </a:r>
          </a:p>
          <a:p>
            <a:endParaRPr lang="en-US" altLang="ja-JP" sz="1600" dirty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8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Macro-Econometric Model</a:t>
            </a:r>
          </a:p>
          <a:p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developed by Cambridge Econometrics</a:t>
            </a:r>
          </a:p>
          <a:p>
            <a:r>
              <a:rPr lang="en-US" altLang="ja-JP" sz="2400" dirty="0" smtClean="0">
                <a:solidFill>
                  <a:srgbClr val="00B0F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Reinforced Asian sector by collaboration work with</a:t>
            </a:r>
          </a:p>
          <a:p>
            <a:r>
              <a:rPr lang="en-US" altLang="ja-JP" sz="2400" dirty="0" smtClean="0">
                <a:solidFill>
                  <a:srgbClr val="00B0F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REEPS(Research group of East Asian Environmental Policy Studies)</a:t>
            </a:r>
          </a:p>
          <a:p>
            <a:r>
              <a:rPr lang="en-US" altLang="ja-JP" sz="2400" dirty="0" smtClean="0">
                <a:solidFill>
                  <a:srgbClr val="00B0F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in Japan</a:t>
            </a:r>
          </a:p>
          <a:p>
            <a:endParaRPr lang="en-US" altLang="ja-JP" sz="1600" dirty="0" smtClean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8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8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Demand driven</a:t>
            </a:r>
            <a:endParaRPr lang="en-US" altLang="ja-JP" sz="2800" dirty="0">
              <a:solidFill>
                <a:srgbClr val="FF0000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8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8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No equilibrium, Non optimization</a:t>
            </a:r>
          </a:p>
          <a:p>
            <a:endParaRPr lang="en-US" altLang="ja-JP" sz="1200" dirty="0" smtClean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Four East Asian regions are in the model</a:t>
            </a: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Based on data from past 40 years and OECD/IEA forecast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971600" y="756000"/>
            <a:ext cx="486319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54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2. Modeling Tool</a:t>
            </a:r>
            <a:endParaRPr lang="ja-JP" altLang="en-US" sz="5400" dirty="0"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9899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E3M</a:t>
            </a:r>
            <a:r>
              <a:rPr lang="en-US" altLang="ja-JP" b="1" dirty="0" smtClean="0"/>
              <a:t>E</a:t>
            </a:r>
            <a:r>
              <a:rPr lang="en-GB" b="1" dirty="0" smtClean="0"/>
              <a:t> Energy-Environment Linkages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950913" y="1663700"/>
            <a:ext cx="7627937" cy="4457700"/>
            <a:chOff x="354" y="605"/>
            <a:chExt cx="2838" cy="1622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64" y="697"/>
              <a:ext cx="839" cy="453"/>
            </a:xfrm>
            <a:prstGeom prst="rect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 anchor="ctr"/>
            <a:lstStyle/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ECONOMY</a:t>
              </a:r>
            </a:p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as in national</a:t>
              </a:r>
            </a:p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accounts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384" y="1107"/>
              <a:ext cx="839" cy="540"/>
            </a:xfrm>
            <a:prstGeom prst="rect">
              <a:avLst/>
            </a:prstGeom>
            <a:solidFill>
              <a:srgbClr val="339966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 anchor="ctr"/>
            <a:lstStyle/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TECHNOLOGY</a:t>
              </a:r>
            </a:p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specifications &amp;</a:t>
              </a:r>
            </a:p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costs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353" y="1686"/>
              <a:ext cx="839" cy="453"/>
            </a:xfrm>
            <a:prstGeom prst="rect">
              <a:avLst/>
            </a:prstGeom>
            <a:solidFill>
              <a:srgbClr val="FFCC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 anchor="ctr"/>
            <a:lstStyle/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ENVIRONMENTAL</a:t>
              </a:r>
            </a:p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EMISSIONS</a:t>
              </a:r>
            </a:p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as in environmental</a:t>
              </a:r>
            </a:p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statistics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63" y="1694"/>
              <a:ext cx="839" cy="453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 anchor="ctr"/>
            <a:lstStyle/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ENERGY</a:t>
              </a:r>
            </a:p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as in energy</a:t>
              </a:r>
            </a:p>
            <a:p>
              <a:pPr algn="ctr" defTabSz="1270000" eaLnBrk="1" hangingPunct="1">
                <a:spcBef>
                  <a:spcPct val="0"/>
                </a:spcBef>
              </a:pPr>
              <a:r>
                <a:rPr lang="en-GB" sz="1700">
                  <a:solidFill>
                    <a:schemeClr val="bg1"/>
                  </a:solidFill>
                  <a:latin typeface="Arial" pitchFamily="34" charset="0"/>
                </a:rPr>
                <a:t>statistics</a:t>
              </a: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 flipV="1">
              <a:off x="779" y="1146"/>
              <a:ext cx="3" cy="54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>
              <a:off x="648" y="1153"/>
              <a:ext cx="2" cy="544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>
              <a:off x="1206" y="1653"/>
              <a:ext cx="311" cy="223"/>
            </a:xfrm>
            <a:prstGeom prst="line">
              <a:avLst/>
            </a:prstGeom>
            <a:noFill/>
            <a:ln w="31750">
              <a:solidFill>
                <a:srgbClr val="339966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H="1">
              <a:off x="1068" y="1484"/>
              <a:ext cx="312" cy="209"/>
            </a:xfrm>
            <a:prstGeom prst="line">
              <a:avLst/>
            </a:prstGeom>
            <a:noFill/>
            <a:ln w="31750">
              <a:solidFill>
                <a:srgbClr val="339966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1207" y="2100"/>
              <a:ext cx="1146" cy="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 flipV="1">
              <a:off x="1037" y="1150"/>
              <a:ext cx="342" cy="251"/>
            </a:xfrm>
            <a:prstGeom prst="line">
              <a:avLst/>
            </a:prstGeom>
            <a:noFill/>
            <a:ln w="31750">
              <a:solidFill>
                <a:srgbClr val="339966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223" y="1419"/>
              <a:ext cx="337" cy="1"/>
            </a:xfrm>
            <a:prstGeom prst="line">
              <a:avLst/>
            </a:prstGeom>
            <a:noFill/>
            <a:ln w="31750">
              <a:solidFill>
                <a:srgbClr val="339966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2556" y="1412"/>
              <a:ext cx="9" cy="274"/>
            </a:xfrm>
            <a:prstGeom prst="line">
              <a:avLst/>
            </a:prstGeom>
            <a:noFill/>
            <a:ln w="31750">
              <a:solidFill>
                <a:srgbClr val="339966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3074" y="731"/>
              <a:ext cx="9" cy="951"/>
            </a:xfrm>
            <a:prstGeom prst="line">
              <a:avLst/>
            </a:prstGeom>
            <a:noFill/>
            <a:ln w="31750">
              <a:solidFill>
                <a:srgbClr val="FFCC00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204" y="728"/>
              <a:ext cx="1878" cy="4"/>
            </a:xfrm>
            <a:prstGeom prst="line">
              <a:avLst/>
            </a:prstGeom>
            <a:noFill/>
            <a:ln w="31750">
              <a:solidFill>
                <a:srgbClr val="FFCC00"/>
              </a:solidFill>
              <a:round/>
              <a:headEnd type="triangle" w="med" len="lg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2722" y="834"/>
              <a:ext cx="18" cy="85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1899" y="605"/>
              <a:ext cx="603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>
              <a:spAutoFit/>
            </a:bodyPr>
            <a:lstStyle>
              <a:lvl1pPr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GB" sz="1400" dirty="0" smtClean="0">
                  <a:latin typeface="Arial" pitchFamily="34" charset="0"/>
                </a:rPr>
                <a:t>emissions policy</a:t>
              </a:r>
              <a:endParaRPr lang="en-GB" sz="1400" dirty="0">
                <a:latin typeface="Arial" pitchFamily="34" charset="0"/>
              </a:endParaRPr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1479" y="818"/>
              <a:ext cx="995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>
              <a:spAutoFit/>
            </a:bodyPr>
            <a:lstStyle>
              <a:lvl1pPr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eg industrial emissions of SF6</a:t>
              </a: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1162" y="981"/>
              <a:ext cx="481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>
              <a:spAutoFit/>
            </a:bodyPr>
            <a:lstStyle>
              <a:lvl1pPr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funding R&amp;D</a:t>
              </a: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1205" y="1118"/>
              <a:ext cx="182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354" y="1225"/>
              <a:ext cx="312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>
              <a:spAutoFit/>
            </a:bodyPr>
            <a:lstStyle>
              <a:lvl1pPr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prices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and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activity</a:t>
              </a:r>
            </a:p>
          </p:txBody>
        </p: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920" y="1310"/>
              <a:ext cx="470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>
              <a:spAutoFit/>
            </a:bodyPr>
            <a:lstStyle>
              <a:lvl1pPr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low-carbon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processes &amp;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products</a:t>
              </a:r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746" y="1209"/>
              <a:ext cx="378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>
              <a:spAutoFit/>
            </a:bodyPr>
            <a:lstStyle>
              <a:lvl1pPr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feedback</a:t>
              </a:r>
            </a:p>
          </p:txBody>
        </p:sp>
        <p:sp>
          <p:nvSpPr>
            <p:cNvPr id="27" name="Text Box 26"/>
            <p:cNvSpPr txBox="1">
              <a:spLocks noChangeArrowheads="1"/>
            </p:cNvSpPr>
            <p:nvPr/>
          </p:nvSpPr>
          <p:spPr bwMode="auto">
            <a:xfrm>
              <a:off x="1541" y="1625"/>
              <a:ext cx="5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56269" tIns="78134" rIns="156269" bIns="78134">
              <a:spAutoFit/>
            </a:bodyPr>
            <a:lstStyle>
              <a:lvl1pPr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energy-saving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equipment etc</a:t>
              </a:r>
            </a:p>
          </p:txBody>
        </p:sp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1552" y="2092"/>
              <a:ext cx="342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>
              <a:spAutoFit/>
            </a:bodyPr>
            <a:lstStyle>
              <a:lvl1pPr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fuel use</a:t>
              </a:r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2191" y="1134"/>
              <a:ext cx="421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56269" tIns="78134" rIns="156269" bIns="78134">
              <a:spAutoFit/>
            </a:bodyPr>
            <a:lstStyle>
              <a:lvl1pPr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defTabSz="1270000"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defTabSz="1270000" eaLnBrk="0" fontAlgn="base" hangingPunct="0">
                <a:spcBef>
                  <a:spcPct val="5000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pollution-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abatement</a:t>
              </a:r>
            </a:p>
            <a:p>
              <a:pPr eaLnBrk="1" hangingPunct="1">
                <a:spcBef>
                  <a:spcPct val="0"/>
                </a:spcBef>
              </a:pPr>
              <a:r>
                <a:rPr lang="en-GB" sz="1400">
                  <a:latin typeface="Arial" pitchFamily="34" charset="0"/>
                </a:rPr>
                <a:t>equipment</a:t>
              </a: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1205" y="840"/>
              <a:ext cx="1528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xmlns="" val="52071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8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720000" y="1918800"/>
            <a:ext cx="783618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0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FTT: Power</a:t>
            </a:r>
            <a:endParaRPr lang="en-US" altLang="ja-JP" sz="4000" dirty="0">
              <a:solidFill>
                <a:schemeClr val="bg1"/>
              </a:solidFill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Bottom-up model specifically dealing with power sector</a:t>
            </a:r>
          </a:p>
          <a:p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Developed by Cambridge Centre of</a:t>
            </a:r>
          </a:p>
          <a:p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Climate Change Mitigation Research, University of Cambridge</a:t>
            </a:r>
          </a:p>
          <a:p>
            <a:endParaRPr lang="en-US" altLang="ja-JP" sz="2400" dirty="0"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8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8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No equilibrium, Non optimization</a:t>
            </a:r>
          </a:p>
          <a:p>
            <a:r>
              <a:rPr lang="ja-JP" altLang="en-US" sz="28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8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24 technologies for power generation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971600" y="756000"/>
            <a:ext cx="486319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54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2. Modeling Tool</a:t>
            </a:r>
            <a:endParaRPr lang="ja-JP" altLang="en-US" sz="5400" dirty="0"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0334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9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67544" y="476672"/>
            <a:ext cx="5593391" cy="15491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ea typeface="メイリオ" pitchFamily="50" charset="-128"/>
                <a:cs typeface="メイリオ" pitchFamily="50" charset="-128"/>
              </a:rPr>
              <a:t>FTT: Power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(</a:t>
            </a:r>
            <a:r>
              <a:rPr kumimoji="1" lang="en-US" altLang="ja-JP" sz="2800" dirty="0" smtClean="0">
                <a:ea typeface="メイリオ" pitchFamily="50" charset="-128"/>
                <a:cs typeface="メイリオ" pitchFamily="50" charset="-128"/>
              </a:rPr>
              <a:t>1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)</a:t>
            </a:r>
          </a:p>
          <a:p>
            <a:pPr>
              <a:lnSpc>
                <a:spcPts val="4000"/>
              </a:lnSpc>
            </a:pPr>
            <a:r>
              <a:rPr kumimoji="1"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Probabilistic decision making</a:t>
            </a:r>
          </a:p>
          <a:p>
            <a:pPr>
              <a:lnSpc>
                <a:spcPts val="3600"/>
              </a:lnSpc>
            </a:pPr>
            <a:r>
              <a:rPr kumimoji="1"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between two technologies</a:t>
            </a:r>
          </a:p>
        </p:txBody>
      </p:sp>
      <p:grpSp>
        <p:nvGrpSpPr>
          <p:cNvPr id="51" name="Group 2"/>
          <p:cNvGrpSpPr>
            <a:grpSpLocks/>
          </p:cNvGrpSpPr>
          <p:nvPr/>
        </p:nvGrpSpPr>
        <p:grpSpPr bwMode="auto">
          <a:xfrm>
            <a:off x="1115616" y="2104553"/>
            <a:ext cx="6710363" cy="3268663"/>
            <a:chOff x="792163" y="1446725"/>
            <a:chExt cx="7153275" cy="3432175"/>
          </a:xfrm>
        </p:grpSpPr>
        <p:pic>
          <p:nvPicPr>
            <p:cNvPr id="52" name="Picture 5" descr="Figure1.jp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163" y="1446725"/>
              <a:ext cx="7153275" cy="343217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Rectangle 3"/>
            <p:cNvSpPr/>
            <p:nvPr/>
          </p:nvSpPr>
          <p:spPr>
            <a:xfrm>
              <a:off x="1717842" y="1975137"/>
              <a:ext cx="1423208" cy="6500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en-US" altLang="ja-JP" sz="1800">
                <a:solidFill>
                  <a:srgbClr val="FFFFFF"/>
                </a:solidFill>
              </a:endParaRPr>
            </a:p>
          </p:txBody>
        </p:sp>
        <p:sp>
          <p:nvSpPr>
            <p:cNvPr id="54" name="Rectangle 13"/>
            <p:cNvSpPr/>
            <p:nvPr/>
          </p:nvSpPr>
          <p:spPr>
            <a:xfrm>
              <a:off x="6364847" y="1955134"/>
              <a:ext cx="1424901" cy="6517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 hangingPunct="1"/>
              <a:endParaRPr lang="en-US" altLang="ja-JP" sz="1800">
                <a:solidFill>
                  <a:srgbClr val="FFFFFF"/>
                </a:solidFill>
              </a:endParaRPr>
            </a:p>
          </p:txBody>
        </p:sp>
      </p:grpSp>
      <p:sp>
        <p:nvSpPr>
          <p:cNvPr id="57" name="Rectangle 5"/>
          <p:cNvSpPr txBox="1">
            <a:spLocks noChangeArrowheads="1"/>
          </p:cNvSpPr>
          <p:nvPr/>
        </p:nvSpPr>
        <p:spPr bwMode="auto">
          <a:xfrm>
            <a:off x="2080196" y="5406354"/>
            <a:ext cx="4796060" cy="542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0" tIns="0" rIns="0" bIns="0"/>
          <a:lstStyle>
            <a:lvl1pPr marL="269875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ＭＳ Ｐゴシック" charset="0"/>
              </a:defRPr>
            </a:lvl1pPr>
            <a:lvl2pPr marL="538163" indent="-266700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809625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079500" indent="-268288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350963" indent="-269875" algn="l" rtl="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18081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2653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7225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179763" indent="-269875" algn="l" rtl="0" fontAlgn="base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spcAft>
                <a:spcPts val="1200"/>
              </a:spcAft>
              <a:buFontTx/>
              <a:buNone/>
              <a:defRPr/>
            </a:pPr>
            <a:r>
              <a:rPr lang="en-US" altLang="ja-JP" sz="32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Probabilistic Choice Matrix</a:t>
            </a:r>
            <a:r>
              <a:rPr lang="en-GB" sz="32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: </a:t>
            </a:r>
          </a:p>
        </p:txBody>
      </p:sp>
      <p:sp>
        <p:nvSpPr>
          <p:cNvPr id="12" name="TextBox 14"/>
          <p:cNvSpPr txBox="1">
            <a:spLocks noChangeArrowheads="1"/>
          </p:cNvSpPr>
          <p:nvPr/>
        </p:nvSpPr>
        <p:spPr bwMode="auto">
          <a:xfrm>
            <a:off x="3419872" y="6093296"/>
            <a:ext cx="45597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800" dirty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J.-F. </a:t>
            </a:r>
            <a:r>
              <a:rPr lang="en-US" altLang="ja-JP" sz="1800" dirty="0" err="1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Mercure</a:t>
            </a:r>
            <a:r>
              <a:rPr lang="en-US" altLang="ja-JP" sz="1800" dirty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, Energy Policy 48, 799-811 (2012)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テキスト ボックス 1"/>
              <p:cNvSpPr txBox="1"/>
              <p:nvPr/>
            </p:nvSpPr>
            <p:spPr>
              <a:xfrm>
                <a:off x="6372200" y="5013176"/>
                <a:ext cx="1812355" cy="1089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sz="60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kumimoji="1" lang="en-US" sz="6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6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kumimoji="1" lang="en-US" sz="6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kumimoji="1" lang="en-US" sz="60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kumimoji="1" lang="en-GB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テキスト ボックス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5013176"/>
                <a:ext cx="1812355" cy="1089914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05660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323527" y="1844824"/>
            <a:ext cx="8496945" cy="3600400"/>
          </a:xfrm>
          <a:prstGeom prst="rect">
            <a:avLst/>
          </a:prstGeom>
          <a:solidFill>
            <a:schemeClr val="bg1"/>
          </a:solidFill>
          <a:ln w="57150" cap="flat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GB"/>
          </a:p>
        </p:txBody>
      </p:sp>
      <p:pic>
        <p:nvPicPr>
          <p:cNvPr id="3" name="Picture 4" descr="Choices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49844" y="2060848"/>
            <a:ext cx="4198620" cy="165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Choices2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3380" y="2060848"/>
            <a:ext cx="4198620" cy="165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387419" y="3808054"/>
            <a:ext cx="8361045" cy="1649889"/>
            <a:chOff x="153988" y="3741738"/>
            <a:chExt cx="8801100" cy="1736725"/>
          </a:xfrm>
        </p:grpSpPr>
        <p:pic>
          <p:nvPicPr>
            <p:cNvPr id="6" name="Picture 6" descr="Choices3.jp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988" y="3743325"/>
              <a:ext cx="4416425" cy="1735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7" descr="Choices4.jpg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5488" y="3741738"/>
              <a:ext cx="4419600" cy="1736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10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39552" y="5487615"/>
            <a:ext cx="1409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※</a:t>
            </a:r>
            <a:r>
              <a:rPr lang="en-US" altLang="ja-JP" sz="2400" dirty="0" err="1" smtClean="0">
                <a:latin typeface="+mj-lt"/>
                <a:ea typeface="メイリオ" pitchFamily="50" charset="-128"/>
                <a:cs typeface="メイリオ" pitchFamily="50" charset="-128"/>
              </a:rPr>
              <a:t>Δx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=x</a:t>
            </a:r>
            <a:r>
              <a:rPr lang="en-US" altLang="ja-JP" sz="1600" dirty="0" smtClean="0">
                <a:latin typeface="+mj-lt"/>
                <a:ea typeface="メイリオ" pitchFamily="50" charset="-128"/>
                <a:cs typeface="メイリオ" pitchFamily="50" charset="-128"/>
              </a:rPr>
              <a:t>i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-</a:t>
            </a:r>
            <a:r>
              <a:rPr lang="en-US" altLang="ja-JP" sz="2400" dirty="0" err="1" smtClean="0">
                <a:latin typeface="+mj-lt"/>
                <a:ea typeface="メイリオ" pitchFamily="50" charset="-128"/>
                <a:cs typeface="メイリオ" pitchFamily="50" charset="-128"/>
              </a:rPr>
              <a:t>x</a:t>
            </a:r>
            <a:r>
              <a:rPr lang="en-US" altLang="ja-JP" sz="1600" dirty="0" err="1" smtClean="0">
                <a:latin typeface="+mj-lt"/>
                <a:ea typeface="メイリオ" pitchFamily="50" charset="-128"/>
                <a:cs typeface="メイリオ" pitchFamily="50" charset="-128"/>
              </a:rPr>
              <a:t>j</a:t>
            </a:r>
            <a:endParaRPr lang="en-US" altLang="ja-JP" sz="2400" dirty="0" smtClean="0"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546932" y="5007484"/>
            <a:ext cx="296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0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723396" y="5007484"/>
            <a:ext cx="296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0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39552" y="6002124"/>
            <a:ext cx="7534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u="sng" dirty="0" smtClean="0">
                <a:latin typeface="+mj-lt"/>
                <a:ea typeface="メイリオ" pitchFamily="50" charset="-128"/>
                <a:cs typeface="メイリオ" pitchFamily="50" charset="-128"/>
              </a:rPr>
              <a:t>Choice probability represents diversity of investors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188690" y="5610726"/>
            <a:ext cx="45597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800" dirty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J.-F. </a:t>
            </a:r>
            <a:r>
              <a:rPr lang="en-US" altLang="ja-JP" sz="1800" dirty="0" err="1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Mercure</a:t>
            </a:r>
            <a:r>
              <a:rPr lang="en-US" altLang="ja-JP" sz="1800" dirty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, Energy Policy 48, 799-811 (2012)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67544" y="476672"/>
            <a:ext cx="585307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ea typeface="メイリオ" pitchFamily="50" charset="-128"/>
                <a:cs typeface="メイリオ" pitchFamily="50" charset="-128"/>
              </a:rPr>
              <a:t>FTT: Power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(2)</a:t>
            </a:r>
          </a:p>
          <a:p>
            <a:pPr>
              <a:lnSpc>
                <a:spcPts val="3600"/>
              </a:lnSpc>
            </a:pPr>
            <a:r>
              <a:rPr kumimoji="1"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Choice probability distribution</a:t>
            </a:r>
          </a:p>
          <a:p>
            <a:pPr>
              <a:lnSpc>
                <a:spcPts val="3600"/>
              </a:lnSpc>
            </a:pPr>
            <a:r>
              <a:rPr kumimoji="1"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depends on cost distribution</a:t>
            </a:r>
          </a:p>
        </p:txBody>
      </p:sp>
    </p:spTree>
    <p:extLst>
      <p:ext uri="{BB962C8B-B14F-4D97-AF65-F5344CB8AC3E}">
        <p14:creationId xmlns:p14="http://schemas.microsoft.com/office/powerpoint/2010/main" xmlns="" val="68125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11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1146175" y="1999010"/>
            <a:ext cx="1374775" cy="3744913"/>
            <a:chOff x="539552" y="1556792"/>
            <a:chExt cx="1375703" cy="3744416"/>
          </a:xfrm>
        </p:grpSpPr>
        <p:sp>
          <p:nvSpPr>
            <p:cNvPr id="15" name="Rectangle 62"/>
            <p:cNvSpPr>
              <a:spLocks noChangeArrowheads="1"/>
            </p:cNvSpPr>
            <p:nvPr/>
          </p:nvSpPr>
          <p:spPr bwMode="auto">
            <a:xfrm>
              <a:off x="539552" y="1556792"/>
              <a:ext cx="1224789" cy="287300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0000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Coal</a:t>
              </a:r>
            </a:p>
          </p:txBody>
        </p:sp>
        <p:sp>
          <p:nvSpPr>
            <p:cNvPr id="16" name="Rectangle 65"/>
            <p:cNvSpPr>
              <a:spLocks noChangeArrowheads="1"/>
            </p:cNvSpPr>
            <p:nvPr/>
          </p:nvSpPr>
          <p:spPr bwMode="auto">
            <a:xfrm>
              <a:off x="539552" y="2061550"/>
              <a:ext cx="1224789" cy="287300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660066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CCGT</a:t>
              </a:r>
            </a:p>
          </p:txBody>
        </p:sp>
        <p:sp>
          <p:nvSpPr>
            <p:cNvPr id="17" name="Rectangle 72"/>
            <p:cNvSpPr>
              <a:spLocks noChangeArrowheads="1"/>
            </p:cNvSpPr>
            <p:nvPr/>
          </p:nvSpPr>
          <p:spPr bwMode="auto">
            <a:xfrm>
              <a:off x="539552" y="2564721"/>
              <a:ext cx="1224789" cy="288887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0076EE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Hydro</a:t>
              </a:r>
            </a:p>
          </p:txBody>
        </p:sp>
        <p:sp>
          <p:nvSpPr>
            <p:cNvPr id="18" name="Rectangle 73"/>
            <p:cNvSpPr>
              <a:spLocks noChangeArrowheads="1"/>
            </p:cNvSpPr>
            <p:nvPr/>
          </p:nvSpPr>
          <p:spPr bwMode="auto">
            <a:xfrm>
              <a:off x="539552" y="3069479"/>
              <a:ext cx="1224789" cy="287299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0080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Wind</a:t>
              </a:r>
            </a:p>
          </p:txBody>
        </p:sp>
        <p:sp>
          <p:nvSpPr>
            <p:cNvPr id="19" name="Rectangle 74"/>
            <p:cNvSpPr>
              <a:spLocks noChangeArrowheads="1"/>
            </p:cNvSpPr>
            <p:nvPr/>
          </p:nvSpPr>
          <p:spPr bwMode="auto">
            <a:xfrm>
              <a:off x="539552" y="3572649"/>
              <a:ext cx="1224789" cy="288887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FF66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PV</a:t>
              </a:r>
            </a:p>
          </p:txBody>
        </p:sp>
        <p:sp>
          <p:nvSpPr>
            <p:cNvPr id="20" name="Rectangle 75"/>
            <p:cNvSpPr>
              <a:spLocks noChangeArrowheads="1"/>
            </p:cNvSpPr>
            <p:nvPr/>
          </p:nvSpPr>
          <p:spPr bwMode="auto">
            <a:xfrm>
              <a:off x="539552" y="4077407"/>
              <a:ext cx="1224789" cy="287300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FF00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BIGCC</a:t>
              </a:r>
            </a:p>
          </p:txBody>
        </p:sp>
        <p:sp>
          <p:nvSpPr>
            <p:cNvPr id="21" name="TextBox 2"/>
            <p:cNvSpPr txBox="1">
              <a:spLocks noChangeArrowheads="1"/>
            </p:cNvSpPr>
            <p:nvPr/>
          </p:nvSpPr>
          <p:spPr bwMode="auto">
            <a:xfrm rot="5400000">
              <a:off x="930370" y="4316323"/>
              <a:ext cx="954107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en-US" sz="6000" dirty="0"/>
                <a:t>…</a:t>
              </a:r>
            </a:p>
          </p:txBody>
        </p:sp>
      </p:grpSp>
      <p:grpSp>
        <p:nvGrpSpPr>
          <p:cNvPr id="22" name="Group 9"/>
          <p:cNvGrpSpPr>
            <a:grpSpLocks/>
          </p:cNvGrpSpPr>
          <p:nvPr/>
        </p:nvGrpSpPr>
        <p:grpSpPr bwMode="auto">
          <a:xfrm>
            <a:off x="4367213" y="1999010"/>
            <a:ext cx="1374775" cy="3744913"/>
            <a:chOff x="539552" y="1556792"/>
            <a:chExt cx="1375703" cy="3744416"/>
          </a:xfrm>
        </p:grpSpPr>
        <p:sp>
          <p:nvSpPr>
            <p:cNvPr id="23" name="Rectangle 79"/>
            <p:cNvSpPr>
              <a:spLocks noChangeArrowheads="1"/>
            </p:cNvSpPr>
            <p:nvPr/>
          </p:nvSpPr>
          <p:spPr bwMode="auto">
            <a:xfrm>
              <a:off x="539552" y="1556792"/>
              <a:ext cx="1224788" cy="287300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0000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Coal</a:t>
              </a:r>
            </a:p>
          </p:txBody>
        </p:sp>
        <p:sp>
          <p:nvSpPr>
            <p:cNvPr id="24" name="Rectangle 80"/>
            <p:cNvSpPr>
              <a:spLocks noChangeArrowheads="1"/>
            </p:cNvSpPr>
            <p:nvPr/>
          </p:nvSpPr>
          <p:spPr bwMode="auto">
            <a:xfrm>
              <a:off x="539552" y="2061550"/>
              <a:ext cx="1224788" cy="287300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660066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CCGT</a:t>
              </a:r>
            </a:p>
          </p:txBody>
        </p:sp>
        <p:sp>
          <p:nvSpPr>
            <p:cNvPr id="25" name="Rectangle 81"/>
            <p:cNvSpPr>
              <a:spLocks noChangeArrowheads="1"/>
            </p:cNvSpPr>
            <p:nvPr/>
          </p:nvSpPr>
          <p:spPr bwMode="auto">
            <a:xfrm>
              <a:off x="539552" y="2564721"/>
              <a:ext cx="1224788" cy="288887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0076EE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Hydro</a:t>
              </a:r>
            </a:p>
          </p:txBody>
        </p:sp>
        <p:sp>
          <p:nvSpPr>
            <p:cNvPr id="26" name="Rectangle 82"/>
            <p:cNvSpPr>
              <a:spLocks noChangeArrowheads="1"/>
            </p:cNvSpPr>
            <p:nvPr/>
          </p:nvSpPr>
          <p:spPr bwMode="auto">
            <a:xfrm>
              <a:off x="539552" y="3069479"/>
              <a:ext cx="1224788" cy="287299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0080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Wind</a:t>
              </a:r>
            </a:p>
          </p:txBody>
        </p:sp>
        <p:sp>
          <p:nvSpPr>
            <p:cNvPr id="27" name="Rectangle 83"/>
            <p:cNvSpPr>
              <a:spLocks noChangeArrowheads="1"/>
            </p:cNvSpPr>
            <p:nvPr/>
          </p:nvSpPr>
          <p:spPr bwMode="auto">
            <a:xfrm>
              <a:off x="539552" y="3572649"/>
              <a:ext cx="1224788" cy="288887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FF66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PV</a:t>
              </a:r>
            </a:p>
          </p:txBody>
        </p:sp>
        <p:sp>
          <p:nvSpPr>
            <p:cNvPr id="28" name="Rectangle 84"/>
            <p:cNvSpPr>
              <a:spLocks noChangeArrowheads="1"/>
            </p:cNvSpPr>
            <p:nvPr/>
          </p:nvSpPr>
          <p:spPr bwMode="auto">
            <a:xfrm>
              <a:off x="539552" y="4077407"/>
              <a:ext cx="1224788" cy="287300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FF00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BIGCC</a:t>
              </a:r>
            </a:p>
          </p:txBody>
        </p:sp>
        <p:sp>
          <p:nvSpPr>
            <p:cNvPr id="29" name="TextBox 2"/>
            <p:cNvSpPr txBox="1">
              <a:spLocks noChangeArrowheads="1"/>
            </p:cNvSpPr>
            <p:nvPr/>
          </p:nvSpPr>
          <p:spPr bwMode="auto">
            <a:xfrm rot="5400000">
              <a:off x="930370" y="4316323"/>
              <a:ext cx="954107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en-US" sz="6000" dirty="0"/>
                <a:t>…</a:t>
              </a:r>
            </a:p>
          </p:txBody>
        </p:sp>
      </p:grpSp>
      <p:sp>
        <p:nvSpPr>
          <p:cNvPr id="30" name="TextBox 10"/>
          <p:cNvSpPr txBox="1">
            <a:spLocks noChangeArrowheads="1"/>
          </p:cNvSpPr>
          <p:nvPr/>
        </p:nvSpPr>
        <p:spPr bwMode="auto">
          <a:xfrm>
            <a:off x="4778375" y="5539135"/>
            <a:ext cx="4524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en-US" sz="4000" i="1" dirty="0"/>
              <a:t>t</a:t>
            </a:r>
          </a:p>
        </p:txBody>
      </p:sp>
      <p:grpSp>
        <p:nvGrpSpPr>
          <p:cNvPr id="31" name="Group 11"/>
          <p:cNvGrpSpPr>
            <a:grpSpLocks/>
          </p:cNvGrpSpPr>
          <p:nvPr/>
        </p:nvGrpSpPr>
        <p:grpSpPr bwMode="auto">
          <a:xfrm>
            <a:off x="7175500" y="1999010"/>
            <a:ext cx="1374775" cy="3744913"/>
            <a:chOff x="539552" y="1556792"/>
            <a:chExt cx="1375703" cy="3744416"/>
          </a:xfrm>
        </p:grpSpPr>
        <p:sp>
          <p:nvSpPr>
            <p:cNvPr id="32" name="Rectangle 53"/>
            <p:cNvSpPr>
              <a:spLocks noChangeArrowheads="1"/>
            </p:cNvSpPr>
            <p:nvPr/>
          </p:nvSpPr>
          <p:spPr bwMode="auto">
            <a:xfrm>
              <a:off x="539552" y="1556792"/>
              <a:ext cx="1224789" cy="287300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0000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Coal</a:t>
              </a:r>
            </a:p>
          </p:txBody>
        </p:sp>
        <p:sp>
          <p:nvSpPr>
            <p:cNvPr id="33" name="Rectangle 54"/>
            <p:cNvSpPr>
              <a:spLocks noChangeArrowheads="1"/>
            </p:cNvSpPr>
            <p:nvPr/>
          </p:nvSpPr>
          <p:spPr bwMode="auto">
            <a:xfrm>
              <a:off x="539552" y="2061550"/>
              <a:ext cx="1224789" cy="287300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660066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CCGT</a:t>
              </a:r>
            </a:p>
          </p:txBody>
        </p:sp>
        <p:sp>
          <p:nvSpPr>
            <p:cNvPr id="34" name="Rectangle 55"/>
            <p:cNvSpPr>
              <a:spLocks noChangeArrowheads="1"/>
            </p:cNvSpPr>
            <p:nvPr/>
          </p:nvSpPr>
          <p:spPr bwMode="auto">
            <a:xfrm>
              <a:off x="539552" y="2564721"/>
              <a:ext cx="1224789" cy="288887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0076EE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Hydro</a:t>
              </a:r>
            </a:p>
          </p:txBody>
        </p:sp>
        <p:sp>
          <p:nvSpPr>
            <p:cNvPr id="35" name="Rectangle 56"/>
            <p:cNvSpPr>
              <a:spLocks noChangeArrowheads="1"/>
            </p:cNvSpPr>
            <p:nvPr/>
          </p:nvSpPr>
          <p:spPr bwMode="auto">
            <a:xfrm>
              <a:off x="539552" y="3069479"/>
              <a:ext cx="1224789" cy="287299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0080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Wind</a:t>
              </a:r>
            </a:p>
          </p:txBody>
        </p:sp>
        <p:sp>
          <p:nvSpPr>
            <p:cNvPr id="36" name="Rectangle 57"/>
            <p:cNvSpPr>
              <a:spLocks noChangeArrowheads="1"/>
            </p:cNvSpPr>
            <p:nvPr/>
          </p:nvSpPr>
          <p:spPr bwMode="auto">
            <a:xfrm>
              <a:off x="539552" y="3572649"/>
              <a:ext cx="1224789" cy="288887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FF66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PV</a:t>
              </a:r>
            </a:p>
          </p:txBody>
        </p:sp>
        <p:sp>
          <p:nvSpPr>
            <p:cNvPr id="37" name="Rectangle 58"/>
            <p:cNvSpPr>
              <a:spLocks noChangeArrowheads="1"/>
            </p:cNvSpPr>
            <p:nvPr/>
          </p:nvSpPr>
          <p:spPr bwMode="auto">
            <a:xfrm>
              <a:off x="539552" y="4077407"/>
              <a:ext cx="1224789" cy="287300"/>
            </a:xfrm>
            <a:prstGeom prst="rect">
              <a:avLst/>
            </a:prstGeom>
            <a:gradFill rotWithShape="1">
              <a:gsLst>
                <a:gs pos="0">
                  <a:srgbClr val="83B3FF"/>
                </a:gs>
                <a:gs pos="100000">
                  <a:srgbClr val="FF0000"/>
                </a:gs>
              </a:gsLst>
              <a:lin ang="5400000"/>
            </a:gradFill>
            <a:ln w="9525">
              <a:solidFill>
                <a:srgbClr val="0071CF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chemeClr val="lt1"/>
                  </a:solidFill>
                  <a:latin typeface="+mn-lt"/>
                  <a:ea typeface="+mn-ea"/>
                </a:rPr>
                <a:t>BIGCC</a:t>
              </a:r>
            </a:p>
          </p:txBody>
        </p:sp>
        <p:sp>
          <p:nvSpPr>
            <p:cNvPr id="38" name="TextBox 18"/>
            <p:cNvSpPr txBox="1">
              <a:spLocks noChangeArrowheads="1"/>
            </p:cNvSpPr>
            <p:nvPr/>
          </p:nvSpPr>
          <p:spPr bwMode="auto">
            <a:xfrm rot="5400000">
              <a:off x="930370" y="4316323"/>
              <a:ext cx="954107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1pPr>
              <a:lvl2pPr marL="742950" indent="-28575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2pPr>
              <a:lvl3pPr marL="1143000" indent="-22860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3pPr>
              <a:lvl4pPr marL="1600200" indent="-22860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4pPr>
              <a:lvl5pPr marL="2057400" indent="-228600" eaLnBrk="0" hangingPunct="0"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75000"/>
                </a:spcAft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ＭＳ Ｐゴシック" pitchFamily="50" charset="-128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en-US" sz="6000"/>
                <a:t>…</a:t>
              </a:r>
            </a:p>
          </p:txBody>
        </p:sp>
      </p:grpSp>
      <p:grpSp>
        <p:nvGrpSpPr>
          <p:cNvPr id="40" name="Group 9"/>
          <p:cNvGrpSpPr>
            <a:grpSpLocks/>
          </p:cNvGrpSpPr>
          <p:nvPr/>
        </p:nvGrpSpPr>
        <p:grpSpPr bwMode="auto">
          <a:xfrm>
            <a:off x="357188" y="1628800"/>
            <a:ext cx="6818312" cy="3034035"/>
            <a:chOff x="126675" y="1337940"/>
            <a:chExt cx="6817648" cy="3034035"/>
          </a:xfrm>
        </p:grpSpPr>
        <p:grpSp>
          <p:nvGrpSpPr>
            <p:cNvPr id="41" name="Group 2"/>
            <p:cNvGrpSpPr>
              <a:grpSpLocks/>
            </p:cNvGrpSpPr>
            <p:nvPr/>
          </p:nvGrpSpPr>
          <p:grpSpPr bwMode="auto">
            <a:xfrm>
              <a:off x="2414032" y="1337940"/>
              <a:ext cx="4530291" cy="3034035"/>
              <a:chOff x="617972" y="1337940"/>
              <a:chExt cx="4530291" cy="3034035"/>
            </a:xfrm>
          </p:grpSpPr>
          <p:sp>
            <p:nvSpPr>
              <p:cNvPr id="43" name="TextBox 7173"/>
              <p:cNvSpPr txBox="1">
                <a:spLocks noChangeArrowheads="1"/>
              </p:cNvSpPr>
              <p:nvPr/>
            </p:nvSpPr>
            <p:spPr bwMode="auto">
              <a:xfrm>
                <a:off x="3641725" y="1337940"/>
                <a:ext cx="1506538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Aft>
                    <a:spcPct val="75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1pPr>
                <a:lvl2pPr marL="742950" indent="-285750" eaLnBrk="0" hangingPunct="0">
                  <a:spcAft>
                    <a:spcPct val="75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2pPr>
                <a:lvl3pPr marL="1143000" indent="-228600" eaLnBrk="0" hangingPunct="0">
                  <a:spcAft>
                    <a:spcPct val="75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3pPr>
                <a:lvl4pPr marL="1600200" indent="-228600" eaLnBrk="0" hangingPunct="0">
                  <a:spcAft>
                    <a:spcPct val="75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4pPr>
                <a:lvl5pPr marL="2057400" indent="-228600" eaLnBrk="0" hangingPunct="0">
                  <a:spcAft>
                    <a:spcPct val="75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75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75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75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75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en-US" sz="1800" dirty="0"/>
                  <a:t>Substitutions</a:t>
                </a:r>
              </a:p>
            </p:txBody>
          </p:sp>
          <p:grpSp>
            <p:nvGrpSpPr>
              <p:cNvPr id="44" name="Group 30"/>
              <p:cNvGrpSpPr>
                <a:grpSpLocks/>
              </p:cNvGrpSpPr>
              <p:nvPr/>
            </p:nvGrpSpPr>
            <p:grpSpPr bwMode="auto">
              <a:xfrm>
                <a:off x="3635375" y="1852613"/>
                <a:ext cx="1441450" cy="2519362"/>
                <a:chOff x="3635896" y="1988840"/>
                <a:chExt cx="1440160" cy="2520280"/>
              </a:xfrm>
            </p:grpSpPr>
            <p:cxnSp>
              <p:nvCxnSpPr>
                <p:cNvPr id="55" name="Straight Arrow Connector 21"/>
                <p:cNvCxnSpPr>
                  <a:cxnSpLocks noChangeShapeType="1"/>
                </p:cNvCxnSpPr>
                <p:nvPr/>
              </p:nvCxnSpPr>
              <p:spPr bwMode="auto">
                <a:xfrm>
                  <a:off x="3636044" y="1988840"/>
                  <a:ext cx="1440020" cy="503420"/>
                </a:xfrm>
                <a:prstGeom prst="straightConnector1">
                  <a:avLst/>
                </a:prstGeom>
                <a:noFill/>
                <a:ln w="50800">
                  <a:solidFill>
                    <a:srgbClr val="000000"/>
                  </a:solidFill>
                  <a:round/>
                  <a:headEnd/>
                  <a:tailEnd type="arrow" w="med" len="med"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  <p:cxnSp>
              <p:nvCxnSpPr>
                <p:cNvPr id="56" name="Straight Arrow Connector 25"/>
                <p:cNvCxnSpPr>
                  <a:cxnSpLocks noChangeShapeType="1"/>
                </p:cNvCxnSpPr>
                <p:nvPr/>
              </p:nvCxnSpPr>
              <p:spPr bwMode="auto">
                <a:xfrm>
                  <a:off x="3636044" y="1988840"/>
                  <a:ext cx="1440020" cy="2520280"/>
                </a:xfrm>
                <a:prstGeom prst="straightConnector1">
                  <a:avLst/>
                </a:prstGeom>
                <a:noFill/>
                <a:ln w="50800">
                  <a:solidFill>
                    <a:srgbClr val="000000"/>
                  </a:solidFill>
                  <a:round/>
                  <a:headEnd/>
                  <a:tailEnd type="arrow" w="med" len="med"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  <p:cxnSp>
              <p:nvCxnSpPr>
                <p:cNvPr id="57" name="Straight Arrow Connector 51"/>
                <p:cNvCxnSpPr>
                  <a:cxnSpLocks noChangeShapeType="1"/>
                </p:cNvCxnSpPr>
                <p:nvPr/>
              </p:nvCxnSpPr>
              <p:spPr bwMode="auto">
                <a:xfrm>
                  <a:off x="3636044" y="1988840"/>
                  <a:ext cx="1440020" cy="1008429"/>
                </a:xfrm>
                <a:prstGeom prst="straightConnector1">
                  <a:avLst/>
                </a:prstGeom>
                <a:noFill/>
                <a:ln w="50800">
                  <a:solidFill>
                    <a:srgbClr val="000000"/>
                  </a:solidFill>
                  <a:round/>
                  <a:headEnd/>
                  <a:tailEnd type="arrow" w="med" len="med"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  <p:cxnSp>
              <p:nvCxnSpPr>
                <p:cNvPr id="58" name="Straight Arrow Connector 63"/>
                <p:cNvCxnSpPr>
                  <a:cxnSpLocks noChangeShapeType="1"/>
                </p:cNvCxnSpPr>
                <p:nvPr/>
              </p:nvCxnSpPr>
              <p:spPr bwMode="auto">
                <a:xfrm>
                  <a:off x="3636044" y="1988840"/>
                  <a:ext cx="1440020" cy="1584902"/>
                </a:xfrm>
                <a:prstGeom prst="straightConnector1">
                  <a:avLst/>
                </a:prstGeom>
                <a:noFill/>
                <a:ln w="50800">
                  <a:solidFill>
                    <a:srgbClr val="000000"/>
                  </a:solidFill>
                  <a:round/>
                  <a:headEnd/>
                  <a:tailEnd type="arrow" w="med" len="med"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  <p:cxnSp>
              <p:nvCxnSpPr>
                <p:cNvPr id="59" name="Straight Arrow Connector 64"/>
                <p:cNvCxnSpPr>
                  <a:cxnSpLocks noChangeShapeType="1"/>
                </p:cNvCxnSpPr>
                <p:nvPr/>
              </p:nvCxnSpPr>
              <p:spPr bwMode="auto">
                <a:xfrm>
                  <a:off x="3636044" y="1988840"/>
                  <a:ext cx="1440020" cy="2016860"/>
                </a:xfrm>
                <a:prstGeom prst="straightConnector1">
                  <a:avLst/>
                </a:prstGeom>
                <a:noFill/>
                <a:ln w="50800">
                  <a:solidFill>
                    <a:srgbClr val="000000"/>
                  </a:solidFill>
                  <a:round/>
                  <a:headEnd/>
                  <a:tailEnd type="arrow" w="med" len="med"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</p:grpSp>
          <p:grpSp>
            <p:nvGrpSpPr>
              <p:cNvPr id="45" name="Group 66"/>
              <p:cNvGrpSpPr>
                <a:grpSpLocks/>
              </p:cNvGrpSpPr>
              <p:nvPr/>
            </p:nvGrpSpPr>
            <p:grpSpPr bwMode="auto">
              <a:xfrm flipH="1">
                <a:off x="3635375" y="1852613"/>
                <a:ext cx="1441450" cy="2519362"/>
                <a:chOff x="3635896" y="1988840"/>
                <a:chExt cx="1440160" cy="2520280"/>
              </a:xfrm>
            </p:grpSpPr>
            <p:cxnSp>
              <p:nvCxnSpPr>
                <p:cNvPr id="50" name="Straight Arrow Connector 67"/>
                <p:cNvCxnSpPr>
                  <a:cxnSpLocks noChangeShapeType="1"/>
                </p:cNvCxnSpPr>
                <p:nvPr/>
              </p:nvCxnSpPr>
              <p:spPr bwMode="auto">
                <a:xfrm>
                  <a:off x="3635888" y="1988840"/>
                  <a:ext cx="1440020" cy="503420"/>
                </a:xfrm>
                <a:prstGeom prst="straightConnector1">
                  <a:avLst/>
                </a:prstGeom>
                <a:noFill/>
                <a:ln w="50800">
                  <a:solidFill>
                    <a:srgbClr val="660066"/>
                  </a:solidFill>
                  <a:round/>
                  <a:headEnd type="arrow" w="med" len="med"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  <p:cxnSp>
              <p:nvCxnSpPr>
                <p:cNvPr id="51" name="Straight Arrow Connector 69"/>
                <p:cNvCxnSpPr>
                  <a:cxnSpLocks noChangeShapeType="1"/>
                </p:cNvCxnSpPr>
                <p:nvPr/>
              </p:nvCxnSpPr>
              <p:spPr bwMode="auto">
                <a:xfrm>
                  <a:off x="3635888" y="1988840"/>
                  <a:ext cx="1440020" cy="1008429"/>
                </a:xfrm>
                <a:prstGeom prst="straightConnector1">
                  <a:avLst/>
                </a:prstGeom>
                <a:noFill/>
                <a:ln w="50800">
                  <a:solidFill>
                    <a:srgbClr val="1193FF"/>
                  </a:solidFill>
                  <a:round/>
                  <a:headEnd type="arrow" w="med" len="med"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  <p:cxnSp>
              <p:nvCxnSpPr>
                <p:cNvPr id="52" name="Straight Arrow Connector 70"/>
                <p:cNvCxnSpPr>
                  <a:cxnSpLocks noChangeShapeType="1"/>
                </p:cNvCxnSpPr>
                <p:nvPr/>
              </p:nvCxnSpPr>
              <p:spPr bwMode="auto">
                <a:xfrm>
                  <a:off x="3635888" y="1988840"/>
                  <a:ext cx="1440020" cy="1584902"/>
                </a:xfrm>
                <a:prstGeom prst="straightConnector1">
                  <a:avLst/>
                </a:prstGeom>
                <a:noFill/>
                <a:ln w="50800">
                  <a:solidFill>
                    <a:srgbClr val="008000"/>
                  </a:solidFill>
                  <a:round/>
                  <a:headEnd type="arrow" w="med" len="med"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  <p:cxnSp>
              <p:nvCxnSpPr>
                <p:cNvPr id="53" name="Straight Arrow Connector 71"/>
                <p:cNvCxnSpPr>
                  <a:cxnSpLocks noChangeShapeType="1"/>
                </p:cNvCxnSpPr>
                <p:nvPr/>
              </p:nvCxnSpPr>
              <p:spPr bwMode="auto">
                <a:xfrm>
                  <a:off x="3635888" y="1988840"/>
                  <a:ext cx="1440020" cy="2016860"/>
                </a:xfrm>
                <a:prstGeom prst="straightConnector1">
                  <a:avLst/>
                </a:prstGeom>
                <a:noFill/>
                <a:ln w="50800">
                  <a:solidFill>
                    <a:srgbClr val="FF6600"/>
                  </a:solidFill>
                  <a:round/>
                  <a:headEnd type="arrow" w="med" len="med"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  <p:cxnSp>
              <p:nvCxnSpPr>
                <p:cNvPr id="54" name="Straight Arrow Connector 68"/>
                <p:cNvCxnSpPr>
                  <a:cxnSpLocks noChangeShapeType="1"/>
                </p:cNvCxnSpPr>
                <p:nvPr/>
              </p:nvCxnSpPr>
              <p:spPr bwMode="auto">
                <a:xfrm>
                  <a:off x="3635888" y="1988840"/>
                  <a:ext cx="1440020" cy="2520280"/>
                </a:xfrm>
                <a:prstGeom prst="straightConnector1">
                  <a:avLst/>
                </a:prstGeom>
                <a:noFill/>
                <a:ln w="50800">
                  <a:solidFill>
                    <a:srgbClr val="FF0000"/>
                  </a:solidFill>
                  <a:round/>
                  <a:headEnd type="arrow" w="med" len="med"/>
                  <a:tailEnd/>
                </a:ln>
                <a:effectLst>
                  <a:outerShdw blurRad="40000" dist="20000" dir="5400000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</p:cxnSp>
          </p:grpSp>
          <p:graphicFrame>
            <p:nvGraphicFramePr>
              <p:cNvPr id="46" name="Object 3"/>
              <p:cNvGraphicFramePr>
                <a:graphicFrameLocks noChangeAspect="1"/>
              </p:cNvGraphicFramePr>
              <p:nvPr/>
            </p:nvGraphicFramePr>
            <p:xfrm>
              <a:off x="617972" y="2254250"/>
              <a:ext cx="1822450" cy="1824038"/>
            </p:xfrm>
            <a:graphic>
              <a:graphicData uri="http://schemas.openxmlformats.org/presentationml/2006/ole">
                <p:oleObj spid="_x0000_s10423" name="Equation" r:id="rId3" imgW="383760" imgH="383760" progId="Equation.3">
                  <p:embed/>
                </p:oleObj>
              </a:graphicData>
            </a:graphic>
          </p:graphicFrame>
          <p:sp>
            <p:nvSpPr>
              <p:cNvPr id="48" name="Rectangle 38"/>
              <p:cNvSpPr/>
              <p:nvPr/>
            </p:nvSpPr>
            <p:spPr bwMode="auto">
              <a:xfrm>
                <a:off x="3714892" y="2462213"/>
                <a:ext cx="1278160" cy="962025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ＭＳ Ｐゴシック" pitchFamily="50" charset="-128"/>
                  </a:defRPr>
                </a:lvl9pPr>
              </a:lstStyle>
              <a:p>
                <a:pPr algn="ctr" eaLnBrk="1" hangingPunct="1"/>
                <a:endParaRPr lang="en-US" altLang="ja-JP">
                  <a:solidFill>
                    <a:srgbClr val="FFFFFF"/>
                  </a:solidFill>
                </a:endParaRPr>
              </a:p>
            </p:txBody>
          </p:sp>
        </p:grpSp>
        <p:graphicFrame>
          <p:nvGraphicFramePr>
            <p:cNvPr id="42" name="Object 3"/>
            <p:cNvGraphicFramePr>
              <a:graphicFrameLocks noChangeAspect="1"/>
            </p:cNvGraphicFramePr>
            <p:nvPr/>
          </p:nvGraphicFramePr>
          <p:xfrm>
            <a:off x="126675" y="2537630"/>
            <a:ext cx="646112" cy="765175"/>
          </p:xfrm>
          <a:graphic>
            <a:graphicData uri="http://schemas.openxmlformats.org/presentationml/2006/ole">
              <p:oleObj spid="_x0000_s10424" name="Equation" r:id="rId4" imgW="127800" imgH="155160" progId="Equation.3">
                <p:embed/>
              </p:oleObj>
            </a:graphicData>
          </a:graphic>
        </p:graphicFrame>
      </p:grpSp>
      <p:sp>
        <p:nvSpPr>
          <p:cNvPr id="60" name="TextBox 10"/>
          <p:cNvSpPr txBox="1">
            <a:spLocks noChangeArrowheads="1"/>
          </p:cNvSpPr>
          <p:nvPr/>
        </p:nvSpPr>
        <p:spPr bwMode="auto">
          <a:xfrm>
            <a:off x="1557338" y="5539135"/>
            <a:ext cx="4524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7500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en-US" sz="4000" i="1" dirty="0"/>
              <a:t>t</a:t>
            </a:r>
          </a:p>
        </p:txBody>
      </p:sp>
      <p:sp>
        <p:nvSpPr>
          <p:cNvPr id="62" name="TextBox 14"/>
          <p:cNvSpPr txBox="1">
            <a:spLocks noChangeArrowheads="1"/>
          </p:cNvSpPr>
          <p:nvPr/>
        </p:nvSpPr>
        <p:spPr bwMode="auto">
          <a:xfrm>
            <a:off x="4139952" y="6093296"/>
            <a:ext cx="45597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800" dirty="0">
                <a:latin typeface="+mn-lt"/>
                <a:ea typeface="メイリオ" panose="020B0604030504040204" pitchFamily="50" charset="-128"/>
                <a:cs typeface="メイリオ" panose="020B0604030504040204" pitchFamily="50" charset="-128"/>
              </a:rPr>
              <a:t>J.-F. </a:t>
            </a:r>
            <a:r>
              <a:rPr lang="en-US" altLang="ja-JP" sz="1800" dirty="0" err="1">
                <a:latin typeface="+mn-lt"/>
                <a:ea typeface="メイリオ" panose="020B0604030504040204" pitchFamily="50" charset="-128"/>
                <a:cs typeface="メイリオ" panose="020B0604030504040204" pitchFamily="50" charset="-128"/>
              </a:rPr>
              <a:t>Mercure</a:t>
            </a:r>
            <a:r>
              <a:rPr lang="en-US" altLang="ja-JP" sz="1800" dirty="0">
                <a:latin typeface="+mn-lt"/>
                <a:ea typeface="メイリオ" panose="020B0604030504040204" pitchFamily="50" charset="-128"/>
                <a:cs typeface="メイリオ" panose="020B0604030504040204" pitchFamily="50" charset="-128"/>
              </a:rPr>
              <a:t>, Energy Policy 48, 799-811 (2012)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4" name="テキスト ボックス 63"/>
              <p:cNvSpPr txBox="1"/>
              <p:nvPr/>
            </p:nvSpPr>
            <p:spPr>
              <a:xfrm>
                <a:off x="5495949" y="2636912"/>
                <a:ext cx="1812355" cy="1089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sz="60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[</m:t>
                      </m:r>
                      <m:sSub>
                        <m:sSubPr>
                          <m:ctrlPr>
                            <a:rPr kumimoji="1" lang="en-US" sz="6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sz="6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kumimoji="1" lang="en-US" sz="6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kumimoji="1" lang="en-US" sz="6000" b="0" i="0" smtClean="0">
                          <a:solidFill>
                            <a:schemeClr val="tx1"/>
                          </a:solidFill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kumimoji="1" lang="en-GB" sz="6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4" name="テキスト ボックス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949" y="2636912"/>
                <a:ext cx="1812355" cy="1089914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テキスト ボックス 60"/>
          <p:cNvSpPr txBox="1"/>
          <p:nvPr/>
        </p:nvSpPr>
        <p:spPr>
          <a:xfrm>
            <a:off x="467544" y="476672"/>
            <a:ext cx="660636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ea typeface="メイリオ" pitchFamily="50" charset="-128"/>
                <a:cs typeface="メイリオ" pitchFamily="50" charset="-128"/>
              </a:rPr>
              <a:t>FTT: Power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(3)</a:t>
            </a:r>
          </a:p>
          <a:p>
            <a:pPr>
              <a:lnSpc>
                <a:spcPts val="3600"/>
              </a:lnSpc>
            </a:pPr>
            <a:r>
              <a:rPr kumimoji="1"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Aggregate technology substitution</a:t>
            </a:r>
          </a:p>
        </p:txBody>
      </p:sp>
    </p:spTree>
    <p:extLst>
      <p:ext uri="{BB962C8B-B14F-4D97-AF65-F5344CB8AC3E}">
        <p14:creationId xmlns:p14="http://schemas.microsoft.com/office/powerpoint/2010/main" xmlns="" val="429089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/>
        </p:nvSpPr>
        <p:spPr>
          <a:xfrm>
            <a:off x="1547664" y="2060848"/>
            <a:ext cx="5904656" cy="1224136"/>
          </a:xfrm>
          <a:prstGeom prst="rect">
            <a:avLst/>
          </a:prstGeom>
          <a:solidFill>
            <a:schemeClr val="bg1"/>
          </a:solidFill>
          <a:ln w="57150" cap="flat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GB">
              <a:solidFill>
                <a:schemeClr val="tx1"/>
              </a:solidFill>
            </a:endParaRPr>
          </a:p>
        </p:txBody>
      </p:sp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12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graphicFrame>
        <p:nvGraphicFramePr>
          <p:cNvPr id="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26395604"/>
              </p:ext>
            </p:extLst>
          </p:nvPr>
        </p:nvGraphicFramePr>
        <p:xfrm>
          <a:off x="1903413" y="2152650"/>
          <a:ext cx="5630862" cy="1087438"/>
        </p:xfrm>
        <a:graphic>
          <a:graphicData uri="http://schemas.openxmlformats.org/presentationml/2006/ole">
            <p:oleObj spid="_x0000_s8347" name="数式" r:id="rId3" imgW="1879560" imgH="355320" progId="Equation.3">
              <p:embed/>
            </p:oleObj>
          </a:graphicData>
        </a:graphic>
      </p:graphicFrame>
      <p:sp>
        <p:nvSpPr>
          <p:cNvPr id="51" name="テキスト ボックス 50"/>
          <p:cNvSpPr txBox="1"/>
          <p:nvPr/>
        </p:nvSpPr>
        <p:spPr>
          <a:xfrm>
            <a:off x="395536" y="3989382"/>
            <a:ext cx="847943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 smtClean="0">
                <a:ea typeface="メイリオ" pitchFamily="50" charset="-128"/>
                <a:cs typeface="メイリオ" pitchFamily="50" charset="-128"/>
              </a:rPr>
              <a:t>S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i</a:t>
            </a:r>
            <a:r>
              <a:rPr lang="ja-JP" altLang="en-US" sz="2800" dirty="0" smtClean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: 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Share of technology </a:t>
            </a:r>
            <a:r>
              <a:rPr lang="en-US" altLang="ja-JP" sz="2400" dirty="0" err="1" smtClean="0">
                <a:ea typeface="メイリオ" pitchFamily="50" charset="-128"/>
                <a:cs typeface="メイリオ" pitchFamily="50" charset="-128"/>
              </a:rPr>
              <a:t>i</a:t>
            </a:r>
            <a:endParaRPr lang="en-US" altLang="ja-JP" sz="2400" dirty="0" smtClean="0"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3200" dirty="0" err="1" smtClean="0">
                <a:ea typeface="メイリオ" pitchFamily="50" charset="-128"/>
                <a:cs typeface="メイリオ" pitchFamily="50" charset="-128"/>
              </a:rPr>
              <a:t>A</a:t>
            </a:r>
            <a:r>
              <a:rPr lang="en-US" altLang="ja-JP" sz="2400" dirty="0" err="1" smtClean="0">
                <a:ea typeface="メイリオ" pitchFamily="50" charset="-128"/>
                <a:cs typeface="メイリオ" pitchFamily="50" charset="-128"/>
              </a:rPr>
              <a:t>ij</a:t>
            </a:r>
            <a:r>
              <a:rPr lang="ja-JP" altLang="en-US" sz="2800" dirty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: 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Life time of</a:t>
            </a:r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technology </a:t>
            </a:r>
            <a:r>
              <a:rPr lang="en-US" altLang="ja-JP" sz="2400" dirty="0" err="1" smtClean="0">
                <a:ea typeface="メイリオ" pitchFamily="50" charset="-128"/>
                <a:cs typeface="メイリオ" pitchFamily="50" charset="-128"/>
              </a:rPr>
              <a:t>i</a:t>
            </a:r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and lead time of technology j</a:t>
            </a:r>
          </a:p>
          <a:p>
            <a:r>
              <a:rPr lang="en-US" altLang="ja-JP" sz="3200" dirty="0" err="1" smtClean="0">
                <a:ea typeface="メイリオ" pitchFamily="50" charset="-128"/>
                <a:cs typeface="メイリオ" pitchFamily="50" charset="-128"/>
              </a:rPr>
              <a:t>F</a:t>
            </a:r>
            <a:r>
              <a:rPr lang="en-US" altLang="ja-JP" sz="2400" dirty="0" err="1" smtClean="0">
                <a:ea typeface="メイリオ" pitchFamily="50" charset="-128"/>
                <a:cs typeface="メイリオ" pitchFamily="50" charset="-128"/>
              </a:rPr>
              <a:t>ij</a:t>
            </a:r>
            <a:r>
              <a:rPr lang="ja-JP" altLang="en-US" sz="2800" dirty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: 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Probability that technology </a:t>
            </a:r>
            <a:r>
              <a:rPr lang="en-US" altLang="ja-JP" sz="2400" dirty="0" err="1" smtClean="0">
                <a:ea typeface="メイリオ" pitchFamily="50" charset="-128"/>
                <a:cs typeface="メイリオ" pitchFamily="50" charset="-128"/>
              </a:rPr>
              <a:t>i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 would be chosen between </a:t>
            </a:r>
            <a:r>
              <a:rPr lang="en-US" altLang="ja-JP" sz="2400" dirty="0" err="1" smtClean="0">
                <a:ea typeface="メイリオ" pitchFamily="50" charset="-128"/>
                <a:cs typeface="メイリオ" pitchFamily="50" charset="-128"/>
              </a:rPr>
              <a:t>i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 and j</a:t>
            </a:r>
          </a:p>
          <a:p>
            <a:r>
              <a:rPr lang="en-US" altLang="ja-JP" sz="3200" dirty="0" smtClean="0">
                <a:ea typeface="メイリオ" pitchFamily="50" charset="-128"/>
                <a:cs typeface="メイリオ" pitchFamily="50" charset="-128"/>
              </a:rPr>
              <a:t>t</a:t>
            </a:r>
            <a:r>
              <a:rPr lang="ja-JP" altLang="en-US" sz="2800" dirty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: 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time</a:t>
            </a:r>
          </a:p>
        </p:txBody>
      </p:sp>
      <p:sp>
        <p:nvSpPr>
          <p:cNvPr id="10" name="TextBox 14"/>
          <p:cNvSpPr txBox="1">
            <a:spLocks noChangeArrowheads="1"/>
          </p:cNvSpPr>
          <p:nvPr/>
        </p:nvSpPr>
        <p:spPr bwMode="auto">
          <a:xfrm>
            <a:off x="2964554" y="3356992"/>
            <a:ext cx="45597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800" dirty="0">
                <a:latin typeface="+mn-lt"/>
                <a:ea typeface="メイリオ" panose="020B0604030504040204" pitchFamily="50" charset="-128"/>
                <a:cs typeface="メイリオ" panose="020B0604030504040204" pitchFamily="50" charset="-128"/>
              </a:rPr>
              <a:t>J.-F. </a:t>
            </a:r>
            <a:r>
              <a:rPr lang="en-US" altLang="ja-JP" sz="1800" dirty="0" err="1">
                <a:latin typeface="+mn-lt"/>
                <a:ea typeface="メイリオ" panose="020B0604030504040204" pitchFamily="50" charset="-128"/>
                <a:cs typeface="メイリオ" panose="020B0604030504040204" pitchFamily="50" charset="-128"/>
              </a:rPr>
              <a:t>Mercure</a:t>
            </a:r>
            <a:r>
              <a:rPr lang="en-US" altLang="ja-JP" sz="1800" dirty="0">
                <a:latin typeface="+mn-lt"/>
                <a:ea typeface="メイリオ" panose="020B0604030504040204" pitchFamily="50" charset="-128"/>
                <a:cs typeface="メイリオ" panose="020B0604030504040204" pitchFamily="50" charset="-128"/>
              </a:rPr>
              <a:t>, Energy Policy 48, 799-811 (2012)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67544" y="476672"/>
            <a:ext cx="64613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ea typeface="メイリオ" pitchFamily="50" charset="-128"/>
                <a:cs typeface="メイリオ" pitchFamily="50" charset="-128"/>
              </a:rPr>
              <a:t>FTT: Power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(4)</a:t>
            </a:r>
          </a:p>
          <a:p>
            <a:pPr>
              <a:lnSpc>
                <a:spcPts val="3600"/>
              </a:lnSpc>
            </a:pPr>
            <a:r>
              <a:rPr kumimoji="1"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Technology shares determined by</a:t>
            </a:r>
          </a:p>
          <a:p>
            <a:pPr>
              <a:lnSpc>
                <a:spcPts val="3600"/>
              </a:lnSpc>
            </a:pPr>
            <a:r>
              <a:rPr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Aggregating every choices</a:t>
            </a:r>
            <a:endParaRPr kumimoji="1" lang="en-US" altLang="ja-JP" sz="36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8992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1" descr="DailyDemand4-D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700808"/>
            <a:ext cx="5547414" cy="4608512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13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2676522" y="6381328"/>
            <a:ext cx="45597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ja-JP" sz="1800" dirty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J.-F. </a:t>
            </a:r>
            <a:r>
              <a:rPr lang="en-US" altLang="ja-JP" sz="1800" dirty="0" err="1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Mercure</a:t>
            </a:r>
            <a:r>
              <a:rPr lang="en-US" altLang="ja-JP" sz="1800" dirty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, Energy Policy 48, 799-811 (2012)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7544" y="476672"/>
            <a:ext cx="53634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ea typeface="メイリオ" pitchFamily="50" charset="-128"/>
                <a:cs typeface="メイリオ" pitchFamily="50" charset="-128"/>
              </a:rPr>
              <a:t>FTT: Power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(5)</a:t>
            </a:r>
          </a:p>
          <a:p>
            <a:pPr>
              <a:lnSpc>
                <a:spcPts val="3600"/>
              </a:lnSpc>
            </a:pPr>
            <a:r>
              <a:rPr kumimoji="1"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Capacity share restricted by</a:t>
            </a:r>
          </a:p>
          <a:p>
            <a:pPr>
              <a:lnSpc>
                <a:spcPts val="3600"/>
              </a:lnSpc>
            </a:pPr>
            <a:r>
              <a:rPr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technology type</a:t>
            </a:r>
            <a:endParaRPr kumimoji="1" lang="en-US" altLang="ja-JP" sz="36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306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14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TextBox 14"/>
          <p:cNvSpPr txBox="1">
            <a:spLocks noChangeArrowheads="1"/>
          </p:cNvSpPr>
          <p:nvPr/>
        </p:nvSpPr>
        <p:spPr bwMode="auto">
          <a:xfrm>
            <a:off x="3419872" y="4797152"/>
            <a:ext cx="43028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spcAft>
                <a:spcPts val="1200"/>
              </a:spcAft>
              <a:defRPr/>
            </a:pPr>
            <a:r>
              <a:rPr lang="en-GB" altLang="ja-JP" sz="1800" dirty="0" err="1">
                <a:latin typeface="+mn-lt"/>
              </a:rPr>
              <a:t>Mercure</a:t>
            </a:r>
            <a:r>
              <a:rPr lang="en-GB" altLang="ja-JP" sz="1800" dirty="0">
                <a:latin typeface="+mn-lt"/>
              </a:rPr>
              <a:t> &amp; Salas, </a:t>
            </a:r>
            <a:r>
              <a:rPr lang="en-GB" altLang="ja-JP" sz="1800" dirty="0" smtClean="0">
                <a:latin typeface="+mn-lt"/>
              </a:rPr>
              <a:t>Energy 46</a:t>
            </a:r>
            <a:r>
              <a:rPr lang="en-GB" altLang="ja-JP" sz="1800" b="1" dirty="0" smtClean="0">
                <a:latin typeface="+mn-lt"/>
              </a:rPr>
              <a:t>,</a:t>
            </a:r>
            <a:r>
              <a:rPr lang="en-GB" altLang="ja-JP" sz="1800" dirty="0" smtClean="0">
                <a:latin typeface="+mn-lt"/>
              </a:rPr>
              <a:t> </a:t>
            </a:r>
            <a:r>
              <a:rPr lang="en-GB" altLang="ja-JP" sz="1800" dirty="0">
                <a:latin typeface="+mn-lt"/>
              </a:rPr>
              <a:t>322-336 (2012)</a:t>
            </a:r>
          </a:p>
        </p:txBody>
      </p:sp>
      <p:grpSp>
        <p:nvGrpSpPr>
          <p:cNvPr id="2" name="グループ化 1"/>
          <p:cNvGrpSpPr/>
          <p:nvPr/>
        </p:nvGrpSpPr>
        <p:grpSpPr>
          <a:xfrm>
            <a:off x="1331640" y="2243216"/>
            <a:ext cx="6480720" cy="2553936"/>
            <a:chOff x="1115616" y="2243216"/>
            <a:chExt cx="6480720" cy="2553936"/>
          </a:xfrm>
        </p:grpSpPr>
        <p:sp>
          <p:nvSpPr>
            <p:cNvPr id="12" name="正方形/長方形 11"/>
            <p:cNvSpPr/>
            <p:nvPr/>
          </p:nvSpPr>
          <p:spPr>
            <a:xfrm>
              <a:off x="1115616" y="2243216"/>
              <a:ext cx="6480720" cy="2553936"/>
            </a:xfrm>
            <a:prstGeom prst="rect">
              <a:avLst/>
            </a:prstGeom>
            <a:solidFill>
              <a:schemeClr val="bg1"/>
            </a:solidFill>
            <a:ln w="57150" cap="flat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GB"/>
            </a:p>
          </p:txBody>
        </p:sp>
        <p:pic>
          <p:nvPicPr>
            <p:cNvPr id="7" name="Picture 1" descr="Figure3.jpe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026" y="2332499"/>
              <a:ext cx="2925762" cy="24368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5" descr="Figure4.jpe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3988" y="2342269"/>
              <a:ext cx="2925763" cy="24368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テキスト ボックス 9"/>
          <p:cNvSpPr txBox="1"/>
          <p:nvPr/>
        </p:nvSpPr>
        <p:spPr>
          <a:xfrm>
            <a:off x="808851" y="5301208"/>
            <a:ext cx="55889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Cost increases as the technology diffuses</a:t>
            </a: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since less resource being available </a:t>
            </a: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Learning effect from cumulative capacity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67544" y="476672"/>
            <a:ext cx="57349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ea typeface="メイリオ" pitchFamily="50" charset="-128"/>
                <a:cs typeface="メイリオ" pitchFamily="50" charset="-128"/>
              </a:rPr>
              <a:t>FTT: Power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(6)</a:t>
            </a:r>
          </a:p>
          <a:p>
            <a:pPr>
              <a:lnSpc>
                <a:spcPts val="3600"/>
              </a:lnSpc>
            </a:pPr>
            <a:r>
              <a:rPr kumimoji="1"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Cost-Supply Curve</a:t>
            </a:r>
          </a:p>
          <a:p>
            <a:pPr>
              <a:lnSpc>
                <a:spcPts val="3600"/>
              </a:lnSpc>
            </a:pPr>
            <a:r>
              <a:rPr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= Natural resource availability</a:t>
            </a:r>
            <a:endParaRPr kumimoji="1" lang="en-US" altLang="ja-JP" sz="36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878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15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grpSp>
        <p:nvGrpSpPr>
          <p:cNvPr id="4" name="グループ化 3"/>
          <p:cNvGrpSpPr/>
          <p:nvPr/>
        </p:nvGrpSpPr>
        <p:grpSpPr>
          <a:xfrm>
            <a:off x="3347864" y="4471592"/>
            <a:ext cx="2448272" cy="955558"/>
            <a:chOff x="1403648" y="3876074"/>
            <a:chExt cx="2448272" cy="955558"/>
          </a:xfrm>
        </p:grpSpPr>
        <p:sp>
          <p:nvSpPr>
            <p:cNvPr id="3" name="正方形/長方形 2"/>
            <p:cNvSpPr/>
            <p:nvPr/>
          </p:nvSpPr>
          <p:spPr>
            <a:xfrm>
              <a:off x="1403648" y="3876074"/>
              <a:ext cx="2448272" cy="95555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GB"/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1725935" y="3892188"/>
              <a:ext cx="1803699" cy="92333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spcAft>
                  <a:spcPts val="3000"/>
                </a:spcAft>
              </a:pPr>
              <a:r>
                <a:rPr lang="en-US" altLang="ja-JP" sz="5400" dirty="0" smtClean="0">
                  <a:solidFill>
                    <a:schemeClr val="bg1"/>
                  </a:solidFill>
                  <a:ea typeface="メイリオ" panose="020B0604030504040204" pitchFamily="50" charset="-128"/>
                  <a:cs typeface="メイリオ" panose="020B0604030504040204" pitchFamily="50" charset="-128"/>
                </a:rPr>
                <a:t>E3ME</a:t>
              </a:r>
              <a:endParaRPr lang="ja-JP" altLang="en-US" sz="5400" dirty="0">
                <a:solidFill>
                  <a:schemeClr val="bg1"/>
                </a:solidFill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grpSp>
        <p:nvGrpSpPr>
          <p:cNvPr id="13" name="グループ化 12"/>
          <p:cNvGrpSpPr/>
          <p:nvPr/>
        </p:nvGrpSpPr>
        <p:grpSpPr>
          <a:xfrm>
            <a:off x="3331242" y="1859850"/>
            <a:ext cx="2448272" cy="955558"/>
            <a:chOff x="1403648" y="3876074"/>
            <a:chExt cx="2448272" cy="955558"/>
          </a:xfrm>
        </p:grpSpPr>
        <p:sp>
          <p:nvSpPr>
            <p:cNvPr id="14" name="正方形/長方形 13"/>
            <p:cNvSpPr/>
            <p:nvPr/>
          </p:nvSpPr>
          <p:spPr>
            <a:xfrm>
              <a:off x="1403648" y="3876074"/>
              <a:ext cx="2448272" cy="95555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GB"/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2033775" y="3892188"/>
              <a:ext cx="1188018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Aft>
                  <a:spcPts val="3000"/>
                </a:spcAft>
              </a:pPr>
              <a:r>
                <a:rPr lang="en-US" altLang="ja-JP" sz="5400" dirty="0" smtClean="0">
                  <a:solidFill>
                    <a:schemeClr val="bg1"/>
                  </a:solidFill>
                  <a:ea typeface="メイリオ" panose="020B0604030504040204" pitchFamily="50" charset="-128"/>
                  <a:cs typeface="メイリオ" panose="020B0604030504040204" pitchFamily="50" charset="-128"/>
                </a:rPr>
                <a:t>FTT</a:t>
              </a:r>
              <a:endParaRPr lang="ja-JP" altLang="en-US" sz="5400" dirty="0">
                <a:solidFill>
                  <a:schemeClr val="bg1"/>
                </a:solidFill>
                <a:ea typeface="メイリオ" panose="020B0604030504040204" pitchFamily="50" charset="-128"/>
                <a:cs typeface="メイリオ" panose="020B0604030504040204" pitchFamily="50" charset="-128"/>
              </a:endParaRPr>
            </a:p>
          </p:txBody>
        </p:sp>
      </p:grpSp>
      <p:sp>
        <p:nvSpPr>
          <p:cNvPr id="8" name="下矢印 7"/>
          <p:cNvSpPr/>
          <p:nvPr/>
        </p:nvSpPr>
        <p:spPr>
          <a:xfrm flipV="1">
            <a:off x="3707904" y="2987960"/>
            <a:ext cx="360040" cy="1296144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GB"/>
          </a:p>
        </p:txBody>
      </p:sp>
      <p:sp>
        <p:nvSpPr>
          <p:cNvPr id="17" name="下矢印 16"/>
          <p:cNvSpPr/>
          <p:nvPr/>
        </p:nvSpPr>
        <p:spPr>
          <a:xfrm>
            <a:off x="5076056" y="2987960"/>
            <a:ext cx="360040" cy="1296144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GB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5436096" y="2852936"/>
            <a:ext cx="27957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Fuel consumption</a:t>
            </a:r>
          </a:p>
          <a:p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Investment in</a:t>
            </a:r>
          </a:p>
          <a:p>
            <a:r>
              <a:rPr lang="ja-JP" altLang="en-US" sz="2400" dirty="0"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new power source</a:t>
            </a:r>
          </a:p>
          <a:p>
            <a:r>
              <a:rPr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Electricity price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827584" y="3212976"/>
            <a:ext cx="28216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Electricity demand</a:t>
            </a:r>
          </a:p>
          <a:p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Fuel demand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310675" y="5445224"/>
            <a:ext cx="30864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CO</a:t>
            </a:r>
            <a:r>
              <a:rPr lang="en-US" altLang="ja-JP" dirty="0" smtClean="0">
                <a:latin typeface="+mj-lt"/>
                <a:ea typeface="メイリオ" pitchFamily="50" charset="-128"/>
                <a:cs typeface="メイリオ" pitchFamily="50" charset="-128"/>
              </a:rPr>
              <a:t>2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 emission</a:t>
            </a:r>
            <a:endParaRPr lang="en-US" altLang="ja-JP" sz="2400" dirty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Investment spill over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67544" y="476672"/>
            <a:ext cx="545508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ea typeface="メイリオ" pitchFamily="50" charset="-128"/>
                <a:cs typeface="メイリオ" pitchFamily="50" charset="-128"/>
              </a:rPr>
              <a:t>FTT: Power </a:t>
            </a:r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(7)</a:t>
            </a:r>
          </a:p>
          <a:p>
            <a:pPr>
              <a:lnSpc>
                <a:spcPts val="3600"/>
              </a:lnSpc>
            </a:pPr>
            <a:r>
              <a:rPr kumimoji="1"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Link between E3ME and FTT</a:t>
            </a:r>
          </a:p>
        </p:txBody>
      </p:sp>
    </p:spTree>
    <p:extLst>
      <p:ext uri="{BB962C8B-B14F-4D97-AF65-F5344CB8AC3E}">
        <p14:creationId xmlns:p14="http://schemas.microsoft.com/office/powerpoint/2010/main" xmlns="" val="3671839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/>
        </p:nvSpPr>
        <p:spPr>
          <a:xfrm>
            <a:off x="971600" y="2348880"/>
            <a:ext cx="6250429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4800" dirty="0" smtClean="0">
                <a:solidFill>
                  <a:srgbClr val="FF0000"/>
                </a:solidFill>
                <a:ea typeface="メイリオ" panose="020B0604030504040204" pitchFamily="50" charset="-128"/>
                <a:cs typeface="メイリオ" panose="020B0604030504040204" pitchFamily="50" charset="-128"/>
              </a:rPr>
              <a:t>Reference case</a:t>
            </a:r>
            <a:r>
              <a:rPr lang="ja-JP" altLang="en-US" sz="2400" dirty="0">
                <a:solidFill>
                  <a:srgbClr val="FF0000"/>
                </a:solidFill>
                <a:ea typeface="メイリオ" panose="020B0604030504040204" pitchFamily="50" charset="-128"/>
                <a:cs typeface="メイリオ" panose="020B0604030504040204" pitchFamily="50" charset="-128"/>
              </a:rPr>
              <a:t> </a:t>
            </a:r>
            <a:r>
              <a:rPr lang="en-US" altLang="ja-JP" sz="2400" dirty="0" smtClean="0">
                <a:solidFill>
                  <a:srgbClr val="FF0000"/>
                </a:solidFill>
                <a:ea typeface="メイリオ" panose="020B0604030504040204" pitchFamily="50" charset="-128"/>
                <a:cs typeface="メイリオ" panose="020B0604030504040204" pitchFamily="50" charset="-128"/>
              </a:rPr>
              <a:t>(Baseline)</a:t>
            </a:r>
            <a:endParaRPr lang="en-US" altLang="ja-JP" sz="900" dirty="0" smtClean="0">
              <a:solidFill>
                <a:srgbClr val="FF0000"/>
              </a:solidFill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28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Common assumption among all scenarios</a:t>
            </a:r>
          </a:p>
          <a:p>
            <a:r>
              <a:rPr lang="en-US" altLang="ja-JP" sz="28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to be the reference</a:t>
            </a:r>
          </a:p>
          <a:p>
            <a:endParaRPr lang="en-US" altLang="ja-JP" sz="2800" dirty="0"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4800" dirty="0" smtClean="0">
                <a:solidFill>
                  <a:srgbClr val="FF0000"/>
                </a:solidFill>
                <a:ea typeface="メイリオ" panose="020B0604030504040204" pitchFamily="50" charset="-128"/>
                <a:cs typeface="メイリオ" panose="020B0604030504040204" pitchFamily="50" charset="-128"/>
              </a:rPr>
              <a:t>Policy scenarios</a:t>
            </a:r>
            <a:endParaRPr lang="ja-JP" altLang="en-US" sz="4800" dirty="0">
              <a:solidFill>
                <a:srgbClr val="FF0000"/>
              </a:solidFill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7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16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>
          <a:xfrm>
            <a:off x="971600" y="756000"/>
            <a:ext cx="355578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5400" dirty="0">
                <a:ea typeface="メイリオ" panose="020B0604030504040204" pitchFamily="50" charset="-128"/>
                <a:cs typeface="メイリオ" panose="020B0604030504040204" pitchFamily="50" charset="-128"/>
              </a:rPr>
              <a:t>3</a:t>
            </a:r>
            <a:r>
              <a:rPr lang="en-US" altLang="ja-JP" sz="54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. Scenarios</a:t>
            </a:r>
            <a:endParaRPr lang="ja-JP" altLang="en-US" sz="5400" dirty="0"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032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ボックス 17"/>
          <p:cNvSpPr txBox="1"/>
          <p:nvPr/>
        </p:nvSpPr>
        <p:spPr>
          <a:xfrm>
            <a:off x="655345" y="1844824"/>
            <a:ext cx="557191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○</a:t>
            </a:r>
            <a:r>
              <a:rPr lang="en-US" altLang="ja-JP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Target technology</a:t>
            </a:r>
          </a:p>
          <a:p>
            <a:r>
              <a:rPr lang="ja-JP" altLang="en-US" sz="24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- represent policy of each country</a:t>
            </a:r>
          </a:p>
          <a:p>
            <a:endParaRPr lang="en-US" altLang="ja-JP" sz="6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○</a:t>
            </a:r>
            <a:r>
              <a:rPr lang="en-US" altLang="ja-JP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Support scheme</a:t>
            </a:r>
          </a:p>
          <a:p>
            <a:r>
              <a:rPr lang="ja-JP" altLang="en-US" sz="24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- modeled as feed-in tarif</a:t>
            </a:r>
            <a:r>
              <a:rPr lang="en-US" altLang="ja-JP" sz="2400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f</a:t>
            </a:r>
            <a:endParaRPr lang="en-US" altLang="ja-JP" sz="2400" dirty="0" smtClean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endParaRPr lang="en-US" altLang="ja-JP" sz="2400" dirty="0" smtClean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endParaRPr lang="en-US" altLang="ja-JP" sz="24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Support policy of each country</a:t>
            </a:r>
          </a:p>
          <a:p>
            <a:r>
              <a:rPr lang="ja-JP" altLang="en-US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China</a:t>
            </a:r>
            <a:r>
              <a:rPr lang="ja-JP" altLang="en-US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：</a:t>
            </a:r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FIT with bidding</a:t>
            </a:r>
          </a:p>
          <a:p>
            <a:r>
              <a:rPr lang="ja-JP" altLang="en-US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Japan</a:t>
            </a:r>
            <a:r>
              <a:rPr lang="ja-JP" altLang="en-US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：</a:t>
            </a:r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FIT</a:t>
            </a:r>
          </a:p>
          <a:p>
            <a:r>
              <a:rPr lang="ja-JP" altLang="en-US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Korea</a:t>
            </a:r>
            <a:r>
              <a:rPr lang="ja-JP" altLang="en-US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：</a:t>
            </a:r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Renewable portfolio standard (RPS)</a:t>
            </a:r>
          </a:p>
          <a:p>
            <a:r>
              <a:rPr lang="ja-JP" altLang="en-US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Taiwan</a:t>
            </a:r>
            <a:r>
              <a:rPr lang="ja-JP" altLang="en-US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：</a:t>
            </a:r>
            <a:r>
              <a:rPr lang="en-US" altLang="ja-JP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FIT</a:t>
            </a:r>
            <a:r>
              <a:rPr lang="ja-JP" altLang="en-US" sz="1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　</a:t>
            </a:r>
            <a:endParaRPr lang="en-US" altLang="ja-JP" sz="1400" dirty="0" smtClean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17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467544" y="764704"/>
            <a:ext cx="68731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Support to renewable energy</a:t>
            </a:r>
            <a:endParaRPr kumimoji="1" lang="en-GB" sz="4400" dirty="0" smtClean="0">
              <a:solidFill>
                <a:srgbClr val="FF0000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cxnSp>
        <p:nvCxnSpPr>
          <p:cNvPr id="7" name="直線矢印コネクタ 6"/>
          <p:cNvCxnSpPr/>
          <p:nvPr/>
        </p:nvCxnSpPr>
        <p:spPr>
          <a:xfrm>
            <a:off x="6398848" y="3861048"/>
            <a:ext cx="0" cy="90000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/>
          <p:cNvSpPr/>
          <p:nvPr/>
        </p:nvSpPr>
        <p:spPr>
          <a:xfrm>
            <a:off x="5940152" y="3553271"/>
            <a:ext cx="2304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dirty="0" smtClean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support  rate &lt; -100%</a:t>
            </a:r>
          </a:p>
        </p:txBody>
      </p:sp>
      <p:sp>
        <p:nvSpPr>
          <p:cNvPr id="9" name="正方形/長方形 8"/>
          <p:cNvSpPr/>
          <p:nvPr/>
        </p:nvSpPr>
        <p:spPr>
          <a:xfrm>
            <a:off x="5358924" y="3861328"/>
            <a:ext cx="504056" cy="252000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6934716" y="3850508"/>
            <a:ext cx="504056" cy="91081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6934716" y="4761328"/>
            <a:ext cx="504056" cy="162000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/>
        </p:nvSpPr>
        <p:spPr>
          <a:xfrm>
            <a:off x="3707904" y="3707740"/>
            <a:ext cx="1728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Generation cost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7482095" y="4615645"/>
            <a:ext cx="13629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Electricity</a:t>
            </a:r>
          </a:p>
          <a:p>
            <a:r>
              <a:rPr lang="en-US" altLang="ja-JP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price</a:t>
            </a:r>
          </a:p>
        </p:txBody>
      </p:sp>
      <p:cxnSp>
        <p:nvCxnSpPr>
          <p:cNvPr id="14" name="直線コネクタ 13"/>
          <p:cNvCxnSpPr/>
          <p:nvPr/>
        </p:nvCxnSpPr>
        <p:spPr>
          <a:xfrm flipH="1">
            <a:off x="5862980" y="4761328"/>
            <a:ext cx="1071736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 flipH="1">
            <a:off x="5854596" y="3850509"/>
            <a:ext cx="1071736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/>
          <p:cNvSpPr/>
          <p:nvPr/>
        </p:nvSpPr>
        <p:spPr>
          <a:xfrm>
            <a:off x="5364088" y="3861048"/>
            <a:ext cx="504056" cy="1260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左中かっこ 1"/>
          <p:cNvSpPr/>
          <p:nvPr/>
        </p:nvSpPr>
        <p:spPr>
          <a:xfrm>
            <a:off x="5076056" y="5121328"/>
            <a:ext cx="72008" cy="126000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/>
        </p:nvSpPr>
        <p:spPr>
          <a:xfrm>
            <a:off x="2627784" y="5589240"/>
            <a:ext cx="2880320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ja-JP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Cost seen from investor</a:t>
            </a:r>
          </a:p>
        </p:txBody>
      </p:sp>
      <p:sp>
        <p:nvSpPr>
          <p:cNvPr id="20" name="正方形/長方形 19"/>
          <p:cNvSpPr/>
          <p:nvPr/>
        </p:nvSpPr>
        <p:spPr>
          <a:xfrm>
            <a:off x="467544" y="476672"/>
            <a:ext cx="40324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Common assumption (1)</a:t>
            </a:r>
          </a:p>
        </p:txBody>
      </p:sp>
    </p:spTree>
    <p:extLst>
      <p:ext uri="{BB962C8B-B14F-4D97-AF65-F5344CB8AC3E}">
        <p14:creationId xmlns:p14="http://schemas.microsoft.com/office/powerpoint/2010/main" xmlns="" val="336988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ボックス 17"/>
          <p:cNvSpPr txBox="1"/>
          <p:nvPr/>
        </p:nvSpPr>
        <p:spPr>
          <a:xfrm>
            <a:off x="683568" y="1700808"/>
            <a:ext cx="7005572" cy="4739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○</a:t>
            </a:r>
            <a:r>
              <a:rPr lang="en-US" altLang="ja-JP" sz="28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Nuclear power</a:t>
            </a:r>
            <a:endParaRPr lang="en-US" altLang="ja-JP" sz="32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Political investment decision</a:t>
            </a:r>
          </a:p>
          <a:p>
            <a:r>
              <a:rPr lang="ja-JP" altLang="en-US" sz="2400" dirty="0">
                <a:ea typeface="メイリオ" pitchFamily="50" charset="-128"/>
                <a:cs typeface="メイリオ" pitchFamily="50" charset="-128"/>
              </a:rPr>
              <a:t>　</a:t>
            </a:r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→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Capacity is set according to the national plans</a:t>
            </a:r>
          </a:p>
          <a:p>
            <a:endParaRPr lang="en-US" altLang="ja-JP" sz="900" dirty="0"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○</a:t>
            </a:r>
            <a:r>
              <a:rPr lang="en-US" altLang="ja-JP" sz="28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Oil-fired power</a:t>
            </a:r>
            <a:endParaRPr lang="en-US" altLang="ja-JP" sz="32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IEA</a:t>
            </a:r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members (JP, KR)</a:t>
            </a:r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won’t build new plants</a:t>
            </a:r>
          </a:p>
          <a:p>
            <a:r>
              <a:rPr lang="ja-JP" altLang="en-US" sz="2400" dirty="0"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Taiwan also follows this rule</a:t>
            </a:r>
          </a:p>
          <a:p>
            <a:endParaRPr lang="en-US" altLang="ja-JP" sz="900" dirty="0"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○</a:t>
            </a:r>
            <a:r>
              <a:rPr lang="en-US" altLang="ja-JP" sz="28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Large hydro power</a:t>
            </a:r>
            <a:endParaRPr lang="en-US" altLang="ja-JP" sz="24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Difficult to add new capacity due to social condition</a:t>
            </a:r>
            <a:endParaRPr lang="en-US" altLang="ja-JP" sz="2400" dirty="0">
              <a:ea typeface="メイリオ" pitchFamily="50" charset="-128"/>
              <a:cs typeface="メイリオ" pitchFamily="50" charset="-128"/>
            </a:endParaRPr>
          </a:p>
          <a:p>
            <a:endParaRPr lang="en-US" altLang="ja-JP" sz="2400" dirty="0" smtClean="0"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800" dirty="0" smtClean="0">
                <a:ea typeface="メイリオ" pitchFamily="50" charset="-128"/>
                <a:cs typeface="メイリオ" pitchFamily="50" charset="-128"/>
              </a:rPr>
              <a:t>※</a:t>
            </a:r>
            <a:r>
              <a:rPr lang="en-US" altLang="ja-JP" sz="2800" u="sng" dirty="0" smtClean="0">
                <a:ea typeface="メイリオ" pitchFamily="50" charset="-128"/>
                <a:cs typeface="メイリオ" pitchFamily="50" charset="-128"/>
              </a:rPr>
              <a:t>FTT: Power determines the share excluding</a:t>
            </a:r>
          </a:p>
          <a:p>
            <a:r>
              <a:rPr lang="ja-JP" altLang="en-US" sz="2800" dirty="0" smtClean="0"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800" u="sng" dirty="0" smtClean="0">
                <a:ea typeface="メイリオ" pitchFamily="50" charset="-128"/>
                <a:cs typeface="メイリオ" pitchFamily="50" charset="-128"/>
              </a:rPr>
              <a:t>3 technologies from total electricity demand</a:t>
            </a:r>
          </a:p>
        </p:txBody>
      </p:sp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18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7544" y="764704"/>
            <a:ext cx="73343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Exogenously determined tech.</a:t>
            </a:r>
            <a:endParaRPr kumimoji="1" lang="en-GB" sz="4400" dirty="0" smtClean="0">
              <a:solidFill>
                <a:srgbClr val="FF0000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67544" y="476672"/>
            <a:ext cx="40324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Common assumption (2)</a:t>
            </a:r>
          </a:p>
        </p:txBody>
      </p:sp>
    </p:spTree>
    <p:extLst>
      <p:ext uri="{BB962C8B-B14F-4D97-AF65-F5344CB8AC3E}">
        <p14:creationId xmlns:p14="http://schemas.microsoft.com/office/powerpoint/2010/main" xmlns="" val="286480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ボックス 17"/>
          <p:cNvSpPr txBox="1"/>
          <p:nvPr/>
        </p:nvSpPr>
        <p:spPr>
          <a:xfrm>
            <a:off x="660244" y="2780928"/>
            <a:ext cx="82806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CN, KR: No share increase of nuclear after 2015</a:t>
            </a:r>
          </a:p>
          <a:p>
            <a:r>
              <a:rPr lang="en-US" altLang="ja-JP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JP: Zero nuclear after 2015</a:t>
            </a:r>
            <a:endParaRPr lang="en-US" altLang="ja-JP" sz="12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TW: Nuclear decrease is already in the reference case</a:t>
            </a:r>
          </a:p>
        </p:txBody>
      </p:sp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19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467544" y="1107474"/>
            <a:ext cx="6260112" cy="16927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u="sng" dirty="0" smtClean="0">
                <a:ea typeface="メイリオ" pitchFamily="50" charset="-128"/>
                <a:cs typeface="メイリオ" pitchFamily="50" charset="-128"/>
              </a:rPr>
              <a:t>Analyzed from 2015 to 2030</a:t>
            </a:r>
          </a:p>
          <a:p>
            <a:r>
              <a:rPr kumimoji="1" lang="en-US" altLang="ja-JP" sz="2800" u="sng" dirty="0" smtClean="0">
                <a:ea typeface="メイリオ" pitchFamily="50" charset="-128"/>
                <a:cs typeface="メイリオ" pitchFamily="50" charset="-128"/>
              </a:rPr>
              <a:t>Holding all common assumptions</a:t>
            </a:r>
          </a:p>
          <a:p>
            <a:endParaRPr kumimoji="1" lang="ja-JP" altLang="en-US" sz="1200" dirty="0" smtClean="0"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S1: Restriction on nuclear power</a:t>
            </a:r>
            <a:endParaRPr kumimoji="1" lang="en-GB" sz="36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83568" y="4839543"/>
            <a:ext cx="7485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No share increase of coal-fired power after 2015</a:t>
            </a: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67544" y="4149080"/>
            <a:ext cx="6639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S2: Restriction on coal-fired power</a:t>
            </a:r>
            <a:endParaRPr kumimoji="1" lang="en-GB" sz="36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67544" y="5589240"/>
            <a:ext cx="8143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S3: Restriction on both </a:t>
            </a:r>
            <a:r>
              <a:rPr lang="en-US" altLang="ja-JP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nuclear and coal-fired power</a:t>
            </a:r>
            <a:endParaRPr kumimoji="1" lang="en-GB" sz="24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67544" y="476672"/>
            <a:ext cx="40324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Scenario assumptions</a:t>
            </a:r>
          </a:p>
        </p:txBody>
      </p:sp>
    </p:spTree>
    <p:extLst>
      <p:ext uri="{BB962C8B-B14F-4D97-AF65-F5344CB8AC3E}">
        <p14:creationId xmlns:p14="http://schemas.microsoft.com/office/powerpoint/2010/main" xmlns="" val="363786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20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971600" y="756000"/>
            <a:ext cx="28735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5400" dirty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4</a:t>
            </a:r>
            <a:r>
              <a:rPr lang="en-US" altLang="ja-JP" sz="54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. Results</a:t>
            </a:r>
            <a:endParaRPr lang="ja-JP" altLang="en-US" sz="5400" dirty="0"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971600" y="2348880"/>
            <a:ext cx="7217104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600" dirty="0" smtClean="0">
                <a:solidFill>
                  <a:srgbClr val="FF0000"/>
                </a:solidFill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Power mix</a:t>
            </a:r>
            <a:endParaRPr lang="en-US" altLang="ja-JP" sz="2400" dirty="0" smtClean="0">
              <a:solidFill>
                <a:srgbClr val="FF0000"/>
              </a:solidFill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solidFill>
                <a:srgbClr val="FF0000"/>
              </a:solidFill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3600" dirty="0" smtClean="0">
                <a:solidFill>
                  <a:srgbClr val="FF0000"/>
                </a:solidFill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Environmental and Economic Impacts</a:t>
            </a:r>
          </a:p>
          <a:p>
            <a:endParaRPr lang="en-US" altLang="ja-JP" sz="1400" dirty="0" smtClean="0">
              <a:solidFill>
                <a:srgbClr val="FF0000"/>
              </a:solidFill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3600" dirty="0" smtClean="0">
                <a:solidFill>
                  <a:srgbClr val="FF0000"/>
                </a:solidFill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Effect of policy harmonization</a:t>
            </a:r>
            <a:endParaRPr lang="en-US" altLang="ja-JP" sz="3600" dirty="0">
              <a:solidFill>
                <a:srgbClr val="FF0000"/>
              </a:solidFill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279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21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59335" y="404664"/>
            <a:ext cx="757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Japan, Generation by technology</a:t>
            </a:r>
            <a:r>
              <a:rPr lang="ja-JP" altLang="en-US" sz="3600" dirty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(</a:t>
            </a:r>
            <a:r>
              <a:rPr lang="en-US" altLang="ja-JP" sz="3600" dirty="0" err="1" smtClean="0">
                <a:ea typeface="メイリオ" pitchFamily="50" charset="-128"/>
                <a:cs typeface="メイリオ" pitchFamily="50" charset="-128"/>
              </a:rPr>
              <a:t>TWh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)</a:t>
            </a:r>
          </a:p>
        </p:txBody>
      </p:sp>
      <p:pic>
        <p:nvPicPr>
          <p:cNvPr id="11266" name="Picture 2" descr="C:\Users\Yuki Ogawa\Dropbox\Temp\Fig\Fig\Fig3.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17643" y="1118195"/>
            <a:ext cx="6308715" cy="542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64616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22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59335" y="188640"/>
            <a:ext cx="65040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Japan, Environment and Economy</a:t>
            </a:r>
          </a:p>
        </p:txBody>
      </p:sp>
      <p:pic>
        <p:nvPicPr>
          <p:cNvPr id="15362" name="Picture 2" descr="C:\Users\Yuki Ogawa\Dropbox\Temp\Fig\Fig\Fig4.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6519" y="764704"/>
            <a:ext cx="6430963" cy="6002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1065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23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59335" y="404664"/>
            <a:ext cx="75615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China, Generation by technology</a:t>
            </a:r>
            <a:r>
              <a:rPr lang="ja-JP" altLang="en-US" sz="3600" dirty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(</a:t>
            </a:r>
            <a:r>
              <a:rPr lang="en-US" altLang="ja-JP" sz="3600" dirty="0" err="1" smtClean="0">
                <a:ea typeface="メイリオ" pitchFamily="50" charset="-128"/>
                <a:cs typeface="メイリオ" pitchFamily="50" charset="-128"/>
              </a:rPr>
              <a:t>TWh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)</a:t>
            </a:r>
          </a:p>
        </p:txBody>
      </p:sp>
      <p:pic>
        <p:nvPicPr>
          <p:cNvPr id="12290" name="Picture 2" descr="C:\Users\Yuki Ogawa\Dropbox\Temp\Fig\Fig\Fig3.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8274" y="1033451"/>
            <a:ext cx="6427452" cy="5523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7770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24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59335" y="188640"/>
            <a:ext cx="6487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China, Environment and Economy</a:t>
            </a:r>
          </a:p>
        </p:txBody>
      </p:sp>
      <p:pic>
        <p:nvPicPr>
          <p:cNvPr id="16386" name="Picture 2" descr="C:\Users\Yuki Ogawa\Dropbox\Temp\Fig\Fig\Fig4.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6519" y="782463"/>
            <a:ext cx="6430962" cy="603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2701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25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59335" y="404664"/>
            <a:ext cx="758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Korea, Generation by technology</a:t>
            </a:r>
            <a:r>
              <a:rPr lang="ja-JP" altLang="en-US" sz="3600" dirty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(</a:t>
            </a:r>
            <a:r>
              <a:rPr lang="en-US" altLang="ja-JP" sz="3600" dirty="0" err="1" smtClean="0">
                <a:ea typeface="メイリオ" pitchFamily="50" charset="-128"/>
                <a:cs typeface="メイリオ" pitchFamily="50" charset="-128"/>
              </a:rPr>
              <a:t>TWh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)</a:t>
            </a:r>
          </a:p>
        </p:txBody>
      </p:sp>
      <p:pic>
        <p:nvPicPr>
          <p:cNvPr id="13314" name="Picture 2" descr="C:\Users\Yuki Ogawa\Dropbox\Temp\Fig\Fig\Fig3.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08222" y="1052736"/>
            <a:ext cx="6527557" cy="560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7770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26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59335" y="188640"/>
            <a:ext cx="65104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Korea, Environment and Economy</a:t>
            </a:r>
          </a:p>
        </p:txBody>
      </p:sp>
      <p:pic>
        <p:nvPicPr>
          <p:cNvPr id="17410" name="Picture 2" descr="C:\Users\Yuki Ogawa\Dropbox\Temp\Fig\Fig\Fig4.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6519" y="786656"/>
            <a:ext cx="6430963" cy="595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2701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27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59335" y="404664"/>
            <a:ext cx="7807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Taiwan, Generation by technology</a:t>
            </a:r>
            <a:r>
              <a:rPr lang="ja-JP" altLang="en-US" sz="3600" dirty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(</a:t>
            </a:r>
            <a:r>
              <a:rPr lang="en-US" altLang="ja-JP" sz="3600" dirty="0" err="1" smtClean="0">
                <a:ea typeface="メイリオ" pitchFamily="50" charset="-128"/>
                <a:cs typeface="メイリオ" pitchFamily="50" charset="-128"/>
              </a:rPr>
              <a:t>TWh</a:t>
            </a:r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)</a:t>
            </a:r>
          </a:p>
        </p:txBody>
      </p:sp>
      <p:pic>
        <p:nvPicPr>
          <p:cNvPr id="14338" name="Picture 2" descr="C:\Users\Yuki Ogawa\Dropbox\Temp\Fig\Fig\Fig3.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7918" y="1124744"/>
            <a:ext cx="6468165" cy="3049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67770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28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759335" y="188640"/>
            <a:ext cx="673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dirty="0" smtClean="0">
                <a:ea typeface="メイリオ" pitchFamily="50" charset="-128"/>
                <a:cs typeface="メイリオ" pitchFamily="50" charset="-128"/>
              </a:rPr>
              <a:t>Taiwan, Environment and Economy</a:t>
            </a:r>
          </a:p>
        </p:txBody>
      </p:sp>
      <p:pic>
        <p:nvPicPr>
          <p:cNvPr id="18434" name="Picture 2" descr="C:\Users\Yuki Ogawa\Dropbox\Temp\Fig\Fig\Fig4.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66044" y="791988"/>
            <a:ext cx="6411913" cy="6021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2701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774934" y="620688"/>
            <a:ext cx="72861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Impact comparison between restriction on single country</a:t>
            </a:r>
          </a:p>
          <a:p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and harmonized restriction in all </a:t>
            </a:r>
            <a:r>
              <a:rPr lang="en-US" altLang="ja-JP" sz="2400" dirty="0" err="1" smtClean="0">
                <a:latin typeface="+mj-lt"/>
                <a:ea typeface="メイリオ" pitchFamily="50" charset="-128"/>
                <a:cs typeface="メイリオ" pitchFamily="50" charset="-128"/>
              </a:rPr>
              <a:t>coutries</a:t>
            </a:r>
            <a:endParaRPr kumimoji="1" lang="ja-JP" altLang="en-US" sz="2400" dirty="0"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6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ea typeface="メイリオ" pitchFamily="50" charset="-128"/>
                <a:cs typeface="メイリオ" pitchFamily="50" charset="-128"/>
              </a:rPr>
              <a:pPr/>
              <a:t>29</a:t>
            </a:fld>
            <a:endParaRPr kumimoji="1" lang="en-GB" sz="1600" dirty="0">
              <a:solidFill>
                <a:schemeClr val="tx1"/>
              </a:solidFill>
              <a:ea typeface="メイリオ" pitchFamily="50" charset="-128"/>
              <a:cs typeface="メイリオ" pitchFamily="50" charset="-128"/>
            </a:endParaRPr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780136096"/>
              </p:ext>
            </p:extLst>
          </p:nvPr>
        </p:nvGraphicFramePr>
        <p:xfrm>
          <a:off x="827584" y="2149356"/>
          <a:ext cx="655272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/>
                <a:gridCol w="936104"/>
                <a:gridCol w="936104"/>
                <a:gridCol w="936104"/>
                <a:gridCol w="936104"/>
                <a:gridCol w="936104"/>
                <a:gridCol w="936104"/>
              </a:tblGrid>
              <a:tr h="370840">
                <a:tc rowSpan="2">
                  <a:txBody>
                    <a:bodyPr/>
                    <a:lstStyle/>
                    <a:p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S1</a:t>
                      </a:r>
                      <a:r>
                        <a:rPr lang="ja-JP" altLang="en-US" b="0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 </a:t>
                      </a:r>
                      <a:r>
                        <a:rPr lang="en-US" altLang="ja-JP" b="0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(Nuclear)</a:t>
                      </a:r>
                      <a:endParaRPr lang="en-GB" b="0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S2</a:t>
                      </a:r>
                      <a:r>
                        <a:rPr lang="ja-JP" altLang="en-US" b="0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 </a:t>
                      </a:r>
                      <a:r>
                        <a:rPr lang="en-US" altLang="ja-JP" b="0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(Coal-fired)</a:t>
                      </a:r>
                      <a:endParaRPr lang="en-GB" b="0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b="0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S3</a:t>
                      </a:r>
                      <a:r>
                        <a:rPr lang="ja-JP" altLang="en-US" b="0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 </a:t>
                      </a:r>
                      <a:r>
                        <a:rPr lang="en-US" altLang="ja-JP" b="0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(S1+S2)</a:t>
                      </a:r>
                      <a:endParaRPr lang="en-GB" b="0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GB" dirty="0">
                        <a:latin typeface="メイリオ" panose="020B0604030504040204" pitchFamily="50" charset="-128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Single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All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Single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All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Single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All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JP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-0.51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-0.52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-1.04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-1.05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-2.36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-2.22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ja-JP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CN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-0.06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-0.06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0.71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0.66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0.89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0.83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KR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0.05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0.03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-0.14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-0.11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-0.32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-0.33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TW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dirty="0" err="1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ー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-0.03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-1.05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-0.95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altLang="en-US" dirty="0" err="1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ー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latin typeface="+mj-lt"/>
                          <a:ea typeface="メイリオ" panose="020B0604030504040204" pitchFamily="50" charset="-128"/>
                          <a:cs typeface="メイリオ" panose="020B0604030504040204" pitchFamily="50" charset="-128"/>
                        </a:rPr>
                        <a:t>-0.99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  <a:ea typeface="メイリオ" panose="020B0604030504040204" pitchFamily="50" charset="-128"/>
                        <a:cs typeface="メイリオ" panose="020B0604030504040204" pitchFamily="50" charset="-128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テキスト ボックス 7"/>
          <p:cNvSpPr txBox="1"/>
          <p:nvPr/>
        </p:nvSpPr>
        <p:spPr>
          <a:xfrm>
            <a:off x="755576" y="1772816"/>
            <a:ext cx="71052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>
                <a:ea typeface="メイリオ" pitchFamily="50" charset="-128"/>
                <a:cs typeface="メイリオ" pitchFamily="50" charset="-128"/>
              </a:rPr>
              <a:t>Real GDP in 2030 by country and scenario: dif. from reference case</a:t>
            </a:r>
            <a:endParaRPr kumimoji="1" lang="ja-JP" altLang="en-US" sz="2000" dirty="0"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67681" y="4797152"/>
            <a:ext cx="720370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Economic situation in JP &amp; CN spills to other countries</a:t>
            </a:r>
          </a:p>
          <a:p>
            <a:endParaRPr kumimoji="1" lang="en-US" altLang="ja-JP" sz="12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Harmonized restriction makes</a:t>
            </a:r>
          </a:p>
          <a:p>
            <a:r>
              <a:rPr lang="ja-JP" altLang="en-US" sz="2400" dirty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energy price higher in all countries</a:t>
            </a:r>
          </a:p>
          <a:p>
            <a:r>
              <a:rPr kumimoji="1" lang="ja-JP" altLang="en-US" sz="2400" dirty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　</a:t>
            </a:r>
            <a:r>
              <a:rPr kumimoji="1"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→</a:t>
            </a:r>
            <a:r>
              <a:rPr kumimoji="1" lang="en-US" altLang="ja-JP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No single country loses its competitiveness</a:t>
            </a:r>
          </a:p>
        </p:txBody>
      </p:sp>
    </p:spTree>
    <p:extLst>
      <p:ext uri="{BB962C8B-B14F-4D97-AF65-F5344CB8AC3E}">
        <p14:creationId xmlns:p14="http://schemas.microsoft.com/office/powerpoint/2010/main" xmlns="" val="93815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30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971600" y="756000"/>
            <a:ext cx="39405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54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5. Conclusion</a:t>
            </a:r>
            <a:endParaRPr lang="ja-JP" altLang="en-US" sz="5400" dirty="0"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971600" y="2348880"/>
            <a:ext cx="7217104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600" dirty="0" smtClean="0">
                <a:solidFill>
                  <a:srgbClr val="FF0000"/>
                </a:solidFill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Power mix</a:t>
            </a:r>
            <a:endParaRPr lang="en-US" altLang="ja-JP" sz="2400" dirty="0" smtClean="0">
              <a:solidFill>
                <a:srgbClr val="FF0000"/>
              </a:solidFill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endParaRPr lang="en-US" altLang="ja-JP" sz="1400" dirty="0" smtClean="0">
              <a:solidFill>
                <a:srgbClr val="FF0000"/>
              </a:solidFill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3600" dirty="0" smtClean="0">
                <a:solidFill>
                  <a:srgbClr val="FF0000"/>
                </a:solidFill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Environmental and Economic Impacts</a:t>
            </a:r>
          </a:p>
          <a:p>
            <a:endParaRPr lang="en-US" altLang="ja-JP" sz="1400" dirty="0" smtClean="0">
              <a:solidFill>
                <a:srgbClr val="FF0000"/>
              </a:solidFill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r>
              <a:rPr lang="en-US" altLang="ja-JP" sz="3600" dirty="0" smtClean="0">
                <a:solidFill>
                  <a:srgbClr val="FF0000"/>
                </a:solidFill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Effect of policy harmonization</a:t>
            </a:r>
            <a:endParaRPr lang="en-US" altLang="ja-JP" sz="3600" dirty="0">
              <a:solidFill>
                <a:srgbClr val="FF0000"/>
              </a:solidFill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686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pPr/>
              <a:t>31</a:t>
            </a:fld>
            <a:endParaRPr kumimoji="1" lang="en-GB" sz="1600" dirty="0">
              <a:solidFill>
                <a:schemeClr val="tx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971600" y="620688"/>
            <a:ext cx="31356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54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Power mix</a:t>
            </a:r>
            <a:endParaRPr lang="ja-JP" altLang="en-US" sz="5400" dirty="0"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767681" y="1700808"/>
            <a:ext cx="6311856" cy="46474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Restriction on nuclear power (S1):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Reduced share is mostly substituted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by conventional power sources</a:t>
            </a:r>
          </a:p>
          <a:p>
            <a:endParaRPr kumimoji="1" lang="en-US" altLang="ja-JP" sz="1200" dirty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800" dirty="0" smtClean="0">
                <a:latin typeface="+mj-lt"/>
                <a:ea typeface="メイリオ" pitchFamily="50" charset="-128"/>
                <a:cs typeface="メイリオ" pitchFamily="50" charset="-128"/>
              </a:rPr>
              <a:t>Restriction on coal-fired power (S2):</a:t>
            </a:r>
          </a:p>
          <a:p>
            <a:r>
              <a:rPr kumimoji="1" lang="en-US" altLang="ja-JP" sz="24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Share of renewable energy increases significantly</a:t>
            </a:r>
          </a:p>
          <a:p>
            <a:endParaRPr lang="en-US" altLang="ja-JP" sz="2400" dirty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kumimoji="1"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Both nuclear and coal-fired power are</a:t>
            </a:r>
          </a:p>
          <a:p>
            <a:r>
              <a:rPr kumimoji="1"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　</a:t>
            </a:r>
            <a:r>
              <a:rPr kumimoji="1"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assumed to be </a:t>
            </a:r>
            <a:r>
              <a:rPr kumimoji="1" lang="en-US" altLang="ja-JP" sz="24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baseload technology</a:t>
            </a:r>
          </a:p>
          <a:p>
            <a:endParaRPr kumimoji="1" lang="en-US" altLang="ja-JP" sz="1200" dirty="0" smtClean="0">
              <a:latin typeface="+mj-lt"/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Restriction on coal-fired power,</a:t>
            </a: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which dominates the power sector,</a:t>
            </a:r>
          </a:p>
          <a:p>
            <a:r>
              <a:rPr lang="ja-JP" altLang="en-US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solidFill>
                  <a:srgbClr val="FF0000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t>makes space for renewable energy</a:t>
            </a:r>
            <a:r>
              <a:rPr lang="en-US" altLang="ja-JP" sz="2400" dirty="0" smtClean="0">
                <a:latin typeface="+mj-lt"/>
                <a:ea typeface="メイリオ" pitchFamily="50" charset="-128"/>
                <a:cs typeface="メイリオ" pitchFamily="50" charset="-128"/>
              </a:rPr>
              <a:t> to come in</a:t>
            </a:r>
          </a:p>
        </p:txBody>
      </p:sp>
    </p:spTree>
    <p:extLst>
      <p:ext uri="{BB962C8B-B14F-4D97-AF65-F5344CB8AC3E}">
        <p14:creationId xmlns:p14="http://schemas.microsoft.com/office/powerpoint/2010/main" xmlns="" val="181738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bg1"/>
                </a:solidFill>
                <a:ea typeface="メイリオ" pitchFamily="50" charset="-128"/>
                <a:cs typeface="メイリオ" pitchFamily="50" charset="-128"/>
              </a:rPr>
              <a:pPr/>
              <a:t>32</a:t>
            </a:fld>
            <a:endParaRPr kumimoji="1" lang="en-GB" sz="1600" dirty="0">
              <a:solidFill>
                <a:schemeClr val="bg1"/>
              </a:solidFill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827584" y="692696"/>
            <a:ext cx="798430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40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Environmental and Economic impacts</a:t>
            </a:r>
            <a:endParaRPr lang="ja-JP" altLang="en-US" sz="4000" dirty="0"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67681" y="1916832"/>
            <a:ext cx="7109190" cy="3508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Large effect on CO2 emissions</a:t>
            </a:r>
          </a:p>
          <a:p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(up to 100 % compared to the reference case)</a:t>
            </a:r>
            <a:endParaRPr lang="en-US" altLang="ja-JP" sz="3200" dirty="0" smtClean="0">
              <a:ea typeface="メイリオ" pitchFamily="50" charset="-128"/>
              <a:cs typeface="メイリオ" pitchFamily="50" charset="-128"/>
            </a:endParaRPr>
          </a:p>
          <a:p>
            <a:endParaRPr lang="en-US" altLang="ja-JP" sz="2400" dirty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32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Economic effects are relatively small</a:t>
            </a:r>
          </a:p>
          <a:p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(mostly less than ±1%</a:t>
            </a:r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 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compared to the reference case)</a:t>
            </a:r>
          </a:p>
          <a:p>
            <a:endParaRPr lang="en-US" altLang="ja-JP" sz="1200" dirty="0">
              <a:ea typeface="メイリオ" pitchFamily="50" charset="-128"/>
              <a:cs typeface="メイリオ" pitchFamily="50" charset="-128"/>
            </a:endParaRPr>
          </a:p>
          <a:p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Positive factor: reduced fuel import,</a:t>
            </a:r>
          </a:p>
          <a:p>
            <a:r>
              <a:rPr lang="en-US" altLang="ja-JP" sz="2400" dirty="0">
                <a:ea typeface="メイリオ" pitchFamily="50" charset="-128"/>
                <a:cs typeface="メイリオ" pitchFamily="50" charset="-128"/>
              </a:rPr>
              <a:t>	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	 investment in new power sources</a:t>
            </a:r>
          </a:p>
          <a:p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Negative factor: high electricity price</a:t>
            </a:r>
          </a:p>
        </p:txBody>
      </p:sp>
    </p:spTree>
    <p:extLst>
      <p:ext uri="{BB962C8B-B14F-4D97-AF65-F5344CB8AC3E}">
        <p14:creationId xmlns:p14="http://schemas.microsoft.com/office/powerpoint/2010/main" xmlns="" val="25585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 11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02245150-415A-45BE-B763-5B3BB87B199F}" type="slidenum">
              <a:rPr kumimoji="1" lang="en-GB" sz="1600" smtClean="0">
                <a:solidFill>
                  <a:schemeClr val="tx1"/>
                </a:solidFill>
                <a:latin typeface="+mj-lt"/>
                <a:ea typeface="メイリオ" pitchFamily="50" charset="-128"/>
                <a:cs typeface="メイリオ" pitchFamily="50" charset="-128"/>
              </a:rPr>
              <a:pPr/>
              <a:t>33</a:t>
            </a:fld>
            <a:endParaRPr kumimoji="1" lang="en-GB" sz="1600" dirty="0">
              <a:solidFill>
                <a:schemeClr val="tx1"/>
              </a:solidFill>
              <a:latin typeface="+mj-lt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>
          <a:xfrm>
            <a:off x="755576" y="692696"/>
            <a:ext cx="763023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4800" dirty="0" smtClean="0">
                <a:ea typeface="メイリオ" panose="020B0604030504040204" pitchFamily="50" charset="-128"/>
                <a:cs typeface="メイリオ" panose="020B0604030504040204" pitchFamily="50" charset="-128"/>
              </a:rPr>
              <a:t>Effect of policy harmonization</a:t>
            </a:r>
            <a:endParaRPr lang="ja-JP" altLang="en-US" sz="4800" dirty="0"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67681" y="1772816"/>
            <a:ext cx="72037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>
                <a:ea typeface="メイリオ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 smtClean="0">
                <a:ea typeface="メイリオ" pitchFamily="50" charset="-128"/>
                <a:cs typeface="メイリオ" pitchFamily="50" charset="-128"/>
              </a:rPr>
              <a:t>Economic situation in JP &amp; CN spills to other countries</a:t>
            </a:r>
          </a:p>
          <a:p>
            <a:endParaRPr kumimoji="1" lang="en-US" altLang="ja-JP" sz="1200" dirty="0" smtClean="0">
              <a:ea typeface="メイリオ" pitchFamily="50" charset="-128"/>
              <a:cs typeface="メイリオ" pitchFamily="50" charset="-128"/>
            </a:endParaRPr>
          </a:p>
          <a:p>
            <a:r>
              <a:rPr lang="ja-JP" altLang="en-US" sz="2400" dirty="0" smtClean="0">
                <a:ea typeface="メイリオ" pitchFamily="50" charset="-128"/>
                <a:cs typeface="メイリオ" pitchFamily="50" charset="-128"/>
              </a:rPr>
              <a:t>・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Harmonized restriction makes</a:t>
            </a:r>
          </a:p>
          <a:p>
            <a:r>
              <a:rPr lang="ja-JP" altLang="en-US" sz="2400" dirty="0">
                <a:ea typeface="メイリオ" pitchFamily="50" charset="-128"/>
                <a:cs typeface="メイリオ" pitchFamily="50" charset="-128"/>
              </a:rPr>
              <a:t>　</a:t>
            </a:r>
            <a:r>
              <a:rPr lang="en-US" altLang="ja-JP" sz="2400" dirty="0" smtClean="0">
                <a:ea typeface="メイリオ" pitchFamily="50" charset="-128"/>
                <a:cs typeface="メイリオ" pitchFamily="50" charset="-128"/>
              </a:rPr>
              <a:t>energy price higher in all countries</a:t>
            </a:r>
          </a:p>
          <a:p>
            <a:r>
              <a:rPr kumimoji="1" lang="ja-JP" altLang="en-US" sz="2400" dirty="0">
                <a:ea typeface="メイリオ" pitchFamily="50" charset="-128"/>
                <a:cs typeface="メイリオ" pitchFamily="50" charset="-128"/>
              </a:rPr>
              <a:t>　</a:t>
            </a:r>
            <a:r>
              <a:rPr kumimoji="1" lang="ja-JP" altLang="en-US" sz="2400" dirty="0" smtClean="0">
                <a:ea typeface="メイリオ" pitchFamily="50" charset="-128"/>
                <a:cs typeface="メイリオ" pitchFamily="50" charset="-128"/>
              </a:rPr>
              <a:t>→</a:t>
            </a:r>
            <a:r>
              <a:rPr kumimoji="1" lang="en-US" altLang="ja-JP" sz="2400" dirty="0" smtClean="0">
                <a:ea typeface="メイリオ" pitchFamily="50" charset="-128"/>
                <a:cs typeface="メイリオ" pitchFamily="50" charset="-128"/>
              </a:rPr>
              <a:t>No single country loses its relative competitiveness</a:t>
            </a:r>
          </a:p>
          <a:p>
            <a:endParaRPr lang="en-US" altLang="ja-JP" sz="2400" dirty="0">
              <a:ea typeface="メイリオ" pitchFamily="50" charset="-128"/>
              <a:cs typeface="メイリオ" pitchFamily="50" charset="-128"/>
            </a:endParaRPr>
          </a:p>
          <a:p>
            <a:r>
              <a:rPr kumimoji="1"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・</a:t>
            </a:r>
            <a:r>
              <a:rPr kumimoji="1" lang="en-US" altLang="ja-JP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Diffusion of new technologies in each countries</a:t>
            </a:r>
          </a:p>
          <a:p>
            <a:r>
              <a:rPr lang="ja-JP" altLang="en-US" sz="2400" dirty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　</a:t>
            </a:r>
            <a:r>
              <a:rPr lang="ja-JP" altLang="en-US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→</a:t>
            </a:r>
            <a:r>
              <a:rPr lang="en-US" altLang="ja-JP" sz="2400" dirty="0" smtClean="0">
                <a:solidFill>
                  <a:srgbClr val="FF0000"/>
                </a:solidFill>
                <a:ea typeface="メイリオ" pitchFamily="50" charset="-128"/>
                <a:cs typeface="メイリオ" pitchFamily="50" charset="-128"/>
              </a:rPr>
              <a:t>learning spill over</a:t>
            </a:r>
            <a:endParaRPr kumimoji="1" lang="en-US" altLang="ja-JP" sz="2400" dirty="0" smtClean="0">
              <a:solidFill>
                <a:srgbClr val="FF0000"/>
              </a:solidFill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5851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1060975" y="2996952"/>
            <a:ext cx="702205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3000"/>
              </a:spcAft>
            </a:pPr>
            <a:r>
              <a:rPr lang="en-US" altLang="ja-JP" sz="5400" dirty="0" smtClean="0">
                <a:latin typeface="+mj-lt"/>
                <a:ea typeface="メイリオ" panose="020B0604030504040204" pitchFamily="50" charset="-128"/>
                <a:cs typeface="メイリオ" panose="020B0604030504040204" pitchFamily="50" charset="-128"/>
              </a:rPr>
              <a:t>Thank you for listening!!</a:t>
            </a:r>
            <a:endParaRPr lang="ja-JP" altLang="en-US" sz="5400" dirty="0">
              <a:latin typeface="+mj-lt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756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3314</TotalTime>
  <Words>1444</Words>
  <Application>Microsoft Office PowerPoint</Application>
  <PresentationFormat>화면 슬라이드 쇼(4:3)</PresentationFormat>
  <Paragraphs>356</Paragraphs>
  <Slides>34</Slides>
  <Notes>2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34</vt:i4>
      </vt:variant>
    </vt:vector>
  </HeadingPairs>
  <TitlesOfParts>
    <vt:vector size="37" baseType="lpstr">
      <vt:lpstr>Office テーマ</vt:lpstr>
      <vt:lpstr>Equation</vt:lpstr>
      <vt:lpstr>数式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E3ME Energy-Environment Linkages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Yuki Ogawa</dc:creator>
  <cp:lastModifiedBy>KEI 김이진</cp:lastModifiedBy>
  <cp:revision>316</cp:revision>
  <cp:lastPrinted>2014-08-31T00:41:08Z</cp:lastPrinted>
  <dcterms:created xsi:type="dcterms:W3CDTF">2014-05-15T05:09:08Z</dcterms:created>
  <dcterms:modified xsi:type="dcterms:W3CDTF">2015-09-02T00:49:29Z</dcterms:modified>
</cp:coreProperties>
</file>