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xlsx" ContentType="application/vnd.openxmlformats-officedocument.spreadsheetml.sheet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62" r:id="rId2"/>
    <p:sldId id="271" r:id="rId3"/>
    <p:sldId id="267" r:id="rId4"/>
    <p:sldId id="294" r:id="rId5"/>
    <p:sldId id="295" r:id="rId6"/>
    <p:sldId id="272" r:id="rId7"/>
    <p:sldId id="293" r:id="rId8"/>
    <p:sldId id="286" r:id="rId9"/>
    <p:sldId id="287" r:id="rId10"/>
    <p:sldId id="289" r:id="rId11"/>
    <p:sldId id="290" r:id="rId12"/>
    <p:sldId id="303" r:id="rId13"/>
    <p:sldId id="304" r:id="rId14"/>
    <p:sldId id="305" r:id="rId15"/>
    <p:sldId id="273" r:id="rId16"/>
    <p:sldId id="288" r:id="rId17"/>
    <p:sldId id="277" r:id="rId18"/>
    <p:sldId id="279" r:id="rId19"/>
    <p:sldId id="300" r:id="rId20"/>
    <p:sldId id="278" r:id="rId21"/>
    <p:sldId id="302" r:id="rId22"/>
    <p:sldId id="301" r:id="rId23"/>
    <p:sldId id="276" r:id="rId24"/>
    <p:sldId id="280" r:id="rId25"/>
    <p:sldId id="281" r:id="rId26"/>
    <p:sldId id="296" r:id="rId27"/>
    <p:sldId id="282" r:id="rId28"/>
    <p:sldId id="297" r:id="rId29"/>
    <p:sldId id="298" r:id="rId30"/>
    <p:sldId id="299" r:id="rId31"/>
    <p:sldId id="291" r:id="rId32"/>
  </p:sldIdLst>
  <p:sldSz cx="9144000" cy="6858000" type="screen4x3"/>
  <p:notesSz cx="7086600" cy="10223500"/>
  <p:defaultTextStyle>
    <a:defPPr>
      <a:defRPr lang="en-GB"/>
    </a:defPPr>
    <a:lvl1pPr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D5FA"/>
    <a:srgbClr val="00D9FF"/>
    <a:srgbClr val="000099"/>
    <a:srgbClr val="85AECD"/>
    <a:srgbClr val="63C4EF"/>
    <a:srgbClr val="34B2EA"/>
    <a:srgbClr val="1386BB"/>
    <a:srgbClr val="0039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86700" autoAdjust="0"/>
  </p:normalViewPr>
  <p:slideViewPr>
    <p:cSldViewPr>
      <p:cViewPr varScale="1">
        <p:scale>
          <a:sx n="90" d="100"/>
          <a:sy n="90" d="100"/>
        </p:scale>
        <p:origin x="-72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chart>
    <c:autoTitleDeleted val="1"/>
    <c:plotArea>
      <c:layout>
        <c:manualLayout>
          <c:layoutTarget val="inner"/>
          <c:xMode val="edge"/>
          <c:yMode val="edge"/>
          <c:x val="0.11139564660691424"/>
          <c:y val="0.18561484918793508"/>
          <c:w val="0.74263764404609489"/>
          <c:h val="0.67517401392111376"/>
        </c:manualLayout>
      </c:layout>
      <c:barChart>
        <c:barDir val="col"/>
        <c:grouping val="clustered"/>
        <c:ser>
          <c:idx val="0"/>
          <c:order val="0"/>
          <c:tx>
            <c:strRef>
              <c:f>Sheet1!$A$2</c:f>
              <c:strCache>
                <c:ptCount val="1"/>
                <c:pt idx="0">
                  <c:v>E3MG</c:v>
                </c:pt>
              </c:strCache>
            </c:strRef>
          </c:tx>
          <c:spPr>
            <a:solidFill>
              <a:schemeClr val="accent1"/>
            </a:solidFill>
            <a:ln w="13353">
              <a:solidFill>
                <a:schemeClr val="tx1"/>
              </a:solidFill>
              <a:prstDash val="solid"/>
            </a:ln>
          </c:spPr>
          <c:cat>
            <c:strRef>
              <c:f>Sheet1!$B$1:$G$1</c:f>
              <c:strCache>
                <c:ptCount val="6"/>
                <c:pt idx="0">
                  <c:v>Low</c:v>
                </c:pt>
                <c:pt idx="1">
                  <c:v>Mixed</c:v>
                </c:pt>
                <c:pt idx="2">
                  <c:v>High</c:v>
                </c:pt>
                <c:pt idx="3">
                  <c:v>Low</c:v>
                </c:pt>
                <c:pt idx="4">
                  <c:v>Mixed</c:v>
                </c:pt>
                <c:pt idx="5">
                  <c:v>High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-0.5</c:v>
                </c:pt>
                <c:pt idx="1">
                  <c:v>-1.2</c:v>
                </c:pt>
                <c:pt idx="2">
                  <c:v>-1.5</c:v>
                </c:pt>
                <c:pt idx="3">
                  <c:v>-0.1</c:v>
                </c:pt>
                <c:pt idx="4">
                  <c:v>-0.2</c:v>
                </c:pt>
                <c:pt idx="5">
                  <c:v>-0.4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GEM-E3</c:v>
                </c:pt>
              </c:strCache>
            </c:strRef>
          </c:tx>
          <c:spPr>
            <a:solidFill>
              <a:schemeClr val="accent2"/>
            </a:solidFill>
            <a:ln w="13353">
              <a:solidFill>
                <a:schemeClr val="tx1"/>
              </a:solidFill>
              <a:prstDash val="solid"/>
            </a:ln>
          </c:spPr>
          <c:cat>
            <c:strRef>
              <c:f>Sheet1!$B$1:$G$1</c:f>
              <c:strCache>
                <c:ptCount val="6"/>
                <c:pt idx="0">
                  <c:v>Low</c:v>
                </c:pt>
                <c:pt idx="1">
                  <c:v>Mixed</c:v>
                </c:pt>
                <c:pt idx="2">
                  <c:v>High</c:v>
                </c:pt>
                <c:pt idx="3">
                  <c:v>Low</c:v>
                </c:pt>
                <c:pt idx="4">
                  <c:v>Mixed</c:v>
                </c:pt>
                <c:pt idx="5">
                  <c:v>High</c:v>
                </c:pt>
              </c:strCache>
            </c:strRef>
          </c:cat>
          <c:val>
            <c:numRef>
              <c:f>Sheet1!$B$3:$G$3</c:f>
              <c:numCache>
                <c:formatCode>General</c:formatCode>
                <c:ptCount val="6"/>
                <c:pt idx="0">
                  <c:v>-0.4</c:v>
                </c:pt>
                <c:pt idx="1">
                  <c:v>-1</c:v>
                </c:pt>
                <c:pt idx="2">
                  <c:v>-1</c:v>
                </c:pt>
                <c:pt idx="3">
                  <c:v>-0.2</c:v>
                </c:pt>
                <c:pt idx="4">
                  <c:v>-0.5</c:v>
                </c:pt>
                <c:pt idx="5">
                  <c:v>-0.60000000000000009</c:v>
                </c:pt>
              </c:numCache>
            </c:numRef>
          </c:val>
        </c:ser>
        <c:dLbls/>
        <c:axId val="149819392"/>
        <c:axId val="149820928"/>
      </c:barChart>
      <c:catAx>
        <c:axId val="149819392"/>
        <c:scaling>
          <c:orientation val="minMax"/>
        </c:scaling>
        <c:axPos val="b"/>
        <c:numFmt formatCode="General" sourceLinked="1"/>
        <c:majorTickMark val="in"/>
        <c:tickLblPos val="high"/>
        <c:spPr>
          <a:ln w="13353">
            <a:solidFill>
              <a:srgbClr val="003366"/>
            </a:solidFill>
            <a:prstDash val="solid"/>
          </a:ln>
        </c:spPr>
        <c:txPr>
          <a:bodyPr rot="0" vert="horz"/>
          <a:lstStyle/>
          <a:p>
            <a:pPr>
              <a:defRPr sz="1682" b="1" i="0" u="none" strike="noStrike" baseline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149820928"/>
        <c:crosses val="autoZero"/>
        <c:auto val="1"/>
        <c:lblAlgn val="ctr"/>
        <c:lblOffset val="100"/>
        <c:tickLblSkip val="1"/>
        <c:tickMarkSkip val="1"/>
      </c:catAx>
      <c:valAx>
        <c:axId val="149820928"/>
        <c:scaling>
          <c:orientation val="minMax"/>
        </c:scaling>
        <c:axPos val="l"/>
        <c:title>
          <c:tx>
            <c:rich>
              <a:bodyPr rot="0" vert="horz"/>
              <a:lstStyle/>
              <a:p>
                <a:pPr algn="ctr">
                  <a:defRPr sz="1682" b="1" i="0" u="none" strike="noStrike" baseline="0">
                    <a:solidFill>
                      <a:srgbClr val="003366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GB" dirty="0" smtClean="0"/>
                  <a:t>Impact on GDP, %</a:t>
                </a:r>
                <a:endParaRPr lang="en-GB" dirty="0"/>
              </a:p>
            </c:rich>
          </c:tx>
          <c:layout>
            <c:manualLayout>
              <c:xMode val="edge"/>
              <c:yMode val="edge"/>
              <c:x val="8.9628681177976992E-3"/>
              <c:y val="2.7842227378190261E-2"/>
            </c:manualLayout>
          </c:layout>
          <c:spPr>
            <a:noFill/>
            <a:ln w="26706">
              <a:noFill/>
            </a:ln>
          </c:spPr>
        </c:title>
        <c:numFmt formatCode="General" sourceLinked="1"/>
        <c:majorTickMark val="in"/>
        <c:tickLblPos val="nextTo"/>
        <c:spPr>
          <a:ln w="13353">
            <a:solidFill>
              <a:srgbClr val="003366"/>
            </a:solidFill>
            <a:prstDash val="solid"/>
          </a:ln>
        </c:spPr>
        <c:txPr>
          <a:bodyPr rot="0" vert="horz"/>
          <a:lstStyle/>
          <a:p>
            <a:pPr>
              <a:defRPr sz="1682" b="1" i="0" u="none" strike="noStrike" baseline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149819392"/>
        <c:crosses val="autoZero"/>
        <c:crossBetween val="between"/>
      </c:valAx>
      <c:spPr>
        <a:noFill/>
        <a:ln w="13353">
          <a:solidFill>
            <a:srgbClr val="003366"/>
          </a:solidFill>
          <a:prstDash val="solid"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919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ko-KR"/>
    </a:p>
  </c:txPr>
  <c:externalData r:id="rId1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defTabSz="989013">
              <a:defRPr sz="1300" b="1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6375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 b="1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defTabSz="989013">
              <a:defRPr sz="1300" b="1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6375" y="9712325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 b="1" smtClean="0"/>
            </a:lvl1pPr>
          </a:lstStyle>
          <a:p>
            <a:pPr>
              <a:defRPr/>
            </a:pPr>
            <a:fld id="{878B5D18-6F68-438D-B968-DA36A77126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819639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defTabSz="989013">
              <a:spcBef>
                <a:spcPct val="0"/>
              </a:spcBef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algn="r" defTabSz="989013">
              <a:spcBef>
                <a:spcPct val="0"/>
              </a:spcBef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766763"/>
            <a:ext cx="5111750" cy="38338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6163"/>
            <a:ext cx="5670550" cy="46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0738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defTabSz="989013">
              <a:spcBef>
                <a:spcPct val="0"/>
              </a:spcBef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4788" y="9710738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algn="r" defTabSz="989013">
              <a:spcBef>
                <a:spcPct val="0"/>
              </a:spcBef>
              <a:defRPr sz="1300" smtClean="0"/>
            </a:lvl1pPr>
          </a:lstStyle>
          <a:p>
            <a:pPr>
              <a:defRPr/>
            </a:pPr>
            <a:fld id="{766233E1-2EB6-46F3-8AEB-5BBE31E648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1549209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Describe ETR as opposed to energy taxes</a:t>
            </a:r>
          </a:p>
          <a:p>
            <a:r>
              <a:rPr lang="en-GB" dirty="0" smtClean="0"/>
              <a:t>1990s</a:t>
            </a:r>
            <a:r>
              <a:rPr lang="en-GB" baseline="0" dirty="0" smtClean="0"/>
              <a:t> 6 EU countries implemented ETR in COMETR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233E1-2EB6-46F3-8AEB-5BBE31E64853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971447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233E1-2EB6-46F3-8AEB-5BBE31E64853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971447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Describe ETR as opposed to energy taxes</a:t>
            </a:r>
          </a:p>
          <a:p>
            <a:r>
              <a:rPr lang="en-GB" dirty="0" smtClean="0"/>
              <a:t>1990s</a:t>
            </a:r>
            <a:r>
              <a:rPr lang="en-GB" baseline="0" dirty="0" smtClean="0"/>
              <a:t> 6 EU countries implemented ETR in COMETR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233E1-2EB6-46F3-8AEB-5BBE31E64853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971447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Mention that ETS is modelled same way as energy taxes, just with a target quantity</a:t>
            </a:r>
            <a:r>
              <a:rPr lang="en-GB" baseline="0" dirty="0" smtClean="0"/>
              <a:t> rather than price.  ETS price scales to match quantity.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233E1-2EB6-46F3-8AEB-5BBE31E64853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665064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Mention E-E as a policy – other projects (RAP and CF)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233E1-2EB6-46F3-8AEB-5BBE31E64853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138172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Mention</a:t>
            </a:r>
            <a:r>
              <a:rPr lang="en-GB" baseline="0" dirty="0" smtClean="0"/>
              <a:t> how ratio of investment to energy consumption estimated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233E1-2EB6-46F3-8AEB-5BBE31E64853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202203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440C34-7C32-4B41-8007-9707526CC2FC}" type="slidenum">
              <a:rPr lang="en-GB"/>
              <a:pPr/>
              <a:t>30</a:t>
            </a:fld>
            <a:endParaRPr lang="en-GB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1932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9" descr="slide fractal b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80975"/>
            <a:ext cx="7858125" cy="667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4" descr="cambridge_econometrics_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04800"/>
            <a:ext cx="31972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0"/>
          <p:cNvSpPr>
            <a:spLocks noChangeArrowheads="1"/>
          </p:cNvSpPr>
          <p:nvPr/>
        </p:nvSpPr>
        <p:spPr bwMode="auto">
          <a:xfrm>
            <a:off x="217488" y="241300"/>
            <a:ext cx="8686800" cy="6400800"/>
          </a:xfrm>
          <a:prstGeom prst="rect">
            <a:avLst/>
          </a:prstGeom>
          <a:noFill/>
          <a:ln w="15875">
            <a:solidFill>
              <a:srgbClr val="6399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>
                    <a:alpha val="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3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971550" y="1916113"/>
            <a:ext cx="7772400" cy="1400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GB" noProof="0" dirty="0" smtClean="0"/>
          </a:p>
        </p:txBody>
      </p:sp>
      <p:sp>
        <p:nvSpPr>
          <p:cNvPr id="3114" name="Rectangle 4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71550" y="3357563"/>
            <a:ext cx="7056438" cy="1066800"/>
          </a:xfrm>
        </p:spPr>
        <p:txBody>
          <a:bodyPr/>
          <a:lstStyle>
            <a:lvl1pPr marL="0" indent="0">
              <a:buFontTx/>
              <a:buNone/>
              <a:defRPr sz="2400" b="0"/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en-GB" noProof="0" smtClean="0"/>
          </a:p>
        </p:txBody>
      </p:sp>
      <p:sp>
        <p:nvSpPr>
          <p:cNvPr id="7" name="Rectangle 43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5508625" y="6165850"/>
            <a:ext cx="3235325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123D6B"/>
                </a:solidFill>
                <a:latin typeface="+mn-lt"/>
              </a:defRPr>
            </a:lvl1pPr>
          </a:lstStyle>
          <a:p>
            <a:pPr>
              <a:defRPr/>
            </a:pPr>
            <a:fld id="{AC00B4E0-8109-42CF-8596-C084A3FD412B}" type="datetime2">
              <a:rPr lang="en-GB"/>
              <a:pPr>
                <a:defRPr/>
              </a:pPr>
              <a:t>Wednesday, 02 September 2015</a:t>
            </a:fld>
            <a:endParaRPr lang="en-GB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90600" y="61722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8720B8-9302-4532-889D-9EB8EEB44E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263295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446C5-66CF-4992-A353-2E5F423EA4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13830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E4D5E8-7E96-454A-9F49-FF98986A76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231178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6764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6764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AA3A4A-6222-47B4-86AB-FD18DF7FAE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22612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9DB2AD-BED4-44FF-BCE3-85A3EADE7F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39030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2468CD-57D8-40B7-9302-DF97DD02AF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62019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A03BC7-42FB-496B-A221-B350F6A443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31166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001E8-F3B3-4E60-9A7E-B150CBD295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157192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6BD9A-1161-442B-B297-5E4521A202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272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AB761B-1C7C-413F-BD66-E148553C2B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14959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7638" y="304800"/>
            <a:ext cx="196215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04800"/>
            <a:ext cx="573405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9E715-57E0-4295-B5BD-96D6A4A172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3451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2" descr="slide fractal front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74625"/>
            <a:ext cx="7858125" cy="667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9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304800"/>
            <a:ext cx="7848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GB" smtClean="0"/>
          </a:p>
        </p:txBody>
      </p:sp>
      <p:sp>
        <p:nvSpPr>
          <p:cNvPr id="1028" name="Rectangle 3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676400"/>
            <a:ext cx="7848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smtClean="0"/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0113" y="6172200"/>
            <a:ext cx="1766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9F6B5909-118E-4FD5-AC64-D399C85025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0" name="Rectangle 41"/>
          <p:cNvSpPr>
            <a:spLocks noChangeArrowheads="1"/>
          </p:cNvSpPr>
          <p:nvPr/>
        </p:nvSpPr>
        <p:spPr bwMode="auto">
          <a:xfrm>
            <a:off x="217488" y="241300"/>
            <a:ext cx="8686800" cy="6400800"/>
          </a:xfrm>
          <a:prstGeom prst="rect">
            <a:avLst/>
          </a:prstGeom>
          <a:noFill/>
          <a:ln w="15875">
            <a:solidFill>
              <a:srgbClr val="6399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>
                    <a:alpha val="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Line 43"/>
          <p:cNvSpPr>
            <a:spLocks noChangeShapeType="1"/>
          </p:cNvSpPr>
          <p:nvPr/>
        </p:nvSpPr>
        <p:spPr bwMode="auto">
          <a:xfrm>
            <a:off x="611188" y="1484313"/>
            <a:ext cx="7848600" cy="0"/>
          </a:xfrm>
          <a:prstGeom prst="line">
            <a:avLst/>
          </a:prstGeom>
          <a:noFill/>
          <a:ln w="50800">
            <a:solidFill>
              <a:srgbClr val="6399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pic>
        <p:nvPicPr>
          <p:cNvPr id="1032" name="Picture 44" descr="cambridge_econometrics_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24713" y="6230938"/>
            <a:ext cx="1595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123D6B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123D6B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123D6B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123D6B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•"/>
        <a:defRPr sz="2700">
          <a:solidFill>
            <a:srgbClr val="123D6B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–"/>
        <a:defRPr sz="2000">
          <a:solidFill>
            <a:srgbClr val="123D6B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•"/>
        <a:defRPr sz="1600">
          <a:solidFill>
            <a:srgbClr val="123D6B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–"/>
        <a:defRPr sz="1600">
          <a:solidFill>
            <a:srgbClr val="123D6B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>
          <a:solidFill>
            <a:srgbClr val="123D6B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 b="1">
          <a:solidFill>
            <a:srgbClr val="123D6B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 b="1">
          <a:solidFill>
            <a:srgbClr val="123D6B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 b="1">
          <a:solidFill>
            <a:srgbClr val="123D6B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 b="1">
          <a:solidFill>
            <a:srgbClr val="123D6B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m-e3.net/" TargetMode="External"/><Relationship Id="rId2" Type="http://schemas.openxmlformats.org/officeDocument/2006/relationships/hyperlink" Target="http://www.e3mgmodel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amecon.com/Libraries/Downloadable_Files/Fuelling_Europe_s_Future-_How_auto_innovation_leads_to_EU_jobs.sflb.ashx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www.ecn.nl/docs/library/report/2013/e13033.pdf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www.cedefop.europa.eu/EN/Files/5534_en.pdf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Modelling EU Climate Policy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Cambridge Econometrics training course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971550" y="5013325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400" dirty="0" smtClean="0">
                <a:solidFill>
                  <a:srgbClr val="123D6B"/>
                </a:solidFill>
                <a:latin typeface="Arial" charset="0"/>
              </a:rPr>
              <a:t>Hector Pollitt, Cambridge Econometrics</a:t>
            </a:r>
            <a:endParaRPr lang="en-GB" sz="2400" dirty="0">
              <a:solidFill>
                <a:srgbClr val="123D6B"/>
              </a:solidFill>
              <a:latin typeface="Arial" charset="0"/>
            </a:endParaRP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7086600" y="6172200"/>
            <a:ext cx="1828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r>
              <a:rPr lang="en-GB" sz="1400" dirty="0" smtClean="0">
                <a:solidFill>
                  <a:srgbClr val="123D6B"/>
                </a:solidFill>
                <a:latin typeface="Arial" charset="0"/>
              </a:rPr>
              <a:t>September 2015</a:t>
            </a:r>
            <a:endParaRPr lang="en-GB" sz="1400" dirty="0">
              <a:solidFill>
                <a:srgbClr val="123D6B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Disclaimer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849244" cy="4114800"/>
          </a:xfrm>
        </p:spPr>
        <p:txBody>
          <a:bodyPr/>
          <a:lstStyle/>
          <a:p>
            <a:r>
              <a:rPr lang="en-GB" sz="2600" dirty="0" smtClean="0"/>
              <a:t>This presentation does not necessarily represent the views of the European Commission (EC) or any collaborating institution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xmlns="" val="233245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Overview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4114800"/>
          </a:xfrm>
        </p:spPr>
        <p:txBody>
          <a:bodyPr/>
          <a:lstStyle/>
          <a:p>
            <a:r>
              <a:rPr lang="en-GB" sz="2600" dirty="0" smtClean="0"/>
              <a:t>Institutional framework</a:t>
            </a:r>
          </a:p>
          <a:p>
            <a:r>
              <a:rPr lang="en-GB" sz="2600" dirty="0" smtClean="0"/>
              <a:t>Environmental taxes and ETR</a:t>
            </a:r>
          </a:p>
          <a:p>
            <a:r>
              <a:rPr lang="en-GB" sz="2600" dirty="0" smtClean="0"/>
              <a:t>Emissions targets</a:t>
            </a:r>
          </a:p>
          <a:p>
            <a:r>
              <a:rPr lang="en-GB" sz="2600" dirty="0" smtClean="0"/>
              <a:t>The EU ETS</a:t>
            </a:r>
          </a:p>
          <a:p>
            <a:r>
              <a:rPr lang="en-GB" sz="2600" dirty="0" smtClean="0"/>
              <a:t>Energy efficiency</a:t>
            </a:r>
          </a:p>
          <a:p>
            <a:r>
              <a:rPr lang="en-GB" sz="2600" dirty="0" smtClean="0"/>
              <a:t>Green jobs</a:t>
            </a:r>
          </a:p>
          <a:p>
            <a:r>
              <a:rPr lang="en-GB" sz="2600" dirty="0" smtClean="0"/>
              <a:t>Other research</a:t>
            </a:r>
          </a:p>
          <a:p>
            <a:r>
              <a:rPr lang="en-GB" sz="2600" dirty="0" smtClean="0"/>
              <a:t>Overall 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Institutional Framework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4114800"/>
          </a:xfrm>
        </p:spPr>
        <p:txBody>
          <a:bodyPr/>
          <a:lstStyle/>
          <a:p>
            <a:r>
              <a:rPr lang="en-GB" sz="2600" dirty="0" smtClean="0"/>
              <a:t>In Europe, policy is determined at Member State level, unless there are grounds to set policy at European level (</a:t>
            </a:r>
            <a:r>
              <a:rPr lang="en-GB" sz="2600" i="1" dirty="0" smtClean="0"/>
              <a:t>subsidiarity</a:t>
            </a:r>
            <a:r>
              <a:rPr lang="en-GB" sz="2600" dirty="0" smtClean="0"/>
              <a:t> principle)</a:t>
            </a:r>
          </a:p>
          <a:p>
            <a:r>
              <a:rPr lang="en-GB" sz="2600" dirty="0" smtClean="0"/>
              <a:t>If there is a need for policy at European level, it will be proposed and assessed by the European Commission</a:t>
            </a:r>
          </a:p>
          <a:p>
            <a:r>
              <a:rPr lang="en-GB" sz="2600" dirty="0" smtClean="0"/>
              <a:t>It is then put before the European Council and the European Parliament</a:t>
            </a:r>
          </a:p>
        </p:txBody>
      </p:sp>
    </p:spTree>
    <p:extLst>
      <p:ext uri="{BB962C8B-B14F-4D97-AF65-F5344CB8AC3E}">
        <p14:creationId xmlns:p14="http://schemas.microsoft.com/office/powerpoint/2010/main" xmlns="" val="158322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Institutional Framework (cont.)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139952" y="2046983"/>
            <a:ext cx="4176836" cy="3600400"/>
          </a:xfrm>
        </p:spPr>
        <p:txBody>
          <a:bodyPr/>
          <a:lstStyle/>
          <a:p>
            <a:r>
              <a:rPr lang="en-GB" sz="2600" dirty="0" smtClean="0"/>
              <a:t>This presentation describes how modelling contributes to the assessment</a:t>
            </a:r>
          </a:p>
          <a:p>
            <a:r>
              <a:rPr lang="en-GB" sz="2600" dirty="0" smtClean="0"/>
              <a:t>The overall assessment must follow the Impact Assessment Guidelines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536" y="2060848"/>
            <a:ext cx="3278453" cy="35865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127012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Energy Taxes and ETR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4114800"/>
          </a:xfrm>
        </p:spPr>
        <p:txBody>
          <a:bodyPr/>
          <a:lstStyle/>
          <a:p>
            <a:r>
              <a:rPr lang="en-GB" sz="2600" dirty="0" smtClean="0"/>
              <a:t>E3ME was used in the COMETR and </a:t>
            </a:r>
            <a:r>
              <a:rPr lang="en-GB" sz="2600" dirty="0" err="1" smtClean="0"/>
              <a:t>petrE</a:t>
            </a:r>
            <a:r>
              <a:rPr lang="en-GB" sz="2600" dirty="0" smtClean="0"/>
              <a:t> research projects</a:t>
            </a:r>
          </a:p>
          <a:p>
            <a:r>
              <a:rPr lang="en-GB" sz="2600" dirty="0" smtClean="0"/>
              <a:t>These were </a:t>
            </a:r>
            <a:r>
              <a:rPr lang="en-GB" sz="2600" i="1" dirty="0" smtClean="0"/>
              <a:t>ex-post</a:t>
            </a:r>
            <a:r>
              <a:rPr lang="en-GB" sz="2600" dirty="0" smtClean="0"/>
              <a:t> and </a:t>
            </a:r>
            <a:r>
              <a:rPr lang="en-GB" sz="2600" i="1" dirty="0" smtClean="0"/>
              <a:t>ex-ante</a:t>
            </a:r>
            <a:r>
              <a:rPr lang="en-GB" sz="2600" dirty="0" smtClean="0"/>
              <a:t> assessments of Environmental Tax Reform</a:t>
            </a:r>
          </a:p>
          <a:p>
            <a:r>
              <a:rPr lang="en-GB" sz="2600" dirty="0" smtClean="0"/>
              <a:t>ETR was a relatively new concept when the COMETR project started…</a:t>
            </a:r>
          </a:p>
        </p:txBody>
      </p:sp>
    </p:spTree>
    <p:extLst>
      <p:ext uri="{BB962C8B-B14F-4D97-AF65-F5344CB8AC3E}">
        <p14:creationId xmlns:p14="http://schemas.microsoft.com/office/powerpoint/2010/main" xmlns="" val="351936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Energy Taxes are Modelled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647564" y="1935562"/>
            <a:ext cx="1872208" cy="276999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Increase in energy prices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3848" y="1935562"/>
            <a:ext cx="2314654" cy="276999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Reduction in energy consumption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56176" y="1935562"/>
            <a:ext cx="1800200" cy="276999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Reduction in emissions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37339" y="3127122"/>
            <a:ext cx="18002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Industry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3123130"/>
            <a:ext cx="18002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Households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3568" y="4054008"/>
            <a:ext cx="1800200" cy="276999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Loss of real income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3568" y="5355830"/>
            <a:ext cx="1800200" cy="276999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Lower spending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15916" y="6097813"/>
            <a:ext cx="1800200" cy="276999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Loss of output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37339" y="4054008"/>
            <a:ext cx="1800200" cy="276999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Loss of competitiveness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7339" y="5082371"/>
            <a:ext cx="1800200" cy="276999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Worsening trade balance</a:t>
            </a:r>
          </a:p>
        </p:txBody>
      </p:sp>
      <p:cxnSp>
        <p:nvCxnSpPr>
          <p:cNvPr id="14" name="Straight Arrow Connector 13"/>
          <p:cNvCxnSpPr>
            <a:stCxn id="4" idx="2"/>
            <a:endCxn id="8" idx="0"/>
          </p:cNvCxnSpPr>
          <p:nvPr/>
        </p:nvCxnSpPr>
        <p:spPr>
          <a:xfrm>
            <a:off x="1583668" y="2212561"/>
            <a:ext cx="0" cy="910569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5" name="Straight Arrow Connector 14"/>
          <p:cNvCxnSpPr>
            <a:stCxn id="8" idx="2"/>
            <a:endCxn id="9" idx="0"/>
          </p:cNvCxnSpPr>
          <p:nvPr/>
        </p:nvCxnSpPr>
        <p:spPr>
          <a:xfrm>
            <a:off x="1583668" y="3400129"/>
            <a:ext cx="0" cy="653879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6" name="Straight Arrow Connector 15"/>
          <p:cNvCxnSpPr>
            <a:stCxn id="9" idx="2"/>
            <a:endCxn id="10" idx="0"/>
          </p:cNvCxnSpPr>
          <p:nvPr/>
        </p:nvCxnSpPr>
        <p:spPr>
          <a:xfrm>
            <a:off x="1583668" y="4331007"/>
            <a:ext cx="0" cy="1024823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7" name="Straight Arrow Connector 16"/>
          <p:cNvCxnSpPr>
            <a:stCxn id="4" idx="3"/>
            <a:endCxn id="5" idx="1"/>
          </p:cNvCxnSpPr>
          <p:nvPr/>
        </p:nvCxnSpPr>
        <p:spPr>
          <a:xfrm>
            <a:off x="2519772" y="2074062"/>
            <a:ext cx="684076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8" name="Straight Arrow Connector 17"/>
          <p:cNvCxnSpPr>
            <a:stCxn id="5" idx="3"/>
            <a:endCxn id="6" idx="1"/>
          </p:cNvCxnSpPr>
          <p:nvPr/>
        </p:nvCxnSpPr>
        <p:spPr>
          <a:xfrm>
            <a:off x="5518502" y="2074062"/>
            <a:ext cx="637674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9" name="Straight Arrow Connector 18"/>
          <p:cNvCxnSpPr>
            <a:stCxn id="7" idx="2"/>
            <a:endCxn id="12" idx="0"/>
          </p:cNvCxnSpPr>
          <p:nvPr/>
        </p:nvCxnSpPr>
        <p:spPr>
          <a:xfrm>
            <a:off x="6737439" y="3404121"/>
            <a:ext cx="0" cy="649887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20" name="Straight Arrow Connector 19"/>
          <p:cNvCxnSpPr>
            <a:stCxn id="12" idx="2"/>
            <a:endCxn id="13" idx="0"/>
          </p:cNvCxnSpPr>
          <p:nvPr/>
        </p:nvCxnSpPr>
        <p:spPr>
          <a:xfrm>
            <a:off x="6737439" y="4331007"/>
            <a:ext cx="0" cy="751364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21" name="Elbow Connector 20"/>
          <p:cNvCxnSpPr>
            <a:stCxn id="11" idx="0"/>
            <a:endCxn id="22" idx="2"/>
          </p:cNvCxnSpPr>
          <p:nvPr/>
        </p:nvCxnSpPr>
        <p:spPr>
          <a:xfrm rot="16200000" flipV="1">
            <a:off x="3660506" y="5042302"/>
            <a:ext cx="1170490" cy="94053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2875385" y="4650324"/>
            <a:ext cx="1800200" cy="276999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Loss of jobs</a:t>
            </a:r>
          </a:p>
        </p:txBody>
      </p:sp>
      <p:cxnSp>
        <p:nvCxnSpPr>
          <p:cNvPr id="23" name="Elbow Connector 22"/>
          <p:cNvCxnSpPr>
            <a:stCxn id="22" idx="0"/>
            <a:endCxn id="9" idx="3"/>
          </p:cNvCxnSpPr>
          <p:nvPr/>
        </p:nvCxnSpPr>
        <p:spPr>
          <a:xfrm rot="16200000" flipV="1">
            <a:off x="2900719" y="3775557"/>
            <a:ext cx="457816" cy="1291717"/>
          </a:xfrm>
          <a:prstGeom prst="bentConnector2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24" name="Elbow Connector 23"/>
          <p:cNvCxnSpPr>
            <a:stCxn id="10" idx="2"/>
            <a:endCxn id="11" idx="1"/>
          </p:cNvCxnSpPr>
          <p:nvPr/>
        </p:nvCxnSpPr>
        <p:spPr>
          <a:xfrm rot="16200000" flipH="1">
            <a:off x="2398050" y="4818447"/>
            <a:ext cx="603484" cy="2232248"/>
          </a:xfrm>
          <a:prstGeom prst="bentConnector2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25" name="Elbow Connector 24"/>
          <p:cNvCxnSpPr>
            <a:stCxn id="13" idx="2"/>
            <a:endCxn id="11" idx="3"/>
          </p:cNvCxnSpPr>
          <p:nvPr/>
        </p:nvCxnSpPr>
        <p:spPr>
          <a:xfrm rot="5400000">
            <a:off x="5738307" y="5237180"/>
            <a:ext cx="876943" cy="1121323"/>
          </a:xfrm>
          <a:prstGeom prst="bentConnector2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26" name="Elbow Connector 25"/>
          <p:cNvCxnSpPr>
            <a:stCxn id="4" idx="2"/>
            <a:endCxn id="7" idx="0"/>
          </p:cNvCxnSpPr>
          <p:nvPr/>
        </p:nvCxnSpPr>
        <p:spPr>
          <a:xfrm rot="16200000" flipH="1">
            <a:off x="3703273" y="92955"/>
            <a:ext cx="914561" cy="5153771"/>
          </a:xfrm>
          <a:prstGeom prst="bentConnector3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xmlns="" val="237387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Impacts of ETR on GDP in the 1990s</a:t>
            </a:r>
            <a:endParaRPr lang="en-GB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467851" y="2009812"/>
            <a:ext cx="6492207" cy="4033481"/>
            <a:chOff x="12" y="64"/>
            <a:chExt cx="523" cy="352"/>
          </a:xfrm>
        </p:grpSpPr>
        <p:pic>
          <p:nvPicPr>
            <p:cNvPr id="6" name="Object 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" y="73"/>
              <a:ext cx="509" cy="275"/>
            </a:xfrm>
            <a:prstGeom prst="rect">
              <a:avLst/>
            </a:prstGeom>
          </p:spPr>
        </p:pic>
        <p:sp>
          <p:nvSpPr>
            <p:cNvPr id="7" name="Line 3"/>
            <p:cNvSpPr>
              <a:spLocks noChangeShapeType="1"/>
            </p:cNvSpPr>
            <p:nvPr/>
          </p:nvSpPr>
          <p:spPr bwMode="auto">
            <a:xfrm>
              <a:off x="472" y="145"/>
              <a:ext cx="25" cy="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229" y="183"/>
              <a:ext cx="79" cy="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GB" sz="1200" b="0" i="0" u="none" strike="noStrike" baseline="0">
                  <a:solidFill>
                    <a:srgbClr val="000000"/>
                  </a:solidFill>
                  <a:latin typeface="Times New Roman"/>
                  <a:cs typeface="Times New Roman"/>
                </a:rPr>
                <a:t>Denmark</a:t>
              </a:r>
              <a:endParaRPr lang="en-GB" sz="1000" b="0" i="0" u="none" strike="noStrike" baseline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0">
                <a:defRPr sz="1000"/>
              </a:pPr>
              <a:endParaRPr lang="en-GB"/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405" y="119"/>
              <a:ext cx="97" cy="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GB" sz="1200" b="0" i="0" u="none" strike="noStrike" baseline="0">
                  <a:solidFill>
                    <a:srgbClr val="000000"/>
                  </a:solidFill>
                  <a:latin typeface="Times New Roman"/>
                  <a:cs typeface="Times New Roman"/>
                </a:rPr>
                <a:t>Netherlands</a:t>
              </a:r>
              <a:endParaRPr lang="en-GB" sz="1000" b="0" i="0" u="none" strike="noStrike" baseline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0">
                <a:defRPr sz="1000"/>
              </a:pPr>
              <a:endParaRPr lang="en-GB"/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438" y="234"/>
              <a:ext cx="76" cy="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GB" sz="1200" b="0" i="0" u="none" strike="noStrike" baseline="0">
                  <a:solidFill>
                    <a:srgbClr val="000000"/>
                  </a:solidFill>
                  <a:latin typeface="Times New Roman"/>
                  <a:cs typeface="Times New Roman"/>
                </a:rPr>
                <a:t>Slovenia</a:t>
              </a:r>
              <a:endParaRPr lang="en-GB" sz="1000" b="0" i="0" u="none" strike="noStrike" baseline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0">
                <a:defRPr sz="1000"/>
              </a:pPr>
              <a:endParaRPr lang="en-GB"/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282" y="272"/>
              <a:ext cx="43" cy="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GB" sz="1200" b="0" i="0" u="none" strike="noStrike" baseline="0">
                  <a:solidFill>
                    <a:srgbClr val="000000"/>
                  </a:solidFill>
                  <a:latin typeface="Times New Roman"/>
                  <a:cs typeface="Times New Roman"/>
                </a:rPr>
                <a:t>UK</a:t>
              </a:r>
              <a:endParaRPr lang="en-GB" sz="1000" b="0" i="0" u="none" strike="noStrike" baseline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0">
                <a:defRPr sz="1000"/>
              </a:pPr>
              <a:endParaRPr lang="en-GB"/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295" y="162"/>
              <a:ext cx="79" cy="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GB" sz="1200" b="0" i="0" u="none" strike="noStrike" baseline="0">
                  <a:solidFill>
                    <a:srgbClr val="000000"/>
                  </a:solidFill>
                  <a:latin typeface="Times New Roman"/>
                  <a:cs typeface="Times New Roman"/>
                </a:rPr>
                <a:t>Germany</a:t>
              </a:r>
              <a:endParaRPr lang="en-GB" sz="1000" b="0" i="0" u="none" strike="noStrike" baseline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0">
                <a:defRPr sz="1000"/>
              </a:pPr>
              <a:endParaRPr lang="en-GB"/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212" y="106"/>
              <a:ext cx="69" cy="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GB" sz="1200" b="0" i="0" u="none" strike="noStrike" baseline="0">
                  <a:solidFill>
                    <a:srgbClr val="000000"/>
                  </a:solidFill>
                  <a:latin typeface="Times New Roman"/>
                  <a:cs typeface="Times New Roman"/>
                </a:rPr>
                <a:t>Finland</a:t>
              </a:r>
              <a:endParaRPr lang="en-GB" sz="1000" b="0" i="0" u="none" strike="noStrike" baseline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0">
                <a:defRPr sz="1000"/>
              </a:pPr>
              <a:endParaRPr lang="en-GB"/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119" y="257"/>
              <a:ext cx="71" cy="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GB" sz="1200" b="0" i="0" u="none" strike="noStrike" baseline="0">
                  <a:solidFill>
                    <a:srgbClr val="000000"/>
                  </a:solidFill>
                  <a:latin typeface="Times New Roman"/>
                  <a:cs typeface="Times New Roman"/>
                </a:rPr>
                <a:t>Sweden</a:t>
              </a:r>
              <a:endParaRPr lang="en-GB" sz="1000" b="0" i="0" u="none" strike="noStrike" baseline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0">
                <a:defRPr sz="1000"/>
              </a:pPr>
              <a:endParaRPr lang="en-GB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 flipV="1">
              <a:off x="312" y="237"/>
              <a:ext cx="27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349" y="174"/>
              <a:ext cx="40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12" y="343"/>
              <a:ext cx="491" cy="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GB" sz="1000" b="0" i="0" u="none" strike="noStrike" baseline="0">
                  <a:solidFill>
                    <a:srgbClr val="000000"/>
                  </a:solidFill>
                  <a:latin typeface="Times New Roman"/>
                  <a:cs typeface="Times New Roman"/>
                </a:rPr>
                <a:t>Note(s)      :% difference is the difference between the base case and the counter factual</a:t>
              </a:r>
            </a:p>
            <a:p>
              <a:pPr algn="l" rtl="0">
                <a:defRPr sz="1000"/>
              </a:pPr>
              <a:r>
                <a:rPr lang="en-GB" sz="1000" b="0" i="0" u="none" strike="noStrike" baseline="0">
                  <a:solidFill>
                    <a:srgbClr val="000000"/>
                  </a:solidFill>
                  <a:latin typeface="Times New Roman"/>
                  <a:cs typeface="Times New Roman"/>
                </a:rPr>
                <a:t>reference case.</a:t>
              </a:r>
            </a:p>
            <a:p>
              <a:pPr algn="l" rtl="0">
                <a:defRPr sz="1000"/>
              </a:pPr>
              <a:r>
                <a:rPr lang="en-GB" sz="1000" b="0" i="0" u="none" strike="noStrike" baseline="0">
                  <a:solidFill>
                    <a:srgbClr val="000000"/>
                  </a:solidFill>
                  <a:latin typeface="Times New Roman"/>
                  <a:cs typeface="Times New Roman"/>
                </a:rPr>
                <a:t>Source(s)   :   CE.</a:t>
              </a:r>
            </a:p>
            <a:p>
              <a:pPr algn="l" rtl="0">
                <a:defRPr sz="1000"/>
              </a:pPr>
              <a:endParaRPr lang="en-GB"/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14" y="64"/>
              <a:ext cx="102" cy="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40" tIns="45720" rIns="91440" bIns="4572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GB" sz="1200" b="0" i="0" u="none" strike="noStrike" baseline="0">
                  <a:solidFill>
                    <a:srgbClr val="000000"/>
                  </a:solidFill>
                  <a:latin typeface="Times New Roman"/>
                  <a:cs typeface="Times New Roman"/>
                </a:rPr>
                <a:t>% difference</a:t>
              </a:r>
            </a:p>
            <a:p>
              <a:pPr algn="l" rtl="0">
                <a:defRPr sz="1000"/>
              </a:pPr>
              <a:endParaRPr lang="en-GB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55575" y="6165304"/>
            <a:ext cx="4603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Taken from COMETR final report and publications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66124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Future Impacts of ETR</a:t>
            </a:r>
            <a:endParaRPr lang="en-GB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56792"/>
            <a:ext cx="6457950" cy="484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>
                <a:solidFill>
                  <a:srgbClr val="003966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168728" y="2348880"/>
            <a:ext cx="1579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Taken from </a:t>
            </a:r>
            <a:r>
              <a:rPr lang="en-GB" dirty="0" err="1" smtClean="0"/>
              <a:t>petrE</a:t>
            </a:r>
            <a:r>
              <a:rPr lang="en-GB" dirty="0" smtClean="0"/>
              <a:t> final working paper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0394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Distributional Impacts of ETR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802649368"/>
              </p:ext>
            </p:extLst>
          </p:nvPr>
        </p:nvGraphicFramePr>
        <p:xfrm>
          <a:off x="683568" y="1340768"/>
          <a:ext cx="7921575" cy="4892355"/>
        </p:xfrm>
        <a:graphic>
          <a:graphicData uri="http://schemas.openxmlformats.org/presentationml/2006/ole">
            <p:oleObj spid="_x0000_s16396" name="Chart" r:id="rId4" imgW="6276992" imgH="3724200" progId="MSGraph.Chart.8">
              <p:embed followColorScheme="full"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3528" y="6237312"/>
            <a:ext cx="1579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Source(s): EEA.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185243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Energy Taxation Directive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4114800"/>
          </a:xfrm>
        </p:spPr>
        <p:txBody>
          <a:bodyPr/>
          <a:lstStyle/>
          <a:p>
            <a:r>
              <a:rPr lang="en-GB" sz="2600" dirty="0" smtClean="0"/>
              <a:t>CE worked with the EC (DG TAXUD) to assess potential options for revising the Energy Taxation Directive</a:t>
            </a:r>
          </a:p>
          <a:p>
            <a:r>
              <a:rPr lang="en-GB" sz="2600" dirty="0" smtClean="0"/>
              <a:t>E3ME was used to model the impacts on the economy, energy consumption and emissions</a:t>
            </a:r>
          </a:p>
        </p:txBody>
      </p:sp>
    </p:spTree>
    <p:extLst>
      <p:ext uri="{BB962C8B-B14F-4D97-AF65-F5344CB8AC3E}">
        <p14:creationId xmlns:p14="http://schemas.microsoft.com/office/powerpoint/2010/main" xmlns="" val="126194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Emissions Targets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4114800"/>
          </a:xfrm>
        </p:spPr>
        <p:txBody>
          <a:bodyPr/>
          <a:lstStyle/>
          <a:p>
            <a:r>
              <a:rPr lang="en-GB" sz="2600" dirty="0" smtClean="0"/>
              <a:t>E3ME and a CGE model were used to assess the impacts on GDP and employment of:</a:t>
            </a:r>
          </a:p>
          <a:p>
            <a:pPr lvl="1"/>
            <a:r>
              <a:rPr lang="en-GB" sz="1900" dirty="0" smtClean="0"/>
              <a:t>extending the EU’s 20% GHG reduction target to 30%</a:t>
            </a:r>
          </a:p>
          <a:p>
            <a:pPr lvl="1"/>
            <a:r>
              <a:rPr lang="en-GB" sz="1900" dirty="0" smtClean="0"/>
              <a:t>setting different targets for 2030</a:t>
            </a:r>
          </a:p>
          <a:p>
            <a:r>
              <a:rPr lang="en-GB" sz="2600" dirty="0" smtClean="0"/>
              <a:t>E3ME was linked to a detailed energy systems model (PRIMES) to provide the assessment</a:t>
            </a:r>
          </a:p>
        </p:txBody>
      </p:sp>
    </p:spTree>
    <p:extLst>
      <p:ext uri="{BB962C8B-B14F-4D97-AF65-F5344CB8AC3E}">
        <p14:creationId xmlns:p14="http://schemas.microsoft.com/office/powerpoint/2010/main" xmlns="" val="376874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Why Use Two Economic Models?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4114800"/>
          </a:xfrm>
        </p:spPr>
        <p:txBody>
          <a:bodyPr/>
          <a:lstStyle/>
          <a:p>
            <a:r>
              <a:rPr lang="en-GB" dirty="0" smtClean="0"/>
              <a:t>The two models are founded in different schools of economics:</a:t>
            </a:r>
          </a:p>
          <a:p>
            <a:pPr lvl="1"/>
            <a:r>
              <a:rPr lang="en-GB" dirty="0" smtClean="0"/>
              <a:t>E3ME is an econometric model that uses an empirical approach</a:t>
            </a:r>
          </a:p>
          <a:p>
            <a:pPr lvl="1"/>
            <a:r>
              <a:rPr lang="en-GB" dirty="0" smtClean="0"/>
              <a:t>GEM-E3 is a CGE model that is based on standard economic theory</a:t>
            </a:r>
          </a:p>
          <a:p>
            <a:r>
              <a:rPr lang="en-GB" dirty="0" smtClean="0"/>
              <a:t>But both models have “E3” coverage of economy, energy and emissions, and both have 2-digit level </a:t>
            </a:r>
            <a:r>
              <a:rPr lang="en-GB" dirty="0" err="1" smtClean="0"/>
              <a:t>sectoral</a:t>
            </a:r>
            <a:r>
              <a:rPr lang="en-GB" dirty="0" smtClean="0"/>
              <a:t> detail. See:</a:t>
            </a:r>
          </a:p>
          <a:p>
            <a:pPr lvl="1"/>
            <a:r>
              <a:rPr lang="en-GB" dirty="0" smtClean="0">
                <a:hlinkClick r:id="rId2"/>
              </a:rPr>
              <a:t>www.e3me.com</a:t>
            </a:r>
            <a:r>
              <a:rPr lang="en-GB" dirty="0" smtClean="0"/>
              <a:t> </a:t>
            </a:r>
          </a:p>
          <a:p>
            <a:pPr lvl="1"/>
            <a:r>
              <a:rPr lang="en-GB" dirty="0" smtClean="0">
                <a:hlinkClick r:id="rId3"/>
              </a:rPr>
              <a:t>www.gem-e3.net/</a:t>
            </a:r>
            <a:r>
              <a:rPr lang="en-GB" dirty="0" smtClean="0"/>
              <a:t>  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xmlns="" val="74732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 Impacts, EU GDP (2020)</a:t>
            </a:r>
          </a:p>
        </p:txBody>
      </p:sp>
      <p:graphicFrame>
        <p:nvGraphicFramePr>
          <p:cNvPr id="2" name="Object 5"/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733425" y="2060848"/>
          <a:ext cx="7820025" cy="4314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4132968" y="5409010"/>
            <a:ext cx="792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b="1" dirty="0" smtClean="0">
                <a:solidFill>
                  <a:srgbClr val="003966"/>
                </a:solidFill>
                <a:latin typeface="Arial" charset="0"/>
              </a:rPr>
              <a:t>E3MG</a:t>
            </a:r>
            <a:endParaRPr lang="en-GB" b="1" dirty="0">
              <a:solidFill>
                <a:srgbClr val="003966"/>
              </a:solidFill>
              <a:latin typeface="Arial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529050" y="4114750"/>
            <a:ext cx="10510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b="1" dirty="0" smtClean="0">
                <a:solidFill>
                  <a:srgbClr val="003966"/>
                </a:solidFill>
                <a:latin typeface="Arial" charset="0"/>
              </a:rPr>
              <a:t>GEM-E3</a:t>
            </a:r>
            <a:endParaRPr lang="en-GB" b="1" dirty="0">
              <a:solidFill>
                <a:srgbClr val="003966"/>
              </a:solidFill>
              <a:latin typeface="Arial" charset="0"/>
            </a:endParaRPr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4355976" y="4415412"/>
            <a:ext cx="288032" cy="131386"/>
          </a:xfrm>
          <a:prstGeom prst="line">
            <a:avLst/>
          </a:prstGeom>
          <a:noFill/>
          <a:ln w="9525">
            <a:solidFill>
              <a:srgbClr val="0039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 flipH="1" flipV="1">
            <a:off x="4132968" y="5261922"/>
            <a:ext cx="367024" cy="147088"/>
          </a:xfrm>
          <a:prstGeom prst="line">
            <a:avLst/>
          </a:prstGeom>
          <a:noFill/>
          <a:ln w="9525">
            <a:solidFill>
              <a:srgbClr val="0039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479096" y="1916832"/>
            <a:ext cx="12601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b="1" dirty="0" smtClean="0">
                <a:solidFill>
                  <a:srgbClr val="003966"/>
                </a:solidFill>
                <a:latin typeface="Arial" charset="0"/>
              </a:rPr>
              <a:t>Domestic</a:t>
            </a:r>
            <a:endParaRPr lang="en-GB" b="1" dirty="0">
              <a:solidFill>
                <a:srgbClr val="003966"/>
              </a:solidFill>
              <a:latin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580112" y="1916832"/>
            <a:ext cx="792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b="1" dirty="0" smtClean="0">
                <a:solidFill>
                  <a:srgbClr val="003966"/>
                </a:solidFill>
                <a:latin typeface="Arial" charset="0"/>
              </a:rPr>
              <a:t>CDMs</a:t>
            </a:r>
            <a:endParaRPr lang="en-GB" b="1" dirty="0">
              <a:solidFill>
                <a:srgbClr val="003966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9495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EU ETS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4114800"/>
          </a:xfrm>
        </p:spPr>
        <p:txBody>
          <a:bodyPr/>
          <a:lstStyle/>
          <a:p>
            <a:r>
              <a:rPr lang="en-GB" sz="2600" dirty="0" smtClean="0"/>
              <a:t>CE has worked with DG CLIMA (previously part of DG Environment) at EU level</a:t>
            </a:r>
          </a:p>
          <a:p>
            <a:r>
              <a:rPr lang="en-GB" sz="2600" dirty="0" smtClean="0"/>
              <a:t>The E3ME model was used to assess the economic impacts of different mechanisms for allocating ETS allowances – the ETS also features in many other assessments</a:t>
            </a:r>
          </a:p>
        </p:txBody>
      </p:sp>
    </p:spTree>
    <p:extLst>
      <p:ext uri="{BB962C8B-B14F-4D97-AF65-F5344CB8AC3E}">
        <p14:creationId xmlns:p14="http://schemas.microsoft.com/office/powerpoint/2010/main" xmlns="" val="317498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EU ETS - Results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4114800"/>
          </a:xfrm>
        </p:spPr>
        <p:txBody>
          <a:bodyPr/>
          <a:lstStyle/>
          <a:p>
            <a:r>
              <a:rPr lang="en-GB" sz="2600" dirty="0" smtClean="0"/>
              <a:t>Model results are dependent on assumptions about opportunity cost pricing</a:t>
            </a:r>
          </a:p>
          <a:p>
            <a:r>
              <a:rPr lang="en-GB" sz="2600" dirty="0" smtClean="0"/>
              <a:t>It is also important to note that (unlike CGE models) E3ME does not assume 100% cost pass-through</a:t>
            </a:r>
          </a:p>
          <a:p>
            <a:r>
              <a:rPr lang="en-GB" sz="2600" dirty="0" smtClean="0"/>
              <a:t>Model results show benefits to GDP of auctioning allowances, usually at the expense of industry profits</a:t>
            </a:r>
          </a:p>
        </p:txBody>
      </p:sp>
    </p:spTree>
    <p:extLst>
      <p:ext uri="{BB962C8B-B14F-4D97-AF65-F5344CB8AC3E}">
        <p14:creationId xmlns:p14="http://schemas.microsoft.com/office/powerpoint/2010/main" xmlns="" val="312676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Energy Efficiency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4114800"/>
          </a:xfrm>
        </p:spPr>
        <p:txBody>
          <a:bodyPr/>
          <a:lstStyle/>
          <a:p>
            <a:r>
              <a:rPr lang="en-GB" sz="2600" dirty="0" smtClean="0"/>
              <a:t>E3ME used to provide input to the assessment of the Energy Efficiency Directive</a:t>
            </a:r>
          </a:p>
          <a:p>
            <a:r>
              <a:rPr lang="en-GB" sz="2600" dirty="0" smtClean="0"/>
              <a:t>It also contributed to the assessment of the targets that were set for 2030</a:t>
            </a:r>
          </a:p>
        </p:txBody>
      </p:sp>
    </p:spTree>
    <p:extLst>
      <p:ext uri="{BB962C8B-B14F-4D97-AF65-F5344CB8AC3E}">
        <p14:creationId xmlns:p14="http://schemas.microsoft.com/office/powerpoint/2010/main" xmlns="" val="420315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Energy Efficiency – Economic Impacts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15616" y="1916832"/>
            <a:ext cx="244827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/>
              <a:t>Investment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211960" y="1916832"/>
            <a:ext cx="25922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/>
              <a:t>Funds to pay for investment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115616" y="4581128"/>
            <a:ext cx="273630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/>
              <a:t>Reduction in Energy Imports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771800" y="3257366"/>
            <a:ext cx="273630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/>
              <a:t>GDP and jobs</a:t>
            </a:r>
            <a:endParaRPr lang="en-GB" dirty="0"/>
          </a:p>
        </p:txBody>
      </p:sp>
      <p:cxnSp>
        <p:nvCxnSpPr>
          <p:cNvPr id="4" name="Elbow Connector 3"/>
          <p:cNvCxnSpPr>
            <a:stCxn id="2" idx="2"/>
            <a:endCxn id="7" idx="1"/>
          </p:cNvCxnSpPr>
          <p:nvPr/>
        </p:nvCxnSpPr>
        <p:spPr bwMode="auto">
          <a:xfrm rot="16200000" flipH="1">
            <a:off x="1970148" y="2624990"/>
            <a:ext cx="1171257" cy="43204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Elbow Connector 10"/>
          <p:cNvCxnSpPr>
            <a:stCxn id="5" idx="2"/>
            <a:endCxn id="7" idx="0"/>
          </p:cNvCxnSpPr>
          <p:nvPr/>
        </p:nvCxnSpPr>
        <p:spPr bwMode="auto">
          <a:xfrm rot="5400000">
            <a:off x="4323038" y="2072300"/>
            <a:ext cx="1001980" cy="136815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Elbow Connector 13"/>
          <p:cNvCxnSpPr>
            <a:stCxn id="6" idx="0"/>
            <a:endCxn id="7" idx="2"/>
          </p:cNvCxnSpPr>
          <p:nvPr/>
        </p:nvCxnSpPr>
        <p:spPr bwMode="auto">
          <a:xfrm rot="5400000" flipH="1" flipV="1">
            <a:off x="2819256" y="3260432"/>
            <a:ext cx="985208" cy="165618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1835696" y="2510566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+</a:t>
            </a:r>
            <a:r>
              <a:rPr lang="en-GB" dirty="0" err="1" smtClean="0"/>
              <a:t>ve</a:t>
            </a:r>
            <a:endParaRPr lang="en-GB" dirty="0"/>
          </a:p>
        </p:txBody>
      </p:sp>
      <p:sp>
        <p:nvSpPr>
          <p:cNvPr id="18" name="TextBox 17"/>
          <p:cNvSpPr txBox="1"/>
          <p:nvPr/>
        </p:nvSpPr>
        <p:spPr>
          <a:xfrm>
            <a:off x="2843808" y="4088523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+</a:t>
            </a:r>
            <a:r>
              <a:rPr lang="en-GB" dirty="0" err="1" smtClean="0"/>
              <a:t>ve</a:t>
            </a:r>
            <a:endParaRPr lang="en-GB" dirty="0"/>
          </a:p>
        </p:txBody>
      </p:sp>
      <p:sp>
        <p:nvSpPr>
          <p:cNvPr id="19" name="TextBox 18"/>
          <p:cNvSpPr txBox="1"/>
          <p:nvPr/>
        </p:nvSpPr>
        <p:spPr>
          <a:xfrm>
            <a:off x="5508104" y="2417822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-</a:t>
            </a:r>
            <a:r>
              <a:rPr lang="en-GB" dirty="0" err="1" smtClean="0"/>
              <a:t>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386549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94" y="1741621"/>
            <a:ext cx="7132320" cy="706196"/>
          </a:xfrm>
        </p:spPr>
        <p:txBody>
          <a:bodyPr/>
          <a:lstStyle/>
          <a:p>
            <a:r>
              <a:rPr lang="en-US" dirty="0" smtClean="0"/>
              <a:t>GDP impacts were found to be small and positive in the scenarios in which Energy Savings Obligations were imposed (figures for 2020)</a:t>
            </a:r>
          </a:p>
          <a:p>
            <a:pPr lvl="1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3508218"/>
            <a:ext cx="7757225" cy="173588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4393" y="5322902"/>
            <a:ext cx="6936558" cy="31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77" dirty="0">
                <a:sym typeface="Wingdings" panose="05000000000000000000" pitchFamily="2" charset="2"/>
              </a:rPr>
              <a:t>Source: Energy Efficiency Directive Impact Assessment (annexes, p33)</a:t>
            </a:r>
            <a:endParaRPr lang="en-US" sz="1477" dirty="0"/>
          </a:p>
        </p:txBody>
      </p:sp>
      <p:sp>
        <p:nvSpPr>
          <p:cNvPr id="9" name="TextBox 8"/>
          <p:cNvSpPr txBox="1"/>
          <p:nvPr/>
        </p:nvSpPr>
        <p:spPr>
          <a:xfrm>
            <a:off x="1116108" y="6211503"/>
            <a:ext cx="1124975" cy="31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77" dirty="0">
                <a:sym typeface="Wingdings" panose="05000000000000000000" pitchFamily="2" charset="2"/>
              </a:rPr>
              <a:t>Baseline</a:t>
            </a:r>
            <a:endParaRPr lang="en-US" sz="1477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1666581" y="4813844"/>
            <a:ext cx="562268" cy="14182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17854" y="5970065"/>
            <a:ext cx="2486262" cy="8879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77" dirty="0">
                <a:sym typeface="Wingdings" panose="05000000000000000000" pitchFamily="2" charset="2"/>
              </a:rPr>
              <a:t>Scenarios with ESO to meet 20% targets</a:t>
            </a:r>
          </a:p>
          <a:p>
            <a:r>
              <a:rPr lang="en-US" sz="1477" dirty="0">
                <a:sym typeface="Wingdings" panose="05000000000000000000" pitchFamily="2" charset="2"/>
              </a:rPr>
              <a:t>GDP increases by 0.3%</a:t>
            </a:r>
            <a:endParaRPr lang="en-US" sz="1477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3209631" y="4813843"/>
            <a:ext cx="1151354" cy="11562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0"/>
          </p:cNvCxnSpPr>
          <p:nvPr/>
        </p:nvCxnSpPr>
        <p:spPr>
          <a:xfrm flipV="1">
            <a:off x="4360985" y="4813844"/>
            <a:ext cx="1373566" cy="11562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82671" y="5970065"/>
            <a:ext cx="2477117" cy="6606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77" dirty="0">
                <a:sym typeface="Wingdings" panose="05000000000000000000" pitchFamily="2" charset="2"/>
              </a:rPr>
              <a:t>Higher ambition scenarios</a:t>
            </a:r>
          </a:p>
          <a:p>
            <a:r>
              <a:rPr lang="en-US" sz="1477" dirty="0">
                <a:sym typeface="Wingdings" panose="05000000000000000000" pitchFamily="2" charset="2"/>
              </a:rPr>
              <a:t>GDP increases by 0.6%</a:t>
            </a:r>
            <a:endParaRPr lang="en-US" sz="1477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6728297" y="4813843"/>
            <a:ext cx="497505" cy="11562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3" idx="0"/>
          </p:cNvCxnSpPr>
          <p:nvPr/>
        </p:nvCxnSpPr>
        <p:spPr>
          <a:xfrm flipV="1">
            <a:off x="7221230" y="4813843"/>
            <a:ext cx="758275" cy="11562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611188" y="304800"/>
            <a:ext cx="7848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123D6B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123D6B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123D6B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123D6B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123D6B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123D6B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123D6B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123D6B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123D6B"/>
                </a:solidFill>
                <a:latin typeface="Arial" charset="0"/>
              </a:defRPr>
            </a:lvl9pPr>
          </a:lstStyle>
          <a:p>
            <a:r>
              <a:rPr lang="en-US" dirty="0" smtClean="0"/>
              <a:t>The Scenario Results</a:t>
            </a:r>
            <a:endParaRPr lang="en-GB" kern="0" dirty="0" smtClean="0"/>
          </a:p>
        </p:txBody>
      </p:sp>
    </p:spTree>
    <p:extLst>
      <p:ext uri="{BB962C8B-B14F-4D97-AF65-F5344CB8AC3E}">
        <p14:creationId xmlns:p14="http://schemas.microsoft.com/office/powerpoint/2010/main" xmlns="" val="1921991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Energy Efficiency – Summary Results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4114800"/>
          </a:xfrm>
        </p:spPr>
        <p:txBody>
          <a:bodyPr/>
          <a:lstStyle/>
          <a:p>
            <a:r>
              <a:rPr lang="en-GB" sz="2600" dirty="0" smtClean="0"/>
              <a:t>Implementing efficiency measures provides a net boost to GDP and employment</a:t>
            </a:r>
            <a:endParaRPr lang="en-GB" sz="2600" dirty="0"/>
          </a:p>
          <a:p>
            <a:pPr lvl="1"/>
            <a:r>
              <a:rPr lang="en-GB" dirty="0" smtClean="0"/>
              <a:t>mainly due to reduced fuel imports</a:t>
            </a:r>
          </a:p>
          <a:p>
            <a:pPr lvl="1"/>
            <a:r>
              <a:rPr lang="en-GB" dirty="0" smtClean="0"/>
              <a:t>there is also a welfare gain from not having to heat households</a:t>
            </a:r>
          </a:p>
          <a:p>
            <a:r>
              <a:rPr lang="en-GB" sz="2600" dirty="0" smtClean="0"/>
              <a:t>There are important sectoral impacts</a:t>
            </a:r>
          </a:p>
          <a:p>
            <a:pPr lvl="1"/>
            <a:r>
              <a:rPr lang="en-GB" dirty="0" smtClean="0"/>
              <a:t>main losers are energy sectors</a:t>
            </a:r>
          </a:p>
          <a:p>
            <a:pPr lvl="1"/>
            <a:r>
              <a:rPr lang="en-GB" dirty="0" smtClean="0"/>
              <a:t>main winners are investment sectors</a:t>
            </a:r>
          </a:p>
          <a:p>
            <a:pPr lvl="1"/>
            <a:r>
              <a:rPr lang="en-GB" dirty="0" smtClean="0"/>
              <a:t>this has important jobs/skills implications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372116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Energy Efficiency – Transport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7272" y="1838723"/>
            <a:ext cx="3845316" cy="34624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16016" y="1835696"/>
            <a:ext cx="4181242" cy="34651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5536" y="5488641"/>
            <a:ext cx="8064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Figure shows additional jobs created in the EU by improving efficiency in light-duty vehicles, compared to maintaining current rates of efficiency</a:t>
            </a:r>
          </a:p>
          <a:p>
            <a:r>
              <a:rPr lang="en-GB" dirty="0">
                <a:hlinkClick r:id="rId4"/>
              </a:rPr>
              <a:t>http://www.camecon.com/Libraries/Downloadable_Files/Fuelling_Europe_s_Future-_</a:t>
            </a:r>
            <a:r>
              <a:rPr lang="en-GB" dirty="0" smtClean="0">
                <a:hlinkClick r:id="rId4"/>
              </a:rPr>
              <a:t>How_auto_innovation_leads_to_EU_jobs.sflb.ashx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139171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Interaction with the EU ETS</a:t>
            </a:r>
            <a:endParaRPr lang="en-GB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23928" y="1901954"/>
            <a:ext cx="4892412" cy="4127627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Study for the Regulatory Assistance Project</a:t>
            </a:r>
          </a:p>
          <a:p>
            <a:r>
              <a:rPr lang="en-US" dirty="0"/>
              <a:t>Team involved ECN (Netherlands) and Cambridge Econometrics</a:t>
            </a:r>
          </a:p>
          <a:p>
            <a:r>
              <a:rPr lang="en-US" dirty="0" smtClean="0"/>
              <a:t>Assessed the interaction between the EU ETS and energy efficiency </a:t>
            </a:r>
            <a:r>
              <a:rPr lang="en-US" dirty="0" err="1" smtClean="0"/>
              <a:t>programmes</a:t>
            </a:r>
            <a:r>
              <a:rPr lang="en-US" dirty="0" smtClean="0"/>
              <a:t> in Europe</a:t>
            </a:r>
          </a:p>
          <a:p>
            <a:r>
              <a:rPr lang="en-US" dirty="0" smtClean="0"/>
              <a:t>Available online: 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www.ecn.nl/docs/library/report/2013/e13033.pdf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3159" y="1901954"/>
            <a:ext cx="2952042" cy="39746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248277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Summary Conclusions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849244" cy="4114800"/>
          </a:xfrm>
        </p:spPr>
        <p:txBody>
          <a:bodyPr/>
          <a:lstStyle/>
          <a:p>
            <a:r>
              <a:rPr lang="en-GB" dirty="0" smtClean="0"/>
              <a:t>Both models include a wide range of sectors, linked by input-output tables; possible impacts:</a:t>
            </a:r>
          </a:p>
          <a:p>
            <a:pPr lvl="1"/>
            <a:r>
              <a:rPr lang="en-GB" dirty="0" smtClean="0"/>
              <a:t>clearly on energy sectors</a:t>
            </a:r>
          </a:p>
          <a:p>
            <a:pPr lvl="1"/>
            <a:r>
              <a:rPr lang="en-GB" dirty="0" smtClean="0"/>
              <a:t>sectors that produce investment goods could benefit</a:t>
            </a:r>
          </a:p>
          <a:p>
            <a:pPr lvl="1"/>
            <a:r>
              <a:rPr lang="en-GB" dirty="0" smtClean="0"/>
              <a:t>energy-intensive sectors will face a loss of competitiveness impacts, but some may see increased demand for their products</a:t>
            </a:r>
          </a:p>
          <a:p>
            <a:pPr lvl="1"/>
            <a:r>
              <a:rPr lang="en-GB" dirty="0" smtClean="0"/>
              <a:t>if any revenues are used to offset taxes elsewhere, services sectors could benefit</a:t>
            </a:r>
          </a:p>
          <a:p>
            <a:r>
              <a:rPr lang="en-GB" dirty="0" smtClean="0"/>
              <a:t>But, the models can only go so far – more detailed analysis is required for key sectors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xmlns="" val="153039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Green Jobs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849244" cy="4114800"/>
          </a:xfrm>
        </p:spPr>
        <p:txBody>
          <a:bodyPr/>
          <a:lstStyle/>
          <a:p>
            <a:r>
              <a:rPr lang="en-GB" dirty="0" smtClean="0"/>
              <a:t>Assessment for EC, DG Employment</a:t>
            </a:r>
          </a:p>
          <a:p>
            <a:r>
              <a:rPr lang="en-GB" dirty="0" smtClean="0"/>
              <a:t>An important political issue, but often not well understood</a:t>
            </a:r>
          </a:p>
          <a:p>
            <a:r>
              <a:rPr lang="en-GB" dirty="0" smtClean="0"/>
              <a:t>E3ME was used to provide an assessment of employment impacts from meeting the 20-20-20 targets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xmlns="" val="5037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Results for Employment</a:t>
            </a:r>
            <a:endParaRPr lang="en-GB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56792"/>
            <a:ext cx="6624736" cy="49565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411760" y="2752416"/>
            <a:ext cx="1080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S6 shows energy efficiency targets met</a:t>
            </a:r>
            <a:endParaRPr lang="en-GB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7228608" y="4035044"/>
            <a:ext cx="1080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Other scenarios show climate targets met</a:t>
            </a:r>
            <a:endParaRPr lang="en-GB" sz="1200" dirty="0"/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3059832" y="3068960"/>
            <a:ext cx="1440160" cy="144016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/>
          <p:cNvCxnSpPr>
            <a:stCxn id="6" idx="1"/>
          </p:cNvCxnSpPr>
          <p:nvPr/>
        </p:nvCxnSpPr>
        <p:spPr bwMode="auto">
          <a:xfrm flipH="1" flipV="1">
            <a:off x="6660232" y="4450542"/>
            <a:ext cx="568376" cy="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/>
          <p:cNvSpPr txBox="1"/>
          <p:nvPr/>
        </p:nvSpPr>
        <p:spPr>
          <a:xfrm>
            <a:off x="5148064" y="5223683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Baseline = 0.0</a:t>
            </a:r>
            <a:endParaRPr lang="en-GB" sz="1200" dirty="0"/>
          </a:p>
        </p:txBody>
      </p:sp>
      <p:cxnSp>
        <p:nvCxnSpPr>
          <p:cNvPr id="13" name="Straight Arrow Connector 12"/>
          <p:cNvCxnSpPr>
            <a:stCxn id="12" idx="0"/>
          </p:cNvCxnSpPr>
          <p:nvPr/>
        </p:nvCxnSpPr>
        <p:spPr bwMode="auto">
          <a:xfrm flipV="1">
            <a:off x="5688124" y="5013177"/>
            <a:ext cx="396044" cy="210506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xmlns="" val="5535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Results for Occupations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660" y="6130834"/>
            <a:ext cx="5867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ym typeface="Wingdings" panose="05000000000000000000" pitchFamily="2" charset="2"/>
              </a:rPr>
              <a:t>Source: ‘Green Jobs’ report, Cambridge Econometrics et al (2011)</a:t>
            </a:r>
            <a:endParaRPr lang="en-US" sz="1000" dirty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81199"/>
            <a:ext cx="6421120" cy="40496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414782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Green Jobs - Results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849244" cy="4114800"/>
          </a:xfrm>
        </p:spPr>
        <p:txBody>
          <a:bodyPr/>
          <a:lstStyle/>
          <a:p>
            <a:r>
              <a:rPr lang="en-GB" dirty="0" smtClean="0"/>
              <a:t>The modelling results suggest that the EU targets will lead to slightly higher employment rates</a:t>
            </a:r>
          </a:p>
          <a:p>
            <a:pPr lvl="1"/>
            <a:r>
              <a:rPr lang="en-GB" dirty="0" smtClean="0"/>
              <a:t>mainly due to a shift from energy to labour/capital inputs</a:t>
            </a:r>
          </a:p>
          <a:p>
            <a:pPr lvl="1"/>
            <a:r>
              <a:rPr lang="en-GB" dirty="0" smtClean="0"/>
              <a:t>sectors that benefit the most are construction/engineering</a:t>
            </a:r>
          </a:p>
          <a:p>
            <a:r>
              <a:rPr lang="en-GB" dirty="0" smtClean="0"/>
              <a:t>The study then assessed the skills impacts of this, but this is at too detailed a level to use a macroeconomic model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xmlns="" val="163136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EU Energy Roadmap 2050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79912" y="1901954"/>
            <a:ext cx="5036428" cy="4127627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Expanded on the previous work for DG Employment</a:t>
            </a:r>
          </a:p>
          <a:p>
            <a:r>
              <a:rPr lang="en-US" dirty="0" smtClean="0"/>
              <a:t>Team included Cambridge Econometrics, E3M-Lab (NTUA), Ernst &amp; Young, </a:t>
            </a:r>
            <a:r>
              <a:rPr lang="en-US" dirty="0" err="1" smtClean="0"/>
              <a:t>Exergia</a:t>
            </a:r>
            <a:r>
              <a:rPr lang="en-US" dirty="0" smtClean="0"/>
              <a:t>, GHK and IER (Warwick)</a:t>
            </a:r>
          </a:p>
          <a:p>
            <a:r>
              <a:rPr lang="en-US" dirty="0" smtClean="0"/>
              <a:t>Considered longer-term (2050) impacts and used both macro-econometric and CGE modelling approaches</a:t>
            </a:r>
          </a:p>
          <a:p>
            <a:r>
              <a:rPr lang="en-US" dirty="0" smtClean="0"/>
              <a:t>DG ENER published results in early 2014: 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www.cedefop.europa.eu/EN/Files/5534_en.pdf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6363" y="1901955"/>
            <a:ext cx="3072637" cy="42739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187796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GDP Impacts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79912" y="4733991"/>
            <a:ext cx="5076825" cy="148590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67544" y="1700808"/>
            <a:ext cx="7726680" cy="412893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scenarios show different ways of meeting the EU’s 2050 </a:t>
            </a:r>
            <a:r>
              <a:rPr lang="en-US" dirty="0" err="1" smtClean="0"/>
              <a:t>decarbonisation</a:t>
            </a:r>
            <a:r>
              <a:rPr lang="en-US" dirty="0" smtClean="0"/>
              <a:t> targets</a:t>
            </a:r>
          </a:p>
          <a:p>
            <a:r>
              <a:rPr lang="en-US" dirty="0" smtClean="0"/>
              <a:t>Two models were run – the macro-econometric E3ME model and the CGE GEM-E3 model</a:t>
            </a:r>
          </a:p>
          <a:p>
            <a:r>
              <a:rPr lang="en-US" dirty="0" smtClean="0"/>
              <a:t>Employment results are shown on the next slide; first GDP impacts</a:t>
            </a:r>
            <a:endParaRPr lang="en-US" dirty="0"/>
          </a:p>
          <a:p>
            <a:pPr lvl="1"/>
            <a:r>
              <a:rPr lang="en-US" dirty="0" smtClean="0"/>
              <a:t>S1 – High energy efficiency</a:t>
            </a:r>
          </a:p>
          <a:p>
            <a:pPr lvl="1"/>
            <a:r>
              <a:rPr lang="en-US" dirty="0" smtClean="0"/>
              <a:t>S2 –Diversified energy supply</a:t>
            </a:r>
          </a:p>
          <a:p>
            <a:pPr lvl="1"/>
            <a:r>
              <a:rPr lang="en-US" dirty="0" smtClean="0"/>
              <a:t>S3 – High renewables</a:t>
            </a:r>
          </a:p>
          <a:p>
            <a:pPr lvl="1"/>
            <a:r>
              <a:rPr lang="en-US" dirty="0" smtClean="0"/>
              <a:t>S4 – Delayed CCS</a:t>
            </a:r>
          </a:p>
          <a:p>
            <a:pPr lvl="1"/>
            <a:r>
              <a:rPr lang="en-US" dirty="0" smtClean="0"/>
              <a:t>S5 – Low nuclear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27537" y="6309320"/>
            <a:ext cx="5867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ym typeface="Wingdings" panose="05000000000000000000" pitchFamily="2" charset="2"/>
              </a:rPr>
              <a:t>Source: Employment Effects of the Energy Roadmap, Cambridge Econometrics et al (2013)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44359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And (again) employment results</a:t>
            </a:r>
            <a:endParaRPr lang="en-GB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5218" y="1901955"/>
            <a:ext cx="2971800" cy="4273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799413" y="2635928"/>
            <a:ext cx="4708770" cy="28902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07904" y="5612489"/>
            <a:ext cx="5867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ym typeface="Wingdings" panose="05000000000000000000" pitchFamily="2" charset="2"/>
              </a:rPr>
              <a:t>Source: Employment Effects of the Energy Roadmap, Cambridge Econometrics et al (2013)</a:t>
            </a:r>
            <a:endParaRPr 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3360514" y="1609551"/>
            <a:ext cx="2508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High energy efficiency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133824" y="1928232"/>
            <a:ext cx="130395" cy="13035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32240" y="1691606"/>
            <a:ext cx="2508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Delayed CCS and low nuclear cases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7092280" y="2340716"/>
            <a:ext cx="425395" cy="8411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09223" y="1688827"/>
            <a:ext cx="2508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High RES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808855" y="2058159"/>
            <a:ext cx="152400" cy="2281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07806" y="2117339"/>
            <a:ext cx="2508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Diversified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5188410" y="2412758"/>
            <a:ext cx="39841" cy="5963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69902" y="5977068"/>
            <a:ext cx="3168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Figure shows % change in employment from baseline, 2050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1729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Other Related Research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849244" cy="4114800"/>
          </a:xfrm>
        </p:spPr>
        <p:txBody>
          <a:bodyPr/>
          <a:lstStyle/>
          <a:p>
            <a:r>
              <a:rPr lang="en-GB" dirty="0" smtClean="0"/>
              <a:t>E3ME has also been used for:</a:t>
            </a:r>
          </a:p>
          <a:p>
            <a:pPr lvl="1"/>
            <a:r>
              <a:rPr lang="en-GB" dirty="0" smtClean="0"/>
              <a:t>assessing the impacts of introducing an EU SO2/</a:t>
            </a:r>
            <a:r>
              <a:rPr lang="en-GB" dirty="0" err="1" smtClean="0"/>
              <a:t>NOx</a:t>
            </a:r>
            <a:r>
              <a:rPr lang="en-GB" dirty="0" smtClean="0"/>
              <a:t> trading scheme</a:t>
            </a:r>
          </a:p>
          <a:p>
            <a:pPr lvl="1"/>
            <a:r>
              <a:rPr lang="en-GB" dirty="0" smtClean="0"/>
              <a:t>modelling demand for minerals and biomass materials</a:t>
            </a:r>
          </a:p>
          <a:p>
            <a:pPr lvl="1"/>
            <a:r>
              <a:rPr lang="en-GB" dirty="0" smtClean="0"/>
              <a:t>other non-environmental (particularly labour market) applications</a:t>
            </a:r>
          </a:p>
          <a:p>
            <a:pPr lvl="1"/>
            <a:r>
              <a:rPr lang="en-GB" dirty="0" smtClean="0"/>
              <a:t>assessment of first-mover advantage</a:t>
            </a:r>
          </a:p>
          <a:p>
            <a:pPr lvl="1"/>
            <a:r>
              <a:rPr lang="en-GB" dirty="0" smtClean="0"/>
              <a:t>assessment of REDD policy</a:t>
            </a:r>
          </a:p>
          <a:p>
            <a:pPr lvl="1"/>
            <a:r>
              <a:rPr lang="en-GB" dirty="0" smtClean="0"/>
              <a:t>benefits of international cooperation on climate policy</a:t>
            </a:r>
          </a:p>
          <a:p>
            <a:pPr lvl="1"/>
            <a:r>
              <a:rPr lang="en-GB" dirty="0" smtClean="0"/>
              <a:t>analysis of trade policy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xmlns="" val="306823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_CE Master">
  <a:themeElements>
    <a:clrScheme name="CE template frac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E template fract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3966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3966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E template frac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E template fracta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_CE Master</Template>
  <TotalTime>467</TotalTime>
  <Words>1307</Words>
  <Application>Microsoft Office PowerPoint</Application>
  <PresentationFormat>화면 슬라이드 쇼(4:3)</PresentationFormat>
  <Paragraphs>185</Paragraphs>
  <Slides>31</Slides>
  <Notes>7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3" baseType="lpstr">
      <vt:lpstr>_CE Master</vt:lpstr>
      <vt:lpstr>Chart</vt:lpstr>
      <vt:lpstr>Modelling EU Climate Policy</vt:lpstr>
      <vt:lpstr>Disclaimer</vt:lpstr>
      <vt:lpstr>Overview</vt:lpstr>
      <vt:lpstr>Institutional Framework</vt:lpstr>
      <vt:lpstr>Institutional Framework (cont.)</vt:lpstr>
      <vt:lpstr>Energy Taxes and ETR</vt:lpstr>
      <vt:lpstr>How Energy Taxes are Modelled</vt:lpstr>
      <vt:lpstr>Impacts of ETR on GDP in the 1990s</vt:lpstr>
      <vt:lpstr>Future Impacts of ETR</vt:lpstr>
      <vt:lpstr>Distributional Impacts of ETR</vt:lpstr>
      <vt:lpstr>The Energy Taxation Directive</vt:lpstr>
      <vt:lpstr>Emissions Targets</vt:lpstr>
      <vt:lpstr>Why Use Two Economic Models?</vt:lpstr>
      <vt:lpstr>Summary Impacts, EU GDP (2020)</vt:lpstr>
      <vt:lpstr>The EU ETS</vt:lpstr>
      <vt:lpstr>The EU ETS - Results</vt:lpstr>
      <vt:lpstr>Energy Efficiency</vt:lpstr>
      <vt:lpstr>Energy Efficiency – Economic Impacts</vt:lpstr>
      <vt:lpstr>슬라이드 19</vt:lpstr>
      <vt:lpstr>Energy Efficiency – Summary Results</vt:lpstr>
      <vt:lpstr>Energy Efficiency – Transport</vt:lpstr>
      <vt:lpstr>Interaction with the EU ETS</vt:lpstr>
      <vt:lpstr>Summary Conclusions</vt:lpstr>
      <vt:lpstr>Green Jobs</vt:lpstr>
      <vt:lpstr>Results for Employment</vt:lpstr>
      <vt:lpstr>Results for Occupations</vt:lpstr>
      <vt:lpstr>Green Jobs - Results</vt:lpstr>
      <vt:lpstr>The EU Energy Roadmap 2050</vt:lpstr>
      <vt:lpstr>GDP Impacts</vt:lpstr>
      <vt:lpstr>And (again) employment results</vt:lpstr>
      <vt:lpstr>Other Related Research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Modelling EU Climate Policy</dc:title>
  <dc:subject>CE</dc:subject>
  <dc:creator>Hector Pollitt</dc:creator>
  <cp:lastModifiedBy>KEI 김이진</cp:lastModifiedBy>
  <cp:revision>19</cp:revision>
  <dcterms:created xsi:type="dcterms:W3CDTF">2012-06-09T15:25:17Z</dcterms:created>
  <dcterms:modified xsi:type="dcterms:W3CDTF">2015-09-02T00:48:26Z</dcterms:modified>
</cp:coreProperties>
</file>