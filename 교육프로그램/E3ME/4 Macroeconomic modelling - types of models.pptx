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Override PartName="/ppt/notesSlides/notesSlide17.xml" ContentType="application/vnd.openxmlformats-officedocument.presentationml.notesSlide+xml"/>
  <Default Extension="jpeg" ContentType="image/jpeg"/>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5"/>
  </p:notesMasterIdLst>
  <p:handoutMasterIdLst>
    <p:handoutMasterId r:id="rId36"/>
  </p:handoutMasterIdLst>
  <p:sldIdLst>
    <p:sldId id="256" r:id="rId2"/>
    <p:sldId id="287" r:id="rId3"/>
    <p:sldId id="284" r:id="rId4"/>
    <p:sldId id="257" r:id="rId5"/>
    <p:sldId id="258" r:id="rId6"/>
    <p:sldId id="259" r:id="rId7"/>
    <p:sldId id="288" r:id="rId8"/>
    <p:sldId id="263" r:id="rId9"/>
    <p:sldId id="264" r:id="rId10"/>
    <p:sldId id="260" r:id="rId11"/>
    <p:sldId id="283" r:id="rId12"/>
    <p:sldId id="266" r:id="rId13"/>
    <p:sldId id="265" r:id="rId14"/>
    <p:sldId id="267" r:id="rId15"/>
    <p:sldId id="268" r:id="rId16"/>
    <p:sldId id="286" r:id="rId17"/>
    <p:sldId id="261" r:id="rId18"/>
    <p:sldId id="289" r:id="rId19"/>
    <p:sldId id="285" r:id="rId20"/>
    <p:sldId id="273" r:id="rId21"/>
    <p:sldId id="275" r:id="rId22"/>
    <p:sldId id="276" r:id="rId23"/>
    <p:sldId id="277" r:id="rId24"/>
    <p:sldId id="269" r:id="rId25"/>
    <p:sldId id="270" r:id="rId26"/>
    <p:sldId id="290" r:id="rId27"/>
    <p:sldId id="282" r:id="rId28"/>
    <p:sldId id="271" r:id="rId29"/>
    <p:sldId id="272" r:id="rId30"/>
    <p:sldId id="278" r:id="rId31"/>
    <p:sldId id="279" r:id="rId32"/>
    <p:sldId id="280" r:id="rId33"/>
    <p:sldId id="281" r:id="rId34"/>
  </p:sldIdLst>
  <p:sldSz cx="9144000" cy="6858000" type="screen4x3"/>
  <p:notesSz cx="7086600" cy="10223500"/>
  <p:defaultTextStyle>
    <a:defPPr>
      <a:defRPr lang="en-GB"/>
    </a:defPPr>
    <a:lvl1pPr algn="l" rtl="0" eaLnBrk="0" fontAlgn="base" hangingPunct="0">
      <a:spcBef>
        <a:spcPct val="50000"/>
      </a:spcBef>
      <a:spcAft>
        <a:spcPct val="0"/>
      </a:spcAft>
      <a:defRPr sz="1600" kern="1200">
        <a:solidFill>
          <a:schemeClr val="tx1"/>
        </a:solidFill>
        <a:latin typeface="Times New Roman" pitchFamily="18" charset="0"/>
        <a:ea typeface="+mn-ea"/>
        <a:cs typeface="+mn-cs"/>
      </a:defRPr>
    </a:lvl1pPr>
    <a:lvl2pPr marL="457200" algn="l" rtl="0" eaLnBrk="0" fontAlgn="base" hangingPunct="0">
      <a:spcBef>
        <a:spcPct val="50000"/>
      </a:spcBef>
      <a:spcAft>
        <a:spcPct val="0"/>
      </a:spcAft>
      <a:defRPr sz="1600" kern="1200">
        <a:solidFill>
          <a:schemeClr val="tx1"/>
        </a:solidFill>
        <a:latin typeface="Times New Roman" pitchFamily="18" charset="0"/>
        <a:ea typeface="+mn-ea"/>
        <a:cs typeface="+mn-cs"/>
      </a:defRPr>
    </a:lvl2pPr>
    <a:lvl3pPr marL="914400" algn="l" rtl="0" eaLnBrk="0" fontAlgn="base" hangingPunct="0">
      <a:spcBef>
        <a:spcPct val="50000"/>
      </a:spcBef>
      <a:spcAft>
        <a:spcPct val="0"/>
      </a:spcAft>
      <a:defRPr sz="1600" kern="1200">
        <a:solidFill>
          <a:schemeClr val="tx1"/>
        </a:solidFill>
        <a:latin typeface="Times New Roman" pitchFamily="18" charset="0"/>
        <a:ea typeface="+mn-ea"/>
        <a:cs typeface="+mn-cs"/>
      </a:defRPr>
    </a:lvl3pPr>
    <a:lvl4pPr marL="1371600" algn="l" rtl="0" eaLnBrk="0" fontAlgn="base" hangingPunct="0">
      <a:spcBef>
        <a:spcPct val="50000"/>
      </a:spcBef>
      <a:spcAft>
        <a:spcPct val="0"/>
      </a:spcAft>
      <a:defRPr sz="1600" kern="1200">
        <a:solidFill>
          <a:schemeClr val="tx1"/>
        </a:solidFill>
        <a:latin typeface="Times New Roman" pitchFamily="18" charset="0"/>
        <a:ea typeface="+mn-ea"/>
        <a:cs typeface="+mn-cs"/>
      </a:defRPr>
    </a:lvl4pPr>
    <a:lvl5pPr marL="1828800" algn="l" rtl="0" eaLnBrk="0" fontAlgn="base" hangingPunct="0">
      <a:spcBef>
        <a:spcPct val="50000"/>
      </a:spcBef>
      <a:spcAft>
        <a:spcPct val="0"/>
      </a:spcAft>
      <a:defRPr sz="1600" kern="1200">
        <a:solidFill>
          <a:schemeClr val="tx1"/>
        </a:solidFill>
        <a:latin typeface="Times New Roman" pitchFamily="18" charset="0"/>
        <a:ea typeface="+mn-ea"/>
        <a:cs typeface="+mn-cs"/>
      </a:defRPr>
    </a:lvl5pPr>
    <a:lvl6pPr marL="2286000" algn="l" defTabSz="914400" rtl="0" eaLnBrk="1" latinLnBrk="0" hangingPunct="1">
      <a:defRPr sz="1600" kern="1200">
        <a:solidFill>
          <a:schemeClr val="tx1"/>
        </a:solidFill>
        <a:latin typeface="Times New Roman" pitchFamily="18" charset="0"/>
        <a:ea typeface="+mn-ea"/>
        <a:cs typeface="+mn-cs"/>
      </a:defRPr>
    </a:lvl6pPr>
    <a:lvl7pPr marL="2743200" algn="l" defTabSz="914400" rtl="0" eaLnBrk="1" latinLnBrk="0" hangingPunct="1">
      <a:defRPr sz="1600" kern="1200">
        <a:solidFill>
          <a:schemeClr val="tx1"/>
        </a:solidFill>
        <a:latin typeface="Times New Roman" pitchFamily="18" charset="0"/>
        <a:ea typeface="+mn-ea"/>
        <a:cs typeface="+mn-cs"/>
      </a:defRPr>
    </a:lvl7pPr>
    <a:lvl8pPr marL="3200400" algn="l" defTabSz="914400" rtl="0" eaLnBrk="1" latinLnBrk="0" hangingPunct="1">
      <a:defRPr sz="1600" kern="1200">
        <a:solidFill>
          <a:schemeClr val="tx1"/>
        </a:solidFill>
        <a:latin typeface="Times New Roman" pitchFamily="18" charset="0"/>
        <a:ea typeface="+mn-ea"/>
        <a:cs typeface="+mn-cs"/>
      </a:defRPr>
    </a:lvl8pPr>
    <a:lvl9pPr marL="3657600" algn="l" defTabSz="914400" rtl="0" eaLnBrk="1" latinLnBrk="0" hangingPunct="1">
      <a:defRPr sz="16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3D6B"/>
    <a:srgbClr val="ACD5FA"/>
    <a:srgbClr val="FFFF99"/>
    <a:srgbClr val="66CCFF"/>
    <a:srgbClr val="CC99FF"/>
    <a:srgbClr val="33CC33"/>
    <a:srgbClr val="99CC00"/>
    <a:srgbClr val="00D9FF"/>
    <a:srgbClr val="000099"/>
    <a:srgbClr val="85AECD"/>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84902" autoAdjust="0"/>
  </p:normalViewPr>
  <p:slideViewPr>
    <p:cSldViewPr>
      <p:cViewPr varScale="1">
        <p:scale>
          <a:sx n="88" d="100"/>
          <a:sy n="88" d="100"/>
        </p:scale>
        <p:origin x="-780" y="-10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15C97C-23D1-4396-BD6B-AB428E41A859}" type="doc">
      <dgm:prSet loTypeId="urn:microsoft.com/office/officeart/2008/layout/HalfCircleOrganizationChart" loCatId="hierarchy" qsTypeId="urn:microsoft.com/office/officeart/2005/8/quickstyle/simple1" qsCatId="simple" csTypeId="urn:microsoft.com/office/officeart/2005/8/colors/accent1_2" csCatId="accent1" phldr="1"/>
      <dgm:spPr/>
      <dgm:t>
        <a:bodyPr/>
        <a:lstStyle/>
        <a:p>
          <a:endParaRPr lang="en-GB"/>
        </a:p>
      </dgm:t>
    </dgm:pt>
    <dgm:pt modelId="{DF4B0755-14CD-4CFF-8258-7C3E9ED9C772}">
      <dgm:prSet phldrT="[Text]"/>
      <dgm:spPr/>
      <dgm:t>
        <a:bodyPr/>
        <a:lstStyle/>
        <a:p>
          <a:r>
            <a:rPr lang="en-GB" dirty="0" smtClean="0">
              <a:solidFill>
                <a:srgbClr val="123D68"/>
              </a:solidFill>
            </a:rPr>
            <a:t>Macro</a:t>
          </a:r>
          <a:r>
            <a:rPr lang="en-GB" dirty="0" smtClean="0"/>
            <a:t> </a:t>
          </a:r>
          <a:r>
            <a:rPr lang="en-GB" dirty="0" smtClean="0">
              <a:solidFill>
                <a:srgbClr val="123D68"/>
              </a:solidFill>
            </a:rPr>
            <a:t>Models</a:t>
          </a:r>
        </a:p>
      </dgm:t>
    </dgm:pt>
    <dgm:pt modelId="{A1F1C4BA-4045-4ECD-946D-FC7CE9E0E9DB}" type="parTrans" cxnId="{229157C7-20FE-4C6D-BDFF-EB5F091C9DD3}">
      <dgm:prSet/>
      <dgm:spPr/>
      <dgm:t>
        <a:bodyPr/>
        <a:lstStyle/>
        <a:p>
          <a:endParaRPr lang="en-GB"/>
        </a:p>
      </dgm:t>
    </dgm:pt>
    <dgm:pt modelId="{80C9603A-2420-40F0-A1E7-1C21B0EE5681}" type="sibTrans" cxnId="{229157C7-20FE-4C6D-BDFF-EB5F091C9DD3}">
      <dgm:prSet/>
      <dgm:spPr/>
      <dgm:t>
        <a:bodyPr/>
        <a:lstStyle/>
        <a:p>
          <a:endParaRPr lang="en-GB"/>
        </a:p>
      </dgm:t>
    </dgm:pt>
    <dgm:pt modelId="{48FF1FE1-954A-439C-A7A0-3179BCE5EFA4}">
      <dgm:prSet phldrT="[Text]"/>
      <dgm:spPr/>
      <dgm:t>
        <a:bodyPr/>
        <a:lstStyle/>
        <a:p>
          <a:r>
            <a:rPr lang="en-GB" dirty="0" smtClean="0">
              <a:solidFill>
                <a:srgbClr val="123D68"/>
              </a:solidFill>
            </a:rPr>
            <a:t>CGE</a:t>
          </a:r>
          <a:endParaRPr lang="en-GB" dirty="0">
            <a:solidFill>
              <a:srgbClr val="123D68"/>
            </a:solidFill>
          </a:endParaRPr>
        </a:p>
      </dgm:t>
    </dgm:pt>
    <dgm:pt modelId="{6C622F0B-4530-4947-8D5F-75BC5C778B84}" type="parTrans" cxnId="{8A20B2A7-E33F-4CCA-BD6B-3D6996680C4C}">
      <dgm:prSet/>
      <dgm:spPr/>
      <dgm:t>
        <a:bodyPr/>
        <a:lstStyle/>
        <a:p>
          <a:endParaRPr lang="en-GB"/>
        </a:p>
      </dgm:t>
    </dgm:pt>
    <dgm:pt modelId="{F76AD197-62B7-42AD-AEEA-4BF7E3F527A2}" type="sibTrans" cxnId="{8A20B2A7-E33F-4CCA-BD6B-3D6996680C4C}">
      <dgm:prSet/>
      <dgm:spPr/>
      <dgm:t>
        <a:bodyPr/>
        <a:lstStyle/>
        <a:p>
          <a:endParaRPr lang="en-GB"/>
        </a:p>
      </dgm:t>
    </dgm:pt>
    <dgm:pt modelId="{82DDC432-9A0B-4F9B-8727-4B83510751A4}">
      <dgm:prSet phldrT="[Text]"/>
      <dgm:spPr/>
      <dgm:t>
        <a:bodyPr/>
        <a:lstStyle/>
        <a:p>
          <a:r>
            <a:rPr lang="en-GB" dirty="0" smtClean="0">
              <a:solidFill>
                <a:srgbClr val="123D68"/>
              </a:solidFill>
            </a:rPr>
            <a:t>DSGE</a:t>
          </a:r>
          <a:endParaRPr lang="en-GB" dirty="0">
            <a:solidFill>
              <a:srgbClr val="123D68"/>
            </a:solidFill>
          </a:endParaRPr>
        </a:p>
      </dgm:t>
    </dgm:pt>
    <dgm:pt modelId="{24E860DA-87EF-488D-B8CC-6CE836AB7BE7}" type="parTrans" cxnId="{0D8F91DE-E69E-4BB1-9BD0-395199260112}">
      <dgm:prSet/>
      <dgm:spPr/>
      <dgm:t>
        <a:bodyPr/>
        <a:lstStyle/>
        <a:p>
          <a:endParaRPr lang="en-GB"/>
        </a:p>
      </dgm:t>
    </dgm:pt>
    <dgm:pt modelId="{BD9048D5-04C3-4310-8E18-1926F6553AF6}" type="sibTrans" cxnId="{0D8F91DE-E69E-4BB1-9BD0-395199260112}">
      <dgm:prSet/>
      <dgm:spPr/>
      <dgm:t>
        <a:bodyPr/>
        <a:lstStyle/>
        <a:p>
          <a:endParaRPr lang="en-GB"/>
        </a:p>
      </dgm:t>
    </dgm:pt>
    <dgm:pt modelId="{F6F39856-7926-4037-A559-566E8E8864E5}">
      <dgm:prSet phldrT="[Text]"/>
      <dgm:spPr/>
      <dgm:t>
        <a:bodyPr/>
        <a:lstStyle/>
        <a:p>
          <a:r>
            <a:rPr lang="en-GB" dirty="0" smtClean="0">
              <a:solidFill>
                <a:srgbClr val="123D68"/>
              </a:solidFill>
            </a:rPr>
            <a:t>VAR</a:t>
          </a:r>
          <a:endParaRPr lang="en-GB" dirty="0">
            <a:solidFill>
              <a:srgbClr val="123D68"/>
            </a:solidFill>
          </a:endParaRPr>
        </a:p>
      </dgm:t>
    </dgm:pt>
    <dgm:pt modelId="{CAD6EBF1-099F-415D-BB9F-1299455DAEC0}" type="parTrans" cxnId="{20B3E584-1DCD-4480-87DF-2B2B6776DF70}">
      <dgm:prSet/>
      <dgm:spPr/>
      <dgm:t>
        <a:bodyPr/>
        <a:lstStyle/>
        <a:p>
          <a:endParaRPr lang="en-GB"/>
        </a:p>
      </dgm:t>
    </dgm:pt>
    <dgm:pt modelId="{0460D7E0-A3C0-442B-AFC7-E515F24CDB2E}" type="sibTrans" cxnId="{20B3E584-1DCD-4480-87DF-2B2B6776DF70}">
      <dgm:prSet/>
      <dgm:spPr/>
      <dgm:t>
        <a:bodyPr/>
        <a:lstStyle/>
        <a:p>
          <a:endParaRPr lang="en-GB"/>
        </a:p>
      </dgm:t>
    </dgm:pt>
    <dgm:pt modelId="{4A5E2697-106B-4DB2-ACC6-2A5B610D85B0}">
      <dgm:prSet phldrT="[Text]"/>
      <dgm:spPr/>
      <dgm:t>
        <a:bodyPr/>
        <a:lstStyle/>
        <a:p>
          <a:r>
            <a:rPr lang="en-GB" dirty="0" smtClean="0">
              <a:solidFill>
                <a:srgbClr val="123D68"/>
              </a:solidFill>
            </a:rPr>
            <a:t>Unrestricted</a:t>
          </a:r>
          <a:r>
            <a:rPr lang="en-GB" dirty="0" smtClean="0"/>
            <a:t> </a:t>
          </a:r>
          <a:r>
            <a:rPr lang="en-GB" dirty="0" smtClean="0">
              <a:solidFill>
                <a:srgbClr val="123D68"/>
              </a:solidFill>
            </a:rPr>
            <a:t>VAR</a:t>
          </a:r>
          <a:endParaRPr lang="en-GB" dirty="0">
            <a:solidFill>
              <a:srgbClr val="123D68"/>
            </a:solidFill>
          </a:endParaRPr>
        </a:p>
      </dgm:t>
    </dgm:pt>
    <dgm:pt modelId="{1FE25741-D6BD-4050-9447-13CF55213C2A}" type="parTrans" cxnId="{DD0D97F8-6948-4453-B81B-A3E4F2830C2D}">
      <dgm:prSet/>
      <dgm:spPr/>
      <dgm:t>
        <a:bodyPr/>
        <a:lstStyle/>
        <a:p>
          <a:endParaRPr lang="en-GB"/>
        </a:p>
      </dgm:t>
    </dgm:pt>
    <dgm:pt modelId="{9EA330CB-549B-4F0F-87FA-7980132BB0CB}" type="sibTrans" cxnId="{DD0D97F8-6948-4453-B81B-A3E4F2830C2D}">
      <dgm:prSet/>
      <dgm:spPr/>
      <dgm:t>
        <a:bodyPr/>
        <a:lstStyle/>
        <a:p>
          <a:endParaRPr lang="en-GB"/>
        </a:p>
      </dgm:t>
    </dgm:pt>
    <dgm:pt modelId="{0B6516A0-FD0F-44B8-8D53-4DA801339295}">
      <dgm:prSet phldrT="[Text]"/>
      <dgm:spPr/>
      <dgm:t>
        <a:bodyPr/>
        <a:lstStyle/>
        <a:p>
          <a:r>
            <a:rPr lang="en-GB" dirty="0" smtClean="0">
              <a:solidFill>
                <a:srgbClr val="123D68"/>
              </a:solidFill>
            </a:rPr>
            <a:t>SVAR</a:t>
          </a:r>
          <a:endParaRPr lang="en-GB" dirty="0">
            <a:solidFill>
              <a:srgbClr val="123D68"/>
            </a:solidFill>
          </a:endParaRPr>
        </a:p>
      </dgm:t>
    </dgm:pt>
    <dgm:pt modelId="{A96BD6E0-3E65-4B77-8853-EB52ACF3E4AA}" type="parTrans" cxnId="{EABD1CB5-179E-4799-BCCF-B4791E418525}">
      <dgm:prSet/>
      <dgm:spPr/>
      <dgm:t>
        <a:bodyPr/>
        <a:lstStyle/>
        <a:p>
          <a:endParaRPr lang="en-GB"/>
        </a:p>
      </dgm:t>
    </dgm:pt>
    <dgm:pt modelId="{2EEB8A51-87A1-4429-BB37-0FDFB3F20A91}" type="sibTrans" cxnId="{EABD1CB5-179E-4799-BCCF-B4791E418525}">
      <dgm:prSet/>
      <dgm:spPr/>
      <dgm:t>
        <a:bodyPr/>
        <a:lstStyle/>
        <a:p>
          <a:endParaRPr lang="en-GB"/>
        </a:p>
      </dgm:t>
    </dgm:pt>
    <dgm:pt modelId="{2E6CFC5E-B5D0-46A2-AE38-23794968D4C0}">
      <dgm:prSet phldrT="[Text]"/>
      <dgm:spPr/>
      <dgm:t>
        <a:bodyPr/>
        <a:lstStyle/>
        <a:p>
          <a:r>
            <a:rPr lang="en-GB" dirty="0" err="1" smtClean="0">
              <a:solidFill>
                <a:srgbClr val="123D68"/>
              </a:solidFill>
            </a:rPr>
            <a:t>Cointergrating</a:t>
          </a:r>
          <a:r>
            <a:rPr lang="en-GB" dirty="0" smtClean="0">
              <a:solidFill>
                <a:srgbClr val="123D68"/>
              </a:solidFill>
            </a:rPr>
            <a:t> SVAR</a:t>
          </a:r>
          <a:endParaRPr lang="en-GB" dirty="0">
            <a:solidFill>
              <a:srgbClr val="123D68"/>
            </a:solidFill>
          </a:endParaRPr>
        </a:p>
      </dgm:t>
    </dgm:pt>
    <dgm:pt modelId="{CF8C3B8A-39AD-4344-9750-BF044BC37CE9}" type="parTrans" cxnId="{4D13FBBF-BA79-48D0-B8B2-31DFDE45B4A7}">
      <dgm:prSet/>
      <dgm:spPr/>
      <dgm:t>
        <a:bodyPr/>
        <a:lstStyle/>
        <a:p>
          <a:endParaRPr lang="en-GB"/>
        </a:p>
      </dgm:t>
    </dgm:pt>
    <dgm:pt modelId="{124F983E-B6CA-4B87-A03A-D7E9FC4F85D0}" type="sibTrans" cxnId="{4D13FBBF-BA79-48D0-B8B2-31DFDE45B4A7}">
      <dgm:prSet/>
      <dgm:spPr/>
      <dgm:t>
        <a:bodyPr/>
        <a:lstStyle/>
        <a:p>
          <a:endParaRPr lang="en-GB"/>
        </a:p>
      </dgm:t>
    </dgm:pt>
    <dgm:pt modelId="{010FC37D-52B3-4B5D-9489-26BA1EB39677}">
      <dgm:prSet phldrT="[Text]"/>
      <dgm:spPr/>
      <dgm:t>
        <a:bodyPr/>
        <a:lstStyle/>
        <a:p>
          <a:r>
            <a:rPr lang="en-GB" dirty="0" smtClean="0">
              <a:solidFill>
                <a:srgbClr val="123D68"/>
              </a:solidFill>
            </a:rPr>
            <a:t>Econometric</a:t>
          </a:r>
          <a:endParaRPr lang="en-GB" dirty="0">
            <a:solidFill>
              <a:srgbClr val="123D68"/>
            </a:solidFill>
          </a:endParaRPr>
        </a:p>
      </dgm:t>
    </dgm:pt>
    <dgm:pt modelId="{1BA18AB0-E25D-40CA-A0F5-E4325AABE07B}" type="parTrans" cxnId="{DFEEF963-D5EC-4E8D-B719-4643706A1C70}">
      <dgm:prSet/>
      <dgm:spPr/>
      <dgm:t>
        <a:bodyPr/>
        <a:lstStyle/>
        <a:p>
          <a:endParaRPr lang="en-GB"/>
        </a:p>
      </dgm:t>
    </dgm:pt>
    <dgm:pt modelId="{A3E52497-C7C6-41E1-945D-8310491C3933}" type="sibTrans" cxnId="{DFEEF963-D5EC-4E8D-B719-4643706A1C70}">
      <dgm:prSet/>
      <dgm:spPr/>
      <dgm:t>
        <a:bodyPr/>
        <a:lstStyle/>
        <a:p>
          <a:endParaRPr lang="en-GB"/>
        </a:p>
      </dgm:t>
    </dgm:pt>
    <dgm:pt modelId="{A3999ED8-FF01-4F81-8BAE-A8A0A5D043E8}">
      <dgm:prSet phldrT="[Text]"/>
      <dgm:spPr/>
      <dgm:t>
        <a:bodyPr/>
        <a:lstStyle/>
        <a:p>
          <a:r>
            <a:rPr lang="en-GB" dirty="0" smtClean="0">
              <a:solidFill>
                <a:srgbClr val="123D68"/>
              </a:solidFill>
            </a:rPr>
            <a:t>SEMs</a:t>
          </a:r>
          <a:endParaRPr lang="en-GB" dirty="0">
            <a:solidFill>
              <a:srgbClr val="123D68"/>
            </a:solidFill>
          </a:endParaRPr>
        </a:p>
      </dgm:t>
    </dgm:pt>
    <dgm:pt modelId="{E70F619C-FAF3-42AF-BFE1-B56851F3F424}" type="parTrans" cxnId="{338DD7A5-3895-48F3-9676-C65DC0DB6B81}">
      <dgm:prSet/>
      <dgm:spPr/>
      <dgm:t>
        <a:bodyPr/>
        <a:lstStyle/>
        <a:p>
          <a:endParaRPr lang="en-GB"/>
        </a:p>
      </dgm:t>
    </dgm:pt>
    <dgm:pt modelId="{1DA7E870-9B41-4D18-BECD-1A627DF28A4E}" type="sibTrans" cxnId="{338DD7A5-3895-48F3-9676-C65DC0DB6B81}">
      <dgm:prSet/>
      <dgm:spPr/>
      <dgm:t>
        <a:bodyPr/>
        <a:lstStyle/>
        <a:p>
          <a:endParaRPr lang="en-GB"/>
        </a:p>
      </dgm:t>
    </dgm:pt>
    <dgm:pt modelId="{6C63ADE7-3F4D-47C9-BC8B-168E806FB417}">
      <dgm:prSet phldrT="[Text]"/>
      <dgm:spPr/>
      <dgm:t>
        <a:bodyPr/>
        <a:lstStyle/>
        <a:p>
          <a:r>
            <a:rPr lang="en-GB" dirty="0" smtClean="0">
              <a:solidFill>
                <a:srgbClr val="123D68"/>
              </a:solidFill>
            </a:rPr>
            <a:t>Input-output</a:t>
          </a:r>
          <a:endParaRPr lang="en-GB" dirty="0">
            <a:solidFill>
              <a:srgbClr val="123D68"/>
            </a:solidFill>
          </a:endParaRPr>
        </a:p>
      </dgm:t>
    </dgm:pt>
    <dgm:pt modelId="{D435CBE6-25A3-4A08-9E6A-4666BC7D54FE}" type="parTrans" cxnId="{2A1BE3BF-0FBD-496E-9EE0-4F53E45D96D7}">
      <dgm:prSet/>
      <dgm:spPr/>
      <dgm:t>
        <a:bodyPr/>
        <a:lstStyle/>
        <a:p>
          <a:endParaRPr lang="en-GB"/>
        </a:p>
      </dgm:t>
    </dgm:pt>
    <dgm:pt modelId="{C8262A37-B034-4398-881C-008BFFA0092E}" type="sibTrans" cxnId="{2A1BE3BF-0FBD-496E-9EE0-4F53E45D96D7}">
      <dgm:prSet/>
      <dgm:spPr/>
      <dgm:t>
        <a:bodyPr/>
        <a:lstStyle/>
        <a:p>
          <a:endParaRPr lang="en-GB"/>
        </a:p>
      </dgm:t>
    </dgm:pt>
    <dgm:pt modelId="{E3BE66A4-CB7B-4450-910C-6746E2BCD271}">
      <dgm:prSet phldrT="[Text]"/>
      <dgm:spPr/>
      <dgm:t>
        <a:bodyPr/>
        <a:lstStyle/>
        <a:p>
          <a:r>
            <a:rPr lang="en-GB" dirty="0" smtClean="0">
              <a:solidFill>
                <a:srgbClr val="123D68"/>
              </a:solidFill>
            </a:rPr>
            <a:t>RBC</a:t>
          </a:r>
          <a:endParaRPr lang="en-GB" dirty="0">
            <a:solidFill>
              <a:srgbClr val="123D68"/>
            </a:solidFill>
          </a:endParaRPr>
        </a:p>
      </dgm:t>
    </dgm:pt>
    <dgm:pt modelId="{B25FC37D-F47C-4B7F-9EB2-9B8EB21CCD72}" type="parTrans" cxnId="{514BF1AD-B762-4494-9CA5-D6F795340E57}">
      <dgm:prSet/>
      <dgm:spPr/>
      <dgm:t>
        <a:bodyPr/>
        <a:lstStyle/>
        <a:p>
          <a:endParaRPr lang="en-GB"/>
        </a:p>
      </dgm:t>
    </dgm:pt>
    <dgm:pt modelId="{F73F43A3-50D6-46F6-8D25-CBA115D03876}" type="sibTrans" cxnId="{514BF1AD-B762-4494-9CA5-D6F795340E57}">
      <dgm:prSet/>
      <dgm:spPr/>
      <dgm:t>
        <a:bodyPr/>
        <a:lstStyle/>
        <a:p>
          <a:endParaRPr lang="en-GB"/>
        </a:p>
      </dgm:t>
    </dgm:pt>
    <dgm:pt modelId="{03194D71-BD7D-428C-AA65-75465C3B78EC}" type="pres">
      <dgm:prSet presAssocID="{8615C97C-23D1-4396-BD6B-AB428E41A859}" presName="Name0" presStyleCnt="0">
        <dgm:presLayoutVars>
          <dgm:orgChart val="1"/>
          <dgm:chPref val="1"/>
          <dgm:dir/>
          <dgm:animOne val="branch"/>
          <dgm:animLvl val="lvl"/>
          <dgm:resizeHandles/>
        </dgm:presLayoutVars>
      </dgm:prSet>
      <dgm:spPr/>
      <dgm:t>
        <a:bodyPr/>
        <a:lstStyle/>
        <a:p>
          <a:endParaRPr lang="en-GB"/>
        </a:p>
      </dgm:t>
    </dgm:pt>
    <dgm:pt modelId="{4E4E500C-1CB9-45CB-891D-24C83097E6B0}" type="pres">
      <dgm:prSet presAssocID="{DF4B0755-14CD-4CFF-8258-7C3E9ED9C772}" presName="hierRoot1" presStyleCnt="0">
        <dgm:presLayoutVars>
          <dgm:hierBranch val="init"/>
        </dgm:presLayoutVars>
      </dgm:prSet>
      <dgm:spPr/>
    </dgm:pt>
    <dgm:pt modelId="{CE6042F5-A489-4BA6-9944-8241DB14DCC4}" type="pres">
      <dgm:prSet presAssocID="{DF4B0755-14CD-4CFF-8258-7C3E9ED9C772}" presName="rootComposite1" presStyleCnt="0"/>
      <dgm:spPr/>
    </dgm:pt>
    <dgm:pt modelId="{7E02FCEF-7CC7-42F9-9094-3491580E3CF0}" type="pres">
      <dgm:prSet presAssocID="{DF4B0755-14CD-4CFF-8258-7C3E9ED9C772}" presName="rootText1" presStyleLbl="alignAcc1" presStyleIdx="0" presStyleCnt="0">
        <dgm:presLayoutVars>
          <dgm:chPref val="3"/>
        </dgm:presLayoutVars>
      </dgm:prSet>
      <dgm:spPr/>
      <dgm:t>
        <a:bodyPr/>
        <a:lstStyle/>
        <a:p>
          <a:endParaRPr lang="en-GB"/>
        </a:p>
      </dgm:t>
    </dgm:pt>
    <dgm:pt modelId="{FA26B92A-253C-49EE-BD5C-218AA43EF157}" type="pres">
      <dgm:prSet presAssocID="{DF4B0755-14CD-4CFF-8258-7C3E9ED9C772}" presName="topArc1" presStyleLbl="parChTrans1D1" presStyleIdx="0" presStyleCnt="22"/>
      <dgm:spPr/>
    </dgm:pt>
    <dgm:pt modelId="{F892B716-B506-417E-86B2-C8A2F5F1BC26}" type="pres">
      <dgm:prSet presAssocID="{DF4B0755-14CD-4CFF-8258-7C3E9ED9C772}" presName="bottomArc1" presStyleLbl="parChTrans1D1" presStyleIdx="1" presStyleCnt="22"/>
      <dgm:spPr/>
    </dgm:pt>
    <dgm:pt modelId="{693E9CE7-64C1-4B2A-ABFF-1DBA7CFD1BFF}" type="pres">
      <dgm:prSet presAssocID="{DF4B0755-14CD-4CFF-8258-7C3E9ED9C772}" presName="topConnNode1" presStyleLbl="node1" presStyleIdx="0" presStyleCnt="0"/>
      <dgm:spPr/>
      <dgm:t>
        <a:bodyPr/>
        <a:lstStyle/>
        <a:p>
          <a:endParaRPr lang="en-GB"/>
        </a:p>
      </dgm:t>
    </dgm:pt>
    <dgm:pt modelId="{29B5E33B-AD6E-42EB-9F20-89D6ADEF1AC8}" type="pres">
      <dgm:prSet presAssocID="{DF4B0755-14CD-4CFF-8258-7C3E9ED9C772}" presName="hierChild2" presStyleCnt="0"/>
      <dgm:spPr/>
    </dgm:pt>
    <dgm:pt modelId="{66E69672-3C78-434C-9FE1-B3A9512E929E}" type="pres">
      <dgm:prSet presAssocID="{D435CBE6-25A3-4A08-9E6A-4666BC7D54FE}" presName="Name28" presStyleLbl="parChTrans1D2" presStyleIdx="0" presStyleCnt="4"/>
      <dgm:spPr/>
      <dgm:t>
        <a:bodyPr/>
        <a:lstStyle/>
        <a:p>
          <a:endParaRPr lang="en-GB"/>
        </a:p>
      </dgm:t>
    </dgm:pt>
    <dgm:pt modelId="{899D81B8-41ED-41FD-BCCB-2B0F43B3CA18}" type="pres">
      <dgm:prSet presAssocID="{6C63ADE7-3F4D-47C9-BC8B-168E806FB417}" presName="hierRoot2" presStyleCnt="0">
        <dgm:presLayoutVars>
          <dgm:hierBranch val="init"/>
        </dgm:presLayoutVars>
      </dgm:prSet>
      <dgm:spPr/>
    </dgm:pt>
    <dgm:pt modelId="{A5887AAA-7342-4789-9B0D-29E9937CDD78}" type="pres">
      <dgm:prSet presAssocID="{6C63ADE7-3F4D-47C9-BC8B-168E806FB417}" presName="rootComposite2" presStyleCnt="0"/>
      <dgm:spPr/>
    </dgm:pt>
    <dgm:pt modelId="{2E657A36-2C57-4492-A833-B1D247465DAA}" type="pres">
      <dgm:prSet presAssocID="{6C63ADE7-3F4D-47C9-BC8B-168E806FB417}" presName="rootText2" presStyleLbl="alignAcc1" presStyleIdx="0" presStyleCnt="0">
        <dgm:presLayoutVars>
          <dgm:chPref val="3"/>
        </dgm:presLayoutVars>
      </dgm:prSet>
      <dgm:spPr/>
      <dgm:t>
        <a:bodyPr/>
        <a:lstStyle/>
        <a:p>
          <a:endParaRPr lang="en-GB"/>
        </a:p>
      </dgm:t>
    </dgm:pt>
    <dgm:pt modelId="{59C2C7E9-C3B5-4AE7-A3DF-69624C1E9C0A}" type="pres">
      <dgm:prSet presAssocID="{6C63ADE7-3F4D-47C9-BC8B-168E806FB417}" presName="topArc2" presStyleLbl="parChTrans1D1" presStyleIdx="2" presStyleCnt="22"/>
      <dgm:spPr/>
    </dgm:pt>
    <dgm:pt modelId="{4D5C0BDB-4056-4DBE-AB60-888A0E2028DF}" type="pres">
      <dgm:prSet presAssocID="{6C63ADE7-3F4D-47C9-BC8B-168E806FB417}" presName="bottomArc2" presStyleLbl="parChTrans1D1" presStyleIdx="3" presStyleCnt="22"/>
      <dgm:spPr/>
    </dgm:pt>
    <dgm:pt modelId="{C6835BF7-F497-4540-84E8-699295FBEC23}" type="pres">
      <dgm:prSet presAssocID="{6C63ADE7-3F4D-47C9-BC8B-168E806FB417}" presName="topConnNode2" presStyleLbl="node2" presStyleIdx="0" presStyleCnt="0"/>
      <dgm:spPr/>
      <dgm:t>
        <a:bodyPr/>
        <a:lstStyle/>
        <a:p>
          <a:endParaRPr lang="en-GB"/>
        </a:p>
      </dgm:t>
    </dgm:pt>
    <dgm:pt modelId="{1514772C-7E32-4264-9B42-1C6C2A82EB04}" type="pres">
      <dgm:prSet presAssocID="{6C63ADE7-3F4D-47C9-BC8B-168E806FB417}" presName="hierChild4" presStyleCnt="0"/>
      <dgm:spPr/>
    </dgm:pt>
    <dgm:pt modelId="{C1794303-AE66-4EDA-B354-8207839E31E8}" type="pres">
      <dgm:prSet presAssocID="{6C63ADE7-3F4D-47C9-BC8B-168E806FB417}" presName="hierChild5" presStyleCnt="0"/>
      <dgm:spPr/>
    </dgm:pt>
    <dgm:pt modelId="{C9D539BB-6F5D-4666-A93C-857A5D8ABD84}" type="pres">
      <dgm:prSet presAssocID="{6C622F0B-4530-4947-8D5F-75BC5C778B84}" presName="Name28" presStyleLbl="parChTrans1D2" presStyleIdx="1" presStyleCnt="4"/>
      <dgm:spPr/>
      <dgm:t>
        <a:bodyPr/>
        <a:lstStyle/>
        <a:p>
          <a:endParaRPr lang="en-GB"/>
        </a:p>
      </dgm:t>
    </dgm:pt>
    <dgm:pt modelId="{43E33798-FA52-465B-97A6-9C516A7A6B84}" type="pres">
      <dgm:prSet presAssocID="{48FF1FE1-954A-439C-A7A0-3179BCE5EFA4}" presName="hierRoot2" presStyleCnt="0">
        <dgm:presLayoutVars>
          <dgm:hierBranch val="init"/>
        </dgm:presLayoutVars>
      </dgm:prSet>
      <dgm:spPr/>
    </dgm:pt>
    <dgm:pt modelId="{82DB426A-3DF9-4266-9855-9C8A5817A638}" type="pres">
      <dgm:prSet presAssocID="{48FF1FE1-954A-439C-A7A0-3179BCE5EFA4}" presName="rootComposite2" presStyleCnt="0"/>
      <dgm:spPr/>
    </dgm:pt>
    <dgm:pt modelId="{C0D15747-4F58-42EF-9742-0B42DDFDACAA}" type="pres">
      <dgm:prSet presAssocID="{48FF1FE1-954A-439C-A7A0-3179BCE5EFA4}" presName="rootText2" presStyleLbl="alignAcc1" presStyleIdx="0" presStyleCnt="0">
        <dgm:presLayoutVars>
          <dgm:chPref val="3"/>
        </dgm:presLayoutVars>
      </dgm:prSet>
      <dgm:spPr/>
      <dgm:t>
        <a:bodyPr/>
        <a:lstStyle/>
        <a:p>
          <a:endParaRPr lang="en-GB"/>
        </a:p>
      </dgm:t>
    </dgm:pt>
    <dgm:pt modelId="{A5E1ADD0-62CB-4D59-9575-75392B02486E}" type="pres">
      <dgm:prSet presAssocID="{48FF1FE1-954A-439C-A7A0-3179BCE5EFA4}" presName="topArc2" presStyleLbl="parChTrans1D1" presStyleIdx="4" presStyleCnt="22"/>
      <dgm:spPr/>
    </dgm:pt>
    <dgm:pt modelId="{23EDB6F1-F1AA-498A-A01F-5ADBBBF66E20}" type="pres">
      <dgm:prSet presAssocID="{48FF1FE1-954A-439C-A7A0-3179BCE5EFA4}" presName="bottomArc2" presStyleLbl="parChTrans1D1" presStyleIdx="5" presStyleCnt="22"/>
      <dgm:spPr/>
    </dgm:pt>
    <dgm:pt modelId="{B8270721-8662-42B5-A00A-8225CE34D095}" type="pres">
      <dgm:prSet presAssocID="{48FF1FE1-954A-439C-A7A0-3179BCE5EFA4}" presName="topConnNode2" presStyleLbl="node2" presStyleIdx="0" presStyleCnt="0"/>
      <dgm:spPr/>
      <dgm:t>
        <a:bodyPr/>
        <a:lstStyle/>
        <a:p>
          <a:endParaRPr lang="en-GB"/>
        </a:p>
      </dgm:t>
    </dgm:pt>
    <dgm:pt modelId="{FBD4FFF2-A5FF-43C4-9742-A1933709BD3E}" type="pres">
      <dgm:prSet presAssocID="{48FF1FE1-954A-439C-A7A0-3179BCE5EFA4}" presName="hierChild4" presStyleCnt="0"/>
      <dgm:spPr/>
    </dgm:pt>
    <dgm:pt modelId="{6F26CFD2-CCD8-4B10-98BA-B2C317BBA7EB}" type="pres">
      <dgm:prSet presAssocID="{24E860DA-87EF-488D-B8CC-6CE836AB7BE7}" presName="Name28" presStyleLbl="parChTrans1D3" presStyleIdx="0" presStyleCnt="3"/>
      <dgm:spPr/>
      <dgm:t>
        <a:bodyPr/>
        <a:lstStyle/>
        <a:p>
          <a:endParaRPr lang="en-GB"/>
        </a:p>
      </dgm:t>
    </dgm:pt>
    <dgm:pt modelId="{E2FCC00D-8C11-4DA2-AED1-DBDCBC971023}" type="pres">
      <dgm:prSet presAssocID="{82DDC432-9A0B-4F9B-8727-4B83510751A4}" presName="hierRoot2" presStyleCnt="0">
        <dgm:presLayoutVars>
          <dgm:hierBranch val="init"/>
        </dgm:presLayoutVars>
      </dgm:prSet>
      <dgm:spPr/>
    </dgm:pt>
    <dgm:pt modelId="{D54F7688-AA92-4E4D-A2F0-7A225EB88FA9}" type="pres">
      <dgm:prSet presAssocID="{82DDC432-9A0B-4F9B-8727-4B83510751A4}" presName="rootComposite2" presStyleCnt="0"/>
      <dgm:spPr/>
    </dgm:pt>
    <dgm:pt modelId="{381F2425-0F95-45EC-A11D-24ECA24BFF03}" type="pres">
      <dgm:prSet presAssocID="{82DDC432-9A0B-4F9B-8727-4B83510751A4}" presName="rootText2" presStyleLbl="alignAcc1" presStyleIdx="0" presStyleCnt="0">
        <dgm:presLayoutVars>
          <dgm:chPref val="3"/>
        </dgm:presLayoutVars>
      </dgm:prSet>
      <dgm:spPr/>
      <dgm:t>
        <a:bodyPr/>
        <a:lstStyle/>
        <a:p>
          <a:endParaRPr lang="en-GB"/>
        </a:p>
      </dgm:t>
    </dgm:pt>
    <dgm:pt modelId="{92248A57-2D31-41D6-9356-5B5699FFF061}" type="pres">
      <dgm:prSet presAssocID="{82DDC432-9A0B-4F9B-8727-4B83510751A4}" presName="topArc2" presStyleLbl="parChTrans1D1" presStyleIdx="6" presStyleCnt="22"/>
      <dgm:spPr/>
    </dgm:pt>
    <dgm:pt modelId="{174153E4-6C32-4B00-B146-AE3A4707EDBD}" type="pres">
      <dgm:prSet presAssocID="{82DDC432-9A0B-4F9B-8727-4B83510751A4}" presName="bottomArc2" presStyleLbl="parChTrans1D1" presStyleIdx="7" presStyleCnt="22"/>
      <dgm:spPr/>
    </dgm:pt>
    <dgm:pt modelId="{154FB73D-47C4-4984-988E-D91ED529FDD0}" type="pres">
      <dgm:prSet presAssocID="{82DDC432-9A0B-4F9B-8727-4B83510751A4}" presName="topConnNode2" presStyleLbl="node3" presStyleIdx="0" presStyleCnt="0"/>
      <dgm:spPr/>
      <dgm:t>
        <a:bodyPr/>
        <a:lstStyle/>
        <a:p>
          <a:endParaRPr lang="en-GB"/>
        </a:p>
      </dgm:t>
    </dgm:pt>
    <dgm:pt modelId="{A80E7C70-2537-44F6-84FF-FFE96D201FC9}" type="pres">
      <dgm:prSet presAssocID="{82DDC432-9A0B-4F9B-8727-4B83510751A4}" presName="hierChild4" presStyleCnt="0"/>
      <dgm:spPr/>
    </dgm:pt>
    <dgm:pt modelId="{B012E523-80FE-4AB4-9F8C-114F9A7B5EF6}" type="pres">
      <dgm:prSet presAssocID="{82DDC432-9A0B-4F9B-8727-4B83510751A4}" presName="hierChild5" presStyleCnt="0"/>
      <dgm:spPr/>
    </dgm:pt>
    <dgm:pt modelId="{58BE70C5-C59D-476F-B71A-A3566AFEF0F4}" type="pres">
      <dgm:prSet presAssocID="{48FF1FE1-954A-439C-A7A0-3179BCE5EFA4}" presName="hierChild5" presStyleCnt="0"/>
      <dgm:spPr/>
    </dgm:pt>
    <dgm:pt modelId="{90A8B71F-A1F3-4F29-9257-A6DE20CA80B8}" type="pres">
      <dgm:prSet presAssocID="{1BA18AB0-E25D-40CA-A0F5-E4325AABE07B}" presName="Name28" presStyleLbl="parChTrans1D2" presStyleIdx="2" presStyleCnt="4"/>
      <dgm:spPr/>
      <dgm:t>
        <a:bodyPr/>
        <a:lstStyle/>
        <a:p>
          <a:endParaRPr lang="en-GB"/>
        </a:p>
      </dgm:t>
    </dgm:pt>
    <dgm:pt modelId="{3C913D0D-2599-4E9E-9FE7-5B7735FEFA01}" type="pres">
      <dgm:prSet presAssocID="{010FC37D-52B3-4B5D-9489-26BA1EB39677}" presName="hierRoot2" presStyleCnt="0">
        <dgm:presLayoutVars>
          <dgm:hierBranch val="init"/>
        </dgm:presLayoutVars>
      </dgm:prSet>
      <dgm:spPr/>
    </dgm:pt>
    <dgm:pt modelId="{6DEA52D0-7A5B-4964-A146-F09690D128F6}" type="pres">
      <dgm:prSet presAssocID="{010FC37D-52B3-4B5D-9489-26BA1EB39677}" presName="rootComposite2" presStyleCnt="0"/>
      <dgm:spPr/>
    </dgm:pt>
    <dgm:pt modelId="{23981136-C5EA-4078-9318-59DC347D4DEE}" type="pres">
      <dgm:prSet presAssocID="{010FC37D-52B3-4B5D-9489-26BA1EB39677}" presName="rootText2" presStyleLbl="alignAcc1" presStyleIdx="0" presStyleCnt="0">
        <dgm:presLayoutVars>
          <dgm:chPref val="3"/>
        </dgm:presLayoutVars>
      </dgm:prSet>
      <dgm:spPr/>
      <dgm:t>
        <a:bodyPr/>
        <a:lstStyle/>
        <a:p>
          <a:endParaRPr lang="en-GB"/>
        </a:p>
      </dgm:t>
    </dgm:pt>
    <dgm:pt modelId="{8DF7E04A-A0C3-4BFE-8309-0DF54BAE4D95}" type="pres">
      <dgm:prSet presAssocID="{010FC37D-52B3-4B5D-9489-26BA1EB39677}" presName="topArc2" presStyleLbl="parChTrans1D1" presStyleIdx="8" presStyleCnt="22"/>
      <dgm:spPr/>
    </dgm:pt>
    <dgm:pt modelId="{342DB012-21C7-4232-991F-79A37BFD9727}" type="pres">
      <dgm:prSet presAssocID="{010FC37D-52B3-4B5D-9489-26BA1EB39677}" presName="bottomArc2" presStyleLbl="parChTrans1D1" presStyleIdx="9" presStyleCnt="22"/>
      <dgm:spPr/>
    </dgm:pt>
    <dgm:pt modelId="{24A13435-A843-4ECA-A9CC-15257B97B4A0}" type="pres">
      <dgm:prSet presAssocID="{010FC37D-52B3-4B5D-9489-26BA1EB39677}" presName="topConnNode2" presStyleLbl="node2" presStyleIdx="0" presStyleCnt="0"/>
      <dgm:spPr/>
      <dgm:t>
        <a:bodyPr/>
        <a:lstStyle/>
        <a:p>
          <a:endParaRPr lang="en-GB"/>
        </a:p>
      </dgm:t>
    </dgm:pt>
    <dgm:pt modelId="{92B80945-56C2-4B59-A423-0C8021D7153D}" type="pres">
      <dgm:prSet presAssocID="{010FC37D-52B3-4B5D-9489-26BA1EB39677}" presName="hierChild4" presStyleCnt="0"/>
      <dgm:spPr/>
    </dgm:pt>
    <dgm:pt modelId="{FE9E717E-1CEA-4DE0-8DF1-7054C62AA191}" type="pres">
      <dgm:prSet presAssocID="{E70F619C-FAF3-42AF-BFE1-B56851F3F424}" presName="Name28" presStyleLbl="parChTrans1D3" presStyleIdx="1" presStyleCnt="3"/>
      <dgm:spPr/>
      <dgm:t>
        <a:bodyPr/>
        <a:lstStyle/>
        <a:p>
          <a:endParaRPr lang="en-GB"/>
        </a:p>
      </dgm:t>
    </dgm:pt>
    <dgm:pt modelId="{077B9D92-5ED5-4F35-B5A0-20678BC52535}" type="pres">
      <dgm:prSet presAssocID="{A3999ED8-FF01-4F81-8BAE-A8A0A5D043E8}" presName="hierRoot2" presStyleCnt="0">
        <dgm:presLayoutVars>
          <dgm:hierBranch val="init"/>
        </dgm:presLayoutVars>
      </dgm:prSet>
      <dgm:spPr/>
    </dgm:pt>
    <dgm:pt modelId="{8788DF70-F1E7-46E5-9C7C-02EDB2E23B3E}" type="pres">
      <dgm:prSet presAssocID="{A3999ED8-FF01-4F81-8BAE-A8A0A5D043E8}" presName="rootComposite2" presStyleCnt="0"/>
      <dgm:spPr/>
    </dgm:pt>
    <dgm:pt modelId="{14795831-1544-49E3-9689-E2932AEA5A2B}" type="pres">
      <dgm:prSet presAssocID="{A3999ED8-FF01-4F81-8BAE-A8A0A5D043E8}" presName="rootText2" presStyleLbl="alignAcc1" presStyleIdx="0" presStyleCnt="0">
        <dgm:presLayoutVars>
          <dgm:chPref val="3"/>
        </dgm:presLayoutVars>
      </dgm:prSet>
      <dgm:spPr/>
      <dgm:t>
        <a:bodyPr/>
        <a:lstStyle/>
        <a:p>
          <a:endParaRPr lang="en-GB"/>
        </a:p>
      </dgm:t>
    </dgm:pt>
    <dgm:pt modelId="{1AB9F498-6630-40A9-924B-2BB5F7253D0C}" type="pres">
      <dgm:prSet presAssocID="{A3999ED8-FF01-4F81-8BAE-A8A0A5D043E8}" presName="topArc2" presStyleLbl="parChTrans1D1" presStyleIdx="10" presStyleCnt="22"/>
      <dgm:spPr/>
    </dgm:pt>
    <dgm:pt modelId="{AD689B39-7E81-4947-8CD4-5AFDCB411685}" type="pres">
      <dgm:prSet presAssocID="{A3999ED8-FF01-4F81-8BAE-A8A0A5D043E8}" presName="bottomArc2" presStyleLbl="parChTrans1D1" presStyleIdx="11" presStyleCnt="22"/>
      <dgm:spPr/>
    </dgm:pt>
    <dgm:pt modelId="{4DD6C852-BB8A-4DBF-9617-54D7E83A92EF}" type="pres">
      <dgm:prSet presAssocID="{A3999ED8-FF01-4F81-8BAE-A8A0A5D043E8}" presName="topConnNode2" presStyleLbl="node3" presStyleIdx="0" presStyleCnt="0"/>
      <dgm:spPr/>
      <dgm:t>
        <a:bodyPr/>
        <a:lstStyle/>
        <a:p>
          <a:endParaRPr lang="en-GB"/>
        </a:p>
      </dgm:t>
    </dgm:pt>
    <dgm:pt modelId="{2657E9B9-70B9-4DE7-8EEA-AC5666F5238F}" type="pres">
      <dgm:prSet presAssocID="{A3999ED8-FF01-4F81-8BAE-A8A0A5D043E8}" presName="hierChild4" presStyleCnt="0"/>
      <dgm:spPr/>
    </dgm:pt>
    <dgm:pt modelId="{C56145F1-0821-4E9F-BFD8-8BC9164CB478}" type="pres">
      <dgm:prSet presAssocID="{A3999ED8-FF01-4F81-8BAE-A8A0A5D043E8}" presName="hierChild5" presStyleCnt="0"/>
      <dgm:spPr/>
    </dgm:pt>
    <dgm:pt modelId="{E5EB583C-49D6-4AAA-8F80-F44A7EDE8911}" type="pres">
      <dgm:prSet presAssocID="{CAD6EBF1-099F-415D-BB9F-1299455DAEC0}" presName="Name28" presStyleLbl="parChTrans1D3" presStyleIdx="2" presStyleCnt="3"/>
      <dgm:spPr/>
      <dgm:t>
        <a:bodyPr/>
        <a:lstStyle/>
        <a:p>
          <a:endParaRPr lang="en-GB"/>
        </a:p>
      </dgm:t>
    </dgm:pt>
    <dgm:pt modelId="{AD685A14-1230-409D-972F-97CECC149672}" type="pres">
      <dgm:prSet presAssocID="{F6F39856-7926-4037-A559-566E8E8864E5}" presName="hierRoot2" presStyleCnt="0">
        <dgm:presLayoutVars>
          <dgm:hierBranch val="init"/>
        </dgm:presLayoutVars>
      </dgm:prSet>
      <dgm:spPr/>
    </dgm:pt>
    <dgm:pt modelId="{4746B777-A146-4D3D-A766-593CC31ED463}" type="pres">
      <dgm:prSet presAssocID="{F6F39856-7926-4037-A559-566E8E8864E5}" presName="rootComposite2" presStyleCnt="0"/>
      <dgm:spPr/>
    </dgm:pt>
    <dgm:pt modelId="{B76378A7-6522-4180-BF93-174E69018DAD}" type="pres">
      <dgm:prSet presAssocID="{F6F39856-7926-4037-A559-566E8E8864E5}" presName="rootText2" presStyleLbl="alignAcc1" presStyleIdx="0" presStyleCnt="0">
        <dgm:presLayoutVars>
          <dgm:chPref val="3"/>
        </dgm:presLayoutVars>
      </dgm:prSet>
      <dgm:spPr/>
      <dgm:t>
        <a:bodyPr/>
        <a:lstStyle/>
        <a:p>
          <a:endParaRPr lang="en-GB"/>
        </a:p>
      </dgm:t>
    </dgm:pt>
    <dgm:pt modelId="{8BB7EBF1-CE55-4420-B26E-C2C7D9D0CF7C}" type="pres">
      <dgm:prSet presAssocID="{F6F39856-7926-4037-A559-566E8E8864E5}" presName="topArc2" presStyleLbl="parChTrans1D1" presStyleIdx="12" presStyleCnt="22"/>
      <dgm:spPr/>
    </dgm:pt>
    <dgm:pt modelId="{93D39359-2884-43DF-90D6-E98001132CD1}" type="pres">
      <dgm:prSet presAssocID="{F6F39856-7926-4037-A559-566E8E8864E5}" presName="bottomArc2" presStyleLbl="parChTrans1D1" presStyleIdx="13" presStyleCnt="22"/>
      <dgm:spPr/>
    </dgm:pt>
    <dgm:pt modelId="{2BD2ADBD-7E25-4753-918D-206C36EBF4B9}" type="pres">
      <dgm:prSet presAssocID="{F6F39856-7926-4037-A559-566E8E8864E5}" presName="topConnNode2" presStyleLbl="node3" presStyleIdx="0" presStyleCnt="0"/>
      <dgm:spPr/>
      <dgm:t>
        <a:bodyPr/>
        <a:lstStyle/>
        <a:p>
          <a:endParaRPr lang="en-GB"/>
        </a:p>
      </dgm:t>
    </dgm:pt>
    <dgm:pt modelId="{6248C97F-7BFD-49D6-8789-C54F9FB3724B}" type="pres">
      <dgm:prSet presAssocID="{F6F39856-7926-4037-A559-566E8E8864E5}" presName="hierChild4" presStyleCnt="0"/>
      <dgm:spPr/>
    </dgm:pt>
    <dgm:pt modelId="{834B22E6-D6F4-4B21-9D90-F4C62E118D39}" type="pres">
      <dgm:prSet presAssocID="{1FE25741-D6BD-4050-9447-13CF55213C2A}" presName="Name28" presStyleLbl="parChTrans1D4" presStyleIdx="0" presStyleCnt="3"/>
      <dgm:spPr/>
      <dgm:t>
        <a:bodyPr/>
        <a:lstStyle/>
        <a:p>
          <a:endParaRPr lang="en-GB"/>
        </a:p>
      </dgm:t>
    </dgm:pt>
    <dgm:pt modelId="{CF298992-5DB8-4120-9AA1-9BE827178543}" type="pres">
      <dgm:prSet presAssocID="{4A5E2697-106B-4DB2-ACC6-2A5B610D85B0}" presName="hierRoot2" presStyleCnt="0">
        <dgm:presLayoutVars>
          <dgm:hierBranch val="init"/>
        </dgm:presLayoutVars>
      </dgm:prSet>
      <dgm:spPr/>
    </dgm:pt>
    <dgm:pt modelId="{E695712D-DD0B-4060-8996-31C7DCE74774}" type="pres">
      <dgm:prSet presAssocID="{4A5E2697-106B-4DB2-ACC6-2A5B610D85B0}" presName="rootComposite2" presStyleCnt="0"/>
      <dgm:spPr/>
    </dgm:pt>
    <dgm:pt modelId="{19117C08-9228-4BBD-A5CE-6DF257D25C1A}" type="pres">
      <dgm:prSet presAssocID="{4A5E2697-106B-4DB2-ACC6-2A5B610D85B0}" presName="rootText2" presStyleLbl="alignAcc1" presStyleIdx="0" presStyleCnt="0" custLinFactY="100000" custLinFactNeighborX="-86946" custLinFactNeighborY="101668">
        <dgm:presLayoutVars>
          <dgm:chPref val="3"/>
        </dgm:presLayoutVars>
      </dgm:prSet>
      <dgm:spPr/>
      <dgm:t>
        <a:bodyPr/>
        <a:lstStyle/>
        <a:p>
          <a:endParaRPr lang="en-GB"/>
        </a:p>
      </dgm:t>
    </dgm:pt>
    <dgm:pt modelId="{1690501C-E8D6-49B2-85BB-57F0210B4B8B}" type="pres">
      <dgm:prSet presAssocID="{4A5E2697-106B-4DB2-ACC6-2A5B610D85B0}" presName="topArc2" presStyleLbl="parChTrans1D1" presStyleIdx="14" presStyleCnt="22"/>
      <dgm:spPr/>
    </dgm:pt>
    <dgm:pt modelId="{5FC03BEC-B500-4C44-812D-FE34E9859875}" type="pres">
      <dgm:prSet presAssocID="{4A5E2697-106B-4DB2-ACC6-2A5B610D85B0}" presName="bottomArc2" presStyleLbl="parChTrans1D1" presStyleIdx="15" presStyleCnt="22"/>
      <dgm:spPr/>
    </dgm:pt>
    <dgm:pt modelId="{664DFF92-B07B-4B64-85A9-FD49A22FD2DB}" type="pres">
      <dgm:prSet presAssocID="{4A5E2697-106B-4DB2-ACC6-2A5B610D85B0}" presName="topConnNode2" presStyleLbl="node4" presStyleIdx="0" presStyleCnt="0"/>
      <dgm:spPr/>
      <dgm:t>
        <a:bodyPr/>
        <a:lstStyle/>
        <a:p>
          <a:endParaRPr lang="en-GB"/>
        </a:p>
      </dgm:t>
    </dgm:pt>
    <dgm:pt modelId="{143C1458-5E09-4A92-9311-59095D5960CD}" type="pres">
      <dgm:prSet presAssocID="{4A5E2697-106B-4DB2-ACC6-2A5B610D85B0}" presName="hierChild4" presStyleCnt="0"/>
      <dgm:spPr/>
    </dgm:pt>
    <dgm:pt modelId="{478905BE-4EDA-4043-B9EF-D7E1B8B60441}" type="pres">
      <dgm:prSet presAssocID="{4A5E2697-106B-4DB2-ACC6-2A5B610D85B0}" presName="hierChild5" presStyleCnt="0"/>
      <dgm:spPr/>
    </dgm:pt>
    <dgm:pt modelId="{7CE0318F-3946-4746-82F2-5A2EE7ABBA4B}" type="pres">
      <dgm:prSet presAssocID="{A96BD6E0-3E65-4B77-8853-EB52ACF3E4AA}" presName="Name28" presStyleLbl="parChTrans1D4" presStyleIdx="1" presStyleCnt="3"/>
      <dgm:spPr/>
      <dgm:t>
        <a:bodyPr/>
        <a:lstStyle/>
        <a:p>
          <a:endParaRPr lang="en-GB"/>
        </a:p>
      </dgm:t>
    </dgm:pt>
    <dgm:pt modelId="{C7C757FF-1C96-4C21-AD8F-6359F0808A5F}" type="pres">
      <dgm:prSet presAssocID="{0B6516A0-FD0F-44B8-8D53-4DA801339295}" presName="hierRoot2" presStyleCnt="0">
        <dgm:presLayoutVars>
          <dgm:hierBranch val="init"/>
        </dgm:presLayoutVars>
      </dgm:prSet>
      <dgm:spPr/>
    </dgm:pt>
    <dgm:pt modelId="{CBC749DB-AE99-42B7-A16D-FBE222F6955C}" type="pres">
      <dgm:prSet presAssocID="{0B6516A0-FD0F-44B8-8D53-4DA801339295}" presName="rootComposite2" presStyleCnt="0"/>
      <dgm:spPr/>
    </dgm:pt>
    <dgm:pt modelId="{B92E7CBE-DB2F-4FDF-943D-767CA75C5589}" type="pres">
      <dgm:prSet presAssocID="{0B6516A0-FD0F-44B8-8D53-4DA801339295}" presName="rootText2" presStyleLbl="alignAcc1" presStyleIdx="0" presStyleCnt="0" custLinFactNeighborX="1837" custLinFactNeighborY="-73154">
        <dgm:presLayoutVars>
          <dgm:chPref val="3"/>
        </dgm:presLayoutVars>
      </dgm:prSet>
      <dgm:spPr/>
      <dgm:t>
        <a:bodyPr/>
        <a:lstStyle/>
        <a:p>
          <a:endParaRPr lang="en-GB"/>
        </a:p>
      </dgm:t>
    </dgm:pt>
    <dgm:pt modelId="{92CA8F71-BC3A-4DB9-AA86-10A1039B3F7C}" type="pres">
      <dgm:prSet presAssocID="{0B6516A0-FD0F-44B8-8D53-4DA801339295}" presName="topArc2" presStyleLbl="parChTrans1D1" presStyleIdx="16" presStyleCnt="22"/>
      <dgm:spPr/>
    </dgm:pt>
    <dgm:pt modelId="{CBE0818C-969F-406B-9FB2-347378B4790E}" type="pres">
      <dgm:prSet presAssocID="{0B6516A0-FD0F-44B8-8D53-4DA801339295}" presName="bottomArc2" presStyleLbl="parChTrans1D1" presStyleIdx="17" presStyleCnt="22"/>
      <dgm:spPr/>
    </dgm:pt>
    <dgm:pt modelId="{ADAB3E77-6386-410F-AD16-5ACC4DB7EC61}" type="pres">
      <dgm:prSet presAssocID="{0B6516A0-FD0F-44B8-8D53-4DA801339295}" presName="topConnNode2" presStyleLbl="node4" presStyleIdx="0" presStyleCnt="0"/>
      <dgm:spPr/>
      <dgm:t>
        <a:bodyPr/>
        <a:lstStyle/>
        <a:p>
          <a:endParaRPr lang="en-GB"/>
        </a:p>
      </dgm:t>
    </dgm:pt>
    <dgm:pt modelId="{5BADA574-5855-4AE6-861C-C70060B54637}" type="pres">
      <dgm:prSet presAssocID="{0B6516A0-FD0F-44B8-8D53-4DA801339295}" presName="hierChild4" presStyleCnt="0"/>
      <dgm:spPr/>
    </dgm:pt>
    <dgm:pt modelId="{6E3573EB-B95D-4D4E-8E1E-16573BB33B06}" type="pres">
      <dgm:prSet presAssocID="{0B6516A0-FD0F-44B8-8D53-4DA801339295}" presName="hierChild5" presStyleCnt="0"/>
      <dgm:spPr/>
    </dgm:pt>
    <dgm:pt modelId="{2B85A2D4-D9E8-41FB-A61B-340A0D4DF7F7}" type="pres">
      <dgm:prSet presAssocID="{CF8C3B8A-39AD-4344-9750-BF044BC37CE9}" presName="Name28" presStyleLbl="parChTrans1D4" presStyleIdx="2" presStyleCnt="3"/>
      <dgm:spPr/>
      <dgm:t>
        <a:bodyPr/>
        <a:lstStyle/>
        <a:p>
          <a:endParaRPr lang="en-GB"/>
        </a:p>
      </dgm:t>
    </dgm:pt>
    <dgm:pt modelId="{6AA785B6-7811-4DCC-9EB7-9FBFA7BF807A}" type="pres">
      <dgm:prSet presAssocID="{2E6CFC5E-B5D0-46A2-AE38-23794968D4C0}" presName="hierRoot2" presStyleCnt="0">
        <dgm:presLayoutVars>
          <dgm:hierBranch val="init"/>
        </dgm:presLayoutVars>
      </dgm:prSet>
      <dgm:spPr/>
    </dgm:pt>
    <dgm:pt modelId="{8D5CEEFA-31E8-4B48-B4CA-F5D2FB6A2A62}" type="pres">
      <dgm:prSet presAssocID="{2E6CFC5E-B5D0-46A2-AE38-23794968D4C0}" presName="rootComposite2" presStyleCnt="0"/>
      <dgm:spPr/>
    </dgm:pt>
    <dgm:pt modelId="{448380CB-9B45-4A51-8676-726E192949AE}" type="pres">
      <dgm:prSet presAssocID="{2E6CFC5E-B5D0-46A2-AE38-23794968D4C0}" presName="rootText2" presStyleLbl="alignAcc1" presStyleIdx="0" presStyleCnt="0" custLinFactX="-78889" custLinFactY="-100000" custLinFactNeighborX="-100000" custLinFactNeighborY="-195029">
        <dgm:presLayoutVars>
          <dgm:chPref val="3"/>
        </dgm:presLayoutVars>
      </dgm:prSet>
      <dgm:spPr/>
      <dgm:t>
        <a:bodyPr/>
        <a:lstStyle/>
        <a:p>
          <a:endParaRPr lang="en-GB"/>
        </a:p>
      </dgm:t>
    </dgm:pt>
    <dgm:pt modelId="{C6B4503D-B8B7-4092-9E37-AEE73E9016A7}" type="pres">
      <dgm:prSet presAssocID="{2E6CFC5E-B5D0-46A2-AE38-23794968D4C0}" presName="topArc2" presStyleLbl="parChTrans1D1" presStyleIdx="18" presStyleCnt="22"/>
      <dgm:spPr/>
    </dgm:pt>
    <dgm:pt modelId="{42205FAD-25FA-4AE0-B2A5-BE196EA16F1A}" type="pres">
      <dgm:prSet presAssocID="{2E6CFC5E-B5D0-46A2-AE38-23794968D4C0}" presName="bottomArc2" presStyleLbl="parChTrans1D1" presStyleIdx="19" presStyleCnt="22"/>
      <dgm:spPr/>
    </dgm:pt>
    <dgm:pt modelId="{17E5CD47-1FFA-4C28-8770-4099D2D7CE5D}" type="pres">
      <dgm:prSet presAssocID="{2E6CFC5E-B5D0-46A2-AE38-23794968D4C0}" presName="topConnNode2" presStyleLbl="node4" presStyleIdx="0" presStyleCnt="0"/>
      <dgm:spPr/>
      <dgm:t>
        <a:bodyPr/>
        <a:lstStyle/>
        <a:p>
          <a:endParaRPr lang="en-GB"/>
        </a:p>
      </dgm:t>
    </dgm:pt>
    <dgm:pt modelId="{01B20FC7-920A-4187-92B3-DDDD58F39830}" type="pres">
      <dgm:prSet presAssocID="{2E6CFC5E-B5D0-46A2-AE38-23794968D4C0}" presName="hierChild4" presStyleCnt="0"/>
      <dgm:spPr/>
    </dgm:pt>
    <dgm:pt modelId="{50527049-5F6E-4D3A-BDB7-82A22BCB6485}" type="pres">
      <dgm:prSet presAssocID="{2E6CFC5E-B5D0-46A2-AE38-23794968D4C0}" presName="hierChild5" presStyleCnt="0"/>
      <dgm:spPr/>
    </dgm:pt>
    <dgm:pt modelId="{10F0B364-1DAE-40D0-8438-0BC06CCFC9CF}" type="pres">
      <dgm:prSet presAssocID="{F6F39856-7926-4037-A559-566E8E8864E5}" presName="hierChild5" presStyleCnt="0"/>
      <dgm:spPr/>
    </dgm:pt>
    <dgm:pt modelId="{096DF439-364D-4A77-9DA7-1B0491E8D7F4}" type="pres">
      <dgm:prSet presAssocID="{010FC37D-52B3-4B5D-9489-26BA1EB39677}" presName="hierChild5" presStyleCnt="0"/>
      <dgm:spPr/>
    </dgm:pt>
    <dgm:pt modelId="{8C5E8DB8-4028-4FC2-B8B8-C3EA83BE97A6}" type="pres">
      <dgm:prSet presAssocID="{B25FC37D-F47C-4B7F-9EB2-9B8EB21CCD72}" presName="Name28" presStyleLbl="parChTrans1D2" presStyleIdx="3" presStyleCnt="4"/>
      <dgm:spPr/>
      <dgm:t>
        <a:bodyPr/>
        <a:lstStyle/>
        <a:p>
          <a:endParaRPr lang="en-GB"/>
        </a:p>
      </dgm:t>
    </dgm:pt>
    <dgm:pt modelId="{5FEF6E52-C403-456B-9EB1-64AFC209C07F}" type="pres">
      <dgm:prSet presAssocID="{E3BE66A4-CB7B-4450-910C-6746E2BCD271}" presName="hierRoot2" presStyleCnt="0">
        <dgm:presLayoutVars>
          <dgm:hierBranch val="init"/>
        </dgm:presLayoutVars>
      </dgm:prSet>
      <dgm:spPr/>
    </dgm:pt>
    <dgm:pt modelId="{1832B801-ED7B-47F4-9168-FED85C2D8DC8}" type="pres">
      <dgm:prSet presAssocID="{E3BE66A4-CB7B-4450-910C-6746E2BCD271}" presName="rootComposite2" presStyleCnt="0"/>
      <dgm:spPr/>
    </dgm:pt>
    <dgm:pt modelId="{EDD6D62D-6109-4B7F-B497-EAB993035625}" type="pres">
      <dgm:prSet presAssocID="{E3BE66A4-CB7B-4450-910C-6746E2BCD271}" presName="rootText2" presStyleLbl="alignAcc1" presStyleIdx="0" presStyleCnt="0">
        <dgm:presLayoutVars>
          <dgm:chPref val="3"/>
        </dgm:presLayoutVars>
      </dgm:prSet>
      <dgm:spPr/>
      <dgm:t>
        <a:bodyPr/>
        <a:lstStyle/>
        <a:p>
          <a:endParaRPr lang="en-GB"/>
        </a:p>
      </dgm:t>
    </dgm:pt>
    <dgm:pt modelId="{9CD807E5-F92C-492E-97EA-4B51F657A209}" type="pres">
      <dgm:prSet presAssocID="{E3BE66A4-CB7B-4450-910C-6746E2BCD271}" presName="topArc2" presStyleLbl="parChTrans1D1" presStyleIdx="20" presStyleCnt="22"/>
      <dgm:spPr/>
    </dgm:pt>
    <dgm:pt modelId="{0A00E5AA-5B56-400D-8527-317DFD0C8F83}" type="pres">
      <dgm:prSet presAssocID="{E3BE66A4-CB7B-4450-910C-6746E2BCD271}" presName="bottomArc2" presStyleLbl="parChTrans1D1" presStyleIdx="21" presStyleCnt="22"/>
      <dgm:spPr/>
    </dgm:pt>
    <dgm:pt modelId="{96E7712E-2188-49A5-8713-BE019DFF1A76}" type="pres">
      <dgm:prSet presAssocID="{E3BE66A4-CB7B-4450-910C-6746E2BCD271}" presName="topConnNode2" presStyleLbl="node2" presStyleIdx="0" presStyleCnt="0"/>
      <dgm:spPr/>
      <dgm:t>
        <a:bodyPr/>
        <a:lstStyle/>
        <a:p>
          <a:endParaRPr lang="en-GB"/>
        </a:p>
      </dgm:t>
    </dgm:pt>
    <dgm:pt modelId="{EBF6366C-6A86-4505-B954-2BFF0FCF9823}" type="pres">
      <dgm:prSet presAssocID="{E3BE66A4-CB7B-4450-910C-6746E2BCD271}" presName="hierChild4" presStyleCnt="0"/>
      <dgm:spPr/>
    </dgm:pt>
    <dgm:pt modelId="{E6948E58-0D92-471F-949F-CE28CAA29C00}" type="pres">
      <dgm:prSet presAssocID="{E3BE66A4-CB7B-4450-910C-6746E2BCD271}" presName="hierChild5" presStyleCnt="0"/>
      <dgm:spPr/>
    </dgm:pt>
    <dgm:pt modelId="{1E9887E8-1F93-4A43-8641-BB7F005BE9DD}" type="pres">
      <dgm:prSet presAssocID="{DF4B0755-14CD-4CFF-8258-7C3E9ED9C772}" presName="hierChild3" presStyleCnt="0"/>
      <dgm:spPr/>
    </dgm:pt>
  </dgm:ptLst>
  <dgm:cxnLst>
    <dgm:cxn modelId="{30A4ADDD-23E6-46CB-9BF0-C288CCE73DE3}" type="presOf" srcId="{DF4B0755-14CD-4CFF-8258-7C3E9ED9C772}" destId="{7E02FCEF-7CC7-42F9-9094-3491580E3CF0}" srcOrd="0" destOrd="0" presId="urn:microsoft.com/office/officeart/2008/layout/HalfCircleOrganizationChart"/>
    <dgm:cxn modelId="{953343A9-4C64-496C-AFBB-DF3F4BDBCB05}" type="presOf" srcId="{A96BD6E0-3E65-4B77-8853-EB52ACF3E4AA}" destId="{7CE0318F-3946-4746-82F2-5A2EE7ABBA4B}" srcOrd="0" destOrd="0" presId="urn:microsoft.com/office/officeart/2008/layout/HalfCircleOrganizationChart"/>
    <dgm:cxn modelId="{BACD6078-319A-4D19-972E-31ABF70BED9F}" type="presOf" srcId="{F6F39856-7926-4037-A559-566E8E8864E5}" destId="{2BD2ADBD-7E25-4753-918D-206C36EBF4B9}" srcOrd="1" destOrd="0" presId="urn:microsoft.com/office/officeart/2008/layout/HalfCircleOrganizationChart"/>
    <dgm:cxn modelId="{112224FA-AB19-4751-A951-38A885456A8C}" type="presOf" srcId="{CAD6EBF1-099F-415D-BB9F-1299455DAEC0}" destId="{E5EB583C-49D6-4AAA-8F80-F44A7EDE8911}" srcOrd="0" destOrd="0" presId="urn:microsoft.com/office/officeart/2008/layout/HalfCircleOrganizationChart"/>
    <dgm:cxn modelId="{2A1BE3BF-0FBD-496E-9EE0-4F53E45D96D7}" srcId="{DF4B0755-14CD-4CFF-8258-7C3E9ED9C772}" destId="{6C63ADE7-3F4D-47C9-BC8B-168E806FB417}" srcOrd="0" destOrd="0" parTransId="{D435CBE6-25A3-4A08-9E6A-4666BC7D54FE}" sibTransId="{C8262A37-B034-4398-881C-008BFFA0092E}"/>
    <dgm:cxn modelId="{5599AD46-B83F-4EAE-A370-E583A618C4C2}" type="presOf" srcId="{8615C97C-23D1-4396-BD6B-AB428E41A859}" destId="{03194D71-BD7D-428C-AA65-75465C3B78EC}" srcOrd="0" destOrd="0" presId="urn:microsoft.com/office/officeart/2008/layout/HalfCircleOrganizationChart"/>
    <dgm:cxn modelId="{DD0D97F8-6948-4453-B81B-A3E4F2830C2D}" srcId="{F6F39856-7926-4037-A559-566E8E8864E5}" destId="{4A5E2697-106B-4DB2-ACC6-2A5B610D85B0}" srcOrd="0" destOrd="0" parTransId="{1FE25741-D6BD-4050-9447-13CF55213C2A}" sibTransId="{9EA330CB-549B-4F0F-87FA-7980132BB0CB}"/>
    <dgm:cxn modelId="{514BF1AD-B762-4494-9CA5-D6F795340E57}" srcId="{DF4B0755-14CD-4CFF-8258-7C3E9ED9C772}" destId="{E3BE66A4-CB7B-4450-910C-6746E2BCD271}" srcOrd="3" destOrd="0" parTransId="{B25FC37D-F47C-4B7F-9EB2-9B8EB21CCD72}" sibTransId="{F73F43A3-50D6-46F6-8D25-CBA115D03876}"/>
    <dgm:cxn modelId="{30FAF7C5-041A-4A64-B5F5-343A90F6CF65}" type="presOf" srcId="{1FE25741-D6BD-4050-9447-13CF55213C2A}" destId="{834B22E6-D6F4-4B21-9D90-F4C62E118D39}" srcOrd="0" destOrd="0" presId="urn:microsoft.com/office/officeart/2008/layout/HalfCircleOrganizationChart"/>
    <dgm:cxn modelId="{6B789BC7-4F6A-4410-ABB8-2388D555AC52}" type="presOf" srcId="{B25FC37D-F47C-4B7F-9EB2-9B8EB21CCD72}" destId="{8C5E8DB8-4028-4FC2-B8B8-C3EA83BE97A6}" srcOrd="0" destOrd="0" presId="urn:microsoft.com/office/officeart/2008/layout/HalfCircleOrganizationChart"/>
    <dgm:cxn modelId="{5E5ABDA1-62BD-46C3-AEB0-ADD51BAC49E8}" type="presOf" srcId="{D435CBE6-25A3-4A08-9E6A-4666BC7D54FE}" destId="{66E69672-3C78-434C-9FE1-B3A9512E929E}" srcOrd="0" destOrd="0" presId="urn:microsoft.com/office/officeart/2008/layout/HalfCircleOrganizationChart"/>
    <dgm:cxn modelId="{764BACE6-A141-4F1D-909B-58CD5A486143}" type="presOf" srcId="{82DDC432-9A0B-4F9B-8727-4B83510751A4}" destId="{154FB73D-47C4-4984-988E-D91ED529FDD0}" srcOrd="1" destOrd="0" presId="urn:microsoft.com/office/officeart/2008/layout/HalfCircleOrganizationChart"/>
    <dgm:cxn modelId="{0BEC48B5-CE91-4BF5-9354-E170C14AB6FD}" type="presOf" srcId="{1BA18AB0-E25D-40CA-A0F5-E4325AABE07B}" destId="{90A8B71F-A1F3-4F29-9257-A6DE20CA80B8}" srcOrd="0" destOrd="0" presId="urn:microsoft.com/office/officeart/2008/layout/HalfCircleOrganizationChart"/>
    <dgm:cxn modelId="{EA22E2DE-FF34-4395-A01A-D81B025BA43B}" type="presOf" srcId="{CF8C3B8A-39AD-4344-9750-BF044BC37CE9}" destId="{2B85A2D4-D9E8-41FB-A61B-340A0D4DF7F7}" srcOrd="0" destOrd="0" presId="urn:microsoft.com/office/officeart/2008/layout/HalfCircleOrganizationChart"/>
    <dgm:cxn modelId="{9EFB8094-D5DE-4EB3-9A4F-4431EECA768E}" type="presOf" srcId="{6C63ADE7-3F4D-47C9-BC8B-168E806FB417}" destId="{C6835BF7-F497-4540-84E8-699295FBEC23}" srcOrd="1" destOrd="0" presId="urn:microsoft.com/office/officeart/2008/layout/HalfCircleOrganizationChart"/>
    <dgm:cxn modelId="{E5FA378B-D120-4477-B475-9D5DEFC13A64}" type="presOf" srcId="{010FC37D-52B3-4B5D-9489-26BA1EB39677}" destId="{24A13435-A843-4ECA-A9CC-15257B97B4A0}" srcOrd="1" destOrd="0" presId="urn:microsoft.com/office/officeart/2008/layout/HalfCircleOrganizationChart"/>
    <dgm:cxn modelId="{8A20B2A7-E33F-4CCA-BD6B-3D6996680C4C}" srcId="{DF4B0755-14CD-4CFF-8258-7C3E9ED9C772}" destId="{48FF1FE1-954A-439C-A7A0-3179BCE5EFA4}" srcOrd="1" destOrd="0" parTransId="{6C622F0B-4530-4947-8D5F-75BC5C778B84}" sibTransId="{F76AD197-62B7-42AD-AEEA-4BF7E3F527A2}"/>
    <dgm:cxn modelId="{4D13FBBF-BA79-48D0-B8B2-31DFDE45B4A7}" srcId="{F6F39856-7926-4037-A559-566E8E8864E5}" destId="{2E6CFC5E-B5D0-46A2-AE38-23794968D4C0}" srcOrd="2" destOrd="0" parTransId="{CF8C3B8A-39AD-4344-9750-BF044BC37CE9}" sibTransId="{124F983E-B6CA-4B87-A03A-D7E9FC4F85D0}"/>
    <dgm:cxn modelId="{A08248BB-D586-4D08-B317-85818316CC15}" type="presOf" srcId="{6C63ADE7-3F4D-47C9-BC8B-168E806FB417}" destId="{2E657A36-2C57-4492-A833-B1D247465DAA}" srcOrd="0" destOrd="0" presId="urn:microsoft.com/office/officeart/2008/layout/HalfCircleOrganizationChart"/>
    <dgm:cxn modelId="{1E2C0595-8E58-4F4B-8C29-8EC9E5B437B4}" type="presOf" srcId="{82DDC432-9A0B-4F9B-8727-4B83510751A4}" destId="{381F2425-0F95-45EC-A11D-24ECA24BFF03}" srcOrd="0" destOrd="0" presId="urn:microsoft.com/office/officeart/2008/layout/HalfCircleOrganizationChart"/>
    <dgm:cxn modelId="{229157C7-20FE-4C6D-BDFF-EB5F091C9DD3}" srcId="{8615C97C-23D1-4396-BD6B-AB428E41A859}" destId="{DF4B0755-14CD-4CFF-8258-7C3E9ED9C772}" srcOrd="0" destOrd="0" parTransId="{A1F1C4BA-4045-4ECD-946D-FC7CE9E0E9DB}" sibTransId="{80C9603A-2420-40F0-A1E7-1C21B0EE5681}"/>
    <dgm:cxn modelId="{BFBC2D2D-ED7A-481E-8EDC-1624390EA356}" type="presOf" srcId="{E3BE66A4-CB7B-4450-910C-6746E2BCD271}" destId="{96E7712E-2188-49A5-8713-BE019DFF1A76}" srcOrd="1" destOrd="0" presId="urn:microsoft.com/office/officeart/2008/layout/HalfCircleOrganizationChart"/>
    <dgm:cxn modelId="{FAF62117-D170-4CB2-8D90-B6614B379366}" type="presOf" srcId="{A3999ED8-FF01-4F81-8BAE-A8A0A5D043E8}" destId="{4DD6C852-BB8A-4DBF-9617-54D7E83A92EF}" srcOrd="1" destOrd="0" presId="urn:microsoft.com/office/officeart/2008/layout/HalfCircleOrganizationChart"/>
    <dgm:cxn modelId="{B807F3CB-FE93-4F85-8CDD-A4D4965A816A}" type="presOf" srcId="{010FC37D-52B3-4B5D-9489-26BA1EB39677}" destId="{23981136-C5EA-4078-9318-59DC347D4DEE}" srcOrd="0" destOrd="0" presId="urn:microsoft.com/office/officeart/2008/layout/HalfCircleOrganizationChart"/>
    <dgm:cxn modelId="{798C4B5E-7CBB-4C65-9FCC-83D059BC4465}" type="presOf" srcId="{E3BE66A4-CB7B-4450-910C-6746E2BCD271}" destId="{EDD6D62D-6109-4B7F-B497-EAB993035625}" srcOrd="0" destOrd="0" presId="urn:microsoft.com/office/officeart/2008/layout/HalfCircleOrganizationChart"/>
    <dgm:cxn modelId="{BA9758C8-E9A0-4AFB-8852-5E5AD242C093}" type="presOf" srcId="{6C622F0B-4530-4947-8D5F-75BC5C778B84}" destId="{C9D539BB-6F5D-4666-A93C-857A5D8ABD84}" srcOrd="0" destOrd="0" presId="urn:microsoft.com/office/officeart/2008/layout/HalfCircleOrganizationChart"/>
    <dgm:cxn modelId="{0D8F91DE-E69E-4BB1-9BD0-395199260112}" srcId="{48FF1FE1-954A-439C-A7A0-3179BCE5EFA4}" destId="{82DDC432-9A0B-4F9B-8727-4B83510751A4}" srcOrd="0" destOrd="0" parTransId="{24E860DA-87EF-488D-B8CC-6CE836AB7BE7}" sibTransId="{BD9048D5-04C3-4310-8E18-1926F6553AF6}"/>
    <dgm:cxn modelId="{09F9769B-F048-4F37-94FC-BE05D01D3FB1}" type="presOf" srcId="{0B6516A0-FD0F-44B8-8D53-4DA801339295}" destId="{B92E7CBE-DB2F-4FDF-943D-767CA75C5589}" srcOrd="0" destOrd="0" presId="urn:microsoft.com/office/officeart/2008/layout/HalfCircleOrganizationChart"/>
    <dgm:cxn modelId="{2C1996B6-6017-4CBB-8646-89F21C9826BC}" type="presOf" srcId="{E70F619C-FAF3-42AF-BFE1-B56851F3F424}" destId="{FE9E717E-1CEA-4DE0-8DF1-7054C62AA191}" srcOrd="0" destOrd="0" presId="urn:microsoft.com/office/officeart/2008/layout/HalfCircleOrganizationChart"/>
    <dgm:cxn modelId="{FBC9D90C-1A6A-4DAD-929C-0860289EEAAB}" type="presOf" srcId="{4A5E2697-106B-4DB2-ACC6-2A5B610D85B0}" destId="{664DFF92-B07B-4B64-85A9-FD49A22FD2DB}" srcOrd="1" destOrd="0" presId="urn:microsoft.com/office/officeart/2008/layout/HalfCircleOrganizationChart"/>
    <dgm:cxn modelId="{EB5A8454-4B22-40CA-90D1-87BE56B80B1A}" type="presOf" srcId="{4A5E2697-106B-4DB2-ACC6-2A5B610D85B0}" destId="{19117C08-9228-4BBD-A5CE-6DF257D25C1A}" srcOrd="0" destOrd="0" presId="urn:microsoft.com/office/officeart/2008/layout/HalfCircleOrganizationChart"/>
    <dgm:cxn modelId="{428D0658-61E3-4370-A706-3D1B8704AFBE}" type="presOf" srcId="{DF4B0755-14CD-4CFF-8258-7C3E9ED9C772}" destId="{693E9CE7-64C1-4B2A-ABFF-1DBA7CFD1BFF}" srcOrd="1" destOrd="0" presId="urn:microsoft.com/office/officeart/2008/layout/HalfCircleOrganizationChart"/>
    <dgm:cxn modelId="{6E92DA4C-6081-4F88-A29B-346CEC1D6FD7}" type="presOf" srcId="{0B6516A0-FD0F-44B8-8D53-4DA801339295}" destId="{ADAB3E77-6386-410F-AD16-5ACC4DB7EC61}" srcOrd="1" destOrd="0" presId="urn:microsoft.com/office/officeart/2008/layout/HalfCircleOrganizationChart"/>
    <dgm:cxn modelId="{DFEEF963-D5EC-4E8D-B719-4643706A1C70}" srcId="{DF4B0755-14CD-4CFF-8258-7C3E9ED9C772}" destId="{010FC37D-52B3-4B5D-9489-26BA1EB39677}" srcOrd="2" destOrd="0" parTransId="{1BA18AB0-E25D-40CA-A0F5-E4325AABE07B}" sibTransId="{A3E52497-C7C6-41E1-945D-8310491C3933}"/>
    <dgm:cxn modelId="{304A6A7E-C0E0-4341-9602-D0A6BBB58D82}" type="presOf" srcId="{2E6CFC5E-B5D0-46A2-AE38-23794968D4C0}" destId="{448380CB-9B45-4A51-8676-726E192949AE}" srcOrd="0" destOrd="0" presId="urn:microsoft.com/office/officeart/2008/layout/HalfCircleOrganizationChart"/>
    <dgm:cxn modelId="{338DD7A5-3895-48F3-9676-C65DC0DB6B81}" srcId="{010FC37D-52B3-4B5D-9489-26BA1EB39677}" destId="{A3999ED8-FF01-4F81-8BAE-A8A0A5D043E8}" srcOrd="0" destOrd="0" parTransId="{E70F619C-FAF3-42AF-BFE1-B56851F3F424}" sibTransId="{1DA7E870-9B41-4D18-BECD-1A627DF28A4E}"/>
    <dgm:cxn modelId="{FED6B62C-E8FD-482D-8B06-0C133919A0A6}" type="presOf" srcId="{A3999ED8-FF01-4F81-8BAE-A8A0A5D043E8}" destId="{14795831-1544-49E3-9689-E2932AEA5A2B}" srcOrd="0" destOrd="0" presId="urn:microsoft.com/office/officeart/2008/layout/HalfCircleOrganizationChart"/>
    <dgm:cxn modelId="{EABD1CB5-179E-4799-BCCF-B4791E418525}" srcId="{F6F39856-7926-4037-A559-566E8E8864E5}" destId="{0B6516A0-FD0F-44B8-8D53-4DA801339295}" srcOrd="1" destOrd="0" parTransId="{A96BD6E0-3E65-4B77-8853-EB52ACF3E4AA}" sibTransId="{2EEB8A51-87A1-4429-BB37-0FDFB3F20A91}"/>
    <dgm:cxn modelId="{BA407745-7A99-4CE6-900D-B8E4640D2DF8}" type="presOf" srcId="{2E6CFC5E-B5D0-46A2-AE38-23794968D4C0}" destId="{17E5CD47-1FFA-4C28-8770-4099D2D7CE5D}" srcOrd="1" destOrd="0" presId="urn:microsoft.com/office/officeart/2008/layout/HalfCircleOrganizationChart"/>
    <dgm:cxn modelId="{EC3252E4-D111-41F2-9D12-FBD42A2A7376}" type="presOf" srcId="{48FF1FE1-954A-439C-A7A0-3179BCE5EFA4}" destId="{B8270721-8662-42B5-A00A-8225CE34D095}" srcOrd="1" destOrd="0" presId="urn:microsoft.com/office/officeart/2008/layout/HalfCircleOrganizationChart"/>
    <dgm:cxn modelId="{84AE1747-0CE1-45B6-9BED-5FC3286F2AE0}" type="presOf" srcId="{F6F39856-7926-4037-A559-566E8E8864E5}" destId="{B76378A7-6522-4180-BF93-174E69018DAD}" srcOrd="0" destOrd="0" presId="urn:microsoft.com/office/officeart/2008/layout/HalfCircleOrganizationChart"/>
    <dgm:cxn modelId="{3A799226-3001-4D5B-821E-567ECF180A5C}" type="presOf" srcId="{48FF1FE1-954A-439C-A7A0-3179BCE5EFA4}" destId="{C0D15747-4F58-42EF-9742-0B42DDFDACAA}" srcOrd="0" destOrd="0" presId="urn:microsoft.com/office/officeart/2008/layout/HalfCircleOrganizationChart"/>
    <dgm:cxn modelId="{C0A80712-2FAF-4C2E-83F1-7D5698D7935B}" type="presOf" srcId="{24E860DA-87EF-488D-B8CC-6CE836AB7BE7}" destId="{6F26CFD2-CCD8-4B10-98BA-B2C317BBA7EB}" srcOrd="0" destOrd="0" presId="urn:microsoft.com/office/officeart/2008/layout/HalfCircleOrganizationChart"/>
    <dgm:cxn modelId="{20B3E584-1DCD-4480-87DF-2B2B6776DF70}" srcId="{010FC37D-52B3-4B5D-9489-26BA1EB39677}" destId="{F6F39856-7926-4037-A559-566E8E8864E5}" srcOrd="1" destOrd="0" parTransId="{CAD6EBF1-099F-415D-BB9F-1299455DAEC0}" sibTransId="{0460D7E0-A3C0-442B-AFC7-E515F24CDB2E}"/>
    <dgm:cxn modelId="{8A3BD7D3-8944-4E19-9B23-E1E440FECD2B}" type="presParOf" srcId="{03194D71-BD7D-428C-AA65-75465C3B78EC}" destId="{4E4E500C-1CB9-45CB-891D-24C83097E6B0}" srcOrd="0" destOrd="0" presId="urn:microsoft.com/office/officeart/2008/layout/HalfCircleOrganizationChart"/>
    <dgm:cxn modelId="{9F045C2E-9D27-46B7-82A3-338B1AA30AAF}" type="presParOf" srcId="{4E4E500C-1CB9-45CB-891D-24C83097E6B0}" destId="{CE6042F5-A489-4BA6-9944-8241DB14DCC4}" srcOrd="0" destOrd="0" presId="urn:microsoft.com/office/officeart/2008/layout/HalfCircleOrganizationChart"/>
    <dgm:cxn modelId="{E9AD4AB7-D7EA-414F-84FE-ABAA54B54B92}" type="presParOf" srcId="{CE6042F5-A489-4BA6-9944-8241DB14DCC4}" destId="{7E02FCEF-7CC7-42F9-9094-3491580E3CF0}" srcOrd="0" destOrd="0" presId="urn:microsoft.com/office/officeart/2008/layout/HalfCircleOrganizationChart"/>
    <dgm:cxn modelId="{738B1A2E-4384-457F-A5B8-147C16DBE19E}" type="presParOf" srcId="{CE6042F5-A489-4BA6-9944-8241DB14DCC4}" destId="{FA26B92A-253C-49EE-BD5C-218AA43EF157}" srcOrd="1" destOrd="0" presId="urn:microsoft.com/office/officeart/2008/layout/HalfCircleOrganizationChart"/>
    <dgm:cxn modelId="{D1116983-6E29-4447-B83C-BB2F25CF491C}" type="presParOf" srcId="{CE6042F5-A489-4BA6-9944-8241DB14DCC4}" destId="{F892B716-B506-417E-86B2-C8A2F5F1BC26}" srcOrd="2" destOrd="0" presId="urn:microsoft.com/office/officeart/2008/layout/HalfCircleOrganizationChart"/>
    <dgm:cxn modelId="{9BD224A8-FA46-4040-84D6-02A48086CA5A}" type="presParOf" srcId="{CE6042F5-A489-4BA6-9944-8241DB14DCC4}" destId="{693E9CE7-64C1-4B2A-ABFF-1DBA7CFD1BFF}" srcOrd="3" destOrd="0" presId="urn:microsoft.com/office/officeart/2008/layout/HalfCircleOrganizationChart"/>
    <dgm:cxn modelId="{4E10F93B-D9D9-464E-9AD5-9E3ED25AA473}" type="presParOf" srcId="{4E4E500C-1CB9-45CB-891D-24C83097E6B0}" destId="{29B5E33B-AD6E-42EB-9F20-89D6ADEF1AC8}" srcOrd="1" destOrd="0" presId="urn:microsoft.com/office/officeart/2008/layout/HalfCircleOrganizationChart"/>
    <dgm:cxn modelId="{65794032-CB0C-446F-9EF2-5DD5B4666253}" type="presParOf" srcId="{29B5E33B-AD6E-42EB-9F20-89D6ADEF1AC8}" destId="{66E69672-3C78-434C-9FE1-B3A9512E929E}" srcOrd="0" destOrd="0" presId="urn:microsoft.com/office/officeart/2008/layout/HalfCircleOrganizationChart"/>
    <dgm:cxn modelId="{1DD95A6D-03CD-48F5-A252-C7531402D766}" type="presParOf" srcId="{29B5E33B-AD6E-42EB-9F20-89D6ADEF1AC8}" destId="{899D81B8-41ED-41FD-BCCB-2B0F43B3CA18}" srcOrd="1" destOrd="0" presId="urn:microsoft.com/office/officeart/2008/layout/HalfCircleOrganizationChart"/>
    <dgm:cxn modelId="{B550D494-ED2F-488B-A3C1-C3086A85DFCD}" type="presParOf" srcId="{899D81B8-41ED-41FD-BCCB-2B0F43B3CA18}" destId="{A5887AAA-7342-4789-9B0D-29E9937CDD78}" srcOrd="0" destOrd="0" presId="urn:microsoft.com/office/officeart/2008/layout/HalfCircleOrganizationChart"/>
    <dgm:cxn modelId="{C255A141-04AC-4C7A-B682-9C611BC586E7}" type="presParOf" srcId="{A5887AAA-7342-4789-9B0D-29E9937CDD78}" destId="{2E657A36-2C57-4492-A833-B1D247465DAA}" srcOrd="0" destOrd="0" presId="urn:microsoft.com/office/officeart/2008/layout/HalfCircleOrganizationChart"/>
    <dgm:cxn modelId="{EAC0BE9A-9CB0-48C9-A46D-9DEEBC3636D6}" type="presParOf" srcId="{A5887AAA-7342-4789-9B0D-29E9937CDD78}" destId="{59C2C7E9-C3B5-4AE7-A3DF-69624C1E9C0A}" srcOrd="1" destOrd="0" presId="urn:microsoft.com/office/officeart/2008/layout/HalfCircleOrganizationChart"/>
    <dgm:cxn modelId="{C489E15C-D4C9-4CE1-9341-9A110ACE569B}" type="presParOf" srcId="{A5887AAA-7342-4789-9B0D-29E9937CDD78}" destId="{4D5C0BDB-4056-4DBE-AB60-888A0E2028DF}" srcOrd="2" destOrd="0" presId="urn:microsoft.com/office/officeart/2008/layout/HalfCircleOrganizationChart"/>
    <dgm:cxn modelId="{4A788AEB-D085-4194-9C85-DC367E9445DD}" type="presParOf" srcId="{A5887AAA-7342-4789-9B0D-29E9937CDD78}" destId="{C6835BF7-F497-4540-84E8-699295FBEC23}" srcOrd="3" destOrd="0" presId="urn:microsoft.com/office/officeart/2008/layout/HalfCircleOrganizationChart"/>
    <dgm:cxn modelId="{B491F0C0-4A3C-44AE-BAE8-BD3A169CAD4B}" type="presParOf" srcId="{899D81B8-41ED-41FD-BCCB-2B0F43B3CA18}" destId="{1514772C-7E32-4264-9B42-1C6C2A82EB04}" srcOrd="1" destOrd="0" presId="urn:microsoft.com/office/officeart/2008/layout/HalfCircleOrganizationChart"/>
    <dgm:cxn modelId="{00DB0B3C-9748-4B28-AFE3-4A481B29EB57}" type="presParOf" srcId="{899D81B8-41ED-41FD-BCCB-2B0F43B3CA18}" destId="{C1794303-AE66-4EDA-B354-8207839E31E8}" srcOrd="2" destOrd="0" presId="urn:microsoft.com/office/officeart/2008/layout/HalfCircleOrganizationChart"/>
    <dgm:cxn modelId="{796C754C-E6BE-4A3A-94BD-DE4D06C63DE0}" type="presParOf" srcId="{29B5E33B-AD6E-42EB-9F20-89D6ADEF1AC8}" destId="{C9D539BB-6F5D-4666-A93C-857A5D8ABD84}" srcOrd="2" destOrd="0" presId="urn:microsoft.com/office/officeart/2008/layout/HalfCircleOrganizationChart"/>
    <dgm:cxn modelId="{98E5A18A-DA8E-4198-B565-462BFB9FE4AB}" type="presParOf" srcId="{29B5E33B-AD6E-42EB-9F20-89D6ADEF1AC8}" destId="{43E33798-FA52-465B-97A6-9C516A7A6B84}" srcOrd="3" destOrd="0" presId="urn:microsoft.com/office/officeart/2008/layout/HalfCircleOrganizationChart"/>
    <dgm:cxn modelId="{44054256-F8D1-4500-AC99-BDDAFF504748}" type="presParOf" srcId="{43E33798-FA52-465B-97A6-9C516A7A6B84}" destId="{82DB426A-3DF9-4266-9855-9C8A5817A638}" srcOrd="0" destOrd="0" presId="urn:microsoft.com/office/officeart/2008/layout/HalfCircleOrganizationChart"/>
    <dgm:cxn modelId="{2E7E1E2C-EDA4-454A-AF7C-F023DA6596A6}" type="presParOf" srcId="{82DB426A-3DF9-4266-9855-9C8A5817A638}" destId="{C0D15747-4F58-42EF-9742-0B42DDFDACAA}" srcOrd="0" destOrd="0" presId="urn:microsoft.com/office/officeart/2008/layout/HalfCircleOrganizationChart"/>
    <dgm:cxn modelId="{86C0DB50-A66B-4BAD-A4A6-FBA8E1F95C4C}" type="presParOf" srcId="{82DB426A-3DF9-4266-9855-9C8A5817A638}" destId="{A5E1ADD0-62CB-4D59-9575-75392B02486E}" srcOrd="1" destOrd="0" presId="urn:microsoft.com/office/officeart/2008/layout/HalfCircleOrganizationChart"/>
    <dgm:cxn modelId="{AE806BC6-F581-46DA-B8A2-9653EB9EBDDC}" type="presParOf" srcId="{82DB426A-3DF9-4266-9855-9C8A5817A638}" destId="{23EDB6F1-F1AA-498A-A01F-5ADBBBF66E20}" srcOrd="2" destOrd="0" presId="urn:microsoft.com/office/officeart/2008/layout/HalfCircleOrganizationChart"/>
    <dgm:cxn modelId="{545EB942-A712-4B29-9D1C-C478F845F49A}" type="presParOf" srcId="{82DB426A-3DF9-4266-9855-9C8A5817A638}" destId="{B8270721-8662-42B5-A00A-8225CE34D095}" srcOrd="3" destOrd="0" presId="urn:microsoft.com/office/officeart/2008/layout/HalfCircleOrganizationChart"/>
    <dgm:cxn modelId="{B4983915-9A07-4BBF-A481-DA03A585411E}" type="presParOf" srcId="{43E33798-FA52-465B-97A6-9C516A7A6B84}" destId="{FBD4FFF2-A5FF-43C4-9742-A1933709BD3E}" srcOrd="1" destOrd="0" presId="urn:microsoft.com/office/officeart/2008/layout/HalfCircleOrganizationChart"/>
    <dgm:cxn modelId="{FF99AC22-CA71-4F20-9898-DB72FA2F3BF5}" type="presParOf" srcId="{FBD4FFF2-A5FF-43C4-9742-A1933709BD3E}" destId="{6F26CFD2-CCD8-4B10-98BA-B2C317BBA7EB}" srcOrd="0" destOrd="0" presId="urn:microsoft.com/office/officeart/2008/layout/HalfCircleOrganizationChart"/>
    <dgm:cxn modelId="{419C3966-369B-4DAF-981C-AA14FF839D63}" type="presParOf" srcId="{FBD4FFF2-A5FF-43C4-9742-A1933709BD3E}" destId="{E2FCC00D-8C11-4DA2-AED1-DBDCBC971023}" srcOrd="1" destOrd="0" presId="urn:microsoft.com/office/officeart/2008/layout/HalfCircleOrganizationChart"/>
    <dgm:cxn modelId="{F05EEB80-8F16-4948-B327-DC679D302B8A}" type="presParOf" srcId="{E2FCC00D-8C11-4DA2-AED1-DBDCBC971023}" destId="{D54F7688-AA92-4E4D-A2F0-7A225EB88FA9}" srcOrd="0" destOrd="0" presId="urn:microsoft.com/office/officeart/2008/layout/HalfCircleOrganizationChart"/>
    <dgm:cxn modelId="{70974454-10D7-4DFB-8B21-0DCE7B1C2375}" type="presParOf" srcId="{D54F7688-AA92-4E4D-A2F0-7A225EB88FA9}" destId="{381F2425-0F95-45EC-A11D-24ECA24BFF03}" srcOrd="0" destOrd="0" presId="urn:microsoft.com/office/officeart/2008/layout/HalfCircleOrganizationChart"/>
    <dgm:cxn modelId="{AAC43ABD-2B97-4124-9F3D-67F7C4FB252C}" type="presParOf" srcId="{D54F7688-AA92-4E4D-A2F0-7A225EB88FA9}" destId="{92248A57-2D31-41D6-9356-5B5699FFF061}" srcOrd="1" destOrd="0" presId="urn:microsoft.com/office/officeart/2008/layout/HalfCircleOrganizationChart"/>
    <dgm:cxn modelId="{D4747EDD-B3B8-4126-975D-11C07B70AAD7}" type="presParOf" srcId="{D54F7688-AA92-4E4D-A2F0-7A225EB88FA9}" destId="{174153E4-6C32-4B00-B146-AE3A4707EDBD}" srcOrd="2" destOrd="0" presId="urn:microsoft.com/office/officeart/2008/layout/HalfCircleOrganizationChart"/>
    <dgm:cxn modelId="{4FF1B53E-5B4D-42DB-B8A4-F807AEEBB1C4}" type="presParOf" srcId="{D54F7688-AA92-4E4D-A2F0-7A225EB88FA9}" destId="{154FB73D-47C4-4984-988E-D91ED529FDD0}" srcOrd="3" destOrd="0" presId="urn:microsoft.com/office/officeart/2008/layout/HalfCircleOrganizationChart"/>
    <dgm:cxn modelId="{87C34074-74B1-4C7C-A5E3-C7057AF3B6EC}" type="presParOf" srcId="{E2FCC00D-8C11-4DA2-AED1-DBDCBC971023}" destId="{A80E7C70-2537-44F6-84FF-FFE96D201FC9}" srcOrd="1" destOrd="0" presId="urn:microsoft.com/office/officeart/2008/layout/HalfCircleOrganizationChart"/>
    <dgm:cxn modelId="{BF7FE7A1-3DE1-4F5F-9A8C-C1E50912384B}" type="presParOf" srcId="{E2FCC00D-8C11-4DA2-AED1-DBDCBC971023}" destId="{B012E523-80FE-4AB4-9F8C-114F9A7B5EF6}" srcOrd="2" destOrd="0" presId="urn:microsoft.com/office/officeart/2008/layout/HalfCircleOrganizationChart"/>
    <dgm:cxn modelId="{58F7DEC6-8B39-4F47-BFFA-04E230A558FA}" type="presParOf" srcId="{43E33798-FA52-465B-97A6-9C516A7A6B84}" destId="{58BE70C5-C59D-476F-B71A-A3566AFEF0F4}" srcOrd="2" destOrd="0" presId="urn:microsoft.com/office/officeart/2008/layout/HalfCircleOrganizationChart"/>
    <dgm:cxn modelId="{4481CCA3-6A75-4FC0-A3B1-5E7F7B715489}" type="presParOf" srcId="{29B5E33B-AD6E-42EB-9F20-89D6ADEF1AC8}" destId="{90A8B71F-A1F3-4F29-9257-A6DE20CA80B8}" srcOrd="4" destOrd="0" presId="urn:microsoft.com/office/officeart/2008/layout/HalfCircleOrganizationChart"/>
    <dgm:cxn modelId="{4814BC27-6C7F-4651-A361-013B386EB05A}" type="presParOf" srcId="{29B5E33B-AD6E-42EB-9F20-89D6ADEF1AC8}" destId="{3C913D0D-2599-4E9E-9FE7-5B7735FEFA01}" srcOrd="5" destOrd="0" presId="urn:microsoft.com/office/officeart/2008/layout/HalfCircleOrganizationChart"/>
    <dgm:cxn modelId="{42F779F7-E059-47BE-AE0A-6612318CAE24}" type="presParOf" srcId="{3C913D0D-2599-4E9E-9FE7-5B7735FEFA01}" destId="{6DEA52D0-7A5B-4964-A146-F09690D128F6}" srcOrd="0" destOrd="0" presId="urn:microsoft.com/office/officeart/2008/layout/HalfCircleOrganizationChart"/>
    <dgm:cxn modelId="{418D8A81-703A-4E76-AD83-79A22094984C}" type="presParOf" srcId="{6DEA52D0-7A5B-4964-A146-F09690D128F6}" destId="{23981136-C5EA-4078-9318-59DC347D4DEE}" srcOrd="0" destOrd="0" presId="urn:microsoft.com/office/officeart/2008/layout/HalfCircleOrganizationChart"/>
    <dgm:cxn modelId="{77E2159E-2C14-4FC3-9EA2-947B6FA04B15}" type="presParOf" srcId="{6DEA52D0-7A5B-4964-A146-F09690D128F6}" destId="{8DF7E04A-A0C3-4BFE-8309-0DF54BAE4D95}" srcOrd="1" destOrd="0" presId="urn:microsoft.com/office/officeart/2008/layout/HalfCircleOrganizationChart"/>
    <dgm:cxn modelId="{F2575036-AD6C-4AA1-83BC-53A9807E8F2E}" type="presParOf" srcId="{6DEA52D0-7A5B-4964-A146-F09690D128F6}" destId="{342DB012-21C7-4232-991F-79A37BFD9727}" srcOrd="2" destOrd="0" presId="urn:microsoft.com/office/officeart/2008/layout/HalfCircleOrganizationChart"/>
    <dgm:cxn modelId="{6F5D3E40-AB6A-4DC5-8D58-F855A2808707}" type="presParOf" srcId="{6DEA52D0-7A5B-4964-A146-F09690D128F6}" destId="{24A13435-A843-4ECA-A9CC-15257B97B4A0}" srcOrd="3" destOrd="0" presId="urn:microsoft.com/office/officeart/2008/layout/HalfCircleOrganizationChart"/>
    <dgm:cxn modelId="{EE9D8FA2-7E1A-4F97-9A61-58FF0FA4C344}" type="presParOf" srcId="{3C913D0D-2599-4E9E-9FE7-5B7735FEFA01}" destId="{92B80945-56C2-4B59-A423-0C8021D7153D}" srcOrd="1" destOrd="0" presId="urn:microsoft.com/office/officeart/2008/layout/HalfCircleOrganizationChart"/>
    <dgm:cxn modelId="{A09BFD22-C428-4BF3-857E-F0C860D16DC2}" type="presParOf" srcId="{92B80945-56C2-4B59-A423-0C8021D7153D}" destId="{FE9E717E-1CEA-4DE0-8DF1-7054C62AA191}" srcOrd="0" destOrd="0" presId="urn:microsoft.com/office/officeart/2008/layout/HalfCircleOrganizationChart"/>
    <dgm:cxn modelId="{EF7FC779-8CFC-4080-8F08-539EEB8EE38E}" type="presParOf" srcId="{92B80945-56C2-4B59-A423-0C8021D7153D}" destId="{077B9D92-5ED5-4F35-B5A0-20678BC52535}" srcOrd="1" destOrd="0" presId="urn:microsoft.com/office/officeart/2008/layout/HalfCircleOrganizationChart"/>
    <dgm:cxn modelId="{C263C4FF-9698-4845-A45C-9D5D4B362777}" type="presParOf" srcId="{077B9D92-5ED5-4F35-B5A0-20678BC52535}" destId="{8788DF70-F1E7-46E5-9C7C-02EDB2E23B3E}" srcOrd="0" destOrd="0" presId="urn:microsoft.com/office/officeart/2008/layout/HalfCircleOrganizationChart"/>
    <dgm:cxn modelId="{0098E17B-07A5-4A12-A7F4-F3D126C0A9B9}" type="presParOf" srcId="{8788DF70-F1E7-46E5-9C7C-02EDB2E23B3E}" destId="{14795831-1544-49E3-9689-E2932AEA5A2B}" srcOrd="0" destOrd="0" presId="urn:microsoft.com/office/officeart/2008/layout/HalfCircleOrganizationChart"/>
    <dgm:cxn modelId="{D8DC45F4-6C3D-4589-8674-97DF631448C1}" type="presParOf" srcId="{8788DF70-F1E7-46E5-9C7C-02EDB2E23B3E}" destId="{1AB9F498-6630-40A9-924B-2BB5F7253D0C}" srcOrd="1" destOrd="0" presId="urn:microsoft.com/office/officeart/2008/layout/HalfCircleOrganizationChart"/>
    <dgm:cxn modelId="{AEC68FA4-0F15-4B02-ABA1-BFAE22FA848F}" type="presParOf" srcId="{8788DF70-F1E7-46E5-9C7C-02EDB2E23B3E}" destId="{AD689B39-7E81-4947-8CD4-5AFDCB411685}" srcOrd="2" destOrd="0" presId="urn:microsoft.com/office/officeart/2008/layout/HalfCircleOrganizationChart"/>
    <dgm:cxn modelId="{6775B294-D9F6-4BF0-8AB4-BC0467203C5B}" type="presParOf" srcId="{8788DF70-F1E7-46E5-9C7C-02EDB2E23B3E}" destId="{4DD6C852-BB8A-4DBF-9617-54D7E83A92EF}" srcOrd="3" destOrd="0" presId="urn:microsoft.com/office/officeart/2008/layout/HalfCircleOrganizationChart"/>
    <dgm:cxn modelId="{8D0DBB9B-A954-4629-BB63-48430958EC09}" type="presParOf" srcId="{077B9D92-5ED5-4F35-B5A0-20678BC52535}" destId="{2657E9B9-70B9-4DE7-8EEA-AC5666F5238F}" srcOrd="1" destOrd="0" presId="urn:microsoft.com/office/officeart/2008/layout/HalfCircleOrganizationChart"/>
    <dgm:cxn modelId="{13ED539A-A561-4895-B568-F73A38124311}" type="presParOf" srcId="{077B9D92-5ED5-4F35-B5A0-20678BC52535}" destId="{C56145F1-0821-4E9F-BFD8-8BC9164CB478}" srcOrd="2" destOrd="0" presId="urn:microsoft.com/office/officeart/2008/layout/HalfCircleOrganizationChart"/>
    <dgm:cxn modelId="{9509F4B2-8BA4-48EA-B0D7-DBA96970BE67}" type="presParOf" srcId="{92B80945-56C2-4B59-A423-0C8021D7153D}" destId="{E5EB583C-49D6-4AAA-8F80-F44A7EDE8911}" srcOrd="2" destOrd="0" presId="urn:microsoft.com/office/officeart/2008/layout/HalfCircleOrganizationChart"/>
    <dgm:cxn modelId="{29A508D6-4C36-4492-962A-9F34061A835C}" type="presParOf" srcId="{92B80945-56C2-4B59-A423-0C8021D7153D}" destId="{AD685A14-1230-409D-972F-97CECC149672}" srcOrd="3" destOrd="0" presId="urn:microsoft.com/office/officeart/2008/layout/HalfCircleOrganizationChart"/>
    <dgm:cxn modelId="{FC4F737A-1D41-46E0-8EC6-07039EC3AA56}" type="presParOf" srcId="{AD685A14-1230-409D-972F-97CECC149672}" destId="{4746B777-A146-4D3D-A766-593CC31ED463}" srcOrd="0" destOrd="0" presId="urn:microsoft.com/office/officeart/2008/layout/HalfCircleOrganizationChart"/>
    <dgm:cxn modelId="{FA5B0C52-EF3C-49BB-9AEB-66DCB6A418DD}" type="presParOf" srcId="{4746B777-A146-4D3D-A766-593CC31ED463}" destId="{B76378A7-6522-4180-BF93-174E69018DAD}" srcOrd="0" destOrd="0" presId="urn:microsoft.com/office/officeart/2008/layout/HalfCircleOrganizationChart"/>
    <dgm:cxn modelId="{CDE5219A-4728-45FD-AEF7-A106C85EBCCA}" type="presParOf" srcId="{4746B777-A146-4D3D-A766-593CC31ED463}" destId="{8BB7EBF1-CE55-4420-B26E-C2C7D9D0CF7C}" srcOrd="1" destOrd="0" presId="urn:microsoft.com/office/officeart/2008/layout/HalfCircleOrganizationChart"/>
    <dgm:cxn modelId="{11EEAC6E-2CDC-417F-8BAA-95727BCDDFE9}" type="presParOf" srcId="{4746B777-A146-4D3D-A766-593CC31ED463}" destId="{93D39359-2884-43DF-90D6-E98001132CD1}" srcOrd="2" destOrd="0" presId="urn:microsoft.com/office/officeart/2008/layout/HalfCircleOrganizationChart"/>
    <dgm:cxn modelId="{602016CD-A10A-4E34-B57C-ABF531C77E35}" type="presParOf" srcId="{4746B777-A146-4D3D-A766-593CC31ED463}" destId="{2BD2ADBD-7E25-4753-918D-206C36EBF4B9}" srcOrd="3" destOrd="0" presId="urn:microsoft.com/office/officeart/2008/layout/HalfCircleOrganizationChart"/>
    <dgm:cxn modelId="{172EDD46-CB60-4950-800E-CA02434AFDA9}" type="presParOf" srcId="{AD685A14-1230-409D-972F-97CECC149672}" destId="{6248C97F-7BFD-49D6-8789-C54F9FB3724B}" srcOrd="1" destOrd="0" presId="urn:microsoft.com/office/officeart/2008/layout/HalfCircleOrganizationChart"/>
    <dgm:cxn modelId="{BA124280-54E8-4D33-9BB7-87118786EE19}" type="presParOf" srcId="{6248C97F-7BFD-49D6-8789-C54F9FB3724B}" destId="{834B22E6-D6F4-4B21-9D90-F4C62E118D39}" srcOrd="0" destOrd="0" presId="urn:microsoft.com/office/officeart/2008/layout/HalfCircleOrganizationChart"/>
    <dgm:cxn modelId="{6B93B367-B0C4-46D3-9D2F-2B45126159A4}" type="presParOf" srcId="{6248C97F-7BFD-49D6-8789-C54F9FB3724B}" destId="{CF298992-5DB8-4120-9AA1-9BE827178543}" srcOrd="1" destOrd="0" presId="urn:microsoft.com/office/officeart/2008/layout/HalfCircleOrganizationChart"/>
    <dgm:cxn modelId="{550A347E-DE48-4338-8DF4-1DE32BCE2BE8}" type="presParOf" srcId="{CF298992-5DB8-4120-9AA1-9BE827178543}" destId="{E695712D-DD0B-4060-8996-31C7DCE74774}" srcOrd="0" destOrd="0" presId="urn:microsoft.com/office/officeart/2008/layout/HalfCircleOrganizationChart"/>
    <dgm:cxn modelId="{F5ED9CE8-B8BE-42E2-ADB5-2116384E4675}" type="presParOf" srcId="{E695712D-DD0B-4060-8996-31C7DCE74774}" destId="{19117C08-9228-4BBD-A5CE-6DF257D25C1A}" srcOrd="0" destOrd="0" presId="urn:microsoft.com/office/officeart/2008/layout/HalfCircleOrganizationChart"/>
    <dgm:cxn modelId="{621B26B7-83C6-4B0D-8AEC-1656F8E4038A}" type="presParOf" srcId="{E695712D-DD0B-4060-8996-31C7DCE74774}" destId="{1690501C-E8D6-49B2-85BB-57F0210B4B8B}" srcOrd="1" destOrd="0" presId="urn:microsoft.com/office/officeart/2008/layout/HalfCircleOrganizationChart"/>
    <dgm:cxn modelId="{BDD48C5B-3488-43B5-8B58-02E41940E723}" type="presParOf" srcId="{E695712D-DD0B-4060-8996-31C7DCE74774}" destId="{5FC03BEC-B500-4C44-812D-FE34E9859875}" srcOrd="2" destOrd="0" presId="urn:microsoft.com/office/officeart/2008/layout/HalfCircleOrganizationChart"/>
    <dgm:cxn modelId="{549DA466-1472-41FD-8586-7D44374BC3EC}" type="presParOf" srcId="{E695712D-DD0B-4060-8996-31C7DCE74774}" destId="{664DFF92-B07B-4B64-85A9-FD49A22FD2DB}" srcOrd="3" destOrd="0" presId="urn:microsoft.com/office/officeart/2008/layout/HalfCircleOrganizationChart"/>
    <dgm:cxn modelId="{CA82332B-3BE9-42B2-BEF8-2714F5786C2E}" type="presParOf" srcId="{CF298992-5DB8-4120-9AA1-9BE827178543}" destId="{143C1458-5E09-4A92-9311-59095D5960CD}" srcOrd="1" destOrd="0" presId="urn:microsoft.com/office/officeart/2008/layout/HalfCircleOrganizationChart"/>
    <dgm:cxn modelId="{D3D6F89C-539A-41B7-AFDF-CD0EE3080977}" type="presParOf" srcId="{CF298992-5DB8-4120-9AA1-9BE827178543}" destId="{478905BE-4EDA-4043-B9EF-D7E1B8B60441}" srcOrd="2" destOrd="0" presId="urn:microsoft.com/office/officeart/2008/layout/HalfCircleOrganizationChart"/>
    <dgm:cxn modelId="{C6F1FA6D-D670-401E-A54B-75D54AE29935}" type="presParOf" srcId="{6248C97F-7BFD-49D6-8789-C54F9FB3724B}" destId="{7CE0318F-3946-4746-82F2-5A2EE7ABBA4B}" srcOrd="2" destOrd="0" presId="urn:microsoft.com/office/officeart/2008/layout/HalfCircleOrganizationChart"/>
    <dgm:cxn modelId="{761BD6EC-ADBA-4D0D-9FC1-FA51D353BCCB}" type="presParOf" srcId="{6248C97F-7BFD-49D6-8789-C54F9FB3724B}" destId="{C7C757FF-1C96-4C21-AD8F-6359F0808A5F}" srcOrd="3" destOrd="0" presId="urn:microsoft.com/office/officeart/2008/layout/HalfCircleOrganizationChart"/>
    <dgm:cxn modelId="{30FD42F3-6D70-48C9-A765-D05255EB025E}" type="presParOf" srcId="{C7C757FF-1C96-4C21-AD8F-6359F0808A5F}" destId="{CBC749DB-AE99-42B7-A16D-FBE222F6955C}" srcOrd="0" destOrd="0" presId="urn:microsoft.com/office/officeart/2008/layout/HalfCircleOrganizationChart"/>
    <dgm:cxn modelId="{F984FA1C-38B1-4D10-B4D3-98FF0E4DE4D9}" type="presParOf" srcId="{CBC749DB-AE99-42B7-A16D-FBE222F6955C}" destId="{B92E7CBE-DB2F-4FDF-943D-767CA75C5589}" srcOrd="0" destOrd="0" presId="urn:microsoft.com/office/officeart/2008/layout/HalfCircleOrganizationChart"/>
    <dgm:cxn modelId="{82318063-7266-47F8-81A0-8C2600F003F5}" type="presParOf" srcId="{CBC749DB-AE99-42B7-A16D-FBE222F6955C}" destId="{92CA8F71-BC3A-4DB9-AA86-10A1039B3F7C}" srcOrd="1" destOrd="0" presId="urn:microsoft.com/office/officeart/2008/layout/HalfCircleOrganizationChart"/>
    <dgm:cxn modelId="{6DF7AE5E-AA38-4E19-80C8-7BD945AD9C24}" type="presParOf" srcId="{CBC749DB-AE99-42B7-A16D-FBE222F6955C}" destId="{CBE0818C-969F-406B-9FB2-347378B4790E}" srcOrd="2" destOrd="0" presId="urn:microsoft.com/office/officeart/2008/layout/HalfCircleOrganizationChart"/>
    <dgm:cxn modelId="{DD74E9FD-F953-47B9-9F41-A37A827C2B35}" type="presParOf" srcId="{CBC749DB-AE99-42B7-A16D-FBE222F6955C}" destId="{ADAB3E77-6386-410F-AD16-5ACC4DB7EC61}" srcOrd="3" destOrd="0" presId="urn:microsoft.com/office/officeart/2008/layout/HalfCircleOrganizationChart"/>
    <dgm:cxn modelId="{E9402201-51B6-4FA1-89BC-43AF46120E7A}" type="presParOf" srcId="{C7C757FF-1C96-4C21-AD8F-6359F0808A5F}" destId="{5BADA574-5855-4AE6-861C-C70060B54637}" srcOrd="1" destOrd="0" presId="urn:microsoft.com/office/officeart/2008/layout/HalfCircleOrganizationChart"/>
    <dgm:cxn modelId="{CBF43793-2486-499A-B2E1-F37C7BA1B0D3}" type="presParOf" srcId="{C7C757FF-1C96-4C21-AD8F-6359F0808A5F}" destId="{6E3573EB-B95D-4D4E-8E1E-16573BB33B06}" srcOrd="2" destOrd="0" presId="urn:microsoft.com/office/officeart/2008/layout/HalfCircleOrganizationChart"/>
    <dgm:cxn modelId="{834BA11C-0563-4107-B168-6EBA9E44F415}" type="presParOf" srcId="{6248C97F-7BFD-49D6-8789-C54F9FB3724B}" destId="{2B85A2D4-D9E8-41FB-A61B-340A0D4DF7F7}" srcOrd="4" destOrd="0" presId="urn:microsoft.com/office/officeart/2008/layout/HalfCircleOrganizationChart"/>
    <dgm:cxn modelId="{1EE2EB02-72C6-4B8F-BE5D-61886AF8C627}" type="presParOf" srcId="{6248C97F-7BFD-49D6-8789-C54F9FB3724B}" destId="{6AA785B6-7811-4DCC-9EB7-9FBFA7BF807A}" srcOrd="5" destOrd="0" presId="urn:microsoft.com/office/officeart/2008/layout/HalfCircleOrganizationChart"/>
    <dgm:cxn modelId="{03E6749E-547C-426D-B63D-B41DD5CFA4BB}" type="presParOf" srcId="{6AA785B6-7811-4DCC-9EB7-9FBFA7BF807A}" destId="{8D5CEEFA-31E8-4B48-B4CA-F5D2FB6A2A62}" srcOrd="0" destOrd="0" presId="urn:microsoft.com/office/officeart/2008/layout/HalfCircleOrganizationChart"/>
    <dgm:cxn modelId="{454D9748-E092-4178-99AE-4C75EBFE25F0}" type="presParOf" srcId="{8D5CEEFA-31E8-4B48-B4CA-F5D2FB6A2A62}" destId="{448380CB-9B45-4A51-8676-726E192949AE}" srcOrd="0" destOrd="0" presId="urn:microsoft.com/office/officeart/2008/layout/HalfCircleOrganizationChart"/>
    <dgm:cxn modelId="{F9F43A42-F489-4CF4-B911-3483F1BA3592}" type="presParOf" srcId="{8D5CEEFA-31E8-4B48-B4CA-F5D2FB6A2A62}" destId="{C6B4503D-B8B7-4092-9E37-AEE73E9016A7}" srcOrd="1" destOrd="0" presId="urn:microsoft.com/office/officeart/2008/layout/HalfCircleOrganizationChart"/>
    <dgm:cxn modelId="{B08AF167-B073-4998-8715-083D9731CA47}" type="presParOf" srcId="{8D5CEEFA-31E8-4B48-B4CA-F5D2FB6A2A62}" destId="{42205FAD-25FA-4AE0-B2A5-BE196EA16F1A}" srcOrd="2" destOrd="0" presId="urn:microsoft.com/office/officeart/2008/layout/HalfCircleOrganizationChart"/>
    <dgm:cxn modelId="{4D8E2E30-8738-4B94-B82D-8A261F4FAA36}" type="presParOf" srcId="{8D5CEEFA-31E8-4B48-B4CA-F5D2FB6A2A62}" destId="{17E5CD47-1FFA-4C28-8770-4099D2D7CE5D}" srcOrd="3" destOrd="0" presId="urn:microsoft.com/office/officeart/2008/layout/HalfCircleOrganizationChart"/>
    <dgm:cxn modelId="{DD1C2B47-2E67-4B05-8B71-B95977CD7092}" type="presParOf" srcId="{6AA785B6-7811-4DCC-9EB7-9FBFA7BF807A}" destId="{01B20FC7-920A-4187-92B3-DDDD58F39830}" srcOrd="1" destOrd="0" presId="urn:microsoft.com/office/officeart/2008/layout/HalfCircleOrganizationChart"/>
    <dgm:cxn modelId="{9BA1E306-9B35-4832-A65D-8473E8B10203}" type="presParOf" srcId="{6AA785B6-7811-4DCC-9EB7-9FBFA7BF807A}" destId="{50527049-5F6E-4D3A-BDB7-82A22BCB6485}" srcOrd="2" destOrd="0" presId="urn:microsoft.com/office/officeart/2008/layout/HalfCircleOrganizationChart"/>
    <dgm:cxn modelId="{ADB33255-B6CE-4642-97D6-CD51806553B4}" type="presParOf" srcId="{AD685A14-1230-409D-972F-97CECC149672}" destId="{10F0B364-1DAE-40D0-8438-0BC06CCFC9CF}" srcOrd="2" destOrd="0" presId="urn:microsoft.com/office/officeart/2008/layout/HalfCircleOrganizationChart"/>
    <dgm:cxn modelId="{B6AE32CC-601C-4218-86B1-F6F90D10275D}" type="presParOf" srcId="{3C913D0D-2599-4E9E-9FE7-5B7735FEFA01}" destId="{096DF439-364D-4A77-9DA7-1B0491E8D7F4}" srcOrd="2" destOrd="0" presId="urn:microsoft.com/office/officeart/2008/layout/HalfCircleOrganizationChart"/>
    <dgm:cxn modelId="{E3183B37-E552-4BC1-A1AB-B677570126CC}" type="presParOf" srcId="{29B5E33B-AD6E-42EB-9F20-89D6ADEF1AC8}" destId="{8C5E8DB8-4028-4FC2-B8B8-C3EA83BE97A6}" srcOrd="6" destOrd="0" presId="urn:microsoft.com/office/officeart/2008/layout/HalfCircleOrganizationChart"/>
    <dgm:cxn modelId="{06123BB0-1F65-49F2-98D3-49C1D08E6DBA}" type="presParOf" srcId="{29B5E33B-AD6E-42EB-9F20-89D6ADEF1AC8}" destId="{5FEF6E52-C403-456B-9EB1-64AFC209C07F}" srcOrd="7" destOrd="0" presId="urn:microsoft.com/office/officeart/2008/layout/HalfCircleOrganizationChart"/>
    <dgm:cxn modelId="{829ED129-041A-47C6-BAF7-AA392A756164}" type="presParOf" srcId="{5FEF6E52-C403-456B-9EB1-64AFC209C07F}" destId="{1832B801-ED7B-47F4-9168-FED85C2D8DC8}" srcOrd="0" destOrd="0" presId="urn:microsoft.com/office/officeart/2008/layout/HalfCircleOrganizationChart"/>
    <dgm:cxn modelId="{B64477EF-9FCB-4A18-92F9-570C50A70D79}" type="presParOf" srcId="{1832B801-ED7B-47F4-9168-FED85C2D8DC8}" destId="{EDD6D62D-6109-4B7F-B497-EAB993035625}" srcOrd="0" destOrd="0" presId="urn:microsoft.com/office/officeart/2008/layout/HalfCircleOrganizationChart"/>
    <dgm:cxn modelId="{08BBC834-9C7E-45E5-A19A-B104219789B4}" type="presParOf" srcId="{1832B801-ED7B-47F4-9168-FED85C2D8DC8}" destId="{9CD807E5-F92C-492E-97EA-4B51F657A209}" srcOrd="1" destOrd="0" presId="urn:microsoft.com/office/officeart/2008/layout/HalfCircleOrganizationChart"/>
    <dgm:cxn modelId="{91C22939-0EEC-4EA2-AC9A-81D6A08AF6D4}" type="presParOf" srcId="{1832B801-ED7B-47F4-9168-FED85C2D8DC8}" destId="{0A00E5AA-5B56-400D-8527-317DFD0C8F83}" srcOrd="2" destOrd="0" presId="urn:microsoft.com/office/officeart/2008/layout/HalfCircleOrganizationChart"/>
    <dgm:cxn modelId="{2E34FBA3-282F-4150-9A01-FA92CBED120B}" type="presParOf" srcId="{1832B801-ED7B-47F4-9168-FED85C2D8DC8}" destId="{96E7712E-2188-49A5-8713-BE019DFF1A76}" srcOrd="3" destOrd="0" presId="urn:microsoft.com/office/officeart/2008/layout/HalfCircleOrganizationChart"/>
    <dgm:cxn modelId="{B5582448-335D-4C93-AA2A-F3042CC9E34F}" type="presParOf" srcId="{5FEF6E52-C403-456B-9EB1-64AFC209C07F}" destId="{EBF6366C-6A86-4505-B954-2BFF0FCF9823}" srcOrd="1" destOrd="0" presId="urn:microsoft.com/office/officeart/2008/layout/HalfCircleOrganizationChart"/>
    <dgm:cxn modelId="{98D43F83-6D94-4F65-9746-011238E9A024}" type="presParOf" srcId="{5FEF6E52-C403-456B-9EB1-64AFC209C07F}" destId="{E6948E58-0D92-471F-949F-CE28CAA29C00}" srcOrd="2" destOrd="0" presId="urn:microsoft.com/office/officeart/2008/layout/HalfCircleOrganizationChart"/>
    <dgm:cxn modelId="{9B903654-8DB2-4EFF-AD06-214E297F3B6A}" type="presParOf" srcId="{4E4E500C-1CB9-45CB-891D-24C83097E6B0}" destId="{1E9887E8-1F93-4A43-8641-BB7F005BE9DD}" srcOrd="2" destOrd="0" presId="urn:microsoft.com/office/officeart/2008/layout/HalfCircleOrganizationChar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C5E8DB8-4028-4FC2-B8B8-C3EA83BE97A6}">
      <dsp:nvSpPr>
        <dsp:cNvPr id="0" name=""/>
        <dsp:cNvSpPr/>
      </dsp:nvSpPr>
      <dsp:spPr>
        <a:xfrm>
          <a:off x="4541360" y="681905"/>
          <a:ext cx="3326141" cy="285973"/>
        </a:xfrm>
        <a:custGeom>
          <a:avLst/>
          <a:gdLst/>
          <a:ahLst/>
          <a:cxnLst/>
          <a:rect l="0" t="0" r="0" b="0"/>
          <a:pathLst>
            <a:path>
              <a:moveTo>
                <a:pt x="0" y="0"/>
              </a:moveTo>
              <a:lnTo>
                <a:pt x="0" y="142986"/>
              </a:lnTo>
              <a:lnTo>
                <a:pt x="3326141" y="142986"/>
              </a:lnTo>
              <a:lnTo>
                <a:pt x="3326141" y="28597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85A2D4-D9E8-41FB-A61B-340A0D4DF7F7}">
      <dsp:nvSpPr>
        <dsp:cNvPr id="0" name=""/>
        <dsp:cNvSpPr/>
      </dsp:nvSpPr>
      <dsp:spPr>
        <a:xfrm>
          <a:off x="5751448" y="2615629"/>
          <a:ext cx="1292176" cy="1056612"/>
        </a:xfrm>
        <a:custGeom>
          <a:avLst/>
          <a:gdLst/>
          <a:ahLst/>
          <a:cxnLst/>
          <a:rect l="0" t="0" r="0" b="0"/>
          <a:pathLst>
            <a:path>
              <a:moveTo>
                <a:pt x="1292176" y="0"/>
              </a:moveTo>
              <a:lnTo>
                <a:pt x="1292176" y="1056612"/>
              </a:lnTo>
              <a:lnTo>
                <a:pt x="0" y="105661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E0318F-3946-4746-82F2-5A2EE7ABBA4B}">
      <dsp:nvSpPr>
        <dsp:cNvPr id="0" name=""/>
        <dsp:cNvSpPr/>
      </dsp:nvSpPr>
      <dsp:spPr>
        <a:xfrm>
          <a:off x="7043625" y="2615629"/>
          <a:ext cx="651433" cy="1056612"/>
        </a:xfrm>
        <a:custGeom>
          <a:avLst/>
          <a:gdLst/>
          <a:ahLst/>
          <a:cxnLst/>
          <a:rect l="0" t="0" r="0" b="0"/>
          <a:pathLst>
            <a:path>
              <a:moveTo>
                <a:pt x="0" y="0"/>
              </a:moveTo>
              <a:lnTo>
                <a:pt x="0" y="1056612"/>
              </a:lnTo>
              <a:lnTo>
                <a:pt x="651433" y="105661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4B22E6-D6F4-4B21-9D90-F4C62E118D39}">
      <dsp:nvSpPr>
        <dsp:cNvPr id="0" name=""/>
        <dsp:cNvSpPr/>
      </dsp:nvSpPr>
      <dsp:spPr>
        <a:xfrm>
          <a:off x="6957787" y="2615629"/>
          <a:ext cx="91440" cy="1287339"/>
        </a:xfrm>
        <a:custGeom>
          <a:avLst/>
          <a:gdLst/>
          <a:ahLst/>
          <a:cxnLst/>
          <a:rect l="0" t="0" r="0" b="0"/>
          <a:pathLst>
            <a:path>
              <a:moveTo>
                <a:pt x="85837" y="0"/>
              </a:moveTo>
              <a:lnTo>
                <a:pt x="85837" y="1287339"/>
              </a:lnTo>
              <a:lnTo>
                <a:pt x="45720" y="128733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EB583C-49D6-4AAA-8F80-F44A7EDE8911}">
      <dsp:nvSpPr>
        <dsp:cNvPr id="0" name=""/>
        <dsp:cNvSpPr/>
      </dsp:nvSpPr>
      <dsp:spPr>
        <a:xfrm>
          <a:off x="6219750" y="1648767"/>
          <a:ext cx="823875" cy="285973"/>
        </a:xfrm>
        <a:custGeom>
          <a:avLst/>
          <a:gdLst/>
          <a:ahLst/>
          <a:cxnLst/>
          <a:rect l="0" t="0" r="0" b="0"/>
          <a:pathLst>
            <a:path>
              <a:moveTo>
                <a:pt x="0" y="0"/>
              </a:moveTo>
              <a:lnTo>
                <a:pt x="0" y="142986"/>
              </a:lnTo>
              <a:lnTo>
                <a:pt x="823875" y="142986"/>
              </a:lnTo>
              <a:lnTo>
                <a:pt x="823875" y="28597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E9E717E-1CEA-4DE0-8DF1-7054C62AA191}">
      <dsp:nvSpPr>
        <dsp:cNvPr id="0" name=""/>
        <dsp:cNvSpPr/>
      </dsp:nvSpPr>
      <dsp:spPr>
        <a:xfrm>
          <a:off x="5395875" y="1648767"/>
          <a:ext cx="823875" cy="285973"/>
        </a:xfrm>
        <a:custGeom>
          <a:avLst/>
          <a:gdLst/>
          <a:ahLst/>
          <a:cxnLst/>
          <a:rect l="0" t="0" r="0" b="0"/>
          <a:pathLst>
            <a:path>
              <a:moveTo>
                <a:pt x="823875" y="0"/>
              </a:moveTo>
              <a:lnTo>
                <a:pt x="823875" y="142986"/>
              </a:lnTo>
              <a:lnTo>
                <a:pt x="0" y="142986"/>
              </a:lnTo>
              <a:lnTo>
                <a:pt x="0" y="28597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A8B71F-A1F3-4F29-9257-A6DE20CA80B8}">
      <dsp:nvSpPr>
        <dsp:cNvPr id="0" name=""/>
        <dsp:cNvSpPr/>
      </dsp:nvSpPr>
      <dsp:spPr>
        <a:xfrm>
          <a:off x="4541360" y="681905"/>
          <a:ext cx="1678390" cy="285973"/>
        </a:xfrm>
        <a:custGeom>
          <a:avLst/>
          <a:gdLst/>
          <a:ahLst/>
          <a:cxnLst/>
          <a:rect l="0" t="0" r="0" b="0"/>
          <a:pathLst>
            <a:path>
              <a:moveTo>
                <a:pt x="0" y="0"/>
              </a:moveTo>
              <a:lnTo>
                <a:pt x="0" y="142986"/>
              </a:lnTo>
              <a:lnTo>
                <a:pt x="1678390" y="142986"/>
              </a:lnTo>
              <a:lnTo>
                <a:pt x="1678390" y="28597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F26CFD2-CCD8-4B10-98BA-B2C317BBA7EB}">
      <dsp:nvSpPr>
        <dsp:cNvPr id="0" name=""/>
        <dsp:cNvSpPr/>
      </dsp:nvSpPr>
      <dsp:spPr>
        <a:xfrm>
          <a:off x="2862969" y="1648767"/>
          <a:ext cx="626417" cy="408533"/>
        </a:xfrm>
        <a:custGeom>
          <a:avLst/>
          <a:gdLst/>
          <a:ahLst/>
          <a:cxnLst/>
          <a:rect l="0" t="0" r="0" b="0"/>
          <a:pathLst>
            <a:path>
              <a:moveTo>
                <a:pt x="0" y="0"/>
              </a:moveTo>
              <a:lnTo>
                <a:pt x="0" y="408533"/>
              </a:lnTo>
              <a:lnTo>
                <a:pt x="626417" y="40853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D539BB-6F5D-4666-A93C-857A5D8ABD84}">
      <dsp:nvSpPr>
        <dsp:cNvPr id="0" name=""/>
        <dsp:cNvSpPr/>
      </dsp:nvSpPr>
      <dsp:spPr>
        <a:xfrm>
          <a:off x="2862969" y="681905"/>
          <a:ext cx="1678390" cy="285973"/>
        </a:xfrm>
        <a:custGeom>
          <a:avLst/>
          <a:gdLst/>
          <a:ahLst/>
          <a:cxnLst/>
          <a:rect l="0" t="0" r="0" b="0"/>
          <a:pathLst>
            <a:path>
              <a:moveTo>
                <a:pt x="1678390" y="0"/>
              </a:moveTo>
              <a:lnTo>
                <a:pt x="1678390" y="142986"/>
              </a:lnTo>
              <a:lnTo>
                <a:pt x="0" y="142986"/>
              </a:lnTo>
              <a:lnTo>
                <a:pt x="0" y="28597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E69672-3C78-434C-9FE1-B3A9512E929E}">
      <dsp:nvSpPr>
        <dsp:cNvPr id="0" name=""/>
        <dsp:cNvSpPr/>
      </dsp:nvSpPr>
      <dsp:spPr>
        <a:xfrm>
          <a:off x="1215218" y="681905"/>
          <a:ext cx="3326141" cy="285973"/>
        </a:xfrm>
        <a:custGeom>
          <a:avLst/>
          <a:gdLst/>
          <a:ahLst/>
          <a:cxnLst/>
          <a:rect l="0" t="0" r="0" b="0"/>
          <a:pathLst>
            <a:path>
              <a:moveTo>
                <a:pt x="3326141" y="0"/>
              </a:moveTo>
              <a:lnTo>
                <a:pt x="3326141" y="142986"/>
              </a:lnTo>
              <a:lnTo>
                <a:pt x="0" y="142986"/>
              </a:lnTo>
              <a:lnTo>
                <a:pt x="0" y="28597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26B92A-253C-49EE-BD5C-218AA43EF157}">
      <dsp:nvSpPr>
        <dsp:cNvPr id="0" name=""/>
        <dsp:cNvSpPr/>
      </dsp:nvSpPr>
      <dsp:spPr>
        <a:xfrm>
          <a:off x="4200915" y="1016"/>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92B716-B506-417E-86B2-C8A2F5F1BC26}">
      <dsp:nvSpPr>
        <dsp:cNvPr id="0" name=""/>
        <dsp:cNvSpPr/>
      </dsp:nvSpPr>
      <dsp:spPr>
        <a:xfrm>
          <a:off x="4200915" y="1016"/>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02FCEF-7CC7-42F9-9094-3491580E3CF0}">
      <dsp:nvSpPr>
        <dsp:cNvPr id="0" name=""/>
        <dsp:cNvSpPr/>
      </dsp:nvSpPr>
      <dsp:spPr>
        <a:xfrm>
          <a:off x="3860471" y="123576"/>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Macro</a:t>
          </a:r>
          <a:r>
            <a:rPr lang="en-GB" sz="1500" kern="1200" dirty="0" smtClean="0"/>
            <a:t> </a:t>
          </a:r>
          <a:r>
            <a:rPr lang="en-GB" sz="1500" kern="1200" dirty="0" smtClean="0">
              <a:solidFill>
                <a:srgbClr val="123D68"/>
              </a:solidFill>
            </a:rPr>
            <a:t>Models</a:t>
          </a:r>
        </a:p>
      </dsp:txBody>
      <dsp:txXfrm>
        <a:off x="3860471" y="123576"/>
        <a:ext cx="1361777" cy="435768"/>
      </dsp:txXfrm>
    </dsp:sp>
    <dsp:sp modelId="{59C2C7E9-C3B5-4AE7-A3DF-69624C1E9C0A}">
      <dsp:nvSpPr>
        <dsp:cNvPr id="0" name=""/>
        <dsp:cNvSpPr/>
      </dsp:nvSpPr>
      <dsp:spPr>
        <a:xfrm>
          <a:off x="874774" y="967878"/>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5C0BDB-4056-4DBE-AB60-888A0E2028DF}">
      <dsp:nvSpPr>
        <dsp:cNvPr id="0" name=""/>
        <dsp:cNvSpPr/>
      </dsp:nvSpPr>
      <dsp:spPr>
        <a:xfrm>
          <a:off x="874774" y="967878"/>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657A36-2C57-4492-A833-B1D247465DAA}">
      <dsp:nvSpPr>
        <dsp:cNvPr id="0" name=""/>
        <dsp:cNvSpPr/>
      </dsp:nvSpPr>
      <dsp:spPr>
        <a:xfrm>
          <a:off x="534330" y="1090438"/>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Input-output</a:t>
          </a:r>
          <a:endParaRPr lang="en-GB" sz="1500" kern="1200" dirty="0">
            <a:solidFill>
              <a:srgbClr val="123D68"/>
            </a:solidFill>
          </a:endParaRPr>
        </a:p>
      </dsp:txBody>
      <dsp:txXfrm>
        <a:off x="534330" y="1090438"/>
        <a:ext cx="1361777" cy="435768"/>
      </dsp:txXfrm>
    </dsp:sp>
    <dsp:sp modelId="{A5E1ADD0-62CB-4D59-9575-75392B02486E}">
      <dsp:nvSpPr>
        <dsp:cNvPr id="0" name=""/>
        <dsp:cNvSpPr/>
      </dsp:nvSpPr>
      <dsp:spPr>
        <a:xfrm>
          <a:off x="2522525" y="967878"/>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EDB6F1-F1AA-498A-A01F-5ADBBBF66E20}">
      <dsp:nvSpPr>
        <dsp:cNvPr id="0" name=""/>
        <dsp:cNvSpPr/>
      </dsp:nvSpPr>
      <dsp:spPr>
        <a:xfrm>
          <a:off x="2522525" y="967878"/>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D15747-4F58-42EF-9742-0B42DDFDACAA}">
      <dsp:nvSpPr>
        <dsp:cNvPr id="0" name=""/>
        <dsp:cNvSpPr/>
      </dsp:nvSpPr>
      <dsp:spPr>
        <a:xfrm>
          <a:off x="2182080" y="1090438"/>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CGE</a:t>
          </a:r>
          <a:endParaRPr lang="en-GB" sz="1500" kern="1200" dirty="0">
            <a:solidFill>
              <a:srgbClr val="123D68"/>
            </a:solidFill>
          </a:endParaRPr>
        </a:p>
      </dsp:txBody>
      <dsp:txXfrm>
        <a:off x="2182080" y="1090438"/>
        <a:ext cx="1361777" cy="435768"/>
      </dsp:txXfrm>
    </dsp:sp>
    <dsp:sp modelId="{92248A57-2D31-41D6-9356-5B5699FFF061}">
      <dsp:nvSpPr>
        <dsp:cNvPr id="0" name=""/>
        <dsp:cNvSpPr/>
      </dsp:nvSpPr>
      <dsp:spPr>
        <a:xfrm>
          <a:off x="3407680" y="1934740"/>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4153E4-6C32-4B00-B146-AE3A4707EDBD}">
      <dsp:nvSpPr>
        <dsp:cNvPr id="0" name=""/>
        <dsp:cNvSpPr/>
      </dsp:nvSpPr>
      <dsp:spPr>
        <a:xfrm>
          <a:off x="3407680" y="1934740"/>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1F2425-0F95-45EC-A11D-24ECA24BFF03}">
      <dsp:nvSpPr>
        <dsp:cNvPr id="0" name=""/>
        <dsp:cNvSpPr/>
      </dsp:nvSpPr>
      <dsp:spPr>
        <a:xfrm>
          <a:off x="3067236" y="2057300"/>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DSGE</a:t>
          </a:r>
          <a:endParaRPr lang="en-GB" sz="1500" kern="1200" dirty="0">
            <a:solidFill>
              <a:srgbClr val="123D68"/>
            </a:solidFill>
          </a:endParaRPr>
        </a:p>
      </dsp:txBody>
      <dsp:txXfrm>
        <a:off x="3067236" y="2057300"/>
        <a:ext cx="1361777" cy="435768"/>
      </dsp:txXfrm>
    </dsp:sp>
    <dsp:sp modelId="{8DF7E04A-A0C3-4BFE-8309-0DF54BAE4D95}">
      <dsp:nvSpPr>
        <dsp:cNvPr id="0" name=""/>
        <dsp:cNvSpPr/>
      </dsp:nvSpPr>
      <dsp:spPr>
        <a:xfrm>
          <a:off x="5879306" y="967878"/>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2DB012-21C7-4232-991F-79A37BFD9727}">
      <dsp:nvSpPr>
        <dsp:cNvPr id="0" name=""/>
        <dsp:cNvSpPr/>
      </dsp:nvSpPr>
      <dsp:spPr>
        <a:xfrm>
          <a:off x="5879306" y="967878"/>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981136-C5EA-4078-9318-59DC347D4DEE}">
      <dsp:nvSpPr>
        <dsp:cNvPr id="0" name=""/>
        <dsp:cNvSpPr/>
      </dsp:nvSpPr>
      <dsp:spPr>
        <a:xfrm>
          <a:off x="5538861" y="1090438"/>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Econometric</a:t>
          </a:r>
          <a:endParaRPr lang="en-GB" sz="1500" kern="1200" dirty="0">
            <a:solidFill>
              <a:srgbClr val="123D68"/>
            </a:solidFill>
          </a:endParaRPr>
        </a:p>
      </dsp:txBody>
      <dsp:txXfrm>
        <a:off x="5538861" y="1090438"/>
        <a:ext cx="1361777" cy="435768"/>
      </dsp:txXfrm>
    </dsp:sp>
    <dsp:sp modelId="{1AB9F498-6630-40A9-924B-2BB5F7253D0C}">
      <dsp:nvSpPr>
        <dsp:cNvPr id="0" name=""/>
        <dsp:cNvSpPr/>
      </dsp:nvSpPr>
      <dsp:spPr>
        <a:xfrm>
          <a:off x="5055430" y="1934740"/>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689B39-7E81-4947-8CD4-5AFDCB411685}">
      <dsp:nvSpPr>
        <dsp:cNvPr id="0" name=""/>
        <dsp:cNvSpPr/>
      </dsp:nvSpPr>
      <dsp:spPr>
        <a:xfrm>
          <a:off x="5055430" y="1934740"/>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795831-1544-49E3-9689-E2932AEA5A2B}">
      <dsp:nvSpPr>
        <dsp:cNvPr id="0" name=""/>
        <dsp:cNvSpPr/>
      </dsp:nvSpPr>
      <dsp:spPr>
        <a:xfrm>
          <a:off x="4714986" y="2057300"/>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SEMs</a:t>
          </a:r>
          <a:endParaRPr lang="en-GB" sz="1500" kern="1200" dirty="0">
            <a:solidFill>
              <a:srgbClr val="123D68"/>
            </a:solidFill>
          </a:endParaRPr>
        </a:p>
      </dsp:txBody>
      <dsp:txXfrm>
        <a:off x="4714986" y="2057300"/>
        <a:ext cx="1361777" cy="435768"/>
      </dsp:txXfrm>
    </dsp:sp>
    <dsp:sp modelId="{8BB7EBF1-CE55-4420-B26E-C2C7D9D0CF7C}">
      <dsp:nvSpPr>
        <dsp:cNvPr id="0" name=""/>
        <dsp:cNvSpPr/>
      </dsp:nvSpPr>
      <dsp:spPr>
        <a:xfrm>
          <a:off x="6703181" y="1934740"/>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D39359-2884-43DF-90D6-E98001132CD1}">
      <dsp:nvSpPr>
        <dsp:cNvPr id="0" name=""/>
        <dsp:cNvSpPr/>
      </dsp:nvSpPr>
      <dsp:spPr>
        <a:xfrm>
          <a:off x="6703181" y="1934740"/>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6378A7-6522-4180-BF93-174E69018DAD}">
      <dsp:nvSpPr>
        <dsp:cNvPr id="0" name=""/>
        <dsp:cNvSpPr/>
      </dsp:nvSpPr>
      <dsp:spPr>
        <a:xfrm>
          <a:off x="6362737" y="2057300"/>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VAR</a:t>
          </a:r>
          <a:endParaRPr lang="en-GB" sz="1500" kern="1200" dirty="0">
            <a:solidFill>
              <a:srgbClr val="123D68"/>
            </a:solidFill>
          </a:endParaRPr>
        </a:p>
      </dsp:txBody>
      <dsp:txXfrm>
        <a:off x="6362737" y="2057300"/>
        <a:ext cx="1361777" cy="435768"/>
      </dsp:txXfrm>
    </dsp:sp>
    <dsp:sp modelId="{1690501C-E8D6-49B2-85BB-57F0210B4B8B}">
      <dsp:nvSpPr>
        <dsp:cNvPr id="0" name=""/>
        <dsp:cNvSpPr/>
      </dsp:nvSpPr>
      <dsp:spPr>
        <a:xfrm>
          <a:off x="6404325" y="3780408"/>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C03BEC-B500-4C44-812D-FE34E9859875}">
      <dsp:nvSpPr>
        <dsp:cNvPr id="0" name=""/>
        <dsp:cNvSpPr/>
      </dsp:nvSpPr>
      <dsp:spPr>
        <a:xfrm>
          <a:off x="6404325" y="3780408"/>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117C08-9228-4BBD-A5CE-6DF257D25C1A}">
      <dsp:nvSpPr>
        <dsp:cNvPr id="0" name=""/>
        <dsp:cNvSpPr/>
      </dsp:nvSpPr>
      <dsp:spPr>
        <a:xfrm>
          <a:off x="6063881" y="3902968"/>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Unrestricted</a:t>
          </a:r>
          <a:r>
            <a:rPr lang="en-GB" sz="1500" kern="1200" dirty="0" smtClean="0"/>
            <a:t> </a:t>
          </a:r>
          <a:r>
            <a:rPr lang="en-GB" sz="1500" kern="1200" dirty="0" smtClean="0">
              <a:solidFill>
                <a:srgbClr val="123D68"/>
              </a:solidFill>
            </a:rPr>
            <a:t>VAR</a:t>
          </a:r>
          <a:endParaRPr lang="en-GB" sz="1500" kern="1200" dirty="0">
            <a:solidFill>
              <a:srgbClr val="123D68"/>
            </a:solidFill>
          </a:endParaRPr>
        </a:p>
      </dsp:txBody>
      <dsp:txXfrm>
        <a:off x="6063881" y="3902968"/>
        <a:ext cx="1361777" cy="435768"/>
      </dsp:txXfrm>
    </dsp:sp>
    <dsp:sp modelId="{92CA8F71-BC3A-4DB9-AA86-10A1039B3F7C}">
      <dsp:nvSpPr>
        <dsp:cNvPr id="0" name=""/>
        <dsp:cNvSpPr/>
      </dsp:nvSpPr>
      <dsp:spPr>
        <a:xfrm>
          <a:off x="7613352" y="3549682"/>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E0818C-969F-406B-9FB2-347378B4790E}">
      <dsp:nvSpPr>
        <dsp:cNvPr id="0" name=""/>
        <dsp:cNvSpPr/>
      </dsp:nvSpPr>
      <dsp:spPr>
        <a:xfrm>
          <a:off x="7613352" y="3549682"/>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2E7CBE-DB2F-4FDF-943D-767CA75C5589}">
      <dsp:nvSpPr>
        <dsp:cNvPr id="0" name=""/>
        <dsp:cNvSpPr/>
      </dsp:nvSpPr>
      <dsp:spPr>
        <a:xfrm>
          <a:off x="7272908" y="3672242"/>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SVAR</a:t>
          </a:r>
          <a:endParaRPr lang="en-GB" sz="1500" kern="1200" dirty="0">
            <a:solidFill>
              <a:srgbClr val="123D68"/>
            </a:solidFill>
          </a:endParaRPr>
        </a:p>
      </dsp:txBody>
      <dsp:txXfrm>
        <a:off x="7272908" y="3672242"/>
        <a:ext cx="1361777" cy="435768"/>
      </dsp:txXfrm>
    </dsp:sp>
    <dsp:sp modelId="{C6B4503D-B8B7-4092-9E37-AEE73E9016A7}">
      <dsp:nvSpPr>
        <dsp:cNvPr id="0" name=""/>
        <dsp:cNvSpPr/>
      </dsp:nvSpPr>
      <dsp:spPr>
        <a:xfrm>
          <a:off x="5152266" y="3549682"/>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205FAD-25FA-4AE0-B2A5-BE196EA16F1A}">
      <dsp:nvSpPr>
        <dsp:cNvPr id="0" name=""/>
        <dsp:cNvSpPr/>
      </dsp:nvSpPr>
      <dsp:spPr>
        <a:xfrm>
          <a:off x="5152266" y="3549682"/>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8380CB-9B45-4A51-8676-726E192949AE}">
      <dsp:nvSpPr>
        <dsp:cNvPr id="0" name=""/>
        <dsp:cNvSpPr/>
      </dsp:nvSpPr>
      <dsp:spPr>
        <a:xfrm>
          <a:off x="4811822" y="3672242"/>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err="1" smtClean="0">
              <a:solidFill>
                <a:srgbClr val="123D68"/>
              </a:solidFill>
            </a:rPr>
            <a:t>Cointergrating</a:t>
          </a:r>
          <a:r>
            <a:rPr lang="en-GB" sz="1500" kern="1200" dirty="0" smtClean="0">
              <a:solidFill>
                <a:srgbClr val="123D68"/>
              </a:solidFill>
            </a:rPr>
            <a:t> SVAR</a:t>
          </a:r>
          <a:endParaRPr lang="en-GB" sz="1500" kern="1200" dirty="0">
            <a:solidFill>
              <a:srgbClr val="123D68"/>
            </a:solidFill>
          </a:endParaRPr>
        </a:p>
      </dsp:txBody>
      <dsp:txXfrm>
        <a:off x="4811822" y="3672242"/>
        <a:ext cx="1361777" cy="435768"/>
      </dsp:txXfrm>
    </dsp:sp>
    <dsp:sp modelId="{9CD807E5-F92C-492E-97EA-4B51F657A209}">
      <dsp:nvSpPr>
        <dsp:cNvPr id="0" name=""/>
        <dsp:cNvSpPr/>
      </dsp:nvSpPr>
      <dsp:spPr>
        <a:xfrm>
          <a:off x="7527056" y="967878"/>
          <a:ext cx="680888" cy="680888"/>
        </a:xfrm>
        <a:prstGeom prst="arc">
          <a:avLst>
            <a:gd name="adj1" fmla="val 13200000"/>
            <a:gd name="adj2" fmla="val 192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00E5AA-5B56-400D-8527-317DFD0C8F83}">
      <dsp:nvSpPr>
        <dsp:cNvPr id="0" name=""/>
        <dsp:cNvSpPr/>
      </dsp:nvSpPr>
      <dsp:spPr>
        <a:xfrm>
          <a:off x="7527056" y="967878"/>
          <a:ext cx="680888" cy="680888"/>
        </a:xfrm>
        <a:prstGeom prst="arc">
          <a:avLst>
            <a:gd name="adj1" fmla="val 2400000"/>
            <a:gd name="adj2" fmla="val 840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6D62D-6109-4B7F-B497-EAB993035625}">
      <dsp:nvSpPr>
        <dsp:cNvPr id="0" name=""/>
        <dsp:cNvSpPr/>
      </dsp:nvSpPr>
      <dsp:spPr>
        <a:xfrm>
          <a:off x="7186612" y="1090438"/>
          <a:ext cx="1361777" cy="43576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GB" sz="1500" kern="1200" dirty="0" smtClean="0">
              <a:solidFill>
                <a:srgbClr val="123D68"/>
              </a:solidFill>
            </a:rPr>
            <a:t>RBC</a:t>
          </a:r>
          <a:endParaRPr lang="en-GB" sz="1500" kern="1200" dirty="0">
            <a:solidFill>
              <a:srgbClr val="123D68"/>
            </a:solidFill>
          </a:endParaRPr>
        </a:p>
      </dsp:txBody>
      <dsp:txXfrm>
        <a:off x="7186612" y="1090438"/>
        <a:ext cx="1361777" cy="435768"/>
      </dsp:txXfrm>
    </dsp:sp>
  </dsp:spTree>
</dsp:drawing>
</file>

<file path=ppt/diagrams/layout1.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3070225" cy="511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t" anchorCtr="0" compatLnSpc="1">
            <a:prstTxWarp prst="textNoShape">
              <a:avLst/>
            </a:prstTxWarp>
          </a:bodyPr>
          <a:lstStyle>
            <a:lvl1pPr defTabSz="989013">
              <a:defRPr sz="1300" b="1" smtClean="0"/>
            </a:lvl1pPr>
          </a:lstStyle>
          <a:p>
            <a:pPr>
              <a:defRPr/>
            </a:pPr>
            <a:endParaRPr lang="en-GB"/>
          </a:p>
        </p:txBody>
      </p:sp>
      <p:sp>
        <p:nvSpPr>
          <p:cNvPr id="57347" name="Rectangle 3"/>
          <p:cNvSpPr>
            <a:spLocks noGrp="1" noChangeArrowheads="1"/>
          </p:cNvSpPr>
          <p:nvPr>
            <p:ph type="dt" sz="quarter" idx="1"/>
          </p:nvPr>
        </p:nvSpPr>
        <p:spPr bwMode="auto">
          <a:xfrm>
            <a:off x="4016375" y="0"/>
            <a:ext cx="3070225" cy="511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t" anchorCtr="0" compatLnSpc="1">
            <a:prstTxWarp prst="textNoShape">
              <a:avLst/>
            </a:prstTxWarp>
          </a:bodyPr>
          <a:lstStyle>
            <a:lvl1pPr algn="r" defTabSz="989013">
              <a:defRPr sz="1300" b="1" smtClean="0"/>
            </a:lvl1pPr>
          </a:lstStyle>
          <a:p>
            <a:pPr>
              <a:defRPr/>
            </a:pPr>
            <a:endParaRPr lang="en-GB"/>
          </a:p>
        </p:txBody>
      </p:sp>
      <p:sp>
        <p:nvSpPr>
          <p:cNvPr id="57348" name="Rectangle 4"/>
          <p:cNvSpPr>
            <a:spLocks noGrp="1" noChangeArrowheads="1"/>
          </p:cNvSpPr>
          <p:nvPr>
            <p:ph type="ftr" sz="quarter" idx="2"/>
          </p:nvPr>
        </p:nvSpPr>
        <p:spPr bwMode="auto">
          <a:xfrm>
            <a:off x="0" y="9712325"/>
            <a:ext cx="3070225" cy="511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b" anchorCtr="0" compatLnSpc="1">
            <a:prstTxWarp prst="textNoShape">
              <a:avLst/>
            </a:prstTxWarp>
          </a:bodyPr>
          <a:lstStyle>
            <a:lvl1pPr defTabSz="989013">
              <a:defRPr sz="1300" b="1" smtClean="0"/>
            </a:lvl1pPr>
          </a:lstStyle>
          <a:p>
            <a:pPr>
              <a:defRPr/>
            </a:pPr>
            <a:endParaRPr lang="en-GB"/>
          </a:p>
        </p:txBody>
      </p:sp>
      <p:sp>
        <p:nvSpPr>
          <p:cNvPr id="57349" name="Rectangle 5"/>
          <p:cNvSpPr>
            <a:spLocks noGrp="1" noChangeArrowheads="1"/>
          </p:cNvSpPr>
          <p:nvPr>
            <p:ph type="sldNum" sz="quarter" idx="3"/>
          </p:nvPr>
        </p:nvSpPr>
        <p:spPr bwMode="auto">
          <a:xfrm>
            <a:off x="4016375" y="9712325"/>
            <a:ext cx="3070225" cy="511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b" anchorCtr="0" compatLnSpc="1">
            <a:prstTxWarp prst="textNoShape">
              <a:avLst/>
            </a:prstTxWarp>
          </a:bodyPr>
          <a:lstStyle>
            <a:lvl1pPr algn="r" defTabSz="989013">
              <a:defRPr sz="1300" b="1" smtClean="0"/>
            </a:lvl1pPr>
          </a:lstStyle>
          <a:p>
            <a:pPr>
              <a:defRPr/>
            </a:pPr>
            <a:fld id="{63501519-E15A-46A4-BC44-1DB72EACBF09}" type="slidenum">
              <a:rPr lang="en-GB"/>
              <a:pPr>
                <a:defRPr/>
              </a:pPr>
              <a:t>‹#›</a:t>
            </a:fld>
            <a:endParaRPr lang="en-GB"/>
          </a:p>
        </p:txBody>
      </p:sp>
    </p:spTree>
    <p:extLst>
      <p:ext uri="{BB962C8B-B14F-4D97-AF65-F5344CB8AC3E}">
        <p14:creationId xmlns:p14="http://schemas.microsoft.com/office/powerpoint/2010/main" xmlns="" val="2400533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70225" cy="511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t" anchorCtr="0" compatLnSpc="1">
            <a:prstTxWarp prst="textNoShape">
              <a:avLst/>
            </a:prstTxWarp>
          </a:bodyPr>
          <a:lstStyle>
            <a:lvl1pPr defTabSz="989013">
              <a:spcBef>
                <a:spcPct val="0"/>
              </a:spcBef>
              <a:defRPr sz="1300" smtClean="0"/>
            </a:lvl1pPr>
          </a:lstStyle>
          <a:p>
            <a:pPr>
              <a:defRPr/>
            </a:pPr>
            <a:endParaRPr lang="en-GB"/>
          </a:p>
        </p:txBody>
      </p:sp>
      <p:sp>
        <p:nvSpPr>
          <p:cNvPr id="46083" name="Rectangle 3"/>
          <p:cNvSpPr>
            <a:spLocks noGrp="1" noChangeArrowheads="1"/>
          </p:cNvSpPr>
          <p:nvPr>
            <p:ph type="dt" idx="1"/>
          </p:nvPr>
        </p:nvSpPr>
        <p:spPr bwMode="auto">
          <a:xfrm>
            <a:off x="4014788" y="0"/>
            <a:ext cx="3070225" cy="511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t" anchorCtr="0" compatLnSpc="1">
            <a:prstTxWarp prst="textNoShape">
              <a:avLst/>
            </a:prstTxWarp>
          </a:bodyPr>
          <a:lstStyle>
            <a:lvl1pPr algn="r" defTabSz="989013">
              <a:spcBef>
                <a:spcPct val="0"/>
              </a:spcBef>
              <a:defRPr sz="1300" smtClean="0"/>
            </a:lvl1pPr>
          </a:lstStyle>
          <a:p>
            <a:pPr>
              <a:defRPr/>
            </a:pPr>
            <a:endParaRPr lang="en-GB"/>
          </a:p>
        </p:txBody>
      </p:sp>
      <p:sp>
        <p:nvSpPr>
          <p:cNvPr id="10244" name="Rectangle 4"/>
          <p:cNvSpPr>
            <a:spLocks noGrp="1" noRot="1" noChangeAspect="1" noChangeArrowheads="1" noTextEdit="1"/>
          </p:cNvSpPr>
          <p:nvPr>
            <p:ph type="sldImg" idx="2"/>
          </p:nvPr>
        </p:nvSpPr>
        <p:spPr bwMode="auto">
          <a:xfrm>
            <a:off x="987425" y="766763"/>
            <a:ext cx="5111750" cy="3833812"/>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46085" name="Rectangle 5"/>
          <p:cNvSpPr>
            <a:spLocks noGrp="1" noChangeArrowheads="1"/>
          </p:cNvSpPr>
          <p:nvPr>
            <p:ph type="body" sz="quarter" idx="3"/>
          </p:nvPr>
        </p:nvSpPr>
        <p:spPr bwMode="auto">
          <a:xfrm>
            <a:off x="708025" y="4856163"/>
            <a:ext cx="5670550" cy="4600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46086" name="Rectangle 6"/>
          <p:cNvSpPr>
            <a:spLocks noGrp="1" noChangeArrowheads="1"/>
          </p:cNvSpPr>
          <p:nvPr>
            <p:ph type="ftr" sz="quarter" idx="4"/>
          </p:nvPr>
        </p:nvSpPr>
        <p:spPr bwMode="auto">
          <a:xfrm>
            <a:off x="0" y="9710738"/>
            <a:ext cx="3070225" cy="511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b" anchorCtr="0" compatLnSpc="1">
            <a:prstTxWarp prst="textNoShape">
              <a:avLst/>
            </a:prstTxWarp>
          </a:bodyPr>
          <a:lstStyle>
            <a:lvl1pPr defTabSz="989013">
              <a:spcBef>
                <a:spcPct val="0"/>
              </a:spcBef>
              <a:defRPr sz="1300" smtClean="0"/>
            </a:lvl1pPr>
          </a:lstStyle>
          <a:p>
            <a:pPr>
              <a:defRPr/>
            </a:pPr>
            <a:endParaRPr lang="en-GB"/>
          </a:p>
        </p:txBody>
      </p:sp>
      <p:sp>
        <p:nvSpPr>
          <p:cNvPr id="46087" name="Rectangle 7"/>
          <p:cNvSpPr>
            <a:spLocks noGrp="1" noChangeArrowheads="1"/>
          </p:cNvSpPr>
          <p:nvPr>
            <p:ph type="sldNum" sz="quarter" idx="5"/>
          </p:nvPr>
        </p:nvSpPr>
        <p:spPr bwMode="auto">
          <a:xfrm>
            <a:off x="4014788" y="9710738"/>
            <a:ext cx="3070225" cy="511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8911" tIns="49455" rIns="98911" bIns="49455" numCol="1" anchor="b" anchorCtr="0" compatLnSpc="1">
            <a:prstTxWarp prst="textNoShape">
              <a:avLst/>
            </a:prstTxWarp>
          </a:bodyPr>
          <a:lstStyle>
            <a:lvl1pPr algn="r" defTabSz="989013">
              <a:spcBef>
                <a:spcPct val="0"/>
              </a:spcBef>
              <a:defRPr sz="1300" smtClean="0"/>
            </a:lvl1pPr>
          </a:lstStyle>
          <a:p>
            <a:pPr>
              <a:defRPr/>
            </a:pPr>
            <a:fld id="{1F25B51B-6C7A-4A36-9D03-0961BB7386A6}" type="slidenum">
              <a:rPr lang="en-GB"/>
              <a:pPr>
                <a:defRPr/>
              </a:pPr>
              <a:t>‹#›</a:t>
            </a:fld>
            <a:endParaRPr lang="en-GB"/>
          </a:p>
        </p:txBody>
      </p:sp>
    </p:spTree>
    <p:extLst>
      <p:ext uri="{BB962C8B-B14F-4D97-AF65-F5344CB8AC3E}">
        <p14:creationId xmlns:p14="http://schemas.microsoft.com/office/powerpoint/2010/main" xmlns="" val="37845670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defTabSz="989013">
              <a:defRPr sz="1600">
                <a:solidFill>
                  <a:schemeClr val="tx1"/>
                </a:solidFill>
                <a:latin typeface="Times New Roman" pitchFamily="18" charset="0"/>
              </a:defRPr>
            </a:lvl1pPr>
            <a:lvl2pPr marL="742950" indent="-285750" defTabSz="989013">
              <a:defRPr sz="1600">
                <a:solidFill>
                  <a:schemeClr val="tx1"/>
                </a:solidFill>
                <a:latin typeface="Times New Roman" pitchFamily="18" charset="0"/>
              </a:defRPr>
            </a:lvl2pPr>
            <a:lvl3pPr marL="1143000" indent="-228600" defTabSz="989013">
              <a:defRPr sz="1600">
                <a:solidFill>
                  <a:schemeClr val="tx1"/>
                </a:solidFill>
                <a:latin typeface="Times New Roman" pitchFamily="18" charset="0"/>
              </a:defRPr>
            </a:lvl3pPr>
            <a:lvl4pPr marL="1600200" indent="-228600" defTabSz="989013">
              <a:defRPr sz="1600">
                <a:solidFill>
                  <a:schemeClr val="tx1"/>
                </a:solidFill>
                <a:latin typeface="Times New Roman" pitchFamily="18" charset="0"/>
              </a:defRPr>
            </a:lvl4pPr>
            <a:lvl5pPr marL="2057400" indent="-228600" defTabSz="989013">
              <a:defRPr sz="1600">
                <a:solidFill>
                  <a:schemeClr val="tx1"/>
                </a:solidFill>
                <a:latin typeface="Times New Roman" pitchFamily="18" charset="0"/>
              </a:defRPr>
            </a:lvl5pPr>
            <a:lvl6pPr marL="2514600" indent="-228600" defTabSz="989013" eaLnBrk="0" fontAlgn="base" hangingPunct="0">
              <a:spcBef>
                <a:spcPct val="50000"/>
              </a:spcBef>
              <a:spcAft>
                <a:spcPct val="0"/>
              </a:spcAft>
              <a:defRPr sz="1600">
                <a:solidFill>
                  <a:schemeClr val="tx1"/>
                </a:solidFill>
                <a:latin typeface="Times New Roman" pitchFamily="18" charset="0"/>
              </a:defRPr>
            </a:lvl6pPr>
            <a:lvl7pPr marL="2971800" indent="-228600" defTabSz="989013" eaLnBrk="0" fontAlgn="base" hangingPunct="0">
              <a:spcBef>
                <a:spcPct val="50000"/>
              </a:spcBef>
              <a:spcAft>
                <a:spcPct val="0"/>
              </a:spcAft>
              <a:defRPr sz="1600">
                <a:solidFill>
                  <a:schemeClr val="tx1"/>
                </a:solidFill>
                <a:latin typeface="Times New Roman" pitchFamily="18" charset="0"/>
              </a:defRPr>
            </a:lvl7pPr>
            <a:lvl8pPr marL="3429000" indent="-228600" defTabSz="989013" eaLnBrk="0" fontAlgn="base" hangingPunct="0">
              <a:spcBef>
                <a:spcPct val="50000"/>
              </a:spcBef>
              <a:spcAft>
                <a:spcPct val="0"/>
              </a:spcAft>
              <a:defRPr sz="1600">
                <a:solidFill>
                  <a:schemeClr val="tx1"/>
                </a:solidFill>
                <a:latin typeface="Times New Roman" pitchFamily="18" charset="0"/>
              </a:defRPr>
            </a:lvl8pPr>
            <a:lvl9pPr marL="3886200" indent="-228600" defTabSz="989013" eaLnBrk="0" fontAlgn="base" hangingPunct="0">
              <a:spcBef>
                <a:spcPct val="50000"/>
              </a:spcBef>
              <a:spcAft>
                <a:spcPct val="0"/>
              </a:spcAft>
              <a:defRPr sz="1600">
                <a:solidFill>
                  <a:schemeClr val="tx1"/>
                </a:solidFill>
                <a:latin typeface="Times New Roman" pitchFamily="18" charset="0"/>
              </a:defRPr>
            </a:lvl9pPr>
          </a:lstStyle>
          <a:p>
            <a:fld id="{6C1C404B-0A94-4E2F-BEBA-948BED962C6C}" type="slidenum">
              <a:rPr lang="en-GB" sz="1300" smtClean="0"/>
              <a:pPr/>
              <a:t>1</a:t>
            </a:fld>
            <a:endParaRPr lang="en-GB" sz="1300"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r>
              <a:rPr lang="en-GB" dirty="0" smtClean="0">
                <a:latin typeface="Arial" charset="0"/>
              </a:rPr>
              <a:t>Not forecasting</a:t>
            </a:r>
          </a:p>
        </p:txBody>
      </p:sp>
    </p:spTree>
    <p:extLst>
      <p:ext uri="{BB962C8B-B14F-4D97-AF65-F5344CB8AC3E}">
        <p14:creationId xmlns:p14="http://schemas.microsoft.com/office/powerpoint/2010/main" xmlns="" val="649595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r>
              <a:rPr lang="en-US" dirty="0" smtClean="0"/>
              <a:t>Provide the usual quote from Sean Holly</a:t>
            </a:r>
            <a:endParaRPr lang="en-US" dirty="0"/>
          </a:p>
        </p:txBody>
      </p:sp>
    </p:spTree>
    <p:extLst>
      <p:ext uri="{BB962C8B-B14F-4D97-AF65-F5344CB8AC3E}">
        <p14:creationId xmlns:p14="http://schemas.microsoft.com/office/powerpoint/2010/main" xmlns="" val="2008646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3</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1810887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4</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196649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5</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039864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6</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1411379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If</a:t>
            </a:r>
            <a:r>
              <a:rPr lang="en-GB" baseline="0" dirty="0" smtClean="0"/>
              <a:t> you designed a model today it would probably be a </a:t>
            </a:r>
            <a:r>
              <a:rPr lang="en-GB" baseline="0" dirty="0" err="1" smtClean="0"/>
              <a:t>conintergrating</a:t>
            </a:r>
            <a:r>
              <a:rPr lang="en-GB" baseline="0" dirty="0" smtClean="0"/>
              <a:t> unrestricted VAR. But because creating new models is a very lengthy and expensive process the older methods are largely still in use today.</a:t>
            </a:r>
          </a:p>
          <a:p>
            <a:endParaRPr lang="en-GB" baseline="0" dirty="0" smtClean="0"/>
          </a:p>
        </p:txBody>
      </p:sp>
      <p:sp>
        <p:nvSpPr>
          <p:cNvPr id="4" name="Slide Number Placeholder 3"/>
          <p:cNvSpPr>
            <a:spLocks noGrp="1"/>
          </p:cNvSpPr>
          <p:nvPr>
            <p:ph type="sldNum" sz="quarter" idx="10"/>
          </p:nvPr>
        </p:nvSpPr>
        <p:spPr/>
        <p:txBody>
          <a:bodyPr/>
          <a:lstStyle/>
          <a:p>
            <a:pPr>
              <a:defRPr/>
            </a:pPr>
            <a:fld id="{4FF8E858-C013-432E-896E-119CBD0AF350}" type="slidenum">
              <a:rPr lang="en-GB" smtClean="0"/>
              <a:pPr>
                <a:defRPr/>
              </a:pPr>
              <a:t>7</a:t>
            </a:fld>
            <a:endParaRPr lang="en-GB"/>
          </a:p>
        </p:txBody>
      </p:sp>
    </p:spTree>
    <p:extLst>
      <p:ext uri="{BB962C8B-B14F-4D97-AF65-F5344CB8AC3E}">
        <p14:creationId xmlns:p14="http://schemas.microsoft.com/office/powerpoint/2010/main" xmlns="" val="654546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8</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810643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9</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r>
              <a:rPr lang="en-US" dirty="0" smtClean="0"/>
              <a:t>SB</a:t>
            </a:r>
            <a:endParaRPr lang="en-US" dirty="0"/>
          </a:p>
        </p:txBody>
      </p:sp>
    </p:spTree>
    <p:extLst>
      <p:ext uri="{BB962C8B-B14F-4D97-AF65-F5344CB8AC3E}">
        <p14:creationId xmlns:p14="http://schemas.microsoft.com/office/powerpoint/2010/main" xmlns="" val="412279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10</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2718609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11</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26246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12</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116914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13</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2326646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14</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8686186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15</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4186640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16</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942689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17</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42039006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Model linkages</a:t>
            </a:r>
            <a:r>
              <a:rPr lang="en-GB" baseline="0" dirty="0" smtClean="0"/>
              <a:t> to be discussed in the </a:t>
            </a:r>
            <a:r>
              <a:rPr lang="en-GB" baseline="0" smtClean="0"/>
              <a:t>next session</a:t>
            </a:r>
            <a:endParaRPr lang="en-GB" dirty="0"/>
          </a:p>
        </p:txBody>
      </p:sp>
      <p:sp>
        <p:nvSpPr>
          <p:cNvPr id="4" name="Slide Number Placeholder 3"/>
          <p:cNvSpPr>
            <a:spLocks noGrp="1"/>
          </p:cNvSpPr>
          <p:nvPr>
            <p:ph type="sldNum" sz="quarter" idx="10"/>
          </p:nvPr>
        </p:nvSpPr>
        <p:spPr/>
        <p:txBody>
          <a:bodyPr/>
          <a:lstStyle/>
          <a:p>
            <a:pPr>
              <a:defRPr/>
            </a:pPr>
            <a:fld id="{4FF8E858-C013-432E-896E-119CBD0AF350}" type="slidenum">
              <a:rPr lang="en-GB" smtClean="0"/>
              <a:pPr>
                <a:defRPr/>
              </a:pPr>
              <a:t>18</a:t>
            </a:fld>
            <a:endParaRPr lang="en-GB"/>
          </a:p>
        </p:txBody>
      </p:sp>
    </p:spTree>
    <p:extLst>
      <p:ext uri="{BB962C8B-B14F-4D97-AF65-F5344CB8AC3E}">
        <p14:creationId xmlns:p14="http://schemas.microsoft.com/office/powerpoint/2010/main" xmlns="" val="3383503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19</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2978859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20</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1972396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21</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928774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22</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666738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23</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560668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24</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669873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25</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451956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26</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6256978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27</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10359586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28</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11004078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29</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2797822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30</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3761973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31</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5495967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32</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33804530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0C34-7C32-4B41-8007-9707526CC2FC}" type="slidenum">
              <a:rPr lang="en-GB"/>
              <a:pPr/>
              <a:t>33</a:t>
            </a:fld>
            <a:endParaRPr lang="en-GB"/>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xmlns="" val="9910724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49" descr="slide fractal back"/>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180975"/>
            <a:ext cx="7858125" cy="667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34" descr="cambridge_econometrics_logo"/>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38800" y="304800"/>
            <a:ext cx="3197225" cy="733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Rectangle 50"/>
          <p:cNvSpPr>
            <a:spLocks noChangeArrowheads="1"/>
          </p:cNvSpPr>
          <p:nvPr/>
        </p:nvSpPr>
        <p:spPr bwMode="auto">
          <a:xfrm>
            <a:off x="217488" y="241300"/>
            <a:ext cx="8686800" cy="6400800"/>
          </a:xfrm>
          <a:prstGeom prst="rect">
            <a:avLst/>
          </a:prstGeom>
          <a:noFill/>
          <a:ln w="15875">
            <a:solidFill>
              <a:srgbClr val="6399C0"/>
            </a:solidFill>
            <a:miter lim="800000"/>
            <a:headEnd/>
            <a:tailEnd/>
          </a:ln>
          <a:effectLst/>
          <a:extLst>
            <a:ext uri="{909E8E84-426E-40DD-AFC4-6F175D3DCCD1}">
              <a14:hiddenFill xmlns:a14="http://schemas.microsoft.com/office/drawing/2010/main" xmlns="">
                <a:solidFill>
                  <a:schemeClr val="accent1">
                    <a:alpha val="0"/>
                  </a:schemeClr>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3113" name="Rectangle 41"/>
          <p:cNvSpPr>
            <a:spLocks noGrp="1" noChangeArrowheads="1"/>
          </p:cNvSpPr>
          <p:nvPr>
            <p:ph type="ctrTitle" sz="quarter"/>
          </p:nvPr>
        </p:nvSpPr>
        <p:spPr>
          <a:xfrm>
            <a:off x="971550" y="1916113"/>
            <a:ext cx="7772400" cy="1400175"/>
          </a:xfrm>
        </p:spPr>
        <p:txBody>
          <a:bodyPr/>
          <a:lstStyle>
            <a:lvl1pPr>
              <a:defRPr/>
            </a:lvl1pPr>
          </a:lstStyle>
          <a:p>
            <a:pPr lvl="0"/>
            <a:r>
              <a:rPr lang="en-US" noProof="0" smtClean="0"/>
              <a:t>Click to edit Master title style</a:t>
            </a:r>
            <a:endParaRPr lang="en-GB" noProof="0" dirty="0" smtClean="0"/>
          </a:p>
        </p:txBody>
      </p:sp>
      <p:sp>
        <p:nvSpPr>
          <p:cNvPr id="3114" name="Rectangle 42"/>
          <p:cNvSpPr>
            <a:spLocks noGrp="1" noChangeArrowheads="1"/>
          </p:cNvSpPr>
          <p:nvPr>
            <p:ph type="subTitle" sz="quarter" idx="1"/>
          </p:nvPr>
        </p:nvSpPr>
        <p:spPr>
          <a:xfrm>
            <a:off x="971550" y="3357563"/>
            <a:ext cx="7056438" cy="1066800"/>
          </a:xfrm>
        </p:spPr>
        <p:txBody>
          <a:bodyPr/>
          <a:lstStyle>
            <a:lvl1pPr marL="0" indent="0">
              <a:buFontTx/>
              <a:buNone/>
              <a:defRPr sz="2400" b="0"/>
            </a:lvl1pPr>
          </a:lstStyle>
          <a:p>
            <a:pPr lvl="0"/>
            <a:r>
              <a:rPr lang="en-US" noProof="0" smtClean="0"/>
              <a:t>Click to edit Master subtitle style</a:t>
            </a:r>
            <a:endParaRPr lang="en-GB" noProof="0" smtClean="0"/>
          </a:p>
        </p:txBody>
      </p:sp>
      <p:sp>
        <p:nvSpPr>
          <p:cNvPr id="7" name="Rectangle 43"/>
          <p:cNvSpPr>
            <a:spLocks noGrp="1" noChangeArrowheads="1"/>
          </p:cNvSpPr>
          <p:nvPr>
            <p:ph type="dt" sz="quarter" idx="10"/>
          </p:nvPr>
        </p:nvSpPr>
        <p:spPr bwMode="auto">
          <a:xfrm>
            <a:off x="5508625" y="6165850"/>
            <a:ext cx="3235325" cy="457200"/>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solidFill>
                  <a:srgbClr val="123D6B"/>
                </a:solidFill>
                <a:latin typeface="+mn-lt"/>
              </a:defRPr>
            </a:lvl1pPr>
          </a:lstStyle>
          <a:p>
            <a:pPr>
              <a:defRPr/>
            </a:pPr>
            <a:fld id="{BE9AA2D2-4643-4F7E-BA3C-28F42BD1BC2B}" type="datetime2">
              <a:rPr lang="en-GB"/>
              <a:pPr>
                <a:defRPr/>
              </a:pPr>
              <a:t>Wednesday, 02 September 2015</a:t>
            </a:fld>
            <a:endParaRPr lang="en-GB"/>
          </a:p>
        </p:txBody>
      </p:sp>
      <p:sp>
        <p:nvSpPr>
          <p:cNvPr id="8" name="Rectangle 48"/>
          <p:cNvSpPr>
            <a:spLocks noGrp="1" noChangeArrowheads="1"/>
          </p:cNvSpPr>
          <p:nvPr>
            <p:ph type="sldNum" sz="quarter" idx="11"/>
          </p:nvPr>
        </p:nvSpPr>
        <p:spPr>
          <a:xfrm>
            <a:off x="990600" y="6172200"/>
            <a:ext cx="1905000" cy="457200"/>
          </a:xfrm>
        </p:spPr>
        <p:txBody>
          <a:bodyPr/>
          <a:lstStyle>
            <a:lvl1pPr>
              <a:defRPr smtClean="0"/>
            </a:lvl1pPr>
          </a:lstStyle>
          <a:p>
            <a:pPr>
              <a:defRPr/>
            </a:pPr>
            <a:fld id="{C588255F-1145-4943-ABB6-516E47E95B86}" type="slidenum">
              <a:rPr lang="en-GB"/>
              <a:pPr>
                <a:defRPr/>
              </a:pPr>
              <a:t>‹#›</a:t>
            </a:fld>
            <a:endParaRPr lang="en-GB"/>
          </a:p>
        </p:txBody>
      </p:sp>
    </p:spTree>
    <p:extLst>
      <p:ext uri="{BB962C8B-B14F-4D97-AF65-F5344CB8AC3E}">
        <p14:creationId xmlns:p14="http://schemas.microsoft.com/office/powerpoint/2010/main" xmlns="" val="3102517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35"/>
          <p:cNvSpPr>
            <a:spLocks noGrp="1" noChangeArrowheads="1"/>
          </p:cNvSpPr>
          <p:nvPr>
            <p:ph type="sldNum" sz="quarter" idx="10"/>
          </p:nvPr>
        </p:nvSpPr>
        <p:spPr>
          <a:ln/>
        </p:spPr>
        <p:txBody>
          <a:bodyPr/>
          <a:lstStyle>
            <a:lvl1pPr>
              <a:defRPr/>
            </a:lvl1pPr>
          </a:lstStyle>
          <a:p>
            <a:pPr>
              <a:defRPr/>
            </a:pPr>
            <a:fld id="{4ED9D1DF-2043-45C5-8E8B-06C67D664984}" type="slidenum">
              <a:rPr lang="en-GB"/>
              <a:pPr>
                <a:defRPr/>
              </a:pPr>
              <a:t>‹#›</a:t>
            </a:fld>
            <a:endParaRPr lang="en-GB"/>
          </a:p>
        </p:txBody>
      </p:sp>
    </p:spTree>
    <p:extLst>
      <p:ext uri="{BB962C8B-B14F-4D97-AF65-F5344CB8AC3E}">
        <p14:creationId xmlns:p14="http://schemas.microsoft.com/office/powerpoint/2010/main" xmlns="" val="2482750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35"/>
          <p:cNvSpPr>
            <a:spLocks noGrp="1" noChangeArrowheads="1"/>
          </p:cNvSpPr>
          <p:nvPr>
            <p:ph type="sldNum" sz="quarter" idx="10"/>
          </p:nvPr>
        </p:nvSpPr>
        <p:spPr>
          <a:ln/>
        </p:spPr>
        <p:txBody>
          <a:bodyPr/>
          <a:lstStyle>
            <a:lvl1pPr>
              <a:defRPr/>
            </a:lvl1pPr>
          </a:lstStyle>
          <a:p>
            <a:pPr>
              <a:defRPr/>
            </a:pPr>
            <a:fld id="{287BEE2E-77D4-4B29-AEC2-B4BCA7C31A22}" type="slidenum">
              <a:rPr lang="en-GB"/>
              <a:pPr>
                <a:defRPr/>
              </a:pPr>
              <a:t>‹#›</a:t>
            </a:fld>
            <a:endParaRPr lang="en-GB"/>
          </a:p>
        </p:txBody>
      </p:sp>
    </p:spTree>
    <p:extLst>
      <p:ext uri="{BB962C8B-B14F-4D97-AF65-F5344CB8AC3E}">
        <p14:creationId xmlns:p14="http://schemas.microsoft.com/office/powerpoint/2010/main" xmlns="" val="350133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11188" y="1676400"/>
            <a:ext cx="38481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11688" y="1676400"/>
            <a:ext cx="38481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35"/>
          <p:cNvSpPr>
            <a:spLocks noGrp="1" noChangeArrowheads="1"/>
          </p:cNvSpPr>
          <p:nvPr>
            <p:ph type="sldNum" sz="quarter" idx="10"/>
          </p:nvPr>
        </p:nvSpPr>
        <p:spPr>
          <a:ln/>
        </p:spPr>
        <p:txBody>
          <a:bodyPr/>
          <a:lstStyle>
            <a:lvl1pPr>
              <a:defRPr/>
            </a:lvl1pPr>
          </a:lstStyle>
          <a:p>
            <a:pPr>
              <a:defRPr/>
            </a:pPr>
            <a:fld id="{EA76A3C1-2D57-45F3-A6D7-8DD8FF03EF8B}" type="slidenum">
              <a:rPr lang="en-GB"/>
              <a:pPr>
                <a:defRPr/>
              </a:pPr>
              <a:t>‹#›</a:t>
            </a:fld>
            <a:endParaRPr lang="en-GB"/>
          </a:p>
        </p:txBody>
      </p:sp>
    </p:spTree>
    <p:extLst>
      <p:ext uri="{BB962C8B-B14F-4D97-AF65-F5344CB8AC3E}">
        <p14:creationId xmlns:p14="http://schemas.microsoft.com/office/powerpoint/2010/main" xmlns="" val="2077975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35"/>
          <p:cNvSpPr>
            <a:spLocks noGrp="1" noChangeArrowheads="1"/>
          </p:cNvSpPr>
          <p:nvPr>
            <p:ph type="sldNum" sz="quarter" idx="10"/>
          </p:nvPr>
        </p:nvSpPr>
        <p:spPr>
          <a:ln/>
        </p:spPr>
        <p:txBody>
          <a:bodyPr/>
          <a:lstStyle>
            <a:lvl1pPr>
              <a:defRPr/>
            </a:lvl1pPr>
          </a:lstStyle>
          <a:p>
            <a:pPr>
              <a:defRPr/>
            </a:pPr>
            <a:fld id="{3592692F-CC22-4568-A9DA-147D47F1BCE7}" type="slidenum">
              <a:rPr lang="en-GB"/>
              <a:pPr>
                <a:defRPr/>
              </a:pPr>
              <a:t>‹#›</a:t>
            </a:fld>
            <a:endParaRPr lang="en-GB"/>
          </a:p>
        </p:txBody>
      </p:sp>
    </p:spTree>
    <p:extLst>
      <p:ext uri="{BB962C8B-B14F-4D97-AF65-F5344CB8AC3E}">
        <p14:creationId xmlns:p14="http://schemas.microsoft.com/office/powerpoint/2010/main" xmlns="" val="3784037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35"/>
          <p:cNvSpPr>
            <a:spLocks noGrp="1" noChangeArrowheads="1"/>
          </p:cNvSpPr>
          <p:nvPr>
            <p:ph type="sldNum" sz="quarter" idx="10"/>
          </p:nvPr>
        </p:nvSpPr>
        <p:spPr>
          <a:ln/>
        </p:spPr>
        <p:txBody>
          <a:bodyPr/>
          <a:lstStyle>
            <a:lvl1pPr>
              <a:defRPr/>
            </a:lvl1pPr>
          </a:lstStyle>
          <a:p>
            <a:pPr>
              <a:defRPr/>
            </a:pPr>
            <a:fld id="{E258FFFA-DEBA-4D31-8ABB-B9C95E597194}" type="slidenum">
              <a:rPr lang="en-GB"/>
              <a:pPr>
                <a:defRPr/>
              </a:pPr>
              <a:t>‹#›</a:t>
            </a:fld>
            <a:endParaRPr lang="en-GB"/>
          </a:p>
        </p:txBody>
      </p:sp>
    </p:spTree>
    <p:extLst>
      <p:ext uri="{BB962C8B-B14F-4D97-AF65-F5344CB8AC3E}">
        <p14:creationId xmlns:p14="http://schemas.microsoft.com/office/powerpoint/2010/main" xmlns="" val="2662903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5"/>
          <p:cNvSpPr>
            <a:spLocks noGrp="1" noChangeArrowheads="1"/>
          </p:cNvSpPr>
          <p:nvPr>
            <p:ph type="sldNum" sz="quarter" idx="10"/>
          </p:nvPr>
        </p:nvSpPr>
        <p:spPr>
          <a:ln/>
        </p:spPr>
        <p:txBody>
          <a:bodyPr/>
          <a:lstStyle>
            <a:lvl1pPr>
              <a:defRPr/>
            </a:lvl1pPr>
          </a:lstStyle>
          <a:p>
            <a:pPr>
              <a:defRPr/>
            </a:pPr>
            <a:fld id="{1830E7E6-90EC-46E5-BD0B-6A934B858E60}" type="slidenum">
              <a:rPr lang="en-GB"/>
              <a:pPr>
                <a:defRPr/>
              </a:pPr>
              <a:t>‹#›</a:t>
            </a:fld>
            <a:endParaRPr lang="en-GB"/>
          </a:p>
        </p:txBody>
      </p:sp>
    </p:spTree>
    <p:extLst>
      <p:ext uri="{BB962C8B-B14F-4D97-AF65-F5344CB8AC3E}">
        <p14:creationId xmlns:p14="http://schemas.microsoft.com/office/powerpoint/2010/main" xmlns="" val="2770415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5"/>
          <p:cNvSpPr>
            <a:spLocks noGrp="1" noChangeArrowheads="1"/>
          </p:cNvSpPr>
          <p:nvPr>
            <p:ph type="sldNum" sz="quarter" idx="10"/>
          </p:nvPr>
        </p:nvSpPr>
        <p:spPr>
          <a:ln/>
        </p:spPr>
        <p:txBody>
          <a:bodyPr/>
          <a:lstStyle>
            <a:lvl1pPr>
              <a:defRPr/>
            </a:lvl1pPr>
          </a:lstStyle>
          <a:p>
            <a:pPr>
              <a:defRPr/>
            </a:pPr>
            <a:fld id="{D6B47020-EB55-4FB4-B317-6AE4D7A95422}" type="slidenum">
              <a:rPr lang="en-GB"/>
              <a:pPr>
                <a:defRPr/>
              </a:pPr>
              <a:t>‹#›</a:t>
            </a:fld>
            <a:endParaRPr lang="en-GB"/>
          </a:p>
        </p:txBody>
      </p:sp>
    </p:spTree>
    <p:extLst>
      <p:ext uri="{BB962C8B-B14F-4D97-AF65-F5344CB8AC3E}">
        <p14:creationId xmlns:p14="http://schemas.microsoft.com/office/powerpoint/2010/main" xmlns="" val="900787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5"/>
          <p:cNvSpPr>
            <a:spLocks noGrp="1" noChangeArrowheads="1"/>
          </p:cNvSpPr>
          <p:nvPr>
            <p:ph type="sldNum" sz="quarter" idx="10"/>
          </p:nvPr>
        </p:nvSpPr>
        <p:spPr>
          <a:ln/>
        </p:spPr>
        <p:txBody>
          <a:bodyPr/>
          <a:lstStyle>
            <a:lvl1pPr>
              <a:defRPr/>
            </a:lvl1pPr>
          </a:lstStyle>
          <a:p>
            <a:pPr>
              <a:defRPr/>
            </a:pPr>
            <a:fld id="{977E433B-4956-4500-8309-74D8D45CB80C}" type="slidenum">
              <a:rPr lang="en-GB"/>
              <a:pPr>
                <a:defRPr/>
              </a:pPr>
              <a:t>‹#›</a:t>
            </a:fld>
            <a:endParaRPr lang="en-GB"/>
          </a:p>
        </p:txBody>
      </p:sp>
    </p:spTree>
    <p:extLst>
      <p:ext uri="{BB962C8B-B14F-4D97-AF65-F5344CB8AC3E}">
        <p14:creationId xmlns:p14="http://schemas.microsoft.com/office/powerpoint/2010/main" xmlns="" val="522032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35"/>
          <p:cNvSpPr>
            <a:spLocks noGrp="1" noChangeArrowheads="1"/>
          </p:cNvSpPr>
          <p:nvPr>
            <p:ph type="sldNum" sz="quarter" idx="10"/>
          </p:nvPr>
        </p:nvSpPr>
        <p:spPr>
          <a:ln/>
        </p:spPr>
        <p:txBody>
          <a:bodyPr/>
          <a:lstStyle>
            <a:lvl1pPr>
              <a:defRPr/>
            </a:lvl1pPr>
          </a:lstStyle>
          <a:p>
            <a:pPr>
              <a:defRPr/>
            </a:pPr>
            <a:fld id="{406DFEEE-782E-46AD-BBA5-788B0FC252DF}" type="slidenum">
              <a:rPr lang="en-GB"/>
              <a:pPr>
                <a:defRPr/>
              </a:pPr>
              <a:t>‹#›</a:t>
            </a:fld>
            <a:endParaRPr lang="en-GB"/>
          </a:p>
        </p:txBody>
      </p:sp>
    </p:spTree>
    <p:extLst>
      <p:ext uri="{BB962C8B-B14F-4D97-AF65-F5344CB8AC3E}">
        <p14:creationId xmlns:p14="http://schemas.microsoft.com/office/powerpoint/2010/main" xmlns="" val="951351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7638" y="304800"/>
            <a:ext cx="196215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11188" y="304800"/>
            <a:ext cx="573405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35"/>
          <p:cNvSpPr>
            <a:spLocks noGrp="1" noChangeArrowheads="1"/>
          </p:cNvSpPr>
          <p:nvPr>
            <p:ph type="sldNum" sz="quarter" idx="10"/>
          </p:nvPr>
        </p:nvSpPr>
        <p:spPr>
          <a:ln/>
        </p:spPr>
        <p:txBody>
          <a:bodyPr/>
          <a:lstStyle>
            <a:lvl1pPr>
              <a:defRPr/>
            </a:lvl1pPr>
          </a:lstStyle>
          <a:p>
            <a:pPr>
              <a:defRPr/>
            </a:pPr>
            <a:fld id="{D7D9E0B4-D409-4C76-A56F-283325A5334D}" type="slidenum">
              <a:rPr lang="en-GB"/>
              <a:pPr>
                <a:defRPr/>
              </a:pPr>
              <a:t>‹#›</a:t>
            </a:fld>
            <a:endParaRPr lang="en-GB"/>
          </a:p>
        </p:txBody>
      </p:sp>
    </p:spTree>
    <p:extLst>
      <p:ext uri="{BB962C8B-B14F-4D97-AF65-F5344CB8AC3E}">
        <p14:creationId xmlns:p14="http://schemas.microsoft.com/office/powerpoint/2010/main" xmlns="" val="3279917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42" descr="slide fractal front"/>
          <p:cNvPicPr>
            <a:picLocks noChangeAspect="1" noChangeArrowheads="1"/>
          </p:cNvPicPr>
          <p:nvPr/>
        </p:nvPicPr>
        <p:blipFill>
          <a:blip r:embed="rId13" cstate="print">
            <a:extLst>
              <a:ext uri="{28A0092B-C50C-407E-A947-70E740481C1C}">
                <a14:useLocalDpi xmlns:a14="http://schemas.microsoft.com/office/drawing/2010/main" xmlns="" val="0"/>
              </a:ext>
            </a:extLst>
          </a:blip>
          <a:srcRect/>
          <a:stretch>
            <a:fillRect/>
          </a:stretch>
        </p:blipFill>
        <p:spPr bwMode="auto">
          <a:xfrm>
            <a:off x="0" y="174625"/>
            <a:ext cx="7858125" cy="667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7" name="Rectangle 29"/>
          <p:cNvSpPr>
            <a:spLocks noGrp="1" noChangeArrowheads="1"/>
          </p:cNvSpPr>
          <p:nvPr>
            <p:ph type="title"/>
          </p:nvPr>
        </p:nvSpPr>
        <p:spPr bwMode="auto">
          <a:xfrm>
            <a:off x="611188" y="304800"/>
            <a:ext cx="7848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GB" smtClean="0"/>
          </a:p>
        </p:txBody>
      </p:sp>
      <p:sp>
        <p:nvSpPr>
          <p:cNvPr id="1028" name="Rectangle 30"/>
          <p:cNvSpPr>
            <a:spLocks noGrp="1" noChangeArrowheads="1"/>
          </p:cNvSpPr>
          <p:nvPr>
            <p:ph type="body" idx="1"/>
          </p:nvPr>
        </p:nvSpPr>
        <p:spPr bwMode="auto">
          <a:xfrm>
            <a:off x="611188" y="1676400"/>
            <a:ext cx="78486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smtClean="0"/>
          </a:p>
        </p:txBody>
      </p:sp>
      <p:sp>
        <p:nvSpPr>
          <p:cNvPr id="1059" name="Rectangle 35"/>
          <p:cNvSpPr>
            <a:spLocks noGrp="1" noChangeArrowheads="1"/>
          </p:cNvSpPr>
          <p:nvPr>
            <p:ph type="sldNum" sz="quarter" idx="4"/>
          </p:nvPr>
        </p:nvSpPr>
        <p:spPr bwMode="auto">
          <a:xfrm>
            <a:off x="900113" y="6172200"/>
            <a:ext cx="17668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fld id="{E9C833AE-D655-4D6E-BBE1-F904234F9280}" type="slidenum">
              <a:rPr lang="en-GB"/>
              <a:pPr>
                <a:defRPr/>
              </a:pPr>
              <a:t>‹#›</a:t>
            </a:fld>
            <a:endParaRPr lang="en-GB"/>
          </a:p>
        </p:txBody>
      </p:sp>
      <p:sp>
        <p:nvSpPr>
          <p:cNvPr id="1030" name="Rectangle 41"/>
          <p:cNvSpPr>
            <a:spLocks noChangeArrowheads="1"/>
          </p:cNvSpPr>
          <p:nvPr/>
        </p:nvSpPr>
        <p:spPr bwMode="auto">
          <a:xfrm>
            <a:off x="217488" y="241300"/>
            <a:ext cx="8686800" cy="6400800"/>
          </a:xfrm>
          <a:prstGeom prst="rect">
            <a:avLst/>
          </a:prstGeom>
          <a:noFill/>
          <a:ln w="15875">
            <a:solidFill>
              <a:srgbClr val="6399C0"/>
            </a:solidFill>
            <a:miter lim="800000"/>
            <a:headEnd/>
            <a:tailEnd/>
          </a:ln>
          <a:effectLst/>
          <a:extLst>
            <a:ext uri="{909E8E84-426E-40DD-AFC4-6F175D3DCCD1}">
              <a14:hiddenFill xmlns:a14="http://schemas.microsoft.com/office/drawing/2010/main" xmlns="">
                <a:solidFill>
                  <a:schemeClr val="accent1">
                    <a:alpha val="0"/>
                  </a:schemeClr>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031" name="Line 43"/>
          <p:cNvSpPr>
            <a:spLocks noChangeShapeType="1"/>
          </p:cNvSpPr>
          <p:nvPr/>
        </p:nvSpPr>
        <p:spPr bwMode="auto">
          <a:xfrm>
            <a:off x="611188" y="1484313"/>
            <a:ext cx="7848600" cy="0"/>
          </a:xfrm>
          <a:prstGeom prst="line">
            <a:avLst/>
          </a:prstGeom>
          <a:noFill/>
          <a:ln w="50800">
            <a:solidFill>
              <a:srgbClr val="6399C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endParaRPr lang="en-GB"/>
          </a:p>
        </p:txBody>
      </p:sp>
      <p:pic>
        <p:nvPicPr>
          <p:cNvPr id="1032" name="Picture 44" descr="cambridge_econometrics_logo"/>
          <p:cNvPicPr>
            <a:picLocks noChangeAspect="1" noChangeArrowheads="1"/>
          </p:cNvPicPr>
          <p:nvPr/>
        </p:nvPicPr>
        <p:blipFill>
          <a:blip r:embed="rId14" cstate="print">
            <a:extLst>
              <a:ext uri="{28A0092B-C50C-407E-A947-70E740481C1C}">
                <a14:useLocalDpi xmlns:a14="http://schemas.microsoft.com/office/drawing/2010/main" xmlns="" val="0"/>
              </a:ext>
            </a:extLst>
          </a:blip>
          <a:srcRect/>
          <a:stretch>
            <a:fillRect/>
          </a:stretch>
        </p:blipFill>
        <p:spPr bwMode="auto">
          <a:xfrm>
            <a:off x="7224713" y="6230938"/>
            <a:ext cx="15954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1" fontAlgn="base" hangingPunct="1">
        <a:spcBef>
          <a:spcPct val="0"/>
        </a:spcBef>
        <a:spcAft>
          <a:spcPct val="0"/>
        </a:spcAft>
        <a:defRPr sz="3500">
          <a:solidFill>
            <a:srgbClr val="123D6B"/>
          </a:solidFill>
          <a:latin typeface="+mj-lt"/>
          <a:ea typeface="+mj-ea"/>
          <a:cs typeface="+mj-cs"/>
        </a:defRPr>
      </a:lvl1pPr>
      <a:lvl2pPr algn="l" rtl="0" eaLnBrk="1" fontAlgn="base" hangingPunct="1">
        <a:spcBef>
          <a:spcPct val="0"/>
        </a:spcBef>
        <a:spcAft>
          <a:spcPct val="0"/>
        </a:spcAft>
        <a:defRPr sz="3500">
          <a:solidFill>
            <a:srgbClr val="123D6B"/>
          </a:solidFill>
          <a:latin typeface="Arial" charset="0"/>
        </a:defRPr>
      </a:lvl2pPr>
      <a:lvl3pPr algn="l" rtl="0" eaLnBrk="1" fontAlgn="base" hangingPunct="1">
        <a:spcBef>
          <a:spcPct val="0"/>
        </a:spcBef>
        <a:spcAft>
          <a:spcPct val="0"/>
        </a:spcAft>
        <a:defRPr sz="3500">
          <a:solidFill>
            <a:srgbClr val="123D6B"/>
          </a:solidFill>
          <a:latin typeface="Arial" charset="0"/>
        </a:defRPr>
      </a:lvl3pPr>
      <a:lvl4pPr algn="l" rtl="0" eaLnBrk="1" fontAlgn="base" hangingPunct="1">
        <a:spcBef>
          <a:spcPct val="0"/>
        </a:spcBef>
        <a:spcAft>
          <a:spcPct val="0"/>
        </a:spcAft>
        <a:defRPr sz="3500">
          <a:solidFill>
            <a:srgbClr val="123D6B"/>
          </a:solidFill>
          <a:latin typeface="Arial" charset="0"/>
        </a:defRPr>
      </a:lvl4pPr>
      <a:lvl5pPr algn="l" rtl="0" eaLnBrk="1" fontAlgn="base" hangingPunct="1">
        <a:spcBef>
          <a:spcPct val="0"/>
        </a:spcBef>
        <a:spcAft>
          <a:spcPct val="0"/>
        </a:spcAft>
        <a:defRPr sz="3500">
          <a:solidFill>
            <a:srgbClr val="123D6B"/>
          </a:solidFill>
          <a:latin typeface="Arial" charset="0"/>
        </a:defRPr>
      </a:lvl5pPr>
      <a:lvl6pPr marL="457200" algn="l" rtl="0" eaLnBrk="1" fontAlgn="base" hangingPunct="1">
        <a:spcBef>
          <a:spcPct val="0"/>
        </a:spcBef>
        <a:spcAft>
          <a:spcPct val="0"/>
        </a:spcAft>
        <a:defRPr sz="3500" b="1">
          <a:solidFill>
            <a:srgbClr val="123D6B"/>
          </a:solidFill>
          <a:latin typeface="Arial" charset="0"/>
        </a:defRPr>
      </a:lvl6pPr>
      <a:lvl7pPr marL="914400" algn="l" rtl="0" eaLnBrk="1" fontAlgn="base" hangingPunct="1">
        <a:spcBef>
          <a:spcPct val="0"/>
        </a:spcBef>
        <a:spcAft>
          <a:spcPct val="0"/>
        </a:spcAft>
        <a:defRPr sz="3500" b="1">
          <a:solidFill>
            <a:srgbClr val="123D6B"/>
          </a:solidFill>
          <a:latin typeface="Arial" charset="0"/>
        </a:defRPr>
      </a:lvl7pPr>
      <a:lvl8pPr marL="1371600" algn="l" rtl="0" eaLnBrk="1" fontAlgn="base" hangingPunct="1">
        <a:spcBef>
          <a:spcPct val="0"/>
        </a:spcBef>
        <a:spcAft>
          <a:spcPct val="0"/>
        </a:spcAft>
        <a:defRPr sz="3500" b="1">
          <a:solidFill>
            <a:srgbClr val="123D6B"/>
          </a:solidFill>
          <a:latin typeface="Arial" charset="0"/>
        </a:defRPr>
      </a:lvl8pPr>
      <a:lvl9pPr marL="1828800" algn="l" rtl="0" eaLnBrk="1" fontAlgn="base" hangingPunct="1">
        <a:spcBef>
          <a:spcPct val="0"/>
        </a:spcBef>
        <a:spcAft>
          <a:spcPct val="0"/>
        </a:spcAft>
        <a:defRPr sz="3500" b="1">
          <a:solidFill>
            <a:srgbClr val="123D6B"/>
          </a:solidFill>
          <a:latin typeface="Arial" charset="0"/>
        </a:defRPr>
      </a:lvl9pPr>
    </p:titleStyle>
    <p:body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www.iit.upcomillas.es/docs/IIT-11-090A.pdf"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71550" y="2060575"/>
            <a:ext cx="7772400" cy="1400175"/>
          </a:xfrm>
        </p:spPr>
        <p:txBody>
          <a:bodyPr/>
          <a:lstStyle/>
          <a:p>
            <a:r>
              <a:rPr lang="en-GB" dirty="0" smtClean="0"/>
              <a:t>Macroeconomic Modelling: Types of Models used for Policy Analysis</a:t>
            </a:r>
          </a:p>
        </p:txBody>
      </p:sp>
      <p:sp>
        <p:nvSpPr>
          <p:cNvPr id="3075" name="Rectangle 3"/>
          <p:cNvSpPr>
            <a:spLocks noGrp="1" noChangeArrowheads="1"/>
          </p:cNvSpPr>
          <p:nvPr>
            <p:ph type="subTitle" idx="1"/>
          </p:nvPr>
        </p:nvSpPr>
        <p:spPr/>
        <p:txBody>
          <a:bodyPr/>
          <a:lstStyle/>
          <a:p>
            <a:r>
              <a:rPr lang="en-GB" dirty="0" smtClean="0"/>
              <a:t> </a:t>
            </a:r>
          </a:p>
        </p:txBody>
      </p:sp>
      <p:sp>
        <p:nvSpPr>
          <p:cNvPr id="3078" name="Text Box 7"/>
          <p:cNvSpPr txBox="1">
            <a:spLocks noChangeArrowheads="1"/>
          </p:cNvSpPr>
          <p:nvPr/>
        </p:nvSpPr>
        <p:spPr bwMode="auto">
          <a:xfrm>
            <a:off x="1006535" y="4868861"/>
            <a:ext cx="72009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50000"/>
              </a:spcBef>
              <a:spcAft>
                <a:spcPct val="0"/>
              </a:spcAft>
              <a:defRPr sz="1600">
                <a:solidFill>
                  <a:schemeClr val="tx1"/>
                </a:solidFill>
                <a:latin typeface="Times New Roman" pitchFamily="18" charset="0"/>
              </a:defRPr>
            </a:lvl6pPr>
            <a:lvl7pPr marL="2971800" indent="-228600" eaLnBrk="0" fontAlgn="base" hangingPunct="0">
              <a:spcBef>
                <a:spcPct val="50000"/>
              </a:spcBef>
              <a:spcAft>
                <a:spcPct val="0"/>
              </a:spcAft>
              <a:defRPr sz="1600">
                <a:solidFill>
                  <a:schemeClr val="tx1"/>
                </a:solidFill>
                <a:latin typeface="Times New Roman" pitchFamily="18" charset="0"/>
              </a:defRPr>
            </a:lvl7pPr>
            <a:lvl8pPr marL="3429000" indent="-228600" eaLnBrk="0" fontAlgn="base" hangingPunct="0">
              <a:spcBef>
                <a:spcPct val="50000"/>
              </a:spcBef>
              <a:spcAft>
                <a:spcPct val="0"/>
              </a:spcAft>
              <a:defRPr sz="1600">
                <a:solidFill>
                  <a:schemeClr val="tx1"/>
                </a:solidFill>
                <a:latin typeface="Times New Roman" pitchFamily="18" charset="0"/>
              </a:defRPr>
            </a:lvl8pPr>
            <a:lvl9pPr marL="3886200" indent="-228600" eaLnBrk="0" fontAlgn="base" hangingPunct="0">
              <a:spcBef>
                <a:spcPct val="50000"/>
              </a:spcBef>
              <a:spcAft>
                <a:spcPct val="0"/>
              </a:spcAft>
              <a:defRPr sz="1600">
                <a:solidFill>
                  <a:schemeClr val="tx1"/>
                </a:solidFill>
                <a:latin typeface="Times New Roman" pitchFamily="18" charset="0"/>
              </a:defRPr>
            </a:lvl9pPr>
          </a:lstStyle>
          <a:p>
            <a:r>
              <a:rPr lang="en-GB" sz="2400" dirty="0" smtClean="0">
                <a:solidFill>
                  <a:srgbClr val="002060"/>
                </a:solidFill>
                <a:latin typeface="Arial" charset="0"/>
              </a:rPr>
              <a:t>Hector Pollitt</a:t>
            </a:r>
            <a:endParaRPr lang="en-GB" sz="2400" dirty="0">
              <a:solidFill>
                <a:srgbClr val="002060"/>
              </a:solidFill>
              <a:latin typeface="Arial" charset="0"/>
            </a:endParaRPr>
          </a:p>
        </p:txBody>
      </p:sp>
      <p:sp>
        <p:nvSpPr>
          <p:cNvPr id="8" name="Rectangle 7"/>
          <p:cNvSpPr>
            <a:spLocks noGrp="1" noChangeArrowheads="1"/>
          </p:cNvSpPr>
          <p:nvPr/>
        </p:nvSpPr>
        <p:spPr bwMode="auto">
          <a:xfrm>
            <a:off x="1006535" y="3573016"/>
            <a:ext cx="7056438" cy="106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Clr>
                <a:srgbClr val="123D6B"/>
              </a:buClr>
              <a:buFontTx/>
              <a:buNone/>
              <a:defRPr sz="2400" b="0">
                <a:solidFill>
                  <a:srgbClr val="123D6B"/>
                </a:solidFill>
                <a:latin typeface="+mn-lt"/>
                <a:ea typeface="+mn-ea"/>
                <a:cs typeface="+mn-cs"/>
              </a:defRPr>
            </a:lvl1pPr>
            <a:lvl2pPr marL="742950" indent="-285750" algn="l" rtl="0" eaLnBrk="0" fontAlgn="base" hangingPunct="0">
              <a:spcBef>
                <a:spcPct val="20000"/>
              </a:spcBef>
              <a:spcAft>
                <a:spcPct val="0"/>
              </a:spcAft>
              <a:buClr>
                <a:srgbClr val="123D6B"/>
              </a:buClr>
              <a:buChar char="–"/>
              <a:defRPr sz="2000" b="1">
                <a:solidFill>
                  <a:srgbClr val="123D6B"/>
                </a:solidFill>
                <a:latin typeface="+mn-lt"/>
              </a:defRPr>
            </a:lvl2pPr>
            <a:lvl3pPr marL="1143000" indent="-228600" algn="l" rtl="0" eaLnBrk="0" fontAlgn="base" hangingPunct="0">
              <a:spcBef>
                <a:spcPct val="20000"/>
              </a:spcBef>
              <a:spcAft>
                <a:spcPct val="0"/>
              </a:spcAft>
              <a:buClr>
                <a:srgbClr val="123D6B"/>
              </a:buClr>
              <a:buChar char="•"/>
              <a:defRPr sz="1600" b="1">
                <a:solidFill>
                  <a:srgbClr val="123D6B"/>
                </a:solidFill>
                <a:latin typeface="+mn-lt"/>
              </a:defRPr>
            </a:lvl3pPr>
            <a:lvl4pPr marL="1600200" indent="-228600" algn="l" rtl="0" eaLnBrk="0" fontAlgn="base" hangingPunct="0">
              <a:spcBef>
                <a:spcPct val="20000"/>
              </a:spcBef>
              <a:spcAft>
                <a:spcPct val="0"/>
              </a:spcAft>
              <a:buClr>
                <a:srgbClr val="123D6B"/>
              </a:buClr>
              <a:buChar char="–"/>
              <a:defRPr sz="1600" b="1">
                <a:solidFill>
                  <a:srgbClr val="123D6B"/>
                </a:solidFill>
                <a:latin typeface="+mn-lt"/>
              </a:defRPr>
            </a:lvl4pPr>
            <a:lvl5pPr marL="2057400" indent="-228600" algn="l" rtl="0" eaLnBrk="0" fontAlgn="base" hangingPunct="0">
              <a:spcBef>
                <a:spcPct val="20000"/>
              </a:spcBef>
              <a:spcAft>
                <a:spcPct val="0"/>
              </a:spcAft>
              <a:buClr>
                <a:srgbClr val="123D6B"/>
              </a:buClr>
              <a:buChar char="»"/>
              <a:defRPr sz="1600" b="1">
                <a:solidFill>
                  <a:srgbClr val="123D6B"/>
                </a:solidFill>
                <a:latin typeface="+mn-lt"/>
              </a:defRPr>
            </a:lvl5pPr>
            <a:lvl6pPr marL="2514600" indent="-228600" algn="l" rtl="0" eaLnBrk="0" fontAlgn="base" hangingPunct="0">
              <a:spcBef>
                <a:spcPct val="20000"/>
              </a:spcBef>
              <a:spcAft>
                <a:spcPct val="0"/>
              </a:spcAft>
              <a:buClr>
                <a:srgbClr val="123D6B"/>
              </a:buClr>
              <a:buChar char="»"/>
              <a:defRPr sz="1600" b="1">
                <a:solidFill>
                  <a:srgbClr val="123D6B"/>
                </a:solidFill>
                <a:latin typeface="+mn-lt"/>
              </a:defRPr>
            </a:lvl6pPr>
            <a:lvl7pPr marL="2971800" indent="-228600" algn="l" rtl="0" eaLnBrk="0" fontAlgn="base" hangingPunct="0">
              <a:spcBef>
                <a:spcPct val="20000"/>
              </a:spcBef>
              <a:spcAft>
                <a:spcPct val="0"/>
              </a:spcAft>
              <a:buClr>
                <a:srgbClr val="123D6B"/>
              </a:buClr>
              <a:buChar char="»"/>
              <a:defRPr sz="1600" b="1">
                <a:solidFill>
                  <a:srgbClr val="123D6B"/>
                </a:solidFill>
                <a:latin typeface="+mn-lt"/>
              </a:defRPr>
            </a:lvl7pPr>
            <a:lvl8pPr marL="3429000" indent="-228600" algn="l" rtl="0" eaLnBrk="0" fontAlgn="base" hangingPunct="0">
              <a:spcBef>
                <a:spcPct val="20000"/>
              </a:spcBef>
              <a:spcAft>
                <a:spcPct val="0"/>
              </a:spcAft>
              <a:buClr>
                <a:srgbClr val="123D6B"/>
              </a:buClr>
              <a:buChar char="»"/>
              <a:defRPr sz="1600" b="1">
                <a:solidFill>
                  <a:srgbClr val="123D6B"/>
                </a:solidFill>
                <a:latin typeface="+mn-lt"/>
              </a:defRPr>
            </a:lvl8pPr>
            <a:lvl9pPr marL="3886200" indent="-228600" algn="l" rtl="0" eaLnBrk="0" fontAlgn="base" hangingPunct="0">
              <a:spcBef>
                <a:spcPct val="20000"/>
              </a:spcBef>
              <a:spcAft>
                <a:spcPct val="0"/>
              </a:spcAft>
              <a:buClr>
                <a:srgbClr val="123D6B"/>
              </a:buClr>
              <a:buChar char="»"/>
              <a:defRPr sz="1600" b="1">
                <a:solidFill>
                  <a:srgbClr val="123D6B"/>
                </a:solidFill>
                <a:latin typeface="+mn-lt"/>
              </a:defRPr>
            </a:lvl9pPr>
          </a:lstStyle>
          <a:p>
            <a:pPr>
              <a:spcBef>
                <a:spcPct val="50000"/>
              </a:spcBef>
              <a:buClrTx/>
            </a:pPr>
            <a:endParaRPr lang="en-GB" dirty="0" smtClean="0">
              <a:latin typeface="+mj-lt"/>
              <a:cs typeface="Times New Roman" pitchFamily="18" charset="0"/>
            </a:endParaRPr>
          </a:p>
          <a:p>
            <a:r>
              <a:rPr lang="en-GB" dirty="0" smtClean="0">
                <a:latin typeface="+mj-lt"/>
                <a:cs typeface="Times New Roman" pitchFamily="18" charset="0"/>
              </a:rPr>
              <a:t>Cambridge Econometrics Training Course</a:t>
            </a:r>
            <a:endParaRPr lang="en-GB" dirty="0">
              <a:latin typeface="+mj-lt"/>
              <a:cs typeface="Times New Roman" pitchFamily="18" charset="0"/>
            </a:endParaRPr>
          </a:p>
          <a:p>
            <a:endParaRPr lang="en-GB" dirty="0" smtClean="0">
              <a:latin typeface="+mj-lt"/>
              <a:cs typeface="Times New Roman" pitchFamily="18" charset="0"/>
            </a:endParaRPr>
          </a:p>
        </p:txBody>
      </p:sp>
      <p:sp>
        <p:nvSpPr>
          <p:cNvPr id="9" name="Text Box 5"/>
          <p:cNvSpPr txBox="1">
            <a:spLocks noChangeArrowheads="1"/>
          </p:cNvSpPr>
          <p:nvPr/>
        </p:nvSpPr>
        <p:spPr bwMode="auto">
          <a:xfrm>
            <a:off x="6372200" y="6326087"/>
            <a:ext cx="247119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defPPr>
              <a:defRPr lang="en-GB"/>
            </a:defPPr>
            <a:lvl1pPr algn="l" rtl="0" eaLnBrk="0" fontAlgn="base" hangingPunct="0">
              <a:spcBef>
                <a:spcPct val="50000"/>
              </a:spcBef>
              <a:spcAft>
                <a:spcPct val="0"/>
              </a:spcAft>
              <a:defRPr sz="1600" kern="1200">
                <a:solidFill>
                  <a:schemeClr val="tx1"/>
                </a:solidFill>
                <a:latin typeface="Times New Roman" pitchFamily="18" charset="0"/>
                <a:ea typeface="+mn-ea"/>
                <a:cs typeface="+mn-cs"/>
              </a:defRPr>
            </a:lvl1pPr>
            <a:lvl2pPr marL="457200" algn="l" rtl="0" eaLnBrk="0" fontAlgn="base" hangingPunct="0">
              <a:spcBef>
                <a:spcPct val="50000"/>
              </a:spcBef>
              <a:spcAft>
                <a:spcPct val="0"/>
              </a:spcAft>
              <a:defRPr sz="1600" kern="1200">
                <a:solidFill>
                  <a:schemeClr val="tx1"/>
                </a:solidFill>
                <a:latin typeface="Times New Roman" pitchFamily="18" charset="0"/>
                <a:ea typeface="+mn-ea"/>
                <a:cs typeface="+mn-cs"/>
              </a:defRPr>
            </a:lvl2pPr>
            <a:lvl3pPr marL="914400" algn="l" rtl="0" eaLnBrk="0" fontAlgn="base" hangingPunct="0">
              <a:spcBef>
                <a:spcPct val="50000"/>
              </a:spcBef>
              <a:spcAft>
                <a:spcPct val="0"/>
              </a:spcAft>
              <a:defRPr sz="1600" kern="1200">
                <a:solidFill>
                  <a:schemeClr val="tx1"/>
                </a:solidFill>
                <a:latin typeface="Times New Roman" pitchFamily="18" charset="0"/>
                <a:ea typeface="+mn-ea"/>
                <a:cs typeface="+mn-cs"/>
              </a:defRPr>
            </a:lvl3pPr>
            <a:lvl4pPr marL="1371600" algn="l" rtl="0" eaLnBrk="0" fontAlgn="base" hangingPunct="0">
              <a:spcBef>
                <a:spcPct val="50000"/>
              </a:spcBef>
              <a:spcAft>
                <a:spcPct val="0"/>
              </a:spcAft>
              <a:defRPr sz="1600" kern="1200">
                <a:solidFill>
                  <a:schemeClr val="tx1"/>
                </a:solidFill>
                <a:latin typeface="Times New Roman" pitchFamily="18" charset="0"/>
                <a:ea typeface="+mn-ea"/>
                <a:cs typeface="+mn-cs"/>
              </a:defRPr>
            </a:lvl4pPr>
            <a:lvl5pPr marL="1828800" algn="l" rtl="0" eaLnBrk="0" fontAlgn="base" hangingPunct="0">
              <a:spcBef>
                <a:spcPct val="50000"/>
              </a:spcBef>
              <a:spcAft>
                <a:spcPct val="0"/>
              </a:spcAft>
              <a:defRPr sz="1600" kern="1200">
                <a:solidFill>
                  <a:schemeClr val="tx1"/>
                </a:solidFill>
                <a:latin typeface="Times New Roman" pitchFamily="18" charset="0"/>
                <a:ea typeface="+mn-ea"/>
                <a:cs typeface="+mn-cs"/>
              </a:defRPr>
            </a:lvl5pPr>
            <a:lvl6pPr marL="2286000" algn="l" defTabSz="914400" rtl="0" eaLnBrk="1" latinLnBrk="0" hangingPunct="1">
              <a:defRPr sz="1600" kern="1200">
                <a:solidFill>
                  <a:schemeClr val="tx1"/>
                </a:solidFill>
                <a:latin typeface="Times New Roman" pitchFamily="18" charset="0"/>
                <a:ea typeface="+mn-ea"/>
                <a:cs typeface="+mn-cs"/>
              </a:defRPr>
            </a:lvl6pPr>
            <a:lvl7pPr marL="2743200" algn="l" defTabSz="914400" rtl="0" eaLnBrk="1" latinLnBrk="0" hangingPunct="1">
              <a:defRPr sz="1600" kern="1200">
                <a:solidFill>
                  <a:schemeClr val="tx1"/>
                </a:solidFill>
                <a:latin typeface="Times New Roman" pitchFamily="18" charset="0"/>
                <a:ea typeface="+mn-ea"/>
                <a:cs typeface="+mn-cs"/>
              </a:defRPr>
            </a:lvl7pPr>
            <a:lvl8pPr marL="3200400" algn="l" defTabSz="914400" rtl="0" eaLnBrk="1" latinLnBrk="0" hangingPunct="1">
              <a:defRPr sz="1600" kern="1200">
                <a:solidFill>
                  <a:schemeClr val="tx1"/>
                </a:solidFill>
                <a:latin typeface="Times New Roman" pitchFamily="18" charset="0"/>
                <a:ea typeface="+mn-ea"/>
                <a:cs typeface="+mn-cs"/>
              </a:defRPr>
            </a:lvl8pPr>
            <a:lvl9pPr marL="3657600" algn="l" defTabSz="914400" rtl="0" eaLnBrk="1" latinLnBrk="0" hangingPunct="1">
              <a:defRPr sz="1600" kern="1200">
                <a:solidFill>
                  <a:schemeClr val="tx1"/>
                </a:solidFill>
                <a:latin typeface="Times New Roman" pitchFamily="18" charset="0"/>
                <a:ea typeface="+mn-ea"/>
                <a:cs typeface="+mn-cs"/>
              </a:defRPr>
            </a:lvl9pPr>
          </a:lstStyle>
          <a:p>
            <a:pPr algn="r"/>
            <a:r>
              <a:rPr lang="en-GB" sz="1400" dirty="0" smtClean="0">
                <a:solidFill>
                  <a:srgbClr val="123D6B"/>
                </a:solidFill>
                <a:latin typeface="Arial" charset="0"/>
              </a:rPr>
              <a:t>September 2015</a:t>
            </a:r>
            <a:endParaRPr lang="en-GB" sz="1400" dirty="0">
              <a:solidFill>
                <a:srgbClr val="123D6B"/>
              </a:solidFill>
              <a:latin typeface="Arial" charset="0"/>
            </a:endParaRPr>
          </a:p>
        </p:txBody>
      </p:sp>
    </p:spTree>
    <p:extLst>
      <p:ext uri="{BB962C8B-B14F-4D97-AF65-F5344CB8AC3E}">
        <p14:creationId xmlns:p14="http://schemas.microsoft.com/office/powerpoint/2010/main" xmlns="" val="15655658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Why use macroeconomic modelling?</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b="0" dirty="0" smtClean="0"/>
              <a:t>It is usually not possible to carry out experiments at macroeconomic level</a:t>
            </a:r>
          </a:p>
          <a:p>
            <a:r>
              <a:rPr lang="en-GB" dirty="0" smtClean="0"/>
              <a:t>Computer-based modelling is a component of the ‘next best alternative’ approach</a:t>
            </a:r>
          </a:p>
          <a:p>
            <a:r>
              <a:rPr lang="en-GB" b="0" dirty="0" smtClean="0"/>
              <a:t>All models provide a simplification of reality; h</a:t>
            </a:r>
            <a:r>
              <a:rPr lang="en-GB" dirty="0"/>
              <a:t>o</a:t>
            </a:r>
            <a:r>
              <a:rPr lang="en-GB" b="0" dirty="0" smtClean="0"/>
              <a:t>wever, the assumptions made in the simplification process must be realistic!</a:t>
            </a:r>
            <a:endParaRPr lang="en-GB" b="0" dirty="0"/>
          </a:p>
          <a:p>
            <a:endParaRPr lang="en-GB" b="0" dirty="0"/>
          </a:p>
        </p:txBody>
      </p:sp>
    </p:spTree>
    <p:extLst>
      <p:ext uri="{BB962C8B-B14F-4D97-AF65-F5344CB8AC3E}">
        <p14:creationId xmlns:p14="http://schemas.microsoft.com/office/powerpoint/2010/main" xmlns="" val="41615682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Introduction</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pPr marL="0" indent="0">
              <a:spcAft>
                <a:spcPts val="1200"/>
              </a:spcAft>
              <a:buNone/>
            </a:pPr>
            <a:r>
              <a:rPr lang="en-GB" b="0" i="1" dirty="0" smtClean="0"/>
              <a:t>“Good modelling involves the combination of best econometric practice, coherent economic theory and knowledge of data. Inevitably conflicts can arise between these three factors, and the modeller will need to exercise judgement in the weight that is attached to the econometric evidence, its consistency with theory and the requirement to model properly the time series observations”</a:t>
            </a:r>
          </a:p>
          <a:p>
            <a:pPr marL="0" indent="0">
              <a:buNone/>
            </a:pPr>
            <a:r>
              <a:rPr lang="en-GB" dirty="0" smtClean="0"/>
              <a:t>Sean Holly (2013)</a:t>
            </a:r>
            <a:endParaRPr lang="en-GB" b="0" dirty="0"/>
          </a:p>
        </p:txBody>
      </p:sp>
    </p:spTree>
    <p:extLst>
      <p:ext uri="{BB962C8B-B14F-4D97-AF65-F5344CB8AC3E}">
        <p14:creationId xmlns:p14="http://schemas.microsoft.com/office/powerpoint/2010/main" xmlns="" val="42204806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a:t>Outline</a:t>
            </a:r>
          </a:p>
        </p:txBody>
      </p:sp>
      <p:sp>
        <p:nvSpPr>
          <p:cNvPr id="86020" name="Rectangle 4"/>
          <p:cNvSpPr>
            <a:spLocks noGrp="1" noChangeArrowheads="1"/>
          </p:cNvSpPr>
          <p:nvPr>
            <p:ph type="body" idx="1"/>
          </p:nvPr>
        </p:nvSpPr>
        <p:spPr>
          <a:xfrm>
            <a:off x="611188" y="1676400"/>
            <a:ext cx="7546975" cy="4114800"/>
          </a:xfrm>
        </p:spPr>
        <p:txBody>
          <a:bodyPr/>
          <a:lstStyle/>
          <a:p>
            <a:r>
              <a:rPr lang="en-GB" b="0" dirty="0" smtClean="0"/>
              <a:t>Definitions</a:t>
            </a:r>
            <a:endParaRPr lang="en-GB" b="0" dirty="0"/>
          </a:p>
          <a:p>
            <a:r>
              <a:rPr lang="en-GB" b="0" dirty="0" smtClean="0"/>
              <a:t>Thoughts on CGE and macro-econometric approaches</a:t>
            </a:r>
          </a:p>
          <a:p>
            <a:r>
              <a:rPr lang="en-GB" dirty="0" smtClean="0"/>
              <a:t>Other modelling approaches</a:t>
            </a:r>
          </a:p>
          <a:p>
            <a:pPr lvl="1"/>
            <a:r>
              <a:rPr lang="en-GB" dirty="0" smtClean="0"/>
              <a:t>IAMS</a:t>
            </a:r>
          </a:p>
          <a:p>
            <a:pPr lvl="1"/>
            <a:r>
              <a:rPr lang="en-GB" dirty="0" smtClean="0"/>
              <a:t>Agent-Based models</a:t>
            </a:r>
          </a:p>
          <a:p>
            <a:r>
              <a:rPr lang="en-GB" b="0" dirty="0" smtClean="0"/>
              <a:t>Various key issues</a:t>
            </a:r>
            <a:endParaRPr lang="en-GB" b="0" dirty="0"/>
          </a:p>
          <a:p>
            <a:endParaRPr lang="en-GB" b="0" dirty="0"/>
          </a:p>
        </p:txBody>
      </p:sp>
    </p:spTree>
    <p:extLst>
      <p:ext uri="{BB962C8B-B14F-4D97-AF65-F5344CB8AC3E}">
        <p14:creationId xmlns:p14="http://schemas.microsoft.com/office/powerpoint/2010/main" xmlns="" val="38195668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General and Partial Modelling</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b="0" dirty="0" smtClean="0"/>
              <a:t>General models cover the whole economy</a:t>
            </a:r>
          </a:p>
          <a:p>
            <a:r>
              <a:rPr lang="en-GB" dirty="0" smtClean="0"/>
              <a:t>Partial models focus on a single sector, or a small group</a:t>
            </a:r>
          </a:p>
          <a:p>
            <a:r>
              <a:rPr lang="en-GB" b="0" dirty="0" smtClean="0"/>
              <a:t>In Europe, the main general models include:</a:t>
            </a:r>
          </a:p>
          <a:p>
            <a:pPr lvl="1"/>
            <a:r>
              <a:rPr lang="en-GB" dirty="0" smtClean="0"/>
              <a:t>GEM-E3, E3ME, </a:t>
            </a:r>
            <a:r>
              <a:rPr lang="en-GB" dirty="0" err="1" smtClean="0"/>
              <a:t>Worldscan</a:t>
            </a:r>
            <a:r>
              <a:rPr lang="en-GB" dirty="0" smtClean="0"/>
              <a:t>, GINFORS</a:t>
            </a:r>
            <a:endParaRPr lang="en-GB" b="0" dirty="0"/>
          </a:p>
          <a:p>
            <a:endParaRPr lang="en-GB" b="0" dirty="0"/>
          </a:p>
        </p:txBody>
      </p:sp>
    </p:spTree>
    <p:extLst>
      <p:ext uri="{BB962C8B-B14F-4D97-AF65-F5344CB8AC3E}">
        <p14:creationId xmlns:p14="http://schemas.microsoft.com/office/powerpoint/2010/main" xmlns="" val="3909945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Top-down and Bottom-up Modelling</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b="0" dirty="0" smtClean="0"/>
              <a:t>These terms mean different things in different areas of modelling</a:t>
            </a:r>
          </a:p>
          <a:p>
            <a:r>
              <a:rPr lang="en-GB" dirty="0" smtClean="0"/>
              <a:t>In energy modelling:</a:t>
            </a:r>
          </a:p>
          <a:p>
            <a:pPr lvl="1"/>
            <a:r>
              <a:rPr lang="en-GB" b="0" dirty="0" smtClean="0"/>
              <a:t>bottom-up models are specified by technology, they typically come from an engineering background</a:t>
            </a:r>
          </a:p>
          <a:p>
            <a:pPr lvl="1"/>
            <a:r>
              <a:rPr lang="en-GB" dirty="0" smtClean="0"/>
              <a:t>top-down models are based on economic relationships</a:t>
            </a:r>
          </a:p>
          <a:p>
            <a:r>
              <a:rPr lang="en-GB" dirty="0" smtClean="0"/>
              <a:t>As it is not possible to define all technologies explicitly, bottom-up models are partial</a:t>
            </a:r>
            <a:endParaRPr lang="en-GB" b="0" dirty="0"/>
          </a:p>
          <a:p>
            <a:endParaRPr lang="en-GB" b="0" dirty="0"/>
          </a:p>
        </p:txBody>
      </p:sp>
    </p:spTree>
    <p:extLst>
      <p:ext uri="{BB962C8B-B14F-4D97-AF65-F5344CB8AC3E}">
        <p14:creationId xmlns:p14="http://schemas.microsoft.com/office/powerpoint/2010/main" xmlns="" val="41668714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General Economic Model</a:t>
            </a:r>
            <a:endParaRPr lang="en-GB" dirty="0"/>
          </a:p>
        </p:txBody>
      </p:sp>
      <p:graphicFrame>
        <p:nvGraphicFramePr>
          <p:cNvPr id="4" name="Diagram 3"/>
          <p:cNvGraphicFramePr/>
          <p:nvPr>
            <p:extLst/>
          </p:nvPr>
        </p:nvGraphicFramePr>
        <p:xfrm>
          <a:off x="-8632" y="1628800"/>
          <a:ext cx="9144000" cy="55172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15054043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Types of partial model</a:t>
            </a:r>
            <a:endParaRPr lang="en-GB" b="0" dirty="0"/>
          </a:p>
        </p:txBody>
      </p:sp>
      <p:sp>
        <p:nvSpPr>
          <p:cNvPr id="86020" name="Rectangle 4"/>
          <p:cNvSpPr>
            <a:spLocks noGrp="1" noChangeArrowheads="1"/>
          </p:cNvSpPr>
          <p:nvPr>
            <p:ph type="body" idx="1"/>
          </p:nvPr>
        </p:nvSpPr>
        <p:spPr>
          <a:xfrm>
            <a:off x="611188" y="1676400"/>
            <a:ext cx="7777236" cy="4114800"/>
          </a:xfrm>
        </p:spPr>
        <p:txBody>
          <a:bodyPr/>
          <a:lstStyle/>
          <a:p>
            <a:r>
              <a:rPr lang="en-GB" b="0" dirty="0" smtClean="0"/>
              <a:t>They are often referred to as partial equilibrium models</a:t>
            </a:r>
          </a:p>
          <a:p>
            <a:r>
              <a:rPr lang="en-GB" dirty="0" smtClean="0"/>
              <a:t>Transport:</a:t>
            </a:r>
          </a:p>
          <a:p>
            <a:pPr lvl="1"/>
            <a:r>
              <a:rPr lang="en-GB" b="0" dirty="0" smtClean="0"/>
              <a:t>Trans-tools is a network model</a:t>
            </a:r>
          </a:p>
          <a:p>
            <a:pPr lvl="1"/>
            <a:r>
              <a:rPr lang="en-GB" dirty="0" err="1" smtClean="0"/>
              <a:t>Tremove</a:t>
            </a:r>
            <a:r>
              <a:rPr lang="en-GB" dirty="0" smtClean="0"/>
              <a:t> considers vehicle fleets, ASTRA links to economy</a:t>
            </a:r>
          </a:p>
          <a:p>
            <a:r>
              <a:rPr lang="en-GB" b="0" dirty="0" smtClean="0"/>
              <a:t>Energy:</a:t>
            </a:r>
          </a:p>
          <a:p>
            <a:pPr lvl="1"/>
            <a:r>
              <a:rPr lang="en-GB" dirty="0" smtClean="0"/>
              <a:t>PRIMES is an energy systems model that is highly detailed</a:t>
            </a:r>
          </a:p>
          <a:p>
            <a:pPr lvl="1"/>
            <a:r>
              <a:rPr lang="en-GB" b="0" dirty="0" smtClean="0"/>
              <a:t>POLES, TIMES, MESSAGE are other examples</a:t>
            </a:r>
          </a:p>
          <a:p>
            <a:r>
              <a:rPr lang="en-GB" dirty="0" smtClean="0"/>
              <a:t>Agriculture and land use:</a:t>
            </a:r>
          </a:p>
          <a:p>
            <a:pPr lvl="1"/>
            <a:r>
              <a:rPr lang="en-GB" b="0" dirty="0" smtClean="0"/>
              <a:t>IMAGE and GLOBIOM are widely used to assess land use</a:t>
            </a:r>
          </a:p>
          <a:p>
            <a:pPr lvl="1"/>
            <a:r>
              <a:rPr lang="en-GB" b="0" dirty="0" smtClean="0"/>
              <a:t>CAPRI is used for agricultural analysis</a:t>
            </a:r>
            <a:endParaRPr lang="en-GB" b="0" dirty="0"/>
          </a:p>
          <a:p>
            <a:endParaRPr lang="en-GB" b="0" dirty="0"/>
          </a:p>
        </p:txBody>
      </p:sp>
    </p:spTree>
    <p:extLst>
      <p:ext uri="{BB962C8B-B14F-4D97-AF65-F5344CB8AC3E}">
        <p14:creationId xmlns:p14="http://schemas.microsoft.com/office/powerpoint/2010/main" xmlns="" val="668421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Industrial Models?</a:t>
            </a:r>
            <a:endParaRPr lang="en-GB" b="0" dirty="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9552" y="1628800"/>
            <a:ext cx="5472608" cy="410445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TextBox 2"/>
          <p:cNvSpPr txBox="1"/>
          <p:nvPr/>
        </p:nvSpPr>
        <p:spPr>
          <a:xfrm>
            <a:off x="539552" y="5978257"/>
            <a:ext cx="5400600" cy="584775"/>
          </a:xfrm>
          <a:prstGeom prst="rect">
            <a:avLst/>
          </a:prstGeom>
          <a:noFill/>
        </p:spPr>
        <p:txBody>
          <a:bodyPr wrap="square" rtlCol="0">
            <a:spAutoFit/>
          </a:bodyPr>
          <a:lstStyle/>
          <a:p>
            <a:r>
              <a:rPr lang="en-GB" dirty="0" err="1" smtClean="0"/>
              <a:t>Santamaria</a:t>
            </a:r>
            <a:r>
              <a:rPr lang="en-GB" dirty="0" smtClean="0"/>
              <a:t> </a:t>
            </a:r>
            <a:r>
              <a:rPr lang="en-GB" dirty="0"/>
              <a:t>and Linares </a:t>
            </a:r>
            <a:r>
              <a:rPr lang="en-GB" dirty="0" smtClean="0"/>
              <a:t>(2011) </a:t>
            </a:r>
            <a:r>
              <a:rPr lang="en-GB" dirty="0">
                <a:hlinkClick r:id="rId4"/>
              </a:rPr>
              <a:t>http://</a:t>
            </a:r>
            <a:r>
              <a:rPr lang="en-GB" dirty="0" smtClean="0">
                <a:hlinkClick r:id="rId4"/>
              </a:rPr>
              <a:t>www.iit.upcomillas.es/docs/IIT-11-090A.pdf</a:t>
            </a:r>
            <a:r>
              <a:rPr lang="en-GB" dirty="0" smtClean="0"/>
              <a:t> </a:t>
            </a:r>
            <a:endParaRPr lang="en-GB" dirty="0"/>
          </a:p>
        </p:txBody>
      </p:sp>
    </p:spTree>
    <p:extLst>
      <p:ext uri="{BB962C8B-B14F-4D97-AF65-F5344CB8AC3E}">
        <p14:creationId xmlns:p14="http://schemas.microsoft.com/office/powerpoint/2010/main" xmlns="" val="18425719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Equilibrium and Non-Equilibrium</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b="0" dirty="0" smtClean="0"/>
              <a:t>There are several different ways of characterising this distinction:</a:t>
            </a:r>
          </a:p>
          <a:p>
            <a:pPr lvl="1"/>
            <a:r>
              <a:rPr lang="en-GB" dirty="0" smtClean="0"/>
              <a:t>supply or demand driven</a:t>
            </a:r>
          </a:p>
          <a:p>
            <a:pPr lvl="1"/>
            <a:r>
              <a:rPr lang="en-GB" b="0" dirty="0" smtClean="0"/>
              <a:t>long or short term</a:t>
            </a:r>
          </a:p>
          <a:p>
            <a:pPr lvl="1"/>
            <a:r>
              <a:rPr lang="en-GB" dirty="0" smtClean="0"/>
              <a:t>theoretical or empirical</a:t>
            </a:r>
          </a:p>
          <a:p>
            <a:r>
              <a:rPr lang="en-GB" b="0" dirty="0" smtClean="0"/>
              <a:t>Not all are completely accurate, especially now as the two approaches are coming closer together</a:t>
            </a:r>
          </a:p>
          <a:p>
            <a:endParaRPr lang="en-GB" b="0" dirty="0"/>
          </a:p>
        </p:txBody>
      </p:sp>
    </p:spTree>
    <p:extLst>
      <p:ext uri="{BB962C8B-B14F-4D97-AF65-F5344CB8AC3E}">
        <p14:creationId xmlns:p14="http://schemas.microsoft.com/office/powerpoint/2010/main" xmlns="" val="11311241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a:xfrm>
            <a:off x="611188" y="304800"/>
            <a:ext cx="8065268" cy="1143000"/>
          </a:xfrm>
        </p:spPr>
        <p:txBody>
          <a:bodyPr/>
          <a:lstStyle/>
          <a:p>
            <a:r>
              <a:rPr lang="en-GB" b="0" dirty="0" smtClean="0"/>
              <a:t>Equilibrium and Non-Equilibrium (cont.)</a:t>
            </a:r>
            <a:endParaRPr lang="en-GB" b="0" dirty="0"/>
          </a:p>
        </p:txBody>
      </p:sp>
      <p:sp>
        <p:nvSpPr>
          <p:cNvPr id="86020" name="Rectangle 4"/>
          <p:cNvSpPr>
            <a:spLocks noGrp="1" noChangeArrowheads="1"/>
          </p:cNvSpPr>
          <p:nvPr>
            <p:ph type="body" idx="1"/>
          </p:nvPr>
        </p:nvSpPr>
        <p:spPr>
          <a:xfrm>
            <a:off x="611188" y="1676400"/>
            <a:ext cx="7993260" cy="4632920"/>
          </a:xfrm>
        </p:spPr>
        <p:txBody>
          <a:bodyPr>
            <a:normAutofit fontScale="92500" lnSpcReduction="10000"/>
          </a:bodyPr>
          <a:lstStyle/>
          <a:p>
            <a:r>
              <a:rPr lang="en-GB" b="0" dirty="0" smtClean="0"/>
              <a:t>In the 1960s and 1970s the </a:t>
            </a:r>
            <a:r>
              <a:rPr lang="en-GB" b="0" dirty="0" err="1" smtClean="0"/>
              <a:t>macroeconometric</a:t>
            </a:r>
            <a:r>
              <a:rPr lang="en-GB" b="0" dirty="0" smtClean="0"/>
              <a:t> approach dominated</a:t>
            </a:r>
          </a:p>
          <a:p>
            <a:r>
              <a:rPr lang="en-GB" dirty="0" smtClean="0"/>
              <a:t>Holly (2013) provides eight reasons for a ‘backlash’ against the approach:</a:t>
            </a:r>
          </a:p>
          <a:p>
            <a:pPr lvl="1"/>
            <a:r>
              <a:rPr lang="en-GB" dirty="0" smtClean="0"/>
              <a:t>neglect of monetary influence</a:t>
            </a:r>
          </a:p>
          <a:p>
            <a:pPr lvl="1"/>
            <a:r>
              <a:rPr lang="en-GB" b="0" dirty="0" smtClean="0"/>
              <a:t>the Lucas Critique and rational expectations</a:t>
            </a:r>
          </a:p>
          <a:p>
            <a:pPr lvl="1"/>
            <a:r>
              <a:rPr lang="en-GB" dirty="0" smtClean="0"/>
              <a:t>lack of micro-foundations</a:t>
            </a:r>
          </a:p>
          <a:p>
            <a:pPr lvl="1"/>
            <a:r>
              <a:rPr lang="en-GB" dirty="0" smtClean="0"/>
              <a:t>the </a:t>
            </a:r>
            <a:r>
              <a:rPr lang="en-GB" dirty="0" err="1" smtClean="0"/>
              <a:t>Sim’s</a:t>
            </a:r>
            <a:r>
              <a:rPr lang="en-GB" dirty="0" smtClean="0"/>
              <a:t> critique of macro-modelling</a:t>
            </a:r>
          </a:p>
          <a:p>
            <a:pPr lvl="1"/>
            <a:r>
              <a:rPr lang="en-GB" b="0" dirty="0" smtClean="0"/>
              <a:t>inadequate treatment of error processes</a:t>
            </a:r>
          </a:p>
          <a:p>
            <a:pPr lvl="1"/>
            <a:r>
              <a:rPr lang="en-GB" dirty="0" smtClean="0"/>
              <a:t>failure to use insights from optimal control theory</a:t>
            </a:r>
          </a:p>
          <a:p>
            <a:pPr lvl="1"/>
            <a:r>
              <a:rPr lang="en-GB" b="0" dirty="0" smtClean="0"/>
              <a:t>time-inconsistency of discretionary policy</a:t>
            </a:r>
          </a:p>
          <a:p>
            <a:pPr lvl="1"/>
            <a:r>
              <a:rPr lang="en-GB" dirty="0" smtClean="0"/>
              <a:t>ideological opposition to government ‘control’</a:t>
            </a:r>
          </a:p>
          <a:p>
            <a:r>
              <a:rPr lang="en-GB" b="0" dirty="0" smtClean="0"/>
              <a:t>The focus of research moved to CGE approaches</a:t>
            </a:r>
          </a:p>
          <a:p>
            <a:endParaRPr lang="en-GB" b="0" dirty="0"/>
          </a:p>
        </p:txBody>
      </p:sp>
    </p:spTree>
    <p:extLst>
      <p:ext uri="{BB962C8B-B14F-4D97-AF65-F5344CB8AC3E}">
        <p14:creationId xmlns:p14="http://schemas.microsoft.com/office/powerpoint/2010/main" xmlns="" val="32583255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Examples of models in Europe</a:t>
            </a:r>
            <a:endParaRPr lang="en-GB" b="0" dirty="0"/>
          </a:p>
        </p:txBody>
      </p:sp>
      <p:cxnSp>
        <p:nvCxnSpPr>
          <p:cNvPr id="4" name="Straight Connector 3"/>
          <p:cNvCxnSpPr/>
          <p:nvPr/>
        </p:nvCxnSpPr>
        <p:spPr bwMode="auto">
          <a:xfrm>
            <a:off x="2771800" y="1916832"/>
            <a:ext cx="0" cy="4176464"/>
          </a:xfrm>
          <a:prstGeom prst="line">
            <a:avLst/>
          </a:pr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 name="Straight Connector 6"/>
          <p:cNvCxnSpPr/>
          <p:nvPr/>
        </p:nvCxnSpPr>
        <p:spPr bwMode="auto">
          <a:xfrm>
            <a:off x="5508104" y="1916832"/>
            <a:ext cx="0" cy="4176464"/>
          </a:xfrm>
          <a:prstGeom prst="line">
            <a:avLst/>
          </a:pr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 name="Straight Connector 5"/>
          <p:cNvCxnSpPr/>
          <p:nvPr/>
        </p:nvCxnSpPr>
        <p:spPr bwMode="auto">
          <a:xfrm>
            <a:off x="611560" y="2912750"/>
            <a:ext cx="7560840" cy="0"/>
          </a:xfrm>
          <a:prstGeom prst="line">
            <a:avLst/>
          </a:pr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Connector 9"/>
          <p:cNvCxnSpPr/>
          <p:nvPr/>
        </p:nvCxnSpPr>
        <p:spPr bwMode="auto">
          <a:xfrm>
            <a:off x="611560" y="4280902"/>
            <a:ext cx="7560840" cy="0"/>
          </a:xfrm>
          <a:prstGeom prst="line">
            <a:avLst/>
          </a:pr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8" name="TextBox 7"/>
          <p:cNvSpPr txBox="1"/>
          <p:nvPr/>
        </p:nvSpPr>
        <p:spPr>
          <a:xfrm>
            <a:off x="755576" y="3416806"/>
            <a:ext cx="1800200" cy="400110"/>
          </a:xfrm>
          <a:prstGeom prst="rect">
            <a:avLst/>
          </a:prstGeom>
          <a:noFill/>
        </p:spPr>
        <p:txBody>
          <a:bodyPr wrap="square" rtlCol="0">
            <a:spAutoFit/>
          </a:bodyPr>
          <a:lstStyle/>
          <a:p>
            <a:r>
              <a:rPr lang="en-GB" sz="2000" dirty="0" smtClean="0"/>
              <a:t>General</a:t>
            </a:r>
            <a:endParaRPr lang="en-GB" sz="2000" dirty="0"/>
          </a:p>
        </p:txBody>
      </p:sp>
      <p:sp>
        <p:nvSpPr>
          <p:cNvPr id="12" name="TextBox 11"/>
          <p:cNvSpPr txBox="1"/>
          <p:nvPr/>
        </p:nvSpPr>
        <p:spPr>
          <a:xfrm>
            <a:off x="6012160" y="2204864"/>
            <a:ext cx="2160240" cy="400110"/>
          </a:xfrm>
          <a:prstGeom prst="rect">
            <a:avLst/>
          </a:prstGeom>
          <a:noFill/>
        </p:spPr>
        <p:txBody>
          <a:bodyPr wrap="square" rtlCol="0">
            <a:spAutoFit/>
          </a:bodyPr>
          <a:lstStyle/>
          <a:p>
            <a:r>
              <a:rPr lang="en-GB" sz="2000" dirty="0" smtClean="0"/>
              <a:t>Non-Equilibrium</a:t>
            </a:r>
            <a:endParaRPr lang="en-GB" sz="2000" dirty="0"/>
          </a:p>
        </p:txBody>
      </p:sp>
      <p:sp>
        <p:nvSpPr>
          <p:cNvPr id="13" name="TextBox 12"/>
          <p:cNvSpPr txBox="1"/>
          <p:nvPr/>
        </p:nvSpPr>
        <p:spPr>
          <a:xfrm>
            <a:off x="755576" y="4749825"/>
            <a:ext cx="1800200" cy="400110"/>
          </a:xfrm>
          <a:prstGeom prst="rect">
            <a:avLst/>
          </a:prstGeom>
          <a:noFill/>
        </p:spPr>
        <p:txBody>
          <a:bodyPr wrap="square" rtlCol="0">
            <a:spAutoFit/>
          </a:bodyPr>
          <a:lstStyle/>
          <a:p>
            <a:r>
              <a:rPr lang="en-GB" sz="2000" dirty="0" smtClean="0"/>
              <a:t>Partial</a:t>
            </a:r>
            <a:endParaRPr lang="en-GB" sz="2000" dirty="0"/>
          </a:p>
        </p:txBody>
      </p:sp>
      <p:sp>
        <p:nvSpPr>
          <p:cNvPr id="14" name="TextBox 13"/>
          <p:cNvSpPr txBox="1"/>
          <p:nvPr/>
        </p:nvSpPr>
        <p:spPr>
          <a:xfrm>
            <a:off x="3347864" y="2204864"/>
            <a:ext cx="1800200" cy="400110"/>
          </a:xfrm>
          <a:prstGeom prst="rect">
            <a:avLst/>
          </a:prstGeom>
          <a:noFill/>
        </p:spPr>
        <p:txBody>
          <a:bodyPr wrap="square" rtlCol="0">
            <a:spAutoFit/>
          </a:bodyPr>
          <a:lstStyle/>
          <a:p>
            <a:r>
              <a:rPr lang="en-GB" sz="2000" dirty="0" smtClean="0"/>
              <a:t>Equilibrium</a:t>
            </a:r>
            <a:endParaRPr lang="en-GB" sz="2000" dirty="0"/>
          </a:p>
        </p:txBody>
      </p:sp>
      <p:sp>
        <p:nvSpPr>
          <p:cNvPr id="9" name="TextBox 8"/>
          <p:cNvSpPr txBox="1"/>
          <p:nvPr/>
        </p:nvSpPr>
        <p:spPr>
          <a:xfrm>
            <a:off x="3347864" y="3272790"/>
            <a:ext cx="1512168" cy="861774"/>
          </a:xfrm>
          <a:prstGeom prst="rect">
            <a:avLst/>
          </a:prstGeom>
          <a:noFill/>
        </p:spPr>
        <p:txBody>
          <a:bodyPr wrap="square" rtlCol="0">
            <a:spAutoFit/>
          </a:bodyPr>
          <a:lstStyle/>
          <a:p>
            <a:r>
              <a:rPr lang="en-GB" sz="2000" dirty="0" smtClean="0"/>
              <a:t>GEM-E3*</a:t>
            </a:r>
          </a:p>
          <a:p>
            <a:r>
              <a:rPr lang="en-GB" sz="2000" dirty="0" err="1" smtClean="0"/>
              <a:t>WorldScan</a:t>
            </a:r>
            <a:r>
              <a:rPr lang="en-GB" sz="2000" dirty="0" smtClean="0"/>
              <a:t>*</a:t>
            </a:r>
            <a:endParaRPr lang="en-GB" sz="2000" dirty="0"/>
          </a:p>
        </p:txBody>
      </p:sp>
      <p:sp>
        <p:nvSpPr>
          <p:cNvPr id="16" name="TextBox 15"/>
          <p:cNvSpPr txBox="1"/>
          <p:nvPr/>
        </p:nvSpPr>
        <p:spPr>
          <a:xfrm>
            <a:off x="6016352" y="3272790"/>
            <a:ext cx="1512168" cy="861774"/>
          </a:xfrm>
          <a:prstGeom prst="rect">
            <a:avLst/>
          </a:prstGeom>
          <a:noFill/>
        </p:spPr>
        <p:txBody>
          <a:bodyPr wrap="square" rtlCol="0">
            <a:spAutoFit/>
          </a:bodyPr>
          <a:lstStyle/>
          <a:p>
            <a:r>
              <a:rPr lang="en-GB" sz="2000" dirty="0" smtClean="0"/>
              <a:t>E3ME*</a:t>
            </a:r>
          </a:p>
          <a:p>
            <a:r>
              <a:rPr lang="en-GB" sz="2000" dirty="0" smtClean="0"/>
              <a:t>GINFORS*</a:t>
            </a:r>
            <a:endParaRPr lang="en-GB" sz="2000" dirty="0"/>
          </a:p>
        </p:txBody>
      </p:sp>
      <p:sp>
        <p:nvSpPr>
          <p:cNvPr id="17" name="TextBox 16"/>
          <p:cNvSpPr txBox="1"/>
          <p:nvPr/>
        </p:nvSpPr>
        <p:spPr>
          <a:xfrm>
            <a:off x="3347864" y="4642103"/>
            <a:ext cx="2160240" cy="861774"/>
          </a:xfrm>
          <a:prstGeom prst="rect">
            <a:avLst/>
          </a:prstGeom>
          <a:noFill/>
        </p:spPr>
        <p:txBody>
          <a:bodyPr wrap="square" rtlCol="0">
            <a:spAutoFit/>
          </a:bodyPr>
          <a:lstStyle/>
          <a:p>
            <a:r>
              <a:rPr lang="en-GB" sz="2000" dirty="0" smtClean="0"/>
              <a:t>PRIMES (energy)</a:t>
            </a:r>
          </a:p>
          <a:p>
            <a:r>
              <a:rPr lang="en-GB" sz="2000" dirty="0" smtClean="0"/>
              <a:t>TIMES (energy)</a:t>
            </a:r>
            <a:endParaRPr lang="en-GB" sz="2000" dirty="0"/>
          </a:p>
        </p:txBody>
      </p:sp>
      <p:sp>
        <p:nvSpPr>
          <p:cNvPr id="18" name="TextBox 17"/>
          <p:cNvSpPr txBox="1"/>
          <p:nvPr/>
        </p:nvSpPr>
        <p:spPr>
          <a:xfrm>
            <a:off x="6016352" y="4642103"/>
            <a:ext cx="2444080" cy="861774"/>
          </a:xfrm>
          <a:prstGeom prst="rect">
            <a:avLst/>
          </a:prstGeom>
          <a:noFill/>
        </p:spPr>
        <p:txBody>
          <a:bodyPr wrap="square" rtlCol="0">
            <a:spAutoFit/>
          </a:bodyPr>
          <a:lstStyle/>
          <a:p>
            <a:r>
              <a:rPr lang="en-GB" sz="2000" dirty="0" smtClean="0"/>
              <a:t>ASTRA (transport)</a:t>
            </a:r>
          </a:p>
          <a:p>
            <a:r>
              <a:rPr lang="en-GB" sz="2000" dirty="0" smtClean="0"/>
              <a:t>POLES (energy)</a:t>
            </a:r>
            <a:endParaRPr lang="en-GB" sz="2000" dirty="0"/>
          </a:p>
        </p:txBody>
      </p:sp>
      <p:sp>
        <p:nvSpPr>
          <p:cNvPr id="2" name="Rectangle 1"/>
          <p:cNvSpPr/>
          <p:nvPr/>
        </p:nvSpPr>
        <p:spPr>
          <a:xfrm>
            <a:off x="481329" y="6166766"/>
            <a:ext cx="4337534" cy="338554"/>
          </a:xfrm>
          <a:prstGeom prst="rect">
            <a:avLst/>
          </a:prstGeom>
        </p:spPr>
        <p:txBody>
          <a:bodyPr wrap="none">
            <a:spAutoFit/>
          </a:bodyPr>
          <a:lstStyle/>
          <a:p>
            <a:r>
              <a:rPr lang="en-GB" dirty="0" smtClean="0"/>
              <a:t>* These models cover the World, including Europe</a:t>
            </a:r>
            <a:endParaRPr lang="en-GB" dirty="0"/>
          </a:p>
        </p:txBody>
      </p:sp>
    </p:spTree>
    <p:extLst>
      <p:ext uri="{BB962C8B-B14F-4D97-AF65-F5344CB8AC3E}">
        <p14:creationId xmlns:p14="http://schemas.microsoft.com/office/powerpoint/2010/main" xmlns="" val="42365892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Treatment of Supply and Demand?</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This is a question of whether the constraint on output comes from the supply side capacity (CGE) or from the level of effective demand (</a:t>
            </a:r>
            <a:r>
              <a:rPr lang="en-GB" dirty="0" err="1" smtClean="0"/>
              <a:t>macroeconometric</a:t>
            </a:r>
            <a:r>
              <a:rPr lang="en-GB" dirty="0" smtClean="0"/>
              <a:t>)</a:t>
            </a:r>
          </a:p>
          <a:p>
            <a:r>
              <a:rPr lang="en-GB" b="0" dirty="0" smtClean="0"/>
              <a:t>It is closel</a:t>
            </a:r>
            <a:r>
              <a:rPr lang="en-GB" dirty="0" smtClean="0"/>
              <a:t>y linked to the issue of how prices are formulated and the efficiency of markets</a:t>
            </a:r>
          </a:p>
          <a:p>
            <a:r>
              <a:rPr lang="en-GB" b="0" dirty="0" smtClean="0"/>
              <a:t>It is therefore also closely linked to underlying assumptions about how markets work (efficiently in CGE models, how they did in the past in econometric models)</a:t>
            </a:r>
            <a:endParaRPr lang="en-GB" b="0" dirty="0"/>
          </a:p>
          <a:p>
            <a:endParaRPr lang="en-GB" b="0" dirty="0"/>
          </a:p>
        </p:txBody>
      </p:sp>
    </p:spTree>
    <p:extLst>
      <p:ext uri="{BB962C8B-B14F-4D97-AF65-F5344CB8AC3E}">
        <p14:creationId xmlns:p14="http://schemas.microsoft.com/office/powerpoint/2010/main" xmlns="" val="3624800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Long and Short-Term Analysis?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In conceptual terms the distinction is linked to the ‘neo-classical synthesis’:</a:t>
            </a:r>
            <a:endParaRPr lang="en-GB" dirty="0"/>
          </a:p>
          <a:p>
            <a:pPr lvl="1"/>
            <a:r>
              <a:rPr lang="en-GB" dirty="0" smtClean="0"/>
              <a:t>aggregate demand may be a short-run constraint</a:t>
            </a:r>
          </a:p>
          <a:p>
            <a:pPr lvl="1"/>
            <a:r>
              <a:rPr lang="en-GB" dirty="0" smtClean="0"/>
              <a:t>but long-term growth rates determined by supply-side factors</a:t>
            </a:r>
          </a:p>
          <a:p>
            <a:r>
              <a:rPr lang="en-GB" dirty="0" smtClean="0"/>
              <a:t>Attempts have been made to create CGE models suitable for short-term assessment (DSGE)</a:t>
            </a:r>
          </a:p>
          <a:p>
            <a:pPr lvl="1"/>
            <a:r>
              <a:rPr lang="en-GB" dirty="0" smtClean="0"/>
              <a:t>these are now widely used in central banks</a:t>
            </a:r>
          </a:p>
          <a:p>
            <a:r>
              <a:rPr lang="en-GB" dirty="0" smtClean="0"/>
              <a:t>Modern econometrics  largely supports long-run analysis</a:t>
            </a:r>
          </a:p>
        </p:txBody>
      </p:sp>
    </p:spTree>
    <p:extLst>
      <p:ext uri="{BB962C8B-B14F-4D97-AF65-F5344CB8AC3E}">
        <p14:creationId xmlns:p14="http://schemas.microsoft.com/office/powerpoint/2010/main" xmlns="" val="26439522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Theoretical and Empirical?</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This distinction can also be exaggerated somewhat:</a:t>
            </a:r>
          </a:p>
          <a:p>
            <a:pPr lvl="1"/>
            <a:r>
              <a:rPr lang="en-GB" dirty="0" smtClean="0"/>
              <a:t>most CGE models incorporate econometric estimates in their elasticities, although the treatment of prices is still theoretical</a:t>
            </a:r>
          </a:p>
          <a:p>
            <a:pPr lvl="1"/>
            <a:r>
              <a:rPr lang="en-GB" dirty="0" smtClean="0"/>
              <a:t>econometric models are ‘statistical’ in the way their parameter coefficients are derived, but the choice of parameters depends on basic economic theory</a:t>
            </a:r>
          </a:p>
        </p:txBody>
      </p:sp>
    </p:spTree>
    <p:extLst>
      <p:ext uri="{BB962C8B-B14F-4D97-AF65-F5344CB8AC3E}">
        <p14:creationId xmlns:p14="http://schemas.microsoft.com/office/powerpoint/2010/main" xmlns="" val="35830176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The differences in practice…</a:t>
            </a:r>
            <a:endParaRPr lang="en-GB" b="0" dirty="0"/>
          </a:p>
        </p:txBody>
      </p:sp>
      <p:pic>
        <p:nvPicPr>
          <p:cNvPr id="5" name="Picture 4"/>
          <p:cNvPicPr>
            <a:picLocks noChangeAspect="1"/>
          </p:cNvPicPr>
          <p:nvPr/>
        </p:nvPicPr>
        <p:blipFill>
          <a:blip r:embed="rId3" cstate="print"/>
          <a:stretch>
            <a:fillRect/>
          </a:stretch>
        </p:blipFill>
        <p:spPr>
          <a:xfrm>
            <a:off x="345218" y="1901955"/>
            <a:ext cx="2971800" cy="4273960"/>
          </a:xfrm>
          <a:prstGeom prst="rect">
            <a:avLst/>
          </a:prstGeom>
          <a:ln>
            <a:solidFill>
              <a:schemeClr val="tx1"/>
            </a:solidFill>
          </a:ln>
        </p:spPr>
      </p:pic>
      <p:pic>
        <p:nvPicPr>
          <p:cNvPr id="6" name="Picture 5"/>
          <p:cNvPicPr>
            <a:picLocks noChangeAspect="1"/>
          </p:cNvPicPr>
          <p:nvPr/>
        </p:nvPicPr>
        <p:blipFill>
          <a:blip r:embed="rId4" cstate="print"/>
          <a:stretch>
            <a:fillRect/>
          </a:stretch>
        </p:blipFill>
        <p:spPr>
          <a:xfrm>
            <a:off x="3799413" y="2635928"/>
            <a:ext cx="4708770" cy="2890271"/>
          </a:xfrm>
          <a:prstGeom prst="rect">
            <a:avLst/>
          </a:prstGeom>
        </p:spPr>
      </p:pic>
      <p:sp>
        <p:nvSpPr>
          <p:cNvPr id="7" name="TextBox 6"/>
          <p:cNvSpPr txBox="1"/>
          <p:nvPr/>
        </p:nvSpPr>
        <p:spPr>
          <a:xfrm>
            <a:off x="3707904" y="5612489"/>
            <a:ext cx="5867400" cy="246221"/>
          </a:xfrm>
          <a:prstGeom prst="rect">
            <a:avLst/>
          </a:prstGeom>
          <a:noFill/>
        </p:spPr>
        <p:txBody>
          <a:bodyPr wrap="square" rtlCol="0">
            <a:spAutoFit/>
          </a:bodyPr>
          <a:lstStyle/>
          <a:p>
            <a:r>
              <a:rPr lang="en-US" sz="1000" dirty="0" smtClean="0">
                <a:sym typeface="Wingdings" panose="05000000000000000000" pitchFamily="2" charset="2"/>
              </a:rPr>
              <a:t>Source: Employment Effects of the Energy Roadmap, Cambridge Econometrics et al (2013)</a:t>
            </a:r>
            <a:endParaRPr lang="en-US" sz="1000" dirty="0"/>
          </a:p>
        </p:txBody>
      </p:sp>
      <p:sp>
        <p:nvSpPr>
          <p:cNvPr id="8" name="TextBox 7"/>
          <p:cNvSpPr txBox="1"/>
          <p:nvPr/>
        </p:nvSpPr>
        <p:spPr>
          <a:xfrm>
            <a:off x="3360514" y="1609551"/>
            <a:ext cx="2508305" cy="369332"/>
          </a:xfrm>
          <a:prstGeom prst="rect">
            <a:avLst/>
          </a:prstGeom>
          <a:noFill/>
        </p:spPr>
        <p:txBody>
          <a:bodyPr wrap="square" rtlCol="0">
            <a:spAutoFit/>
          </a:bodyPr>
          <a:lstStyle/>
          <a:p>
            <a:r>
              <a:rPr lang="en-US" dirty="0" smtClean="0">
                <a:sym typeface="Wingdings" panose="05000000000000000000" pitchFamily="2" charset="2"/>
              </a:rPr>
              <a:t>High energy efficiency</a:t>
            </a:r>
            <a:endParaRPr lang="en-US" dirty="0"/>
          </a:p>
        </p:txBody>
      </p:sp>
      <p:cxnSp>
        <p:nvCxnSpPr>
          <p:cNvPr id="9" name="Straight Arrow Connector 8"/>
          <p:cNvCxnSpPr/>
          <p:nvPr/>
        </p:nvCxnSpPr>
        <p:spPr>
          <a:xfrm>
            <a:off x="4133824" y="1928232"/>
            <a:ext cx="130395" cy="13035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732240" y="1691606"/>
            <a:ext cx="2508305" cy="646331"/>
          </a:xfrm>
          <a:prstGeom prst="rect">
            <a:avLst/>
          </a:prstGeom>
          <a:noFill/>
        </p:spPr>
        <p:txBody>
          <a:bodyPr wrap="square" rtlCol="0">
            <a:spAutoFit/>
          </a:bodyPr>
          <a:lstStyle/>
          <a:p>
            <a:r>
              <a:rPr lang="en-US" dirty="0" smtClean="0">
                <a:sym typeface="Wingdings" panose="05000000000000000000" pitchFamily="2" charset="2"/>
              </a:rPr>
              <a:t>Delayed CCS and low nuclear cases</a:t>
            </a:r>
            <a:endParaRPr lang="en-US" dirty="0"/>
          </a:p>
        </p:txBody>
      </p:sp>
      <p:cxnSp>
        <p:nvCxnSpPr>
          <p:cNvPr id="11" name="Straight Arrow Connector 10"/>
          <p:cNvCxnSpPr/>
          <p:nvPr/>
        </p:nvCxnSpPr>
        <p:spPr>
          <a:xfrm flipH="1">
            <a:off x="7092280" y="2340716"/>
            <a:ext cx="425395" cy="8411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609223" y="1688827"/>
            <a:ext cx="2508305" cy="369332"/>
          </a:xfrm>
          <a:prstGeom prst="rect">
            <a:avLst/>
          </a:prstGeom>
          <a:noFill/>
        </p:spPr>
        <p:txBody>
          <a:bodyPr wrap="square" rtlCol="0">
            <a:spAutoFit/>
          </a:bodyPr>
          <a:lstStyle/>
          <a:p>
            <a:r>
              <a:rPr lang="en-US" dirty="0" smtClean="0">
                <a:sym typeface="Wingdings" panose="05000000000000000000" pitchFamily="2" charset="2"/>
              </a:rPr>
              <a:t>High RES</a:t>
            </a:r>
            <a:endParaRPr lang="en-US" dirty="0"/>
          </a:p>
        </p:txBody>
      </p:sp>
      <p:cxnSp>
        <p:nvCxnSpPr>
          <p:cNvPr id="13" name="Straight Arrow Connector 12"/>
          <p:cNvCxnSpPr/>
          <p:nvPr/>
        </p:nvCxnSpPr>
        <p:spPr>
          <a:xfrm flipH="1">
            <a:off x="5808855" y="2058159"/>
            <a:ext cx="152400" cy="22818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607806" y="2117339"/>
            <a:ext cx="2508305" cy="369332"/>
          </a:xfrm>
          <a:prstGeom prst="rect">
            <a:avLst/>
          </a:prstGeom>
          <a:noFill/>
        </p:spPr>
        <p:txBody>
          <a:bodyPr wrap="square" rtlCol="0">
            <a:spAutoFit/>
          </a:bodyPr>
          <a:lstStyle/>
          <a:p>
            <a:r>
              <a:rPr lang="en-US" dirty="0" smtClean="0">
                <a:sym typeface="Wingdings" panose="05000000000000000000" pitchFamily="2" charset="2"/>
              </a:rPr>
              <a:t>Diversified</a:t>
            </a:r>
            <a:endParaRPr lang="en-US" dirty="0"/>
          </a:p>
        </p:txBody>
      </p:sp>
      <p:cxnSp>
        <p:nvCxnSpPr>
          <p:cNvPr id="15" name="Straight Arrow Connector 14"/>
          <p:cNvCxnSpPr/>
          <p:nvPr/>
        </p:nvCxnSpPr>
        <p:spPr>
          <a:xfrm flipH="1">
            <a:off x="5188410" y="2412758"/>
            <a:ext cx="39841" cy="5963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969902" y="5977068"/>
            <a:ext cx="3168352" cy="584775"/>
          </a:xfrm>
          <a:prstGeom prst="rect">
            <a:avLst/>
          </a:prstGeom>
          <a:noFill/>
        </p:spPr>
        <p:txBody>
          <a:bodyPr wrap="square" rtlCol="0">
            <a:spAutoFit/>
          </a:bodyPr>
          <a:lstStyle/>
          <a:p>
            <a:r>
              <a:rPr lang="en-US" dirty="0" smtClean="0">
                <a:sym typeface="Wingdings" panose="05000000000000000000" pitchFamily="2" charset="2"/>
              </a:rPr>
              <a:t>Figure shows % change in employment from baseline, 2050</a:t>
            </a:r>
            <a:endParaRPr lang="en-US" dirty="0"/>
          </a:p>
        </p:txBody>
      </p:sp>
    </p:spTree>
    <p:extLst>
      <p:ext uri="{BB962C8B-B14F-4D97-AF65-F5344CB8AC3E}">
        <p14:creationId xmlns:p14="http://schemas.microsoft.com/office/powerpoint/2010/main" xmlns="" val="30955480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Integrated Assessment Models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b="0" dirty="0" smtClean="0"/>
              <a:t>This is a general term that refers to two types of modelling:</a:t>
            </a:r>
          </a:p>
          <a:p>
            <a:pPr lvl="1"/>
            <a:r>
              <a:rPr lang="en-GB" dirty="0" smtClean="0"/>
              <a:t>large-scale linking of models, as carried out for the IPCC</a:t>
            </a:r>
          </a:p>
          <a:p>
            <a:pPr lvl="1"/>
            <a:r>
              <a:rPr lang="en-GB" b="0" dirty="0" smtClean="0"/>
              <a:t>single and relatively simple models that are used to calculate the ‘social cost of carbon’</a:t>
            </a:r>
          </a:p>
          <a:p>
            <a:r>
              <a:rPr lang="en-GB" dirty="0" smtClean="0"/>
              <a:t>Examples of the first include:</a:t>
            </a:r>
          </a:p>
          <a:p>
            <a:pPr lvl="1"/>
            <a:r>
              <a:rPr lang="en-GB" b="0" dirty="0" smtClean="0"/>
              <a:t>IMAGE (PBL, the Netherlands)</a:t>
            </a:r>
          </a:p>
          <a:p>
            <a:pPr lvl="1"/>
            <a:r>
              <a:rPr lang="en-GB" dirty="0" smtClean="0"/>
              <a:t>GCAM (PNNL, US)</a:t>
            </a:r>
            <a:endParaRPr lang="en-GB" b="0" dirty="0"/>
          </a:p>
          <a:p>
            <a:endParaRPr lang="en-GB" b="0" dirty="0"/>
          </a:p>
        </p:txBody>
      </p:sp>
    </p:spTree>
    <p:extLst>
      <p:ext uri="{BB962C8B-B14F-4D97-AF65-F5344CB8AC3E}">
        <p14:creationId xmlns:p14="http://schemas.microsoft.com/office/powerpoint/2010/main" xmlns="" val="22950389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Model Linkages</a:t>
            </a:r>
            <a:endParaRPr lang="en-GB" dirty="0"/>
          </a:p>
        </p:txBody>
      </p:sp>
      <p:sp>
        <p:nvSpPr>
          <p:cNvPr id="4" name="TextBox 3"/>
          <p:cNvSpPr txBox="1"/>
          <p:nvPr/>
        </p:nvSpPr>
        <p:spPr>
          <a:xfrm>
            <a:off x="274173" y="6321421"/>
            <a:ext cx="6896061" cy="276999"/>
          </a:xfrm>
          <a:prstGeom prst="rect">
            <a:avLst/>
          </a:prstGeom>
          <a:noFill/>
        </p:spPr>
        <p:txBody>
          <a:bodyPr wrap="square" rtlCol="0">
            <a:spAutoFit/>
          </a:bodyPr>
          <a:lstStyle/>
          <a:p>
            <a:r>
              <a:rPr lang="en-GB" sz="1200" dirty="0" smtClean="0">
                <a:solidFill>
                  <a:srgbClr val="123D6B"/>
                </a:solidFill>
                <a:latin typeface="+mn-lt"/>
              </a:rPr>
              <a:t>Cambridge Econometrics and SERI (2011), for DG Environment, EC.</a:t>
            </a:r>
            <a:endParaRPr lang="en-GB" sz="1200" dirty="0">
              <a:solidFill>
                <a:srgbClr val="123D6B"/>
              </a:solidFill>
              <a:latin typeface="+mn-lt"/>
            </a:endParaRPr>
          </a:p>
        </p:txBody>
      </p:sp>
      <p:sp>
        <p:nvSpPr>
          <p:cNvPr id="6" name="Rectangle 5"/>
          <p:cNvSpPr/>
          <p:nvPr/>
        </p:nvSpPr>
        <p:spPr bwMode="auto">
          <a:xfrm>
            <a:off x="1056659" y="1770917"/>
            <a:ext cx="1224136" cy="972000"/>
          </a:xfrm>
          <a:prstGeom prst="rect">
            <a:avLst/>
          </a:prstGeom>
          <a:solidFill>
            <a:srgbClr val="F5FBFF"/>
          </a:solidFill>
          <a:ln w="2540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Times New Roman" pitchFamily="18" charset="0"/>
            </a:endParaRPr>
          </a:p>
        </p:txBody>
      </p:sp>
      <p:sp>
        <p:nvSpPr>
          <p:cNvPr id="7" name="Rectangle 6"/>
          <p:cNvSpPr/>
          <p:nvPr/>
        </p:nvSpPr>
        <p:spPr bwMode="auto">
          <a:xfrm>
            <a:off x="1056659" y="328308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Times New Roman" pitchFamily="18" charset="0"/>
            </a:endParaRPr>
          </a:p>
        </p:txBody>
      </p:sp>
      <p:sp>
        <p:nvSpPr>
          <p:cNvPr id="8" name="TextBox 7"/>
          <p:cNvSpPr txBox="1"/>
          <p:nvPr/>
        </p:nvSpPr>
        <p:spPr>
          <a:xfrm>
            <a:off x="1200675" y="1842925"/>
            <a:ext cx="971741" cy="830997"/>
          </a:xfrm>
          <a:prstGeom prst="rect">
            <a:avLst/>
          </a:prstGeom>
          <a:noFill/>
        </p:spPr>
        <p:txBody>
          <a:bodyPr wrap="none" rtlCol="0">
            <a:spAutoFit/>
          </a:bodyPr>
          <a:lstStyle/>
          <a:p>
            <a:pPr algn="ctr"/>
            <a:r>
              <a:rPr lang="en-GB" dirty="0" smtClean="0">
                <a:solidFill>
                  <a:srgbClr val="123D6B"/>
                </a:solidFill>
                <a:latin typeface="+mn-lt"/>
              </a:rPr>
              <a:t>Energy</a:t>
            </a:r>
            <a:br>
              <a:rPr lang="en-GB" dirty="0" smtClean="0">
                <a:solidFill>
                  <a:srgbClr val="123D6B"/>
                </a:solidFill>
                <a:latin typeface="+mn-lt"/>
              </a:rPr>
            </a:br>
            <a:r>
              <a:rPr lang="en-GB" dirty="0" smtClean="0">
                <a:solidFill>
                  <a:srgbClr val="123D6B"/>
                </a:solidFill>
                <a:latin typeface="+mn-lt"/>
              </a:rPr>
              <a:t>Systems</a:t>
            </a:r>
            <a:br>
              <a:rPr lang="en-GB" dirty="0" smtClean="0">
                <a:solidFill>
                  <a:srgbClr val="123D6B"/>
                </a:solidFill>
                <a:latin typeface="+mn-lt"/>
              </a:rPr>
            </a:br>
            <a:r>
              <a:rPr lang="en-GB" dirty="0" smtClean="0">
                <a:solidFill>
                  <a:srgbClr val="123D6B"/>
                </a:solidFill>
                <a:latin typeface="+mn-lt"/>
              </a:rPr>
              <a:t>Model</a:t>
            </a:r>
            <a:endParaRPr lang="en-GB" dirty="0">
              <a:solidFill>
                <a:srgbClr val="123D6B"/>
              </a:solidFill>
              <a:latin typeface="+mn-lt"/>
            </a:endParaRPr>
          </a:p>
        </p:txBody>
      </p:sp>
      <p:sp>
        <p:nvSpPr>
          <p:cNvPr id="9" name="TextBox 8"/>
          <p:cNvSpPr txBox="1"/>
          <p:nvPr/>
        </p:nvSpPr>
        <p:spPr>
          <a:xfrm>
            <a:off x="1169721" y="3283125"/>
            <a:ext cx="1039066" cy="338554"/>
          </a:xfrm>
          <a:prstGeom prst="rect">
            <a:avLst/>
          </a:prstGeom>
          <a:noFill/>
        </p:spPr>
        <p:txBody>
          <a:bodyPr wrap="none" rtlCol="0">
            <a:spAutoFit/>
          </a:bodyPr>
          <a:lstStyle/>
          <a:p>
            <a:pPr algn="ctr"/>
            <a:r>
              <a:rPr lang="en-GB" dirty="0" smtClean="0">
                <a:solidFill>
                  <a:srgbClr val="123D6B"/>
                </a:solidFill>
                <a:latin typeface="+mn-lt"/>
              </a:rPr>
              <a:t>Economy</a:t>
            </a:r>
            <a:endParaRPr lang="en-GB" dirty="0">
              <a:solidFill>
                <a:srgbClr val="123D6B"/>
              </a:solidFill>
              <a:latin typeface="+mn-lt"/>
            </a:endParaRPr>
          </a:p>
        </p:txBody>
      </p:sp>
      <p:sp>
        <p:nvSpPr>
          <p:cNvPr id="10" name="Rectangle 9"/>
          <p:cNvSpPr/>
          <p:nvPr/>
        </p:nvSpPr>
        <p:spPr bwMode="auto">
          <a:xfrm>
            <a:off x="2784851" y="328308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Times New Roman" pitchFamily="18" charset="0"/>
            </a:endParaRPr>
          </a:p>
        </p:txBody>
      </p:sp>
      <p:sp>
        <p:nvSpPr>
          <p:cNvPr id="11" name="TextBox 10"/>
          <p:cNvSpPr txBox="1"/>
          <p:nvPr/>
        </p:nvSpPr>
        <p:spPr>
          <a:xfrm>
            <a:off x="2897913" y="3283085"/>
            <a:ext cx="1039066" cy="338554"/>
          </a:xfrm>
          <a:prstGeom prst="rect">
            <a:avLst/>
          </a:prstGeom>
          <a:noFill/>
        </p:spPr>
        <p:txBody>
          <a:bodyPr wrap="none" rtlCol="0">
            <a:spAutoFit/>
          </a:bodyPr>
          <a:lstStyle/>
          <a:p>
            <a:pPr algn="ctr"/>
            <a:r>
              <a:rPr lang="en-GB" dirty="0" smtClean="0">
                <a:solidFill>
                  <a:srgbClr val="123D6B"/>
                </a:solidFill>
                <a:latin typeface="+mn-lt"/>
              </a:rPr>
              <a:t>Economy</a:t>
            </a:r>
            <a:endParaRPr lang="en-GB" dirty="0">
              <a:solidFill>
                <a:srgbClr val="123D6B"/>
              </a:solidFill>
              <a:latin typeface="+mn-lt"/>
            </a:endParaRPr>
          </a:p>
        </p:txBody>
      </p:sp>
      <p:sp>
        <p:nvSpPr>
          <p:cNvPr id="12" name="Rectangle 11"/>
          <p:cNvSpPr/>
          <p:nvPr/>
        </p:nvSpPr>
        <p:spPr bwMode="auto">
          <a:xfrm>
            <a:off x="4801075" y="328312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Times New Roman" pitchFamily="18" charset="0"/>
            </a:endParaRPr>
          </a:p>
        </p:txBody>
      </p:sp>
      <p:sp>
        <p:nvSpPr>
          <p:cNvPr id="13" name="TextBox 12"/>
          <p:cNvSpPr txBox="1"/>
          <p:nvPr/>
        </p:nvSpPr>
        <p:spPr>
          <a:xfrm>
            <a:off x="4914137" y="3283125"/>
            <a:ext cx="1039066" cy="338554"/>
          </a:xfrm>
          <a:prstGeom prst="rect">
            <a:avLst/>
          </a:prstGeom>
          <a:noFill/>
        </p:spPr>
        <p:txBody>
          <a:bodyPr wrap="none" rtlCol="0">
            <a:spAutoFit/>
          </a:bodyPr>
          <a:lstStyle/>
          <a:p>
            <a:pPr algn="ctr"/>
            <a:r>
              <a:rPr lang="en-GB" dirty="0" smtClean="0">
                <a:solidFill>
                  <a:srgbClr val="123D6B"/>
                </a:solidFill>
                <a:latin typeface="+mn-lt"/>
              </a:rPr>
              <a:t>Economy</a:t>
            </a:r>
            <a:endParaRPr lang="en-GB" dirty="0">
              <a:solidFill>
                <a:srgbClr val="123D6B"/>
              </a:solidFill>
              <a:latin typeface="+mn-lt"/>
            </a:endParaRPr>
          </a:p>
        </p:txBody>
      </p:sp>
      <p:sp>
        <p:nvSpPr>
          <p:cNvPr id="14" name="Rectangle 13"/>
          <p:cNvSpPr/>
          <p:nvPr/>
        </p:nvSpPr>
        <p:spPr bwMode="auto">
          <a:xfrm>
            <a:off x="6534369" y="3283085"/>
            <a:ext cx="1224136" cy="338554"/>
          </a:xfrm>
          <a:prstGeom prst="rect">
            <a:avLst/>
          </a:prstGeom>
          <a:solidFill>
            <a:srgbClr val="F5FBFF"/>
          </a:solidFill>
          <a:ln w="25400" cap="flat" cmpd="sng" algn="ctr">
            <a:solidFill>
              <a:srgbClr val="00A279"/>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Times New Roman" pitchFamily="18" charset="0"/>
            </a:endParaRPr>
          </a:p>
        </p:txBody>
      </p:sp>
      <p:sp>
        <p:nvSpPr>
          <p:cNvPr id="15" name="TextBox 14"/>
          <p:cNvSpPr txBox="1"/>
          <p:nvPr/>
        </p:nvSpPr>
        <p:spPr>
          <a:xfrm>
            <a:off x="6647431" y="3283085"/>
            <a:ext cx="1039066" cy="338554"/>
          </a:xfrm>
          <a:prstGeom prst="rect">
            <a:avLst/>
          </a:prstGeom>
          <a:noFill/>
        </p:spPr>
        <p:txBody>
          <a:bodyPr wrap="none" rtlCol="0">
            <a:spAutoFit/>
          </a:bodyPr>
          <a:lstStyle/>
          <a:p>
            <a:pPr algn="ctr"/>
            <a:r>
              <a:rPr lang="en-GB" dirty="0" smtClean="0">
                <a:solidFill>
                  <a:srgbClr val="00A279"/>
                </a:solidFill>
                <a:latin typeface="+mn-lt"/>
              </a:rPr>
              <a:t>Economy</a:t>
            </a:r>
            <a:endParaRPr lang="en-GB" dirty="0">
              <a:solidFill>
                <a:srgbClr val="00A279"/>
              </a:solidFill>
              <a:latin typeface="+mn-lt"/>
            </a:endParaRPr>
          </a:p>
        </p:txBody>
      </p:sp>
      <p:sp>
        <p:nvSpPr>
          <p:cNvPr id="16" name="Rectangle 15"/>
          <p:cNvSpPr/>
          <p:nvPr/>
        </p:nvSpPr>
        <p:spPr bwMode="auto">
          <a:xfrm>
            <a:off x="1056659" y="400320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17" name="TextBox 16"/>
          <p:cNvSpPr txBox="1"/>
          <p:nvPr/>
        </p:nvSpPr>
        <p:spPr>
          <a:xfrm>
            <a:off x="1230888" y="4003165"/>
            <a:ext cx="833883" cy="338554"/>
          </a:xfrm>
          <a:prstGeom prst="rect">
            <a:avLst/>
          </a:prstGeom>
          <a:noFill/>
        </p:spPr>
        <p:txBody>
          <a:bodyPr wrap="none" rtlCol="0">
            <a:spAutoFit/>
          </a:bodyPr>
          <a:lstStyle/>
          <a:p>
            <a:pPr algn="ctr"/>
            <a:r>
              <a:rPr lang="en-GB" dirty="0" smtClean="0">
                <a:solidFill>
                  <a:srgbClr val="123D6B"/>
                </a:solidFill>
                <a:latin typeface="+mn-lt"/>
              </a:rPr>
              <a:t>Energy</a:t>
            </a:r>
            <a:endParaRPr lang="en-GB" dirty="0">
              <a:solidFill>
                <a:srgbClr val="123D6B"/>
              </a:solidFill>
              <a:latin typeface="+mn-lt"/>
            </a:endParaRPr>
          </a:p>
        </p:txBody>
      </p:sp>
      <p:sp>
        <p:nvSpPr>
          <p:cNvPr id="18" name="Rectangle 17"/>
          <p:cNvSpPr/>
          <p:nvPr/>
        </p:nvSpPr>
        <p:spPr bwMode="auto">
          <a:xfrm>
            <a:off x="2784851" y="400316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19" name="TextBox 18"/>
          <p:cNvSpPr txBox="1"/>
          <p:nvPr/>
        </p:nvSpPr>
        <p:spPr>
          <a:xfrm>
            <a:off x="3000505" y="4003165"/>
            <a:ext cx="833883" cy="338554"/>
          </a:xfrm>
          <a:prstGeom prst="rect">
            <a:avLst/>
          </a:prstGeom>
          <a:noFill/>
        </p:spPr>
        <p:txBody>
          <a:bodyPr wrap="none" rtlCol="0">
            <a:spAutoFit/>
          </a:bodyPr>
          <a:lstStyle/>
          <a:p>
            <a:pPr algn="ctr"/>
            <a:r>
              <a:rPr lang="en-GB" dirty="0">
                <a:solidFill>
                  <a:srgbClr val="123D6B"/>
                </a:solidFill>
                <a:latin typeface="+mn-lt"/>
              </a:rPr>
              <a:t>Energy</a:t>
            </a:r>
          </a:p>
        </p:txBody>
      </p:sp>
      <p:sp>
        <p:nvSpPr>
          <p:cNvPr id="20" name="Rectangle 19"/>
          <p:cNvSpPr/>
          <p:nvPr/>
        </p:nvSpPr>
        <p:spPr bwMode="auto">
          <a:xfrm>
            <a:off x="4801075" y="400320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21" name="TextBox 20"/>
          <p:cNvSpPr txBox="1"/>
          <p:nvPr/>
        </p:nvSpPr>
        <p:spPr>
          <a:xfrm>
            <a:off x="5016729" y="4003205"/>
            <a:ext cx="833883" cy="338554"/>
          </a:xfrm>
          <a:prstGeom prst="rect">
            <a:avLst/>
          </a:prstGeom>
          <a:noFill/>
        </p:spPr>
        <p:txBody>
          <a:bodyPr wrap="none" rtlCol="0">
            <a:spAutoFit/>
          </a:bodyPr>
          <a:lstStyle/>
          <a:p>
            <a:pPr algn="ctr"/>
            <a:r>
              <a:rPr lang="en-GB" dirty="0">
                <a:solidFill>
                  <a:srgbClr val="123D6B"/>
                </a:solidFill>
                <a:latin typeface="+mn-lt"/>
              </a:rPr>
              <a:t>Energy</a:t>
            </a:r>
          </a:p>
        </p:txBody>
      </p:sp>
      <p:sp>
        <p:nvSpPr>
          <p:cNvPr id="22" name="Rectangle 21"/>
          <p:cNvSpPr/>
          <p:nvPr/>
        </p:nvSpPr>
        <p:spPr bwMode="auto">
          <a:xfrm>
            <a:off x="6534369" y="4003165"/>
            <a:ext cx="1224136" cy="338554"/>
          </a:xfrm>
          <a:prstGeom prst="rect">
            <a:avLst/>
          </a:prstGeom>
          <a:solidFill>
            <a:srgbClr val="F5FBFF"/>
          </a:solidFill>
          <a:ln w="25400" cap="flat" cmpd="sng" algn="ctr">
            <a:solidFill>
              <a:srgbClr val="00A279"/>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23" name="TextBox 22"/>
          <p:cNvSpPr txBox="1"/>
          <p:nvPr/>
        </p:nvSpPr>
        <p:spPr>
          <a:xfrm>
            <a:off x="6750023" y="4003165"/>
            <a:ext cx="833883" cy="338554"/>
          </a:xfrm>
          <a:prstGeom prst="rect">
            <a:avLst/>
          </a:prstGeom>
          <a:noFill/>
        </p:spPr>
        <p:txBody>
          <a:bodyPr wrap="none" rtlCol="0">
            <a:spAutoFit/>
          </a:bodyPr>
          <a:lstStyle/>
          <a:p>
            <a:pPr algn="ctr"/>
            <a:r>
              <a:rPr lang="en-GB" dirty="0">
                <a:solidFill>
                  <a:srgbClr val="00A279"/>
                </a:solidFill>
                <a:latin typeface="+mn-lt"/>
              </a:rPr>
              <a:t>Energy</a:t>
            </a:r>
          </a:p>
        </p:txBody>
      </p:sp>
      <p:sp>
        <p:nvSpPr>
          <p:cNvPr id="24" name="Rectangle 23"/>
          <p:cNvSpPr/>
          <p:nvPr/>
        </p:nvSpPr>
        <p:spPr bwMode="auto">
          <a:xfrm>
            <a:off x="1056659" y="472328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25" name="TextBox 24"/>
          <p:cNvSpPr txBox="1"/>
          <p:nvPr/>
        </p:nvSpPr>
        <p:spPr>
          <a:xfrm>
            <a:off x="1130448" y="4723285"/>
            <a:ext cx="1117615" cy="338554"/>
          </a:xfrm>
          <a:prstGeom prst="rect">
            <a:avLst/>
          </a:prstGeom>
          <a:noFill/>
        </p:spPr>
        <p:txBody>
          <a:bodyPr wrap="none" rtlCol="0">
            <a:spAutoFit/>
          </a:bodyPr>
          <a:lstStyle/>
          <a:p>
            <a:pPr algn="ctr"/>
            <a:r>
              <a:rPr lang="en-GB" dirty="0" smtClean="0">
                <a:solidFill>
                  <a:srgbClr val="123D6B"/>
                </a:solidFill>
                <a:latin typeface="+mn-lt"/>
              </a:rPr>
              <a:t>Emissions</a:t>
            </a:r>
            <a:endParaRPr lang="en-GB" dirty="0">
              <a:solidFill>
                <a:srgbClr val="123D6B"/>
              </a:solidFill>
              <a:latin typeface="+mn-lt"/>
            </a:endParaRPr>
          </a:p>
        </p:txBody>
      </p:sp>
      <p:sp>
        <p:nvSpPr>
          <p:cNvPr id="26" name="Rectangle 25"/>
          <p:cNvSpPr/>
          <p:nvPr/>
        </p:nvSpPr>
        <p:spPr bwMode="auto">
          <a:xfrm>
            <a:off x="2784851" y="4723245"/>
            <a:ext cx="1224136" cy="338554"/>
          </a:xfrm>
          <a:prstGeom prst="rect">
            <a:avLst/>
          </a:prstGeom>
          <a:solidFill>
            <a:srgbClr val="F5FBFF"/>
          </a:solidFill>
          <a:ln w="2540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27" name="TextBox 26"/>
          <p:cNvSpPr txBox="1"/>
          <p:nvPr/>
        </p:nvSpPr>
        <p:spPr>
          <a:xfrm>
            <a:off x="2858640" y="4723245"/>
            <a:ext cx="1117614" cy="338554"/>
          </a:xfrm>
          <a:prstGeom prst="rect">
            <a:avLst/>
          </a:prstGeom>
          <a:noFill/>
          <a:ln w="19050">
            <a:noFill/>
          </a:ln>
        </p:spPr>
        <p:txBody>
          <a:bodyPr wrap="square" rtlCol="0">
            <a:spAutoFit/>
          </a:bodyPr>
          <a:lstStyle/>
          <a:p>
            <a:pPr algn="ctr"/>
            <a:r>
              <a:rPr lang="en-GB" dirty="0">
                <a:solidFill>
                  <a:srgbClr val="123D6B"/>
                </a:solidFill>
                <a:latin typeface="+mn-lt"/>
              </a:rPr>
              <a:t>Emissions</a:t>
            </a:r>
          </a:p>
        </p:txBody>
      </p:sp>
      <p:sp>
        <p:nvSpPr>
          <p:cNvPr id="28" name="Rectangle 27"/>
          <p:cNvSpPr/>
          <p:nvPr/>
        </p:nvSpPr>
        <p:spPr bwMode="auto">
          <a:xfrm>
            <a:off x="4801075" y="472328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29" name="TextBox 28"/>
          <p:cNvSpPr txBox="1"/>
          <p:nvPr/>
        </p:nvSpPr>
        <p:spPr>
          <a:xfrm>
            <a:off x="4874864" y="4723285"/>
            <a:ext cx="1117614" cy="338554"/>
          </a:xfrm>
          <a:prstGeom prst="rect">
            <a:avLst/>
          </a:prstGeom>
          <a:noFill/>
        </p:spPr>
        <p:txBody>
          <a:bodyPr wrap="none" rtlCol="0">
            <a:spAutoFit/>
          </a:bodyPr>
          <a:lstStyle/>
          <a:p>
            <a:pPr algn="ctr"/>
            <a:r>
              <a:rPr lang="en-GB" dirty="0">
                <a:solidFill>
                  <a:srgbClr val="123D6B"/>
                </a:solidFill>
                <a:latin typeface="+mn-lt"/>
              </a:rPr>
              <a:t>Emissions</a:t>
            </a:r>
          </a:p>
        </p:txBody>
      </p:sp>
      <p:sp>
        <p:nvSpPr>
          <p:cNvPr id="30" name="Rectangle 29"/>
          <p:cNvSpPr/>
          <p:nvPr/>
        </p:nvSpPr>
        <p:spPr bwMode="auto">
          <a:xfrm>
            <a:off x="6534369" y="472324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31" name="TextBox 30"/>
          <p:cNvSpPr txBox="1"/>
          <p:nvPr/>
        </p:nvSpPr>
        <p:spPr>
          <a:xfrm>
            <a:off x="6608158" y="4723245"/>
            <a:ext cx="1117614" cy="338554"/>
          </a:xfrm>
          <a:prstGeom prst="rect">
            <a:avLst/>
          </a:prstGeom>
          <a:noFill/>
        </p:spPr>
        <p:txBody>
          <a:bodyPr wrap="none" rtlCol="0">
            <a:spAutoFit/>
          </a:bodyPr>
          <a:lstStyle/>
          <a:p>
            <a:pPr algn="ctr"/>
            <a:r>
              <a:rPr lang="en-GB" dirty="0">
                <a:solidFill>
                  <a:srgbClr val="123D6B"/>
                </a:solidFill>
                <a:latin typeface="+mn-lt"/>
              </a:rPr>
              <a:t>Emissions</a:t>
            </a:r>
          </a:p>
        </p:txBody>
      </p:sp>
      <p:sp>
        <p:nvSpPr>
          <p:cNvPr id="32" name="Rectangle 31"/>
          <p:cNvSpPr/>
          <p:nvPr/>
        </p:nvSpPr>
        <p:spPr bwMode="auto">
          <a:xfrm>
            <a:off x="1056659" y="5443365"/>
            <a:ext cx="1224136" cy="338554"/>
          </a:xfrm>
          <a:prstGeom prst="rect">
            <a:avLst/>
          </a:prstGeom>
          <a:solidFill>
            <a:srgbClr val="F5FBFF"/>
          </a:solidFill>
          <a:ln w="25400" cap="flat" cmpd="sng" algn="ctr">
            <a:solidFill>
              <a:srgbClr val="00A279"/>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33" name="TextBox 32"/>
          <p:cNvSpPr txBox="1"/>
          <p:nvPr/>
        </p:nvSpPr>
        <p:spPr>
          <a:xfrm>
            <a:off x="1249872" y="5443365"/>
            <a:ext cx="878767" cy="338554"/>
          </a:xfrm>
          <a:prstGeom prst="rect">
            <a:avLst/>
          </a:prstGeom>
          <a:noFill/>
        </p:spPr>
        <p:txBody>
          <a:bodyPr wrap="none" rtlCol="0">
            <a:spAutoFit/>
          </a:bodyPr>
          <a:lstStyle/>
          <a:p>
            <a:pPr algn="ctr"/>
            <a:r>
              <a:rPr lang="en-GB" dirty="0" smtClean="0">
                <a:solidFill>
                  <a:srgbClr val="00A279"/>
                </a:solidFill>
                <a:latin typeface="+mn-lt"/>
              </a:rPr>
              <a:t>Climate</a:t>
            </a:r>
            <a:endParaRPr lang="en-GB" dirty="0">
              <a:solidFill>
                <a:srgbClr val="00A279"/>
              </a:solidFill>
              <a:latin typeface="+mn-lt"/>
            </a:endParaRPr>
          </a:p>
        </p:txBody>
      </p:sp>
      <p:sp>
        <p:nvSpPr>
          <p:cNvPr id="34" name="Rectangle 33"/>
          <p:cNvSpPr/>
          <p:nvPr/>
        </p:nvSpPr>
        <p:spPr bwMode="auto">
          <a:xfrm>
            <a:off x="2784851" y="5443325"/>
            <a:ext cx="1224136" cy="338554"/>
          </a:xfrm>
          <a:prstGeom prst="rect">
            <a:avLst/>
          </a:prstGeom>
          <a:solidFill>
            <a:srgbClr val="F5FBFF"/>
          </a:solidFill>
          <a:ln w="25400" cap="flat" cmpd="sng" algn="ctr">
            <a:solidFill>
              <a:srgbClr val="00A279"/>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35" name="TextBox 34"/>
          <p:cNvSpPr txBox="1"/>
          <p:nvPr/>
        </p:nvSpPr>
        <p:spPr>
          <a:xfrm>
            <a:off x="2978063" y="5443325"/>
            <a:ext cx="878767" cy="338554"/>
          </a:xfrm>
          <a:prstGeom prst="rect">
            <a:avLst/>
          </a:prstGeom>
          <a:noFill/>
        </p:spPr>
        <p:txBody>
          <a:bodyPr wrap="none" rtlCol="0">
            <a:spAutoFit/>
          </a:bodyPr>
          <a:lstStyle/>
          <a:p>
            <a:pPr algn="ctr"/>
            <a:r>
              <a:rPr lang="en-GB" dirty="0">
                <a:solidFill>
                  <a:srgbClr val="00A279"/>
                </a:solidFill>
                <a:latin typeface="+mn-lt"/>
              </a:rPr>
              <a:t>Climate</a:t>
            </a:r>
          </a:p>
        </p:txBody>
      </p:sp>
      <p:sp>
        <p:nvSpPr>
          <p:cNvPr id="36" name="Rectangle 35"/>
          <p:cNvSpPr/>
          <p:nvPr/>
        </p:nvSpPr>
        <p:spPr bwMode="auto">
          <a:xfrm>
            <a:off x="4801075" y="544336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37" name="TextBox 36"/>
          <p:cNvSpPr txBox="1"/>
          <p:nvPr/>
        </p:nvSpPr>
        <p:spPr>
          <a:xfrm>
            <a:off x="4994287" y="5443365"/>
            <a:ext cx="878767" cy="338554"/>
          </a:xfrm>
          <a:prstGeom prst="rect">
            <a:avLst/>
          </a:prstGeom>
          <a:noFill/>
        </p:spPr>
        <p:txBody>
          <a:bodyPr wrap="none" rtlCol="0">
            <a:spAutoFit/>
          </a:bodyPr>
          <a:lstStyle/>
          <a:p>
            <a:pPr algn="ctr"/>
            <a:r>
              <a:rPr lang="en-GB" dirty="0">
                <a:solidFill>
                  <a:srgbClr val="123D6B"/>
                </a:solidFill>
                <a:latin typeface="+mn-lt"/>
              </a:rPr>
              <a:t>Climate</a:t>
            </a:r>
          </a:p>
        </p:txBody>
      </p:sp>
      <p:sp>
        <p:nvSpPr>
          <p:cNvPr id="38" name="Rectangle 37"/>
          <p:cNvSpPr/>
          <p:nvPr/>
        </p:nvSpPr>
        <p:spPr bwMode="auto">
          <a:xfrm>
            <a:off x="6534369" y="5443325"/>
            <a:ext cx="1224136" cy="338554"/>
          </a:xfrm>
          <a:prstGeom prst="rect">
            <a:avLst/>
          </a:prstGeom>
          <a:solidFill>
            <a:srgbClr val="F5FBFF"/>
          </a:solidFill>
          <a:ln w="1905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39" name="TextBox 38"/>
          <p:cNvSpPr txBox="1"/>
          <p:nvPr/>
        </p:nvSpPr>
        <p:spPr>
          <a:xfrm>
            <a:off x="6727581" y="5443325"/>
            <a:ext cx="878767" cy="338554"/>
          </a:xfrm>
          <a:prstGeom prst="rect">
            <a:avLst/>
          </a:prstGeom>
          <a:noFill/>
        </p:spPr>
        <p:txBody>
          <a:bodyPr wrap="none" rtlCol="0">
            <a:spAutoFit/>
          </a:bodyPr>
          <a:lstStyle/>
          <a:p>
            <a:pPr algn="ctr"/>
            <a:r>
              <a:rPr lang="en-GB" dirty="0">
                <a:solidFill>
                  <a:srgbClr val="123D6B"/>
                </a:solidFill>
                <a:latin typeface="+mn-lt"/>
              </a:rPr>
              <a:t>Climate</a:t>
            </a:r>
          </a:p>
        </p:txBody>
      </p:sp>
      <p:sp>
        <p:nvSpPr>
          <p:cNvPr id="40" name="Rectangle 39"/>
          <p:cNvSpPr/>
          <p:nvPr/>
        </p:nvSpPr>
        <p:spPr bwMode="auto">
          <a:xfrm>
            <a:off x="4801075" y="1770917"/>
            <a:ext cx="1224000" cy="972000"/>
          </a:xfrm>
          <a:prstGeom prst="rect">
            <a:avLst/>
          </a:prstGeom>
          <a:solidFill>
            <a:srgbClr val="F5FBFF"/>
          </a:solidFill>
          <a:ln w="2540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Times New Roman" pitchFamily="18" charset="0"/>
            </a:endParaRPr>
          </a:p>
        </p:txBody>
      </p:sp>
      <p:sp>
        <p:nvSpPr>
          <p:cNvPr id="41" name="TextBox 40"/>
          <p:cNvSpPr txBox="1"/>
          <p:nvPr/>
        </p:nvSpPr>
        <p:spPr>
          <a:xfrm>
            <a:off x="4779983" y="1842925"/>
            <a:ext cx="1301959" cy="830997"/>
          </a:xfrm>
          <a:prstGeom prst="rect">
            <a:avLst/>
          </a:prstGeom>
          <a:noFill/>
        </p:spPr>
        <p:txBody>
          <a:bodyPr wrap="none" rtlCol="0">
            <a:spAutoFit/>
          </a:bodyPr>
          <a:lstStyle/>
          <a:p>
            <a:pPr algn="ctr"/>
            <a:r>
              <a:rPr lang="en-GB" dirty="0" smtClean="0">
                <a:solidFill>
                  <a:srgbClr val="123D6B"/>
                </a:solidFill>
                <a:latin typeface="+mn-lt"/>
              </a:rPr>
              <a:t>Integrated</a:t>
            </a:r>
            <a:br>
              <a:rPr lang="en-GB" dirty="0" smtClean="0">
                <a:solidFill>
                  <a:srgbClr val="123D6B"/>
                </a:solidFill>
                <a:latin typeface="+mn-lt"/>
              </a:rPr>
            </a:br>
            <a:r>
              <a:rPr lang="en-GB" dirty="0" smtClean="0">
                <a:solidFill>
                  <a:srgbClr val="123D6B"/>
                </a:solidFill>
                <a:latin typeface="+mn-lt"/>
              </a:rPr>
              <a:t>Assessment</a:t>
            </a:r>
            <a:br>
              <a:rPr lang="en-GB" dirty="0" smtClean="0">
                <a:solidFill>
                  <a:srgbClr val="123D6B"/>
                </a:solidFill>
                <a:latin typeface="+mn-lt"/>
              </a:rPr>
            </a:br>
            <a:r>
              <a:rPr lang="en-GB" dirty="0" smtClean="0">
                <a:solidFill>
                  <a:srgbClr val="123D6B"/>
                </a:solidFill>
                <a:latin typeface="+mn-lt"/>
              </a:rPr>
              <a:t>Model</a:t>
            </a:r>
            <a:endParaRPr lang="en-GB" dirty="0">
              <a:solidFill>
                <a:srgbClr val="123D6B"/>
              </a:solidFill>
              <a:latin typeface="+mn-lt"/>
            </a:endParaRPr>
          </a:p>
        </p:txBody>
      </p:sp>
      <p:sp>
        <p:nvSpPr>
          <p:cNvPr id="42" name="Rectangle 41"/>
          <p:cNvSpPr/>
          <p:nvPr/>
        </p:nvSpPr>
        <p:spPr bwMode="auto">
          <a:xfrm>
            <a:off x="2784851" y="2058949"/>
            <a:ext cx="1224136" cy="338554"/>
          </a:xfrm>
          <a:prstGeom prst="rect">
            <a:avLst/>
          </a:prstGeom>
          <a:solidFill>
            <a:srgbClr val="F5FBFF"/>
          </a:solidFill>
          <a:ln w="2540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Times New Roman" pitchFamily="18" charset="0"/>
            </a:endParaRPr>
          </a:p>
        </p:txBody>
      </p:sp>
      <p:sp>
        <p:nvSpPr>
          <p:cNvPr id="43" name="TextBox 42"/>
          <p:cNvSpPr txBox="1"/>
          <p:nvPr/>
        </p:nvSpPr>
        <p:spPr>
          <a:xfrm>
            <a:off x="2892303" y="2058949"/>
            <a:ext cx="1050289" cy="338554"/>
          </a:xfrm>
          <a:prstGeom prst="rect">
            <a:avLst/>
          </a:prstGeom>
          <a:noFill/>
        </p:spPr>
        <p:txBody>
          <a:bodyPr wrap="none" rtlCol="0">
            <a:spAutoFit/>
          </a:bodyPr>
          <a:lstStyle/>
          <a:p>
            <a:pPr algn="ctr"/>
            <a:r>
              <a:rPr lang="en-GB" dirty="0" smtClean="0">
                <a:solidFill>
                  <a:srgbClr val="123D6B"/>
                </a:solidFill>
                <a:latin typeface="+mn-lt"/>
              </a:rPr>
              <a:t>E3 Model</a:t>
            </a:r>
            <a:endParaRPr lang="en-GB" dirty="0">
              <a:solidFill>
                <a:srgbClr val="123D6B"/>
              </a:solidFill>
              <a:latin typeface="+mn-lt"/>
            </a:endParaRPr>
          </a:p>
        </p:txBody>
      </p:sp>
      <p:sp>
        <p:nvSpPr>
          <p:cNvPr id="44" name="Rectangle 43"/>
          <p:cNvSpPr/>
          <p:nvPr/>
        </p:nvSpPr>
        <p:spPr bwMode="auto">
          <a:xfrm>
            <a:off x="6534369" y="1770917"/>
            <a:ext cx="1224136" cy="756000"/>
          </a:xfrm>
          <a:prstGeom prst="rect">
            <a:avLst/>
          </a:prstGeom>
          <a:solidFill>
            <a:srgbClr val="F5FBFF"/>
          </a:solidFill>
          <a:ln w="25400" cap="flat" cmpd="sng" algn="ctr">
            <a:solidFill>
              <a:srgbClr val="123D6B"/>
            </a:solid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Times New Roman" pitchFamily="18" charset="0"/>
            </a:endParaRPr>
          </a:p>
        </p:txBody>
      </p:sp>
      <p:sp>
        <p:nvSpPr>
          <p:cNvPr id="45" name="TextBox 44"/>
          <p:cNvSpPr txBox="1"/>
          <p:nvPr/>
        </p:nvSpPr>
        <p:spPr>
          <a:xfrm>
            <a:off x="6724873" y="1842925"/>
            <a:ext cx="878767" cy="584775"/>
          </a:xfrm>
          <a:prstGeom prst="rect">
            <a:avLst/>
          </a:prstGeom>
          <a:noFill/>
        </p:spPr>
        <p:txBody>
          <a:bodyPr wrap="none" rtlCol="0">
            <a:spAutoFit/>
          </a:bodyPr>
          <a:lstStyle/>
          <a:p>
            <a:pPr algn="ctr"/>
            <a:r>
              <a:rPr lang="en-GB" dirty="0" smtClean="0">
                <a:solidFill>
                  <a:srgbClr val="123D6B"/>
                </a:solidFill>
                <a:latin typeface="+mn-lt"/>
              </a:rPr>
              <a:t>Climate</a:t>
            </a:r>
            <a:br>
              <a:rPr lang="en-GB" dirty="0" smtClean="0">
                <a:solidFill>
                  <a:srgbClr val="123D6B"/>
                </a:solidFill>
                <a:latin typeface="+mn-lt"/>
              </a:rPr>
            </a:br>
            <a:r>
              <a:rPr lang="en-GB" dirty="0" smtClean="0">
                <a:solidFill>
                  <a:srgbClr val="123D6B"/>
                </a:solidFill>
                <a:latin typeface="+mn-lt"/>
              </a:rPr>
              <a:t>Model</a:t>
            </a:r>
            <a:endParaRPr lang="en-GB" dirty="0">
              <a:solidFill>
                <a:srgbClr val="123D6B"/>
              </a:solidFill>
              <a:latin typeface="+mn-lt"/>
            </a:endParaRPr>
          </a:p>
        </p:txBody>
      </p:sp>
      <p:cxnSp>
        <p:nvCxnSpPr>
          <p:cNvPr id="46" name="Straight Arrow Connector 45"/>
          <p:cNvCxnSpPr>
            <a:stCxn id="7" idx="2"/>
            <a:endCxn id="16" idx="0"/>
          </p:cNvCxnSpPr>
          <p:nvPr/>
        </p:nvCxnSpPr>
        <p:spPr bwMode="auto">
          <a:xfrm>
            <a:off x="1668727" y="3621639"/>
            <a:ext cx="0" cy="381566"/>
          </a:xfrm>
          <a:prstGeom prst="straightConnector1">
            <a:avLst/>
          </a:prstGeom>
          <a:noFill/>
          <a:ln w="25400" cap="flat" cmpd="sng" algn="ctr">
            <a:solidFill>
              <a:srgbClr val="003966"/>
            </a:solidFill>
            <a:prstDash val="solid"/>
            <a:round/>
            <a:headEnd type="none" w="lg" len="sm"/>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7" name="Straight Arrow Connector 46"/>
          <p:cNvCxnSpPr/>
          <p:nvPr/>
        </p:nvCxnSpPr>
        <p:spPr bwMode="auto">
          <a:xfrm>
            <a:off x="1671277" y="4349802"/>
            <a:ext cx="0" cy="381566"/>
          </a:xfrm>
          <a:prstGeom prst="straightConnector1">
            <a:avLst/>
          </a:prstGeom>
          <a:noFill/>
          <a:ln w="25400" cap="flat" cmpd="sng" algn="ctr">
            <a:solidFill>
              <a:srgbClr val="003966"/>
            </a:solidFill>
            <a:prstDash val="solid"/>
            <a:round/>
            <a:headEnd type="none" w="lg" len="sm"/>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8" name="Straight Arrow Connector 47"/>
          <p:cNvCxnSpPr/>
          <p:nvPr/>
        </p:nvCxnSpPr>
        <p:spPr bwMode="auto">
          <a:xfrm>
            <a:off x="3393456" y="3629075"/>
            <a:ext cx="0" cy="381566"/>
          </a:xfrm>
          <a:prstGeom prst="straightConnector1">
            <a:avLst/>
          </a:prstGeom>
          <a:noFill/>
          <a:ln w="25400" cap="flat" cmpd="sng" algn="ctr">
            <a:solidFill>
              <a:srgbClr val="003966"/>
            </a:solidFill>
            <a:prstDash val="solid"/>
            <a:round/>
            <a:headEnd type="none" w="lg" len="sm"/>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9" name="Straight Arrow Connector 48"/>
          <p:cNvCxnSpPr/>
          <p:nvPr/>
        </p:nvCxnSpPr>
        <p:spPr bwMode="auto">
          <a:xfrm>
            <a:off x="3389741" y="4350186"/>
            <a:ext cx="0" cy="381566"/>
          </a:xfrm>
          <a:prstGeom prst="straightConnector1">
            <a:avLst/>
          </a:prstGeom>
          <a:noFill/>
          <a:ln w="25400" cap="flat" cmpd="sng" algn="ctr">
            <a:solidFill>
              <a:srgbClr val="003966"/>
            </a:solidFill>
            <a:prstDash val="solid"/>
            <a:round/>
            <a:headEnd type="none" w="lg" len="sm"/>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0" name="Straight Arrow Connector 49"/>
          <p:cNvCxnSpPr/>
          <p:nvPr/>
        </p:nvCxnSpPr>
        <p:spPr bwMode="auto">
          <a:xfrm>
            <a:off x="5430415" y="3625361"/>
            <a:ext cx="0" cy="381566"/>
          </a:xfrm>
          <a:prstGeom prst="straightConnector1">
            <a:avLst/>
          </a:prstGeom>
          <a:noFill/>
          <a:ln w="25400" cap="flat" cmpd="sng" algn="ctr">
            <a:solidFill>
              <a:srgbClr val="003966"/>
            </a:solidFill>
            <a:prstDash val="solid"/>
            <a:round/>
            <a:headEnd type="none" w="lg" len="sm"/>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1" name="Straight Arrow Connector 50"/>
          <p:cNvCxnSpPr/>
          <p:nvPr/>
        </p:nvCxnSpPr>
        <p:spPr bwMode="auto">
          <a:xfrm>
            <a:off x="5426700" y="4346472"/>
            <a:ext cx="0" cy="381566"/>
          </a:xfrm>
          <a:prstGeom prst="straightConnector1">
            <a:avLst/>
          </a:prstGeom>
          <a:noFill/>
          <a:ln w="25400" cap="flat" cmpd="sng" algn="ctr">
            <a:solidFill>
              <a:srgbClr val="003966"/>
            </a:solidFill>
            <a:prstDash val="solid"/>
            <a:round/>
            <a:headEnd type="none" w="lg" len="sm"/>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2" name="Straight Arrow Connector 51"/>
          <p:cNvCxnSpPr/>
          <p:nvPr/>
        </p:nvCxnSpPr>
        <p:spPr bwMode="auto">
          <a:xfrm>
            <a:off x="7129119" y="5067582"/>
            <a:ext cx="0" cy="381566"/>
          </a:xfrm>
          <a:prstGeom prst="straightConnector1">
            <a:avLst/>
          </a:prstGeom>
          <a:noFill/>
          <a:ln w="25400" cap="flat" cmpd="sng" algn="ctr">
            <a:solidFill>
              <a:srgbClr val="003966"/>
            </a:solidFill>
            <a:prstDash val="solid"/>
            <a:round/>
            <a:headEnd type="none" w="lg" len="sm"/>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3" name="Elbow Connector 52"/>
          <p:cNvCxnSpPr>
            <a:stCxn id="10" idx="1"/>
            <a:endCxn id="26" idx="1"/>
          </p:cNvCxnSpPr>
          <p:nvPr/>
        </p:nvCxnSpPr>
        <p:spPr bwMode="auto">
          <a:xfrm rot="10800000" flipV="1">
            <a:off x="2784851" y="3452362"/>
            <a:ext cx="12700" cy="1440160"/>
          </a:xfrm>
          <a:prstGeom prst="bentConnector3">
            <a:avLst>
              <a:gd name="adj1" fmla="val 1800000"/>
            </a:avLst>
          </a:prstGeom>
          <a:noFill/>
          <a:ln w="22225" cap="flat" cmpd="sng" algn="ctr">
            <a:solidFill>
              <a:srgbClr val="003966"/>
            </a:solidFill>
            <a:prstDash val="solid"/>
            <a:round/>
            <a:headEnd type="none" w="med" len="med"/>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4" name="Straight Arrow Connector 53"/>
          <p:cNvCxnSpPr/>
          <p:nvPr/>
        </p:nvCxnSpPr>
        <p:spPr bwMode="auto">
          <a:xfrm>
            <a:off x="5434133" y="5078736"/>
            <a:ext cx="0" cy="381566"/>
          </a:xfrm>
          <a:prstGeom prst="straightConnector1">
            <a:avLst/>
          </a:prstGeom>
          <a:noFill/>
          <a:ln w="25400" cap="flat" cmpd="sng" algn="ctr">
            <a:solidFill>
              <a:srgbClr val="003966"/>
            </a:solidFill>
            <a:prstDash val="solid"/>
            <a:round/>
            <a:headEnd type="none" w="lg" len="sm"/>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5" name="Elbow Connector 54"/>
          <p:cNvCxnSpPr>
            <a:stCxn id="18" idx="3"/>
            <a:endCxn id="10" idx="3"/>
          </p:cNvCxnSpPr>
          <p:nvPr/>
        </p:nvCxnSpPr>
        <p:spPr bwMode="auto">
          <a:xfrm flipV="1">
            <a:off x="4008987" y="3452362"/>
            <a:ext cx="12700" cy="720080"/>
          </a:xfrm>
          <a:prstGeom prst="bentConnector3">
            <a:avLst>
              <a:gd name="adj1" fmla="val 1800000"/>
            </a:avLst>
          </a:prstGeom>
          <a:noFill/>
          <a:ln w="22225" cap="flat" cmpd="sng" algn="ctr">
            <a:solidFill>
              <a:srgbClr val="003966"/>
            </a:solidFill>
            <a:prstDash val="solid"/>
            <a:round/>
            <a:headEnd type="none" w="med" len="med"/>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6" name="Elbow Connector 55"/>
          <p:cNvCxnSpPr>
            <a:stCxn id="12" idx="1"/>
            <a:endCxn id="28" idx="1"/>
          </p:cNvCxnSpPr>
          <p:nvPr/>
        </p:nvCxnSpPr>
        <p:spPr bwMode="auto">
          <a:xfrm rot="10800000" flipV="1">
            <a:off x="4801075" y="3452402"/>
            <a:ext cx="12700" cy="1440160"/>
          </a:xfrm>
          <a:prstGeom prst="bentConnector3">
            <a:avLst>
              <a:gd name="adj1" fmla="val 1800000"/>
            </a:avLst>
          </a:prstGeom>
          <a:noFill/>
          <a:ln w="22225" cap="flat" cmpd="sng" algn="ctr">
            <a:solidFill>
              <a:srgbClr val="003966"/>
            </a:solidFill>
            <a:prstDash val="solid"/>
            <a:round/>
            <a:headEnd type="none" w="med" len="med"/>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7" name="Elbow Connector 56"/>
          <p:cNvCxnSpPr>
            <a:stCxn id="36" idx="3"/>
            <a:endCxn id="12" idx="3"/>
          </p:cNvCxnSpPr>
          <p:nvPr/>
        </p:nvCxnSpPr>
        <p:spPr bwMode="auto">
          <a:xfrm flipV="1">
            <a:off x="6025211" y="3452402"/>
            <a:ext cx="12700" cy="2160240"/>
          </a:xfrm>
          <a:prstGeom prst="bentConnector3">
            <a:avLst>
              <a:gd name="adj1" fmla="val 1800000"/>
            </a:avLst>
          </a:prstGeom>
          <a:noFill/>
          <a:ln w="22225" cap="flat" cmpd="sng" algn="ctr">
            <a:solidFill>
              <a:srgbClr val="003966"/>
            </a:solidFill>
            <a:prstDash val="solid"/>
            <a:round/>
            <a:headEnd type="none" w="med" len="med"/>
            <a:tailEnd type="arrow" w="lg"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xmlns="" val="39891586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b="0" dirty="0" smtClean="0"/>
              <a:t>E3ME </a:t>
            </a:r>
            <a:r>
              <a:rPr lang="en-GB" dirty="0" smtClean="0"/>
              <a:t>as an IAM</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b="0" dirty="0" smtClean="0"/>
              <a:t>Through work with the University of Cambridge, E3ME is being linked to versions of:</a:t>
            </a:r>
          </a:p>
          <a:p>
            <a:pPr lvl="1"/>
            <a:r>
              <a:rPr lang="en-GB" dirty="0" smtClean="0"/>
              <a:t>the FTT energy systems tool (now standard)</a:t>
            </a:r>
          </a:p>
          <a:p>
            <a:pPr lvl="1"/>
            <a:r>
              <a:rPr lang="en-GB" dirty="0" smtClean="0"/>
              <a:t>climate and carbon cycle models (already done)</a:t>
            </a:r>
          </a:p>
          <a:p>
            <a:pPr lvl="1"/>
            <a:r>
              <a:rPr lang="en-GB" b="0" dirty="0" smtClean="0"/>
              <a:t>land use modelling (being tested)</a:t>
            </a:r>
          </a:p>
          <a:p>
            <a:r>
              <a:rPr lang="en-GB" dirty="0" smtClean="0"/>
              <a:t>The ultimate aim is to develop the world’s first simulation-based IAM</a:t>
            </a:r>
            <a:endParaRPr lang="en-GB" b="0" dirty="0"/>
          </a:p>
          <a:p>
            <a:endParaRPr lang="en-GB" b="0" dirty="0"/>
          </a:p>
        </p:txBody>
      </p:sp>
    </p:spTree>
    <p:extLst>
      <p:ext uri="{BB962C8B-B14F-4D97-AF65-F5344CB8AC3E}">
        <p14:creationId xmlns:p14="http://schemas.microsoft.com/office/powerpoint/2010/main" xmlns="" val="13055806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Small-Scale IAMs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b="0" dirty="0" smtClean="0"/>
              <a:t>Examples include RICE/DICE, FUND, PAGE</a:t>
            </a:r>
          </a:p>
          <a:p>
            <a:r>
              <a:rPr lang="en-GB" dirty="0" smtClean="0"/>
              <a:t>They include a very simple economic module (usually CGE with no sectors), with energy and climate modules and an economic damage function</a:t>
            </a:r>
            <a:endParaRPr lang="en-GB" b="0" dirty="0"/>
          </a:p>
          <a:p>
            <a:endParaRPr lang="en-GB" b="0" dirty="0"/>
          </a:p>
        </p:txBody>
      </p:sp>
    </p:spTree>
    <p:extLst>
      <p:ext uri="{BB962C8B-B14F-4D97-AF65-F5344CB8AC3E}">
        <p14:creationId xmlns:p14="http://schemas.microsoft.com/office/powerpoint/2010/main" xmlns="" val="26729339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Criticisms of IAMs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Recent severe criticism from </a:t>
            </a:r>
            <a:r>
              <a:rPr lang="en-GB" dirty="0" err="1" smtClean="0"/>
              <a:t>Pindyck</a:t>
            </a:r>
            <a:r>
              <a:rPr lang="en-GB" dirty="0" smtClean="0"/>
              <a:t> (2013) and Stern (2013)</a:t>
            </a:r>
          </a:p>
          <a:p>
            <a:r>
              <a:rPr lang="en-GB" b="0" dirty="0" smtClean="0"/>
              <a:t>Key criticisms include:</a:t>
            </a:r>
          </a:p>
          <a:p>
            <a:pPr lvl="1"/>
            <a:r>
              <a:rPr lang="en-GB" dirty="0" smtClean="0"/>
              <a:t>arbitrary nature of the economic damage functions</a:t>
            </a:r>
          </a:p>
          <a:p>
            <a:pPr lvl="1"/>
            <a:r>
              <a:rPr lang="en-GB" b="0" dirty="0" smtClean="0"/>
              <a:t>sensitivity to discount rates and other assumptions</a:t>
            </a:r>
          </a:p>
          <a:p>
            <a:pPr lvl="1"/>
            <a:r>
              <a:rPr lang="en-GB" dirty="0" smtClean="0"/>
              <a:t>assumption of exogenous growth</a:t>
            </a:r>
          </a:p>
          <a:p>
            <a:pPr lvl="1"/>
            <a:r>
              <a:rPr lang="en-GB" b="0" dirty="0" smtClean="0"/>
              <a:t>extrapolations beyond the available data</a:t>
            </a:r>
            <a:endParaRPr lang="en-GB" b="0" dirty="0"/>
          </a:p>
          <a:p>
            <a:endParaRPr lang="en-GB" b="0" dirty="0"/>
          </a:p>
        </p:txBody>
      </p:sp>
    </p:spTree>
    <p:extLst>
      <p:ext uri="{BB962C8B-B14F-4D97-AF65-F5344CB8AC3E}">
        <p14:creationId xmlns:p14="http://schemas.microsoft.com/office/powerpoint/2010/main" xmlns="" val="928591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Agent-Based Models</a:t>
            </a:r>
            <a:endParaRPr lang="en-GB" b="0" dirty="0"/>
          </a:p>
        </p:txBody>
      </p:sp>
      <p:sp>
        <p:nvSpPr>
          <p:cNvPr id="86020" name="Rectangle 4"/>
          <p:cNvSpPr>
            <a:spLocks noGrp="1" noChangeArrowheads="1"/>
          </p:cNvSpPr>
          <p:nvPr>
            <p:ph type="body" idx="1"/>
          </p:nvPr>
        </p:nvSpPr>
        <p:spPr>
          <a:xfrm>
            <a:off x="611188" y="1676400"/>
            <a:ext cx="7546975" cy="1536576"/>
          </a:xfrm>
        </p:spPr>
        <p:txBody>
          <a:bodyPr>
            <a:normAutofit fontScale="77500" lnSpcReduction="20000"/>
          </a:bodyPr>
          <a:lstStyle/>
          <a:p>
            <a:r>
              <a:rPr lang="en-GB" dirty="0" smtClean="0"/>
              <a:t>Developed from evolutionary economics</a:t>
            </a:r>
          </a:p>
          <a:p>
            <a:r>
              <a:rPr lang="en-GB" dirty="0" smtClean="0"/>
              <a:t>Brought to attention by </a:t>
            </a:r>
            <a:r>
              <a:rPr lang="en-GB" dirty="0" err="1" smtClean="0"/>
              <a:t>Beinhocker</a:t>
            </a:r>
            <a:r>
              <a:rPr lang="en-GB" dirty="0" smtClean="0"/>
              <a:t> (2006)</a:t>
            </a:r>
          </a:p>
          <a:p>
            <a:r>
              <a:rPr lang="en-GB" b="0" dirty="0" smtClean="0"/>
              <a:t>Most applications are still micro-based, but interest and research are growing</a:t>
            </a:r>
          </a:p>
          <a:p>
            <a:pPr lvl="1"/>
            <a:r>
              <a:rPr lang="en-GB" dirty="0" smtClean="0"/>
              <a:t>e.g. adoption of new technology, including scale and networking effects</a:t>
            </a:r>
            <a:endParaRPr lang="en-GB" b="0" dirty="0"/>
          </a:p>
          <a:p>
            <a:endParaRPr lang="en-GB" b="0" dirty="0"/>
          </a:p>
        </p:txBody>
      </p:sp>
      <p:sp>
        <p:nvSpPr>
          <p:cNvPr id="2" name="AutoShape 2" descr="data:image/jpeg;base64,/9j/4AAQSkZJRgABAQAAAQABAAD/2wCEAAkGBhQSERQUExQWFRUVGRsZGRgYGR4aGRseHhkaGxwbHxsaGyYgGh0jIBsaIC8gIygpLCwsHR4xNTAqNiYrLCoBCQoKDgwOGg8PGi8lHyMzLy0xLDAzNDYtLy8qLCwwLy0yMiosNDYwLS0pLDQtLCoyLS8sKioqLCosLCosLC8qLP/AABEIAKgBKwMBIgACEQEDEQH/xAAbAAACAwEBAQAAAAAAAAAAAAAEBQIDBgABB//EAD8QAAIBAwMDAgMFBgUDBQADAAECEQMSIQAEMQUiQRNRMmFxBiNCgZEUUqGx0fAzYnLB4RWCoiRDktLxNFOy/8QAGgEAAwEBAQEAAAAAAAAAAAAAAwQFAgEABv/EADQRAAEDAgQDBwMFAQADAQAAAAECAxEAIQQSMUFRYfATInGBkaGxMsHRBRQj4fFCJHLSFf/aAAwDAQACEQMRAD8A2IC1walVnejTx6J/xDUutUhlItJLRIIEY4nSnd7EAyo9MGVUB2YBuIL1BBWTkAAAifGGBKBAjFVXJsUqh82tJIAIOQvzJzxqFcKSBdcpBUt8MCD90QsWzDFhEm0CBaZnlKlRw3406zlSspSbzVHUalOjUIQuzcOTUNpBAJW1rjntcnGQPmBDaqKt6z2q0CmSVAuUOxcAw2Wt5gACASTK3qNKG7i1oth8cZgPcRwQVnzgTMa82NKXK2sWjlSVf3AIkSYu7eI86oKShIGSL0NOZKz2l46mtLtqoZlCWAUybRIUsbWQQpaYALccmAIhi3tTeinci1HZgSXACmnOS2XqKRyZgkXTxkaj04qFam6kMSxItg2g2hh4FogAKSF4xAkXdbEhvVLBQQS4VQTcCbgJMGTJGOGGDM6wx3lEHWhuAZs/lTNNwJZixVh3AKxWFIUz2zz5ZuSDyBA9/bKV49f02ux6ogVFMdtxpkFhECQBHzEkLNzX/Z6KmwM7VDaH7wgVQCciGcyskRLEnIEaXjeszXg+o4RjkgQACzGFWFFwEeLrV/1ZVKVWraYVr1+K0NV6VU2JCCVtaot5cFytRgWLdsWwG4IQxB00Z/2ZKaD0hUqEoHsCDAnKgyzH2B5zjjQHRa/ppUJUCrNzOOWViYE/5SCI+h84jRQ1XYbmWpoHckkAKQZVqZXuHbMz8pk69C4FrmfKONYUtMwNB70T+3BTUvFnqEXOmFBi2SphlPuQW+uMJf8Ao5k0TuanrkM2KzQqiIZhdHdPA+XjIDr9SFVWZAyIMkF2ZyBk3d1gkCCoU+fYkTpbNYdmpKBTDGmjhTTLJctS9R2l7eCcdrGMAaXJzkIVTSU9nLiTc29NNeopr1euEprTPCAL3tc2B5JklvJOsmDcAywZZgc8cR+ot/TVm96n6oODc2DZwRMcgjiYB8HAMYI+0SabpOVZcHnAYcSYwOD3fLV5oCAE2M6+3W0jfSoTjS8xUTKeHX++FOembJP8SsbFpgsXByoAkwV8n2OD89PUr7uxSTTpoYJIoM9gJ4qNeFJA+IoADmCNC7DbX7exMsGSpaYAqWG70yTIz4JwGCziQST1HbEKUdASf8OS1UHMhqdMTTIyCIbOInSr5IVl2p1vKpIIFV1HFRQXp4BKhqFVQQDkwtUqVRwBNMl148idKKTBTUsVwaTFhfAlSZ+8uOQV5aM+S8AF2a5JAVK7ZmWpmmDjJ+9endzAJk4JJyBpT1zcrTpFqwD1h8FMSAqmLm9RCrVWjkhoXiPJZwjgT3ePXWlNIcjWrqe1SnWC1WpKArT3dnqAq1O8FYEXsQCci0ngDVfUd09xWrF4MN3effUaO5bcUxSQr+z1aj/elg7ICju1O1hctS0EAklTauTNpjv+o0CpDVUdgAqMKbK+IALkuVMARgZ5xxoWJSXFd4ExqPvyNeLiCYUYJ0PWx3pdttxaxE9p/wAwOnK7p6jUlKsQZFyx28ZaQf0MY1lwwDEEtdI8CI8/i5+gzPyjTvpG6HEkxBGInA+evKTmTANuMda78KUfwqky4gRHx1oTWxpb5aNO9pgQqquXZoMKo8tg/oSdUt171ex9sjyQLbw/JYA5pwMrz8weDOl2/wB4GCQGJphi8KSFDwBV7ckoVyFzDE+DofYb+moALooJpkWumBdTGBM/gqcT5yJGhaqtSxVaxtVp6sqx6QdgZBpsZKZAB9TIdGkG3JiZ4gF7DrFEU2FUsrK7MAO9jeS/bZN0SSfIEE86TKjIoco9jMVX0yVvIUz2hbmGWN0QQreCDo7ptOqV7CgFIBF9QMt5IR4jNn4WD2ybuAZbR32W8ulBZcWFSKabrcbbd0WVgz0VVqjVQGX0yvsYkvBeQOACGHdBylbpCESBUpIsQGcu5mYSALFnykOTxyYOu6RtHSl6FUpUpMlS5lBFpZpKyzG4EO0GB8OedC7XZrdf6xrNTiyVCwzC0VCZhjgAEADmJhbVAQDlFMLunMbDerumfZWnSFCozVVrhVub1GYXG28FSSsNFhxxERAOtLViOfbz89CdOrlgARkT5/vzI1ZUNg/EVyZ5t4P1jnWCZmjlPZmNqk0Fx7LP6xj+E/qNdTE2jwBP58Dz9deoItnkyT9SP5a7aDExzniMePPtr29dFTQCW/r8hpTuentRf1Nv5ktSntbiSv7rf38tN1OT9f8AYa9JyPof9teBjrnXSJoKj1SnUQMGAyJBMEGRIInUqvU0BUA3XexnMgDz5J0u6x01lY16Uzi9B+IA8j/MP7+YW0qXm9SYkMY5yQoz8pP6H6aXdcUlVt6GVEWrRIO5M/hPn/TqjdAXHP8AH5a92VckqCMqCD/4kH9NduWFx/49tcWZR1woqNTWLTZdxdSGZkYhIbLBfhkcCbQSYiQPbWf2u/JDTUBAjtYKFwRymLIJ4WGU+ZOdxSo32lWCsJ5W4EGDxI4IkZ9/fQW7pXFyxVEpsykgKKhsMF3qxeGc5FtuMycx2ZkTcUVk3zZdaQHeWqxqw6MhBsKX24Y4cw3bAnyRwedV/aTYtQRMOtNi5YOwJViQArvPdKAEKSeGEsQo1qNn02lRpMWopLkOtNkUkBVAQQR2kmTngsBzjVex6mWodqKpVkpU1k2ksyqshu4hS2R8ox4GlaQcup+K26srVKf9t41ldvvpKKlcjgiW9QqQ0doOUJtItANwL9rRIc7TfhraBVKzMXHbVCyWVqkEW4AggkEfhgTjRG72AP8Ain1WabFIRUkCLrFFoAz3m6BJDHgihWBCU/SemtNFAqU/AMYZbXSW7vJuB4I0YATMxFYUpIT3hV3VqYf7sklZPdaSVOe4BMknKzxBIjIj1NsqbUBEK3MhrEksYCsRcTkIrhcDAE+5kDedXqoxFVcmW+7IIjPggEcHUulbpr2qguPAvV4lyApI+GFEnBlsDF2jayvUciDHPzoDZKhl9DpPhrpRtDcYqkGQKYBIyJDLAkYyPHyOrNp1YMhMcqUb5SCswedUfaGswoMqspt7ltW0YILiFx5DA+QW9tZvYdbthjE/7fMefkPz0y0c7WfJN/PTSslkpVlCtrcDf2rT9E+z9OiJDNWrKrFA0WK4EpiJYggfESJ+YB11SgGVaatJF0gkyo9NgS8CVNxySOY50pTqAMMhKDJJmQDOBHOeY+f10VvestUphS/IAYqDJjjxnHvoJwgJCm5gG4gz14E1tD8DIrXSdqS0diWIAMkfuEmBPuRkmCIA9yeNWN1r04pLTuCjPOcwOBntAM+c6GXqBooxRagIDG4rM+QByFOfizyccQkfco4Zkqvf2gJAttIHJAEEYEf2KTSkpeShbZM6WPqY8a8pgqbKgqI4Ec7Xra9N+0RAHaFj56N3f2qqBQZYBuDMKcgE4GYmf7nWBqV6Qp0ijOaufVn4flbj+xznXi9cYLAjAxIEe5j6/lnR1YNbgzoTAvNjNpvfnccqyw+00rK5fmTPsK0u662XPeSYOIJz8xjHvoxNxTqhEcqytEkkgIY4JAkEe4j8p1lKW6Z25UiAcIBzke/jP5jTfZK3t/D/AI0ksJWylbSjprH2Ipp5tTBVmEp8aIPVhtAQtNSFZmV7jg/4dxAABwTa0YDHAnWeO6W8Xiws1szxJyxEcDTXqNMw3jH+41m99WCrb6bFriSTxHMrGVxzyMT7jRMOUlMHzI2tr4dRShUInbnT1npl7Eb1LPgcnDgAEoSJBZTIxzo/om7UHJZiSTLNmD448ePr41j1X02DJUGcifMf38taTa1fU+8UAH8YgYPuMcHRH2P26bmRx5840nY8fIBxp0u91QMifQ/PMG8eBJ3/AEndwRE/r/xo2n12lcV24pepJLsRYqDy7ELLSYAA+IzkQSM70bd8Tn5wP6abVFpbestcqiJWFrEwo9VCXpyx+ANc8n3RffUtRM8uetAdT3hliiEuuLObqp/EQRAJgWj/ANtMg58kMWYgahtBNNisxVqF0PkqERA8f5rCw/yldD1esUdwHp0qq1AZFZ1PFMQan0NQstJfkCR8Ghm+1ok8KOBiAB4GCNdAU5dN6AWyUyn80XVYri5gDIyQSff8OPOoIf3ajEwohrThTgYUeWmdL911VXzcG/0nP6EaUnqgDkqxlfB/v56cYwJcIUsQRy/N6QddOVTYOttfsK3tHclWkuimSCWU+fmGHmOdMKnqNADUyMHAYecfiMg6wfTftCtUWuCPYnyDww+Rg/3GnXTt2yC4MTJgD38cHGefz0optSU5hccRTKcV2igItxpvu670gFinGRALSPfkHEePGoLv6rYCAgfutgfmV/loBdyalTyYmSfPuIjAHHPvowb2nTcKzm0QDavYpMEC4TyCP1HuBrBKUfXrw8etK4lalk9kYQLTvbWNgBxvU7quZRf/AJz/ABkaW77rxpE9rXKM2sCPpydHdX6vSpi1Wl2jOWCg4BLZCzECfnrOVtwWkC0klhH4+3Nx+TQI/wBS5Pga3UgaDrwogSsOoSFKg3JJERpuKbj7T1lUE0p45kH9QCDoXpnXrWaaYC1TJQyAD8pHB/TXbbeIxCiQSPAxxMHHMZ0HvNuyyBEe1oj9Ix+WtNlK9Pz/AHRZWJS4L7bH8H2rQHrCiAqW4P8AG2f5apfqKz/+6QUKzyIK48Nx/KR/HRBr1fNP9ACPyOgrQpNin712L91Q9cp9/tag9p1iqlKWEi4AXNmDEAtH1znkDOreq9eWktLcjbh/UInuI7xFtwXtqTbhiOVX5aX0N2opkMYqEmGuNoSzIt8nnxzBnEaC6V1BzLVKxCKQq3qWVnmVKiMntkASQZ/d0mpx9wANNwnq5P3qkWW0KUXFXHl5ACtVS6ixYmqSrMovQsogz8AmZGWyI+ucS6ntWrm6yMFTgNGZlWDdrfPPCn8OcZ9o9utybn1g5m0wgEsp7ZDLkg9ufl4B08bqIp0h6m4eqWVZFO1BmbwRYYtGfHIBAkanvy1EG9pN/QcuZufChryIR2qjAvbhzP4q7eOaqfceoS4z6kHH7t94IQmOUJOOYXQ3T9rVW0pTsSrEzDLy1h7WuWSy4yDMkjV+2dWpu1VnZafbYAadwgBGaYulSI+FYmRGAeNlTq0b0DAmVIZ3MEGDm79D/SNPnFpUrshvaYtPDUX8qVdUUjNEgGDQfVtizVU5tk/oRkH5HH6a83HVCtZqSIhAJVi1xLERJ7WFgDcQCeGxI0RWp7WjTJemGYTgC8gGYBLeOBJ50HQK1yKooxMwbmp4QhbmsMGCQoPJjMAaFh1ONkpWCDz39zXcMUrAUk5k6A8DrFSG7cjKGwGS+XIEMGkAXMO4ZwxDHDZOkCdEaoRbUuLNHeGpjF1yywklbTIUYlfnD/cdOVASZJAJZTcEkiFWJuyZOSSSCT76Q791emECwAbsl2AJJmL5IuJk5gnOJM0MK6tMhBv4TTzjKXDMUspK4btJPznGOc8fnxpoN4xFpDGQVOJGfIJMA4GfnqhamIP/AJA5+uP7xqta/dJIn6EcaqqUnEH+SLbxeaAph1v6dKH3YBvIuU2tkEgj54OlwrKQRVqFv88dwPzI+MDzOfY6cVoN+RFjng+0+2sxuFHF3H11bwTWYjK4r2NhrqJqbiHcs5kCPSSdNDVtenY9pdsHxx7gjOQRn6a0n2mbZttEG2P3/bfF/wC73c4+L21m96oKUWkSUIOD+F2A8e0D8tCiBkNn8/6afd/T1PqQvtFd0zGxM7xFrVP/AHAbKhlF/aRVnTtw1P8AEf1P9dbDo+9Y+T+uskED5BF3kQc/MY/hp30GpkZ/n7fTQMZhG3GjlEEajr5riXFgETY03rl6r06ahpcXAXDI5H4scGZ0p23qLuIa0KZWajgWZIM92JIAz/uTptt6QNWtUUxbaoKypBwSZGZzyPfQNfbA8tA+h/pnXzacGXUKbdPcjXefWqCFsOAtKTYxYn5IrP77aiixCkFZaGDSCJMQJPjz8jqzpNaoKq2ElmwUJxb5n2EZ/TTOvslItkQfkf6aDHQqyxVo1F7msxlgQLj2xIWPPH8NOukpaLYiSMoJ3PEn7UxiGnGUy1reCZgcLanx9af0ep1Nu4BM024M5+hE5I+X6a2XSevEgFDII8kRHvzkaxXT9oGlKr+ox8n4cScG0d3P5e40T6RoFCJZHMkZVXAgNBElXGO7EjBkalrSQAlYHacvpV8fjlF6KVkshTthvGx89uG+02rTdQ2pVHWmUpq3cQsCTIyY1jN3s0Ukl2YgkGDEEeMnP5af0+sBqZiGXIAYG/DYDED4gMH5/wAVfVqCG0ioHBAPwuACeVzzEDP9NM4Nx9pxLau4Ty4eA+9KttNLGVJkAxv+R8UiZgSbbgR7nS7fdRq/CGJBnOZg+x509TZKtz3IIiJDc8+R3fPn20F1SkaheqWFxPdAIj5rC8a+nZxHaylQkRE87W0+9vOpzrCQvvbeYtz2qO23NX1FSvUai/E1ICAETmADBjHz9tN+l/aWDElyTE+f+3zrPjaGqRUr1cHg5LvGIRSBIH73GfJxozb1rTbSikvBtlqh/wBTxP5CB8tZYwjaGgkRpokQkHcgxN/tQgoIJQ0m0nePK3Dl51v6CeqoEsr+xzHEcsLWHg/XGi6+yqg9qszH2JxiLzHaSPBIOY9sZ77NUDEyfHj56L6/X9Wp3mEp1PTVfw9pN7nHxlkZZ8KI/Ex18/jsKkLUExJ34R41vRsArPARxPXGmA2FVwS6vKWj4jLAfCTxcZn8599dWQ+HZfqAR/PSwMFHb64j9yrVSfra5X9I/wBtEUqlQjBrj/Uy1B/50GJ/X89KoJaTEjyGvOuDDh8JTckbkz8k/FQK1FaQaTH5MaT/AMS6n+Gq951WBDCXZSipWIiWjuVlYgxHjMe3k7cdG9QD4nMj4bqL/U4NJv8ASFB+ekW4+zpq1D6e4p3EFbKi9wZZLIQJVWxMhoIAOBrLqkPNlB1PG39W4CJqh+xxDaJReOXzA08R51dSps6CGZmAzBlvc3AEywIPHz0L+2t4YH/v/wCdVbDbbnaM/qhkLAem5HDwwXMcmIz7DWe/bqflRP1P9NUmcApSu9BsNL/O2m9EadUEQsjz49cq02w6ezbsKjN6VpZpAxAgrMSAxjPMMY40z3pa5m/dqpRQjinZY1QquQCz9nHw0onOmOwQojuyWpAkrBYm4AACcycTxP0OlzV1KMgmyoWrqrHuQq010OSAVZy2MEVacSBJjPLUhN1ZjueP4HKmyoLVZOUDQdb86F6ZVdaS1kKE0qK1HL5J9UXOQMSxa48jmMzGk9XqtD00kVjVlkYYs9MTbGQM9pxnmRgRdQpzSpkAMyU1kEEEKot9STizHxAnwOcau2rUQ0XI9SJIEwAfYeB8zzqYcKXip16w4kx0OceE3o+MaYdb7AEqzAWSJI8ec3vHlRfSt69d6gq1HUWp/wD1yw7hbIUxyTxJLHOrtx+zIAjWs02imat1QmeLGJFP8xOfB0F1FnWmjKqoKshKk5BXntGYweP4Y14vR0NZK4ILKBkgyzAABjmMCeRzb7aOAykgIdCdNJA9d44m8UohhRN0Ktzk24xx8zxppU6DTtJakiMQQESAF7feJZvmdEbTaWInpVHRlBi83Lm3tyJAlVPygRq7a70NIbmDz9PrqC76DFoP0wf56RxTz7SuzcWZ53SRxHRrWHRmIWgSPCCDwNBpu1dbSCryxIbhiGILKRhuPHHEARpZv90yTER9BoxqlJ0Kt2m9yJEQb2ggzAP0zpV1Jzba+Z4cefkc4P8AA6wjEPKVCFkR/wAyYjl+NRzvFhvDNRLrYM7wPf8ANebTqd4BZRY2AfM+5/ynj6gcyNVdUoWMAM3RaAAI8ET5kkHOl2227KtrFmHAF7QAvyn6fpp5v1VqdOVnB8j2OSfbjgeRq1hn3VoWlZki4PASLSaktYd7DuJccAhSlCE6RBItxGnPegN3tXpl6dQQwptIkHBA8j66Q9U3TVKlzmSAFwIwJjj89aLbICHkS1jEkk54/Ocfw0AlFRLsgPlQZ5+YnK//AJqp+n4kIUhSrkA38TH2pjF4clKxG6R6D+6XdRgLSp2w6L3G4mS0NEHgic/MxoKzTgpcxJRSTzJbJPn4tertcfAvPPd+nxRr6TDYxttGUTvqZ1M7mvmsQ0tS5I6FtqTgEZGNOOlVwTJNrAGfY45/qNQqUok2J/5f/bVe13JWYVBaJmDPxLHnmYOmHHA+iU/UN/seR/sUFsKQYIsevWtb0SnNKrIIJZiQRB5EYPGP9tXUdoKkrGTx/T89U9J6s1W9nILsMmI4KhcDgQNX1N0EyIF3H9/XXyye1V3Y7x28viiPtKS4SPp1n7ePLz0pdW2Qu9MA/NpH/wBdc1FBKoCqAd7zn/8Azn6aebiGpysXNzPv4/XnSDrHUClP0wAGb4sf86O0C8rsNvk7ny2qkzic7ZDn1AenL019KhTb1iKagrREEwwzHubZmf8AjWg2tJVFtpenEXYJX69uPqMGMwQJA2u1KUlgAGPE8+3PjT7a780BQTAV/vNwxBI9NvUpqJzADC5mPAUe8gGMcSQWxonQ7k8T5a8a8zuT4Ry4jzFuFpms9QIpbiwg21CByIkcH4fYR+mmm96UpgAd3kSPP5aD6/QNKqsoIRx4MqLgZwcjGid7vjZf2kkDg4+sg+3nQ1NreQgTcW89vb2pMNdm7nzfVvxA4jjNo2Iigh06kz+VjkSCC3vgf3A11XplMuylHhIy2Ee4cT7e+obfq9h4UlhBHP8Avo99+lsYFyzGYyfrI4+Y+muo7VBhNwPcnVVuooziV5u9/wBWPLgB/vORFItx9l6i1GdmlyF5WQB4AUYAAwBwPznVuz6YqFnftVZMH2Gf0A5j/fR1Xq5BWqaiJSyGUyWOISMGOOceeZA0y2O5WoAYVkPk8ckEZ/TTQxK0gp61pdbbmcCLWHoOtNqL6RtlNL1/UUU4uubtUAH5xEe2k3Wd6jbip6RqMpPqgqpFjlSriHI7STeCEbLkYES6+0eyqlFRKyJRqvTp0qarYVIF5M4DMvpllBkHtEckrK/TS5VjVLBirhmRIl1LwS1IAgtYoCyOAYiCh2inDKjRXu4AgAV709TUIH3KkjyVqNxJg1CbfOBQ0fTphGVVFKrMlpVGtUDLX0qaOomB3UmHcM6E6BVqXqtFw9MQ1TuCOSJlFue10UmWgJGFJJJAf1KlrEhWar6pQMvxJABpRPKlDJWYNzk4uZVnjT+BTxHXX9TUK6qlTsCuSLigbCqAGuW1UBAJZee7tJICkBcqFa7hC1tNVW2nmp3KKgVWMBhaCL+WVQpiLtFKacKyNbUUEipIFNS7gvZeCCKhLBAYBskYgkXqmwZmoAU3aAtOneEHwrULStwZQyojZM/FEEAFNQJr6BpSU2Udovy5eHnqdr1Gh6lKvRLMtRySKbX2gIxJdGf4naVeeTE4yNfPE2ykSylickjj6flx+WvqaOlOixhEqFIqFXZ4iSRcWN0kGffOTGkXSekqaNMsyqWUNEHF3d/vr6H9NxK8K0bTp7189+opaxThlRAHz5bR41J/tdbNM09m6lYJO4LUyIuIzSCtnETzHjOhdp0MF2aWJn1SaXOabrbOSKJWrKGW+7UwAbp2r9Uqei5pks8doIuzOQFkXG0E2/TWHpbB1eSxA7qxWCj0y61EpqbbQLi7NbaCgCL+IAQFgpFMKJUZNVdYdaJp2qtNJLogb03Rm9Ms5Y3FlPYIuUE2SSHgUttLlSosj1VBbNxMEqIaBIMFpgTdOiaW8LKlR2ZHeS7qbXqKWBVDYT90O4ye43GApybq6epWgPeAQqvkggJN2Zk4IkyJBJmMqOrQe4bnxjzmD8VTwjS0d9VhHAmdBxHHjS3fu1JA6KxsPwg2yDzn+Pz0JtPtDWqkBaZUMYW65pI+KSIAAH8j8pd77YCw5C2svcZAANhDHJiAxn6eNLNv9nIqllttXCx8MDAI45gZ8gDSC1IIIVNrazz0gcaPmbDmaRJ0tl5ayf8AaaruSGMg4BF3sSpIHM8aIR3M9rKYBtOOZgjPyOOZHjQ+12paoFsF7BlEwPwt+LiOdVMk57iYAyScDgAknAzwYzrqHB2fZqGZA3GqfDcDiCI4ca44zmdBSoJXvP8A0NpgweRBkeor1WYAgg/E38SToWrt5wF58eP040VS9QyApeJMWzAHJ+g14G82qPnGsft0BeZK+ehn2BHvTqMQpKcpQJ5KEe5B9qAp9LaSeFH70/oDzzOrKqO5mwDwMn+miSSXE5kefBBEfTnU/wBmwCActbdAi7mM5/hHznVEYgLIQADmiSbfBFh4kk+VKZezlxZgpmALgTsJ3PGBAsBrIabVjP8ApJxxx/HVD7MkzB0222ztuFsBUYCBgfTVQoCdAexa0rgfSNByH3o7bYIyqurc8zQ1Lp3mPr9NEr0qHiDke3t/+6Ko1EpmGkmC0KJMcwQMifc4zmNF7NxUtKkmGWSDaoEgEWnuMjEsCSSPh1wYp7WYEa1OeZRNIt90kgHGs/venkBjaZxB9s5/hr6L1Xai3x+us31PZAqYPMcfQ/3+erv6b+qq/apXxVHpUZxCe3KOAB96SdM3LKzCD8IP/kunW6a8gDB5A9/cD5/L5aSdRqhysUqdL06VhsEXQy5OP68nJ1fs9zTtcOjM5A9JlMBT5J4nMe/BGJnVZhx4/wAqkGRpEE3Mcb8Ty511xodmYuJv6H0PD8WoredUanVIgleCPcaK3oYsrCSCBGTyOAf5n/nQvUenLVAcYY8ER3fTPxfw0NtOpW9jLgeDmPz9/c6fZ/kyqSLp1HHn4fNJvthJMGyt+XD/ANuWwrU9K3FS21gx+s6dVV/9UpLFfu6NP8MBXFWZuU8mcnWX6N17bgnLCPEEk/QAEnWmWqa24pFOy+nRjgnDbkfTxxqZ+opg/TF6Zak3VrVNXYfe06RdhTQlKLgmLoE0SSZNubCSZyhMqpdZXoVEdjBPhkmAfms4BPMcH5E50m5pKVek+UtqCEptaO4CJjt+AspDdpxOBoDcj1aFNnP3nda7CC6hiBMDLwAT85PHEdx1SBIPLypmEq7qtPvx8OPrtWR3Gxc9yluecj9fIj9dDb2vVNHtLzSkN/mUmbvoDIjwCNaDcbC8FlKq/BmYb5ERj5NyPnxpPU6cQfuyFZfikcYzcI7gR4yG8TOqmBfQUkg308OuNBdXkAQfqF44nS/r5c6ylfrbu8FTI4Ofz+o+XyGtZ0eyrSFJ0JQEGAbTOZyAOZP66WdY+wyIwZYpE8o8W5J+E3G3P4WOJGTq7o2zai6+orATnwSPkTg/UTppxj+PtmzKvQ2oaXg5/Gvxg8euFtq+jfaKu7bYWU1IRTVdp+9olQCjItyy0EmSYgEG6YKDbVTuKPrPSrVSbgAaRWmEDGHYqClUmJILFQSYURnRdLrJUUEAkrAGYYDMZ5xxj8/Gmx2zlCpJZGUrb+IAiD3HmB9NQg+BI50RbQUq9YfYbw1SCoQ3CSWYNFsKJRFqqDB7exTA8ac1NoSQXIa4QxKVFuUZsl2LssmSlNFBGGYAmVeyq7mmziu4DIRTKJfdYJhwq5ZOSD3dpacrAkeoI9ZaIcX1PxNLIIkDK4c4MKDEggspwTqRPOstOFBgWpx/1JVKlmdiTClVDOTHw01XsUx+4Ha0dzCJ0PXSoWYlGDOCC3qE+kvLIpNzM5AN7gZIAXAB17T3+2ovajhqjQHeb6rA+Pu5FJOMdqjnOTqHUd+wguBT4DWsPUB5IxcgHiSD5950MHs+8oevUn0pklRsDWZ3dSS1CncacoCcgBYMpBgyRifaTiQNDp1nen4DTtkhZQHAMDI+mnu+ZCphVUu6cf8AdJ+scnzoX/pY/CYHgaL+5YcQFOSBfXfnb0oLgenK2kGPb1471f8AZ3epJAZWYKSACCInPmTCmB8tRqVCFqpku+57zIJ5vQY8Gm9IDn/CPtpT9n9slKuzgz2t2jlQytP6xg+Py003dHtLU3RpFO9GIW8Iwg5BtqKotz2ssg/hOpKwOzCZEm+3XQ41bfbWtZVFha1+o/PClO1YelREZ9FIx59MEcmPpj21ZR3Hi4kk/C5GCMg90spGDPHgjXbJqZRAzAWAqpQ+p2h1CzKwbaRPylRPnRlSkrLbJbjN7FVPuMwWHIt4Mcc661DeZS4idaK8sPBKW5kCIomhUV0qK5CVGGFMDFuGE/FJb+AHjV+xpA0lYm0BZZjgAL8RP6as6dsEDAqIPEEkjIAnuOGwvcMmI86XDrlFPU2vpVKiG+mzowuySJVGWCATgswMgGPcDYS8orbJgkT6RUnHNEAIVTWlTSp2mnUUsjsoqBIYD/SxKtBBtYDE+2lW+SnSSGFpZ5FQXEwF+CwAiME/x50T0jrC1a9JVqI7CpELjsNNxNpJZAKTtKtlWS05GQftKlQqVAwTjEmZxjzmOOeNCxjOVaVJIA3v8a/FGwSrZTJAvH5/FC7Z1aSrEiSJEr4EjMTg8cHVwrr85+n9NQ6T0yFKsCSrZBkMDAJMHhpk6Yel7HyAAFwR+IlvwkZx8uDOODGsoOVZKzzgR5kE/FUFJUpMpASDa0/AIHzQf7WQPxgEiQODBkSJzByNGbRV5gmcz4mImJiYxPPjSje9YXuW17kb/KMqQZ+PAxP0I002puAdJBYAwRj/ALokA/Mfx04MXh3WyhbIA5H5ioWNbew6gtKzJ0J+1G7PbG9yGAWDHYLriIMtyViO35D2zdU2cRcAZ4K4P6E/yOhtx1AUgGKPJIBRAGbJOfYj5jyQMHWho0go4/v89Sv1lAbbQ839JsBbbmPnei/p2KdClIXrrNIq/Ty6qpuHdgzDSFc3LxaPl5gZg6EXZhHpvf8ACx7bSzqQxDCAe5QZyIJBiJOtDuAH7YujMcAfOeQfmM6FXb5IHA7QBhff6n2z7aXRiFNMjtu6eG5HIfmOVMB9LqiG+9z2HmfsDVVStcYsWqik8/dh5Agxk4MjiDyPGlZ2rkBWcT84AwJyzH+zp7SoRgnH6D89Zf7U9VsAXbNLXQ5RZj2ExEz451R/S2+3CmkIIGuZUhI19NefCl3T2biVBQJ0sJPjf8Cq91s0IUCnbFO1iI7zcDeR4Y/nqNEUaKlmVWqTaiO0AkgkE/5RHsMkCRyLkoVmpL+0Xq9TtVKaj1CObyol2GI7Y50dS+zdOQtTZ1ipICFbFd2gFrlqVFMfEZgQFk84+madSygAm44fk3rKiMpQJg1VukWoh9Kk6uRdYxjA/Enlog49voYh07oRe13Ave4KCLVIEXPUmTakjyLiyAxJIf8A/pqaNRanXo+nFQPar2Zw4NJ2MSIYjjzGDqx9xWUU6qsKoQspcMTFxUmm4KXrJCEEhmUqJLXW64rGOZYSfPehIb2i3ClafZCiKvdKMxABGKVQkYHMU3P7oJVvwnNofVduKO6oCQAqUxPjDVp/nq5ay1e2094JKMFtYYE9gKVVBIBgyJBgaX3hmpB5hD6ZuPdaKotkzzZUSST76WU+ViFGmEYckzTlkQZZMwhkAkkhrnGMj/Ej28fVX0ylPrUGlqdHCFlAZZdigVhHABBkSGXnMA99wF2xqGSSLm94C3wPaWI/MjnQvS9sQlZZMyl7cfeWlqgGBjuDe8uR40riLtqHKuFCkpKuFIt9TKOSZyMMDEn5ic4jEQRPHgTd1QzNaIsDKHGG5I5JtIJE2lY47ge4aiv08FYjnWeO0WO61VaYqdxaAYglGWTAmGDeBpT9NxaVEhOg60oCEB26x3x7j8j400ihdzuRuEKG71FUkytoPdT7lBzHb/2wfkSt29BqcgMwHt4/Q4/hp2nTwQhaqSyGQCIcAEAAOncjlVycjJECNV1FP485Cq/E+BdPBwM8EnwTGrKsbCciD1ypd9sm+WfHT3qW66olO5kUqpKhVYAnwJNp95OtN03qJaRLwtsG0C5SggguBnOc/wA9ZodPuDXKMRz9Rpv0/d2gKWEAdpUZjyMzIP0x41JxLiwlASdpvf7GhtJRmJUqOQP/AMzTnc7QVVArItUDjAMe8SMfkdKd30+mzXuqkDsU1QIUEfCskQuYgAjP10dSUkdt3EyWg/8AH5AaT0XU1PTwasFuJMTxcfMSY9gTrmDeWpCyoxBA4az/AJtFHfdabUkTqCfSOPjOlV72sq0mWgyq+IawemMj4QFI9xJH5aBq0iSC03RkxEnzyeCcxp8wTyR3HAJgk+wGJ5+eknU6iJfTSqqVkpXgWm2FHLZILN5jPGNAGKW8otlJzCSbXG22wpk9kkJUjTxkH0i/rQKUwXaFYWEwMWnAhhnAPj6fWPDvF8hwfp/Q6s6RtqnpNVcf4rKZaFKgBhcYXhvHAHb76v8ASnJUg/Q/01SdKXQA2sJKbEE28j415D7jSjKcwNwUiT4GkPSt+JW0M7rddCgBpBDQTiPI/wBK6O3oZhA4PPH+40P0DoHo+oz1HNUNbTQmUZDEsT4aJ5IiODI151vptUsjU6rKD2sA9oA/f5x5B/LHOpnZi4uTJ160pjBFGGWpoLKkmScxm51Gm/DjU9rQsAUDAuMWcZkEHAJMzj/bXm03iViQpZWiciMfPOM/TzqytTqruHoFqJVFBNRCSRcO0Zb4vOfAnzozYdPgu6pT/CWKwo/dGDkmZz+WTyDLF1K14ffxq8Xmy2MotsTb03+KadNDBpRUUEghRwMeCR554H8yVPW+nUPXqeiavqMxDqiU2pBzN6gu6GZJYwWCsT8105pV7ILuqAfSf1bn9NL95tgKjTWmmxZ8J96BUdnKC77sgkkepPE9pmdUcOoBNhA4moWMQcwQDJ4Uv6Z0bdEMyKgqUSAKiVTScllJIVmUrPpstxMCIC/hh1vt1UFGiKjs1XDszKiFWWFIAUQIZSZzMzwRqqpUD05pUbUVSeQYDGC7G4s5zcWMk8k+dBKDcrO+3LCeyvURZBBCtDQRIyJ8H5zorye1QUpImuYZSWoWoTtHXKraLM7uzxVN0lXgAmxQPhEYjAiPoc6ZrtmsFplgACWwGIESfIb5n850F03pTjhUqDHwVKb+I8Npo/TqgEihVH+kYP8A8W1DxWBeSRlvTv7lkgkWrG9UWs7LRNvpqWabe6WJJBzxJOPbycHUem9fr2oq+mWm0Cw/Fx++Pr9NaDcKhb/ECvxDkKfzDQdLdj9l/SrK9UWq8sgLqJEzIzzBHMGI0chQahVvKpzTqFrV2gCthyPHaaddF+0dDeP6dNKquiklmUJb4wQxKsSOPkfY6u3lZmqLLqy4Aqq0BSGNxYL2kkEAnAxmONS2L7em1ULYHqNe/m7FpPaTBieDEkn8Wqeljb7ftpOtkkzddkgDn6AD8tGw6kFtQIPcGYDY7zPjyuJkUvim1JUMn/RCZ1tvTrcEU19x8vOl27rGnQeoYlVZowJMEwY+eg91Wiy0H0myAfhYDJs/d+hEZkRzoTqu9FZ/SVDUlMC6LXJmbfxECD/AfEdLNM5VpcgqzStZ3AB05E+vC9aLZVI0SmEpG08edL+h7/dbwlGMIObVCA/IkZj5DnydbTpfR6dG0QGYRAgQPy4GqOlVKdNQFB9ybWz/AOOrqG+5NrG6YMfFHMeYHB0xhsW5j3luuDKlMZUaDfw4X38q680WMqG0/VMkDq52oTdbs7Wq9FHCer94KtoNVr2bsao5glSDazYIhCyMVLQWkKtSoWtJFtNbyx7oDmHqg2MSRNMhHFg5jTulvS6lCrkOpWABkEQfixwZzpRS+z0AHb1a2FCtfa6OoutU2sCEyYXKwBjVMqCrgi3p613KRrRFbo6rkgErdEqBHYzHEHBsyNL13Jo4okJTcuppushglRaaqVdB95YbYv7oWY5MhtN2rCmWpkiGtFRJU+AlN7RTBEwYJBznUt3szSj71QwCj0VV2UQZADJULYaGzDOUGDxryUrCbmTTeHKM/eqrbV2uWkXNMK7NcgllbuTtuYlZgXKVuN7CCQW1RT+MljXvtUyrqwLMJPBNwaKcfID3GiWptSd1uZTF1NGCl3FRbS4UMq3fGWJi0xJbMhMAzEYRb2zUhCVkYLNeGgLbCzOffQzNW0AHTh/fWtGDexbR7yQ0/eoR2JabbCUu77VKjm0aedMoVwtpX00tJkwzM7PcWtAwY/CYtnzGMvua1vLMK4cENLkIqm9mxUcG0OvhcF+c6bHqO4tk1mKs5XApo4m0KQzoIDS1uBgTJ8e1BFAfZKkgJiDx48RtTNtg4+Nqh+hCj9AAdA7jpqRAQiR7GeSfoDJJ+eidl1NwPS9Et6TelfcVDEcHuQgFgQ2WyTydWbndMDDU2pz5dCy//OkWUfVo1CdweKQslnTkY9qluJUkwTHgY+KQ7eo1MlW8efl4mPHidG7tOxmMERxAyOIMyI9/lq7dbCo0N2BlmMH6FTmIOlxepaIHYWgiYggXFMPdEBs44jAM6Al1SlZkkAjUcOv68Ru4RDgz2k6+P9/14jVKLKtVSAyggGO8rwcTBdMgFeeQJ40Vt1mXWyHN0IIXgDHPtn5zq6jtyq2yomIUCTl+0Als/EMk/medVUdm8s1NlDN4OFYzkkCYbEXfrMDVR1z91h5B7yfQjj67iefGpbjAQ5kUoBKojXX09ONS6VsxTqVXX1Jrk5YgpKTIUTI4bkcDGBrundJVK5ar3Em9TJwePBjjGrNoFaoYZlqCZBUCCckYJGYmRgxySCAbWom0Q5OYACqM/KF1NYxf/kFL5JCwAbGRbukW29xNMvYMdmkoIzJMj7jTo1duellripBDqFbtBMAkiD4OTnPg8idJ+q7MVa6I5pIOajMVVmAOKeTJF3Pj8xo3bCoBatV2rVDIHaAB5JkGAI4xqioRTZ5K1qVYovqKwKfCAabsCbZYEiQJLjJMg3MLhXGiS5fgR8z8X+K0VNuAKRb1+Db2qfUtlVarTIq2LTbvSALx7Z/P9dW/s/1/TQW/3NQUEZFq1qnqek4VvYSGiCZtKzjDXTq4bRjkOY/1am4trsUoClEJuBYHeb3B33ojeWSSRJ/9h+R6RWe6o3pMQHcsfhyMn8hgDk/IHSfpiV2rN6lZ7E9gAPkCTBxzj5Tzrt7vv2iuqozq5lbbSIAEzlMCBz/HTra9JsEsbmVlJEAtI4ggCB8o985OrZaXnhMZfG/XnUtCnGHVFZEQTcaHaBHlPtS3ra1ERXoBiAYODmSAsZB5MTEZ50VS6e2C5yAZYM3cTB98AcCD+nGjOr756dO9QvxZuyQD5wY9p+vy0P03etUVqhRZkgEE+OfiJ8yMe2hlACso166+1XW3HXWs9sumo8evmoVayLARfvG4JnHuxzJA/jIHnSff7sPUUUzaZC1FzKz8/PGD7anWqVhUdvSumACWIwPEW+8n9PbRdLbta1UqBxgckg4yR7T+g9tLr7XtSFfT4zSDKsQcYTk/iAsQQL8fA6bnfjT3p9IYFvg5IgccZ+njTCpsndg9MdyqFZeL1BJFpJChxJHdhhAJEA6qpVFRboJB9onPnMY8fpo9NzSb0xUc0jll++NInwfhcXDPGtYcid+uX91UfAKbAR1v/VJaKUGBDCKiYcGmHeS0KgRhN7MQArCPM5Gi+i9EolarWK1aGLUgSrUSFLKli2tcSQS8QZAXtjQbUGFctf6/oVQyF4dzTKBlPqepcVBqXC8emSiw1OTq3cdQWrtRbTSo1dqlSQ0vTVnJJPYDTYIBT+KRaTkIdPIaU4QlJ3HXhU5Ry3Ne9O6q60GeonrhVdqLOCXAA7C9xmrSkhWebkPx4Nwt2PU2FNWtavUQVWNY3oir6hYSVW0oyd1O0NPYAIjXPUqW0PTdSoW5TY3aYe50UPT+GPxXFwzWiBBiFZKwCMsvUQVKaBqKf+41ITTBNK4ukSzX3AQAp1U/aAg9dfml89HbJ61bbOaoS9GdDd8RCgDLJ2l1JZCyi1iDhSSoU7iswqAkWLGSuSTPMriI/eUaIO5RNy4WnSqLWtSoKbragZ6NNipWoSFvabWpqSSSD8Uh9QpCjeVd7VMWnvHMcHI/XULF4cMOhSQDmtHjrpv4002oLTBJEXnwqI3Kqxa9SvAJaOTJjNozyBExpb02mKlRqrHJJYHjk4Gf8sCNWbg2sJEMQcqRcQfdWE+P4H5jQ3Qt+Ep/h4QFWMewmYyB9PGhvt9ghLzIn6R4gZgQbb70RDZcSptzUkm20wQRWqbdwuQAAMRw3t9Pp/PUQkZBF5Et7ZzGk/UephaNwFucqZtYA5KmI4yI/wCdR6T1p6jwbbQJaFM5+HMn2J44A99JIdGBw2bDiCVEmeAERzidtSQRa1b/AGSsS6VuGQkAa3knUDyt4GtPt69RuYxkE8cjU6P2eok3LehIIYI1oYkybuSTPPvjQNLecxn6H56sTq1rcCO2ZaGNzWi0R3R5/LSzn6jiMQAhCUp3sNfWgowqWlHvKJ50xq7Db06bPY0BMqKj9xJEAy0STaJ/XjXm22ppib6dGJxQWlA/7qgZ2+oAn21ZRAqU2RvhcMp+hkY+g1LZ7Ss0epVVSPi9FcsYA+NxjA4VQRnOrjSyQpM/TYnrnNKpXYE76deFAdWppZYF9Rn7y8hnJkLIfkMSVRSIAYgABUYaF2HTH7VWp2EZJCxaJFyn4hgOVL3QsYODph1PbL6oo0+fidySzE2mLmYkmxCzR4LoQNMdvRsBkCStoH/bTED5AGI9gdHDQAFU2cYUoKevekOwK7atUspE01JuAUD7v0qYYi6CVVokNkSp4YnRVTYJVYLt6iLSrZZYhkYLKlULL2mSSuRdmMk696buIqVqkgwGzGe6rGT5/wAP8uNXVPtCwntLBBexxCrkTBz4PHsfkCNag2O9WnMXLnd1jXjH3Gte9Kc7QenWIVCSfVNxVmMZLzCkxkOFzwW50f1F3VAUugkSUgm3zb4Pj8pjMaBqdcSlBqVAoaQB5J8gKJZvynxoA9eoU5NKm1MvAn0ayU8sAWK2hMDM4OORqViUJfg5VSnSASDymgFSnDm40W9WpYt147iGICl7e602gET8EwPJgeyuqGUiofijvEAGPyxMRMf7aNpdTFWizI9NipZbhlJHBIBkD5T9PGsxsOvVq9VaZWmMm7B7QMHNxzPaPrPGomHbUFqCgBrOvpW/5RK0XAF5O3XvFPWrqqMQAUj4cRyMgnAHkjjz4g9W6itNGNSFFMwSpkcA4wPcCIGdA7rd+gSLSwiQFI94Iz7SDHz+uqBVp1aHqFfSpycMVUNHJEYmZHzg/XTBZLS0qQTOx31No/2hLSXGyHEyg7/nmPn1o7pO9p7oEsFWshw9MiQDwQcgmBaQZBtyIga7fdZNJvSa16hi0gwvOC+ZpnjznEHMAGhvalQWUAUpjHqvz/2Dyfn/AC016PtqSKypD3fE5IYsfNx/2402hhtP8ixKhcoG3O2g3KPO2yX8jQCHDOwVEeR/O/jr2+6WzbSqikNVe0tPbcAwJpicARwDAJABgE6x276Y9Kmpfb1VLmw2gI7gypCm8M0hj2AHEngTrY7mp+zKWVS9MR93JMZA7TyF9wZjxHGhemlWsZRO5dR6l6wynmozyJFMEQqraIgCO0m5hHe1bzzI69IryVkSlWoruhHcIqmkKy0CzFiUR7YBR2UH7zBACiPDYMRp3vpFRgMZ1WNwtNVRCYQQD5OSSxjEkknGM6qbczn/AH1Kx2KzwlI03oKnAq1Z7ZUqS1mqgVWquAtpXMeYEDgCTEfCPPOkNCkqLLQKkhQqM5MZJtRSYGJMYJA5Oq9yFNWpXe6koIUECST8lEyTmccLJiDFTdSpMyvSbNnpsHwygOzB4yGWTkqcQpOAYuqeuUhIA9PvRkM9solYUeZ3+9Leu9LFRBBDK4lSOD4P+4jQO0rpSRUWWPhVUkkfIRx8+NNOthzRAp9riu64MYYCowIPIBcz9NBbbZ1EYF29dVWLCbDHAMrMxzn2nkDR05y32iUyN738q8GwhWQq4QPzSDrP2pKVxTh6JGCCAZJAZT8J5455I9jpjtty/pffCZUwwZTEzyojjAkDwffVm56c9RqT1KRZkFtyVOQWgEhoyxBtk/ib5a7rV16QjIQLe6BgnBwxBgzH1I0oQlJUtAnlp/h63pvtSrK0oQLydT7G462plsEFWksHBEGP0Ou6pXqoES1ler/7dRqdSlVRAQRZcWuysKtpcmO09ywTfJskS4hq/K0b8skze8BrFAk3EZ8ar6WzLXUqlSrVZQ7q1OpezFIDNMQoNxUuCo9QwwtIXyxlukSawFkk8Ku23RSn3dIVUrKT6jlipUFQbB6cNXLqpfsMBlUSO4aobabdduqXH1zbSqKXXDoGCsyliIttAa2oFVYAkk6sG8pEXfs5gU1LLdUAJLgrdKIGsvtEyO4AYnV42a0xeFalUpVc2xcimpTsWy5ktCl7VMgqpbnI4wtTSpopRnF6hS3qVPUWoUDtjtQEEMDKtfWLWQUhRhLRAPkqv0xiiUabB5cklXHcW29S8l2Rhe0MSbVEn8PlvTF4pU29KrTYmqaitK1LO7uUyAS7JMMwwRjA0BtekKu8+5IsRWYw1wUNTdRMYuvJAURhSZM4ojHE2FLFkb0T0x69EN6oo00lzCEQJAK2qCbWvmRNvnnWeDkszEnJJ066jTGYVjbIbJB4lsZiARONLW24EiWkeD7HgyDB0qslxKtjb0ozJTIi8yBwn/KCrbYkGDALBoIzIiCD7YH9nSzoigO9JwMEgT/D+BGtFS2wFxEi4yfr/Z0h60pSotZeDCuPE+P14/TSDKO0QrCrsDBB4HSPMac4FNBxXdeNzoQOHHrjTHddJD0yAWWeBMj9Dqj7NdFFFmFWp6eJBMZzEENzA9jP6aP2e/DRnkc+31/rpl6dwk9w0ijFKwWZt1BUDx+2v9613ENjEQtK4jQi9Jq2/UK5YHEi9DyJjxBH8vnrJ9N6wKlZCGqM9MmA3qNPIg8wGHP1Gca2bUFg0yDjjPIPH9NUD7PKmaYYNIPxFcTkfKfB/iOdNLThISppKhN5B9qUWrElLiHFJiw00Gs1ounbk1BABWOQfiE+CPB07RlpU2dptQEmOT8h7knA9zGs/sqdQKvqqWt/EhJYZ8xDExGVmY40R1LdyKdNWLyPV9iSGC014AJDG/MQUUHnR0J7Y2gJ4Dc86WDaUHNMqPHYcv8ABV3SaJsq1XzUclMZyxF8CRIHAz8KAauffqyqwh2qPindALE9pDRKhQJIwRExIEwqrSpKEf4rRYtn3jMblJtALvHPke+ham2uYVKo9ILdCqw9QyIAYqCFABaAGnuORxqgVJAzKNqwZFhS/cVqtKkWFtX1T72mA9RrhjhndyJyFtkkzpDv+vqiFnpMHHwB1wT/AKvbE/lp11Tei5BhVMIij2VcAfQD+XvrJ9Sp1a+4CITbTwY+Yk8/KBpEuIcUXFAFKbzPDQeuvKaXbWpTpby3E0Z0/qgcFhUUOwF7uYc/SfhUeFGP56aU908f/wAhJHMsPyPOiek9NRUIPcZk3BT4HED5T+uj/wDptNCoWiju4Ldy9oUEAgWiS0kfIDJ8ApLw6cQ6pKpnyI8raRpyp5L6kpSqLH25VmN71ikzD1iqOMGrTPd+q/EPkZGg+kdQo0KjtDVSxFrqpAJ8SGi0/TB1sUXbl7WpikW7Qe1qZJ4F0KyycZUCcTxpZu+moHq0aL+o9NQaiXAgXNbZB5bM4n2MGJdLSQAwUkpAG8X3vE+UxfTehqUopUsXJPtSbrPUqlV7gnp2FW5kjJEtHGJke0/LTnp/RqQM1FllEqGMoB/lU4xpT0+n6V15c0zHcGIsaYh88REMQRiCNaKlXQ0/jRWpQAbhb8MjliTIBFuTgxOsuYZaEQ2qE7R8GZnmOfnXcO4tXdcgpOm0db/eBUqe3d6ks1NfUELTYhSQDAMHJu7hjjtjhpj+zGgHkPKgSCAWAWbQIAB5OfPvjV273LKtep6RdD3sRaxU2qGR1c/CIaDFtse0aS9P+0tx+4WUVf8A3HApo0kAhluAzAZO0G5PJDaX/wDz0JIUyqDY8j6aUTOQlTLl5nXX+xw+a0IryqmCLgGAIg8T+R0JuqpYRew9iD/MHBHyP8DoTZ9Qc0ia8AuzVEckq73BWDCkAVRPHxAn4oyZEHU+QSflpV5g4ZztEaGQQOPhzBiORrCsOp1vKNREE8NDV7b4qbasD2YfAf1+E/I/kTqZJ99B/wDUwQQc+P56HAH4XqAeAHMfl7a6ktK1BHlSCv09+bfNfR/tB0lam3IZxTtIcOeAQCMxGCCR+esRutrCgQKqKDdbeoiCJ70A4gEKTyT419A6xtWemloVirq1rYBgEY+eQRPkcjSobEIpq7iUpJBsm5mMiC8EySfwrzieSNVXU5jb1q6y4G0yTSzpNCqrrRKWobivrJkE2sQrobWJF/ZiAvgCNXbXbj9rqyxKC8KAGzkC1O20MhkSDnPzh1sK/wD6qupMgrTqoeQQVKkj8x/HQNegFrfdi1gLi7EtBqFrgifAGNpkn3ODnRSFIAANv6oRh0kwNKwq756b1qdU31VcQ7M0qEYYi2GkefOZkRpzQ3XqG5iJEe4GCSJHy51Hr/TPvBUJaoG5JIunIwfMjxge0aV7euKYaTKxIPuCJHI9jqyEYd1tTiEwo94+NgY5VLxPaNpInQR+a1fT94XZwHVS1rAWlWM4DQVF+Rgz40zowwq0mLxbaSGM9ymSORMf1+WsL0/dOWWuwqek0URcw7YyuCJyZBnywnidPek9SJq1RJtVgoEAyRkgY92/nqMwsOpKuHDTWs/uspsDBAN9eHv709fotMrWC2g1aYpr2DsAW0AR+GYa0RmdDdX2TVGauy+n+z06gUkC6obGBMySEGCPJuPHkxd2pJzkRMe8kR7nP18anXPqJVpzFylAT7kWz9J/kdbUgbU43iwSAazz7RFRR6aM8gGKaGpIIAW5gck4mBz7DRVI0tsgohlVyS7RKywji5coohZ9l8mdXdM25k1aq2OJCqeQeGck/wDxWfFxE3DQO+6vSZvTeqKZDAFZtJ7gACVAPczBRnyfbGGkkDMaLiXRPZjzjraiy3ckMbWYAACVXA+cXDmDgA8eNZ/q3UKZqAmrRYEiAKggjH3ZI8cZIORnBOj+r9LpoCzUrmjJAC3YUTA+AyALgblgc6yvpLuNwSrMhWoJFkgi2TUJYRBYzEDjga44ViABM29a7gOyOcKVz0+L9cKdDcFAoBUC43A3GFJwonOOPyHjQ+4p3Uz2llb5GDP5Z1NtlVoi7sqL5uWGA/ImNEU+pvaS1OVB5uHg8ENB0FxsIkQTy3Ebg8uPrFMRChCxm2k2OxEbTNxxuJrL7Tdik4puePhOf0MjWq2bmwFXweOf56A69XpVqLUybCYKGovBkEw2cf10s+z3WKtEFaiCpTUwIIuHzH7w/joClKcZ7RpSc0/QrQ8xmEAncAxrBvFdcaSow4gpPEfka+gPEVpN4mA0x3AEqSGIYiR8sA8aKTbC0FFVGnDAefPHxSOVJz4giQPQ3lOuDaVsxdcYK88jBUyOcEGI8ansuokEIGRzLCCyh/igC4Mbicdtqg66ySE9m6kBQMwCbW3gx5TQIKzKVKgDU2n1vbw3o6j1VQCHdFKkAiZ+YIMZUjIP1GCCNT3W0epuqxJKJYg9SAWIKLFOnOFKstVixBj1BAkyEO/36NUBEiwkPKmF55YArhlUkgxjxmWv/VASUuLMAYVQTJAyFaLeeTMLmeDpqS0BCbHhtpesdkCTBMxv51c9I0w0BXBy1QmKuPLMxzHuGWPA0F6ivhat8wJKsFBPC+oREnxPJxMkAmb5l9Gpd8IsDTkBfVS4n5WySfYalv6Cvh1MEWgkENmZAJHcseD/ABHCxSh7vLBvXM62hlFYffeoKlT1IUAYJulQM4AHMiZ+S+2mH2d2zAAlgGqXEsR5EEwCQOW8yIHGjetUWYLRkmGXuM3jMKjE/ErG2GOfDczoat1AU7aSiSPiDyLWyBEENIzJBjMDzHktdiMgTIVc+AFtfHztQwy0pRdScqibyT11yo3c9Q9OD2yMMcgEGIIwfJAI8EjkEHTMbilUpE1SV9EM5KHuSFuYZWG4GCCCQPI1j93uWJhmAK4VInx7lro+E5bGDOTBvTt122sLlYMjglcowI4U4PBx5ZjOcaMNwomALeAvbw+NqMoqslKJk3/NB73eCqMCoKN0Mhcs7Zths+kJZgLVQgEDMHTn7IdOp1GLPRUPBNFWANNV7RUhJYCpeASc4YR5irY9IpoXqUi9SsFdqIcJC1LWtICqLnHAnAnAnTTpFRFqUFpNdZetoklU9I23iOwh4U3ZugSY04VBaTHrQcuVQ+KU9S6SGqO6lyhJBLgCkSDDSCSQCwPeyhePGdC7DZ+kyrW+DutKghwwYG1jbfaTMHBJt4JGm++6pTpFkSsrhWclLakpJN6moiMtoYmZjkhpIJ0s2n2gphGqtRqNTUkBTYgsC3lCS2CIJCgcFQItwSTkKRp1fxryFZTlNG/aBG3G1RqAZhdNVQGZmABCFlElwDPhslT+GQsp9GdhSeorUwzWqkurMqlWdiotK0wqlAsdxqTGAz3b+u9I02R1q02QS1IlwrAQ4Bksyhpie4DBnTLa11K0zeIBNlQgPTlgJV1nKGBwQQQD9QJBbSSfpG/W/L7XoxkhIJlR94FU7zpMghQYpOUAkCBYjqvPALMAPAgeBpNudq8wI4MSYnxzGNbBjAy1zO1zEC0TgAKMmIESSSflxrNdccohZYlWPImRyREj66hOvh1TgRcAp+CD7xT+HT9AV/0CPgj2pKen1UuNRkUFlIz7XEgYydRpVzHxKBJgFhMSY1KvvGq0GPaSGlSMccHJODkc5H10Ai1HFwJQH8JAJH1+esBSiLgUx+2aTOZZF9hO3jX36owsH/b/ADGkn2k6dXrsq0wnprk3MQS0QMBTgD+J+Q12u19ApAcGU6GoTjYcSUK0NB0+nV6SJIUvTuAVCWLUjFyZAggmV/IeNMP21DUcrFjUqRXxw1Uj+UfL+Xa7WynKgDh+KMykJGUbD7iguostsssKhLLd5iYEfESbwLRkmB7jWeWgYChVuRFV2tDEkDvCljbi1luIYFwRAiT2u17tFJEJMUZDSFnvifGurdPgGpJdmAYSxqK+ACpGWQMBAqIBBJBwADHdbClRprVvqJRK+oai3Fu4AqWTIzdntMY4EnXuu1xBVkUkEi21YxDCFLSSN+hQGx6/Ufbgv2q8NhSahXIJhWAAImDHmc861S7kvQYqQt6CwzniLiRyZgCPA+eu12jZQoZzrpUBRCVHKNDVO1o1rQHN0G4KSSyiByzwWjJHMToTqW2pvuEcWllMnyCwlUaZzaCxAA5YHlZ12u14AQBQnn1pWSD9Uz151KrujJWcYGg/2dFaQiOOSrTacfnxzwf9x2u1mAoEGh4d9aVEg1L9sIW2UNqrhgSak4IXPOPM8iYGdF0Nmkh1VFIkZW5SDjIkZ+c8SODrzXaEU5iQq4NNMYtwZcpiZnnelp27wARcq/dkjBK4gd3uIyI1OymwY1KXaXKguoifIkmZwczGCPlrtdr5x5RDykm8Ex0L19cwvtcoHdmBbnyMj2pZuOgIGLUoBFpET5dzMhj8NiiPmD8iqq/aWqpajUCtED2MKDGRggXDxiPEa7Xa+iwOJPYjMAbb7eFLYlvs3SmdKP2/2iFyfdkFTcqWCIAkTbBbwZtgEHAzpjS+0iBqYcml6f4fSa+GW3yCGgHLHLRiPPmu0N59BUElOoOh/INbZaCzTGh9saKtHczx3BUKjAyZqWhV554E6FTqCEn06nor3EJSPr8c5SmQij91XIHGMa7XadXhmsOhKkD6gDe/9e1JvKnWqzugQUWyoCsh0Yqq3KTLSDY+AeYH4iMaN3tdKo9Q7M1HUXPc5poAJyjgGb2DQGtGM5Kz2u0NxIBmkkjMqTXleifQpMFS2rayLDWpTsVwquckgLcWYZZjgRpWdygwRZP6fzjXa7UnGJzvpbPWv4qqyrs2ysddTUhvbcRBx7j9QcjTLa9fJdQc5HHJjAz5jwTxrtdoDCy2SNuFUFthczqN6QbTpTC6KlMUVhbyHYmIVIpAAs5JWFJiTgnOmGz2a7ZRVcX9tQ2Pa9glSuQsFwQqk5y2Mc9rtVWnlFsr3/qvn2B24Rm34eMVRX6pUb70G5e7mZxzGf7/AC1Rump1VmmpUmbgrDkFcwWCkxdDDPjySPNdqe7+oPLbmYAOg0Pjxqi3g2mnVga6STeKVU+qg1YmsVWewk1fx3DD1CIshZgRn4snTB6gqLBucQha2oWED4yWvFvEQQDn8EFtdrtUEICsO44AAUx4HMT8R511CAtSAerVVR24UBHRmC2yJgNLPdPeyiBaB9Zg6I2kBACOJ5kmJMfiPiPJ+p512u1BW+XAAQB4UwlGQkg1/9k="/>
          <p:cNvSpPr>
            <a:spLocks noChangeAspect="1" noChangeArrowheads="1"/>
          </p:cNvSpPr>
          <p:nvPr/>
        </p:nvSpPr>
        <p:spPr bwMode="auto">
          <a:xfrm>
            <a:off x="63500" y="-384175"/>
            <a:ext cx="304800" cy="304800"/>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data:image/jpeg;base64,/9j/4AAQSkZJRgABAQAAAQABAAD/2wCEAAkGBhQSERQUExQWFRUVGRsZGRgYGR4aGRseHhkaGxwbHxsaGyYgGh0jIBsaIC8gIygpLCwsHR4xNTAqNiYrLCoBCQoKDgwOGg8PGi8lHyMzLy0xLDAzNDYtLy8qLCwwLy0yMiosNDYwLS0pLDQtLCoyLS8sKioqLCosLCosLC8qLP/AABEIAKgBKwMBIgACEQEDEQH/xAAbAAACAwEBAQAAAAAAAAAAAAAEBQIDBgABB//EAD8QAAIBAwMDAgMFBgUDBQADAAECEQMSIQAEMQUiQRNRMmFxBiNCgZEUUqGx0fAzYnLB4RWCoiRDktLxNFOy/8QAGgEAAwEBAQEAAAAAAAAAAAAAAwQFAgEABv/EADQRAAEDAgQDBwMFAQADAQAAAAECAxEAIQQSMUFRYfATInGBkaGxMsHRBRQj4fFCJHLSFf/aAAwDAQACEQMRAD8A2IC1walVnejTx6J/xDUutUhlItJLRIIEY4nSnd7EAyo9MGVUB2YBuIL1BBWTkAAAifGGBKBAjFVXJsUqh82tJIAIOQvzJzxqFcKSBdcpBUt8MCD90QsWzDFhEm0CBaZnlKlRw3406zlSspSbzVHUalOjUIQuzcOTUNpBAJW1rjntcnGQPmBDaqKt6z2q0CmSVAuUOxcAw2Wt5gACASTK3qNKG7i1oth8cZgPcRwQVnzgTMa82NKXK2sWjlSVf3AIkSYu7eI86oKShIGSL0NOZKz2l46mtLtqoZlCWAUybRIUsbWQQpaYALccmAIhi3tTeinci1HZgSXACmnOS2XqKRyZgkXTxkaj04qFam6kMSxItg2g2hh4FogAKSF4xAkXdbEhvVLBQQS4VQTcCbgJMGTJGOGGDM6wx3lEHWhuAZs/lTNNwJZixVh3AKxWFIUz2zz5ZuSDyBA9/bKV49f02ux6ogVFMdtxpkFhECQBHzEkLNzX/Z6KmwM7VDaH7wgVQCciGcyskRLEnIEaXjeszXg+o4RjkgQACzGFWFFwEeLrV/1ZVKVWraYVr1+K0NV6VU2JCCVtaot5cFytRgWLdsWwG4IQxB00Z/2ZKaD0hUqEoHsCDAnKgyzH2B5zjjQHRa/ppUJUCrNzOOWViYE/5SCI+h84jRQ1XYbmWpoHckkAKQZVqZXuHbMz8pk69C4FrmfKONYUtMwNB70T+3BTUvFnqEXOmFBi2SphlPuQW+uMJf8Ao5k0TuanrkM2KzQqiIZhdHdPA+XjIDr9SFVWZAyIMkF2ZyBk3d1gkCCoU+fYkTpbNYdmpKBTDGmjhTTLJctS9R2l7eCcdrGMAaXJzkIVTSU9nLiTc29NNeopr1euEprTPCAL3tc2B5JklvJOsmDcAywZZgc8cR+ot/TVm96n6oODc2DZwRMcgjiYB8HAMYI+0SabpOVZcHnAYcSYwOD3fLV5oCAE2M6+3W0jfSoTjS8xUTKeHX++FOembJP8SsbFpgsXByoAkwV8n2OD89PUr7uxSTTpoYJIoM9gJ4qNeFJA+IoADmCNC7DbX7exMsGSpaYAqWG70yTIz4JwGCziQST1HbEKUdASf8OS1UHMhqdMTTIyCIbOInSr5IVl2p1vKpIIFV1HFRQXp4BKhqFVQQDkwtUqVRwBNMl148idKKTBTUsVwaTFhfAlSZ+8uOQV5aM+S8AF2a5JAVK7ZmWpmmDjJ+9endzAJk4JJyBpT1zcrTpFqwD1h8FMSAqmLm9RCrVWjkhoXiPJZwjgT3ePXWlNIcjWrqe1SnWC1WpKArT3dnqAq1O8FYEXsQCci0ngDVfUd09xWrF4MN3effUaO5bcUxSQr+z1aj/elg7ICju1O1hctS0EAklTauTNpjv+o0CpDVUdgAqMKbK+IALkuVMARgZ5xxoWJSXFd4ExqPvyNeLiCYUYJ0PWx3pdttxaxE9p/wAwOnK7p6jUlKsQZFyx28ZaQf0MY1lwwDEEtdI8CI8/i5+gzPyjTvpG6HEkxBGInA+evKTmTANuMda78KUfwqky4gRHx1oTWxpb5aNO9pgQqquXZoMKo8tg/oSdUt171ex9sjyQLbw/JYA5pwMrz8weDOl2/wB4GCQGJphi8KSFDwBV7ckoVyFzDE+DofYb+moALooJpkWumBdTGBM/gqcT5yJGhaqtSxVaxtVp6sqx6QdgZBpsZKZAB9TIdGkG3JiZ4gF7DrFEU2FUsrK7MAO9jeS/bZN0SSfIEE86TKjIoco9jMVX0yVvIUz2hbmGWN0QQreCDo7ptOqV7CgFIBF9QMt5IR4jNn4WD2ybuAZbR32W8ulBZcWFSKabrcbbd0WVgz0VVqjVQGX0yvsYkvBeQOACGHdBylbpCESBUpIsQGcu5mYSALFnykOTxyYOu6RtHSl6FUpUpMlS5lBFpZpKyzG4EO0GB8OedC7XZrdf6xrNTiyVCwzC0VCZhjgAEADmJhbVAQDlFMLunMbDerumfZWnSFCozVVrhVub1GYXG28FSSsNFhxxERAOtLViOfbz89CdOrlgARkT5/vzI1ZUNg/EVyZ5t4P1jnWCZmjlPZmNqk0Fx7LP6xj+E/qNdTE2jwBP58Dz9deoItnkyT9SP5a7aDExzniMePPtr29dFTQCW/r8hpTuentRf1Nv5ktSntbiSv7rf38tN1OT9f8AYa9JyPof9teBjrnXSJoKj1SnUQMGAyJBMEGRIInUqvU0BUA3XexnMgDz5J0u6x01lY16Uzi9B+IA8j/MP7+YW0qXm9SYkMY5yQoz8pP6H6aXdcUlVt6GVEWrRIO5M/hPn/TqjdAXHP8AH5a92VckqCMqCD/4kH9NduWFx/49tcWZR1woqNTWLTZdxdSGZkYhIbLBfhkcCbQSYiQPbWf2u/JDTUBAjtYKFwRymLIJ4WGU+ZOdxSo32lWCsJ5W4EGDxI4IkZ9/fQW7pXFyxVEpsykgKKhsMF3qxeGc5FtuMycx2ZkTcUVk3zZdaQHeWqxqw6MhBsKX24Y4cw3bAnyRwedV/aTYtQRMOtNi5YOwJViQArvPdKAEKSeGEsQo1qNn02lRpMWopLkOtNkUkBVAQQR2kmTngsBzjVex6mWodqKpVkpU1k2ksyqshu4hS2R8ox4GlaQcup+K26srVKf9t41ldvvpKKlcjgiW9QqQ0doOUJtItANwL9rRIc7TfhraBVKzMXHbVCyWVqkEW4AggkEfhgTjRG72AP8Ain1WabFIRUkCLrFFoAz3m6BJDHgihWBCU/SemtNFAqU/AMYZbXSW7vJuB4I0YATMxFYUpIT3hV3VqYf7sklZPdaSVOe4BMknKzxBIjIj1NsqbUBEK3MhrEksYCsRcTkIrhcDAE+5kDedXqoxFVcmW+7IIjPggEcHUulbpr2qguPAvV4lyApI+GFEnBlsDF2jayvUciDHPzoDZKhl9DpPhrpRtDcYqkGQKYBIyJDLAkYyPHyOrNp1YMhMcqUb5SCswedUfaGswoMqspt7ltW0YILiFx5DA+QW9tZvYdbthjE/7fMefkPz0y0c7WfJN/PTSslkpVlCtrcDf2rT9E+z9OiJDNWrKrFA0WK4EpiJYggfESJ+YB11SgGVaatJF0gkyo9NgS8CVNxySOY50pTqAMMhKDJJmQDOBHOeY+f10VvestUphS/IAYqDJjjxnHvoJwgJCm5gG4gz14E1tD8DIrXSdqS0diWIAMkfuEmBPuRkmCIA9yeNWN1r04pLTuCjPOcwOBntAM+c6GXqBooxRagIDG4rM+QByFOfizyccQkfco4Zkqvf2gJAttIHJAEEYEf2KTSkpeShbZM6WPqY8a8pgqbKgqI4Ec7Xra9N+0RAHaFj56N3f2qqBQZYBuDMKcgE4GYmf7nWBqV6Qp0ijOaufVn4flbj+xznXi9cYLAjAxIEe5j6/lnR1YNbgzoTAvNjNpvfnccqyw+00rK5fmTPsK0u662XPeSYOIJz8xjHvoxNxTqhEcqytEkkgIY4JAkEe4j8p1lKW6Z25UiAcIBzke/jP5jTfZK3t/D/AI0ksJWylbSjprH2Ipp5tTBVmEp8aIPVhtAQtNSFZmV7jg/4dxAABwTa0YDHAnWeO6W8Xiws1szxJyxEcDTXqNMw3jH+41m99WCrb6bFriSTxHMrGVxzyMT7jRMOUlMHzI2tr4dRShUInbnT1npl7Eb1LPgcnDgAEoSJBZTIxzo/om7UHJZiSTLNmD448ePr41j1X02DJUGcifMf38taTa1fU+8UAH8YgYPuMcHRH2P26bmRx5840nY8fIBxp0u91QMifQ/PMG8eBJ3/AEndwRE/r/xo2n12lcV24pepJLsRYqDy7ELLSYAA+IzkQSM70bd8Tn5wP6abVFpbestcqiJWFrEwo9VCXpyx+ANc8n3RffUtRM8uetAdT3hliiEuuLObqp/EQRAJgWj/ANtMg58kMWYgahtBNNisxVqF0PkqERA8f5rCw/yldD1esUdwHp0qq1AZFZ1PFMQan0NQstJfkCR8Ghm+1ok8KOBiAB4GCNdAU5dN6AWyUyn80XVYri5gDIyQSff8OPOoIf3ajEwohrThTgYUeWmdL911VXzcG/0nP6EaUnqgDkqxlfB/v56cYwJcIUsQRy/N6QddOVTYOttfsK3tHclWkuimSCWU+fmGHmOdMKnqNADUyMHAYecfiMg6wfTftCtUWuCPYnyDww+Rg/3GnXTt2yC4MTJgD38cHGefz0optSU5hccRTKcV2igItxpvu670gFinGRALSPfkHEePGoLv6rYCAgfutgfmV/loBdyalTyYmSfPuIjAHHPvowb2nTcKzm0QDavYpMEC4TyCP1HuBrBKUfXrw8etK4lalk9kYQLTvbWNgBxvU7quZRf/AJz/ABkaW77rxpE9rXKM2sCPpydHdX6vSpi1Wl2jOWCg4BLZCzECfnrOVtwWkC0klhH4+3Nx+TQI/wBS5Pga3UgaDrwogSsOoSFKg3JJERpuKbj7T1lUE0p45kH9QCDoXpnXrWaaYC1TJQyAD8pHB/TXbbeIxCiQSPAxxMHHMZ0HvNuyyBEe1oj9Ix+WtNlK9Pz/AHRZWJS4L7bH8H2rQHrCiAqW4P8AG2f5apfqKz/+6QUKzyIK48Nx/KR/HRBr1fNP9ACPyOgrQpNin712L91Q9cp9/tag9p1iqlKWEi4AXNmDEAtH1znkDOreq9eWktLcjbh/UInuI7xFtwXtqTbhiOVX5aX0N2opkMYqEmGuNoSzIt8nnxzBnEaC6V1BzLVKxCKQq3qWVnmVKiMntkASQZ/d0mpx9wANNwnq5P3qkWW0KUXFXHl5ACtVS6ixYmqSrMovQsogz8AmZGWyI+ucS6ntWrm6yMFTgNGZlWDdrfPPCn8OcZ9o9utybn1g5m0wgEsp7ZDLkg9ufl4B08bqIp0h6m4eqWVZFO1BmbwRYYtGfHIBAkanvy1EG9pN/QcuZufChryIR2qjAvbhzP4q7eOaqfceoS4z6kHH7t94IQmOUJOOYXQ3T9rVW0pTsSrEzDLy1h7WuWSy4yDMkjV+2dWpu1VnZafbYAadwgBGaYulSI+FYmRGAeNlTq0b0DAmVIZ3MEGDm79D/SNPnFpUrshvaYtPDUX8qVdUUjNEgGDQfVtizVU5tk/oRkH5HH6a83HVCtZqSIhAJVi1xLERJ7WFgDcQCeGxI0RWp7WjTJemGYTgC8gGYBLeOBJ50HQK1yKooxMwbmp4QhbmsMGCQoPJjMAaFh1ONkpWCDz39zXcMUrAUk5k6A8DrFSG7cjKGwGS+XIEMGkAXMO4ZwxDHDZOkCdEaoRbUuLNHeGpjF1yywklbTIUYlfnD/cdOVASZJAJZTcEkiFWJuyZOSSSCT76Q791emECwAbsl2AJJmL5IuJk5gnOJM0MK6tMhBv4TTzjKXDMUspK4btJPznGOc8fnxpoN4xFpDGQVOJGfIJMA4GfnqhamIP/AJA5+uP7xqta/dJIn6EcaqqUnEH+SLbxeaAph1v6dKH3YBvIuU2tkEgj54OlwrKQRVqFv88dwPzI+MDzOfY6cVoN+RFjng+0+2sxuFHF3H11bwTWYjK4r2NhrqJqbiHcs5kCPSSdNDVtenY9pdsHxx7gjOQRn6a0n2mbZttEG2P3/bfF/wC73c4+L21m96oKUWkSUIOD+F2A8e0D8tCiBkNn8/6afd/T1PqQvtFd0zGxM7xFrVP/AHAbKhlF/aRVnTtw1P8AEf1P9dbDo+9Y+T+uskED5BF3kQc/MY/hp30GpkZ/n7fTQMZhG3GjlEEajr5riXFgETY03rl6r06ahpcXAXDI5H4scGZ0p23qLuIa0KZWajgWZIM92JIAz/uTptt6QNWtUUxbaoKypBwSZGZzyPfQNfbA8tA+h/pnXzacGXUKbdPcjXefWqCFsOAtKTYxYn5IrP77aiixCkFZaGDSCJMQJPjz8jqzpNaoKq2ElmwUJxb5n2EZ/TTOvslItkQfkf6aDHQqyxVo1F7msxlgQLj2xIWPPH8NOukpaLYiSMoJ3PEn7UxiGnGUy1reCZgcLanx9af0ep1Nu4BM024M5+hE5I+X6a2XSevEgFDII8kRHvzkaxXT9oGlKr+ox8n4cScG0d3P5e40T6RoFCJZHMkZVXAgNBElXGO7EjBkalrSQAlYHacvpV8fjlF6KVkshTthvGx89uG+02rTdQ2pVHWmUpq3cQsCTIyY1jN3s0Ukl2YgkGDEEeMnP5af0+sBqZiGXIAYG/DYDED4gMH5/wAVfVqCG0ioHBAPwuACeVzzEDP9NM4Nx9pxLau4Ty4eA+9KttNLGVJkAxv+R8UiZgSbbgR7nS7fdRq/CGJBnOZg+x509TZKtz3IIiJDc8+R3fPn20F1SkaheqWFxPdAIj5rC8a+nZxHaylQkRE87W0+9vOpzrCQvvbeYtz2qO23NX1FSvUai/E1ICAETmADBjHz9tN+l/aWDElyTE+f+3zrPjaGqRUr1cHg5LvGIRSBIH73GfJxozb1rTbSikvBtlqh/wBTxP5CB8tZYwjaGgkRpokQkHcgxN/tQgoIJQ0m0nePK3Dl51v6CeqoEsr+xzHEcsLWHg/XGi6+yqg9qszH2JxiLzHaSPBIOY9sZ77NUDEyfHj56L6/X9Wp3mEp1PTVfw9pN7nHxlkZZ8KI/Ex18/jsKkLUExJ34R41vRsArPARxPXGmA2FVwS6vKWj4jLAfCTxcZn8599dWQ+HZfqAR/PSwMFHb64j9yrVSfra5X9I/wBtEUqlQjBrj/Uy1B/50GJ/X89KoJaTEjyGvOuDDh8JTckbkz8k/FQK1FaQaTH5MaT/AMS6n+Gq951WBDCXZSipWIiWjuVlYgxHjMe3k7cdG9QD4nMj4bqL/U4NJv8ASFB+ekW4+zpq1D6e4p3EFbKi9wZZLIQJVWxMhoIAOBrLqkPNlB1PG39W4CJqh+xxDaJReOXzA08R51dSps6CGZmAzBlvc3AEywIPHz0L+2t4YH/v/wCdVbDbbnaM/qhkLAem5HDwwXMcmIz7DWe/bqflRP1P9NUmcApSu9BsNL/O2m9EadUEQsjz49cq02w6ezbsKjN6VpZpAxAgrMSAxjPMMY40z3pa5m/dqpRQjinZY1QquQCz9nHw0onOmOwQojuyWpAkrBYm4AACcycTxP0OlzV1KMgmyoWrqrHuQq010OSAVZy2MEVacSBJjPLUhN1ZjueP4HKmyoLVZOUDQdb86F6ZVdaS1kKE0qK1HL5J9UXOQMSxa48jmMzGk9XqtD00kVjVlkYYs9MTbGQM9pxnmRgRdQpzSpkAMyU1kEEEKot9STizHxAnwOcau2rUQ0XI9SJIEwAfYeB8zzqYcKXip16w4kx0OceE3o+MaYdb7AEqzAWSJI8ec3vHlRfSt69d6gq1HUWp/wD1yw7hbIUxyTxJLHOrtx+zIAjWs02imat1QmeLGJFP8xOfB0F1FnWmjKqoKshKk5BXntGYweP4Y14vR0NZK4ILKBkgyzAABjmMCeRzb7aOAykgIdCdNJA9d44m8UohhRN0Ktzk24xx8zxppU6DTtJakiMQQESAF7feJZvmdEbTaWInpVHRlBi83Lm3tyJAlVPygRq7a70NIbmDz9PrqC76DFoP0wf56RxTz7SuzcWZ53SRxHRrWHRmIWgSPCCDwNBpu1dbSCryxIbhiGILKRhuPHHEARpZv90yTER9BoxqlJ0Kt2m9yJEQb2ggzAP0zpV1Jzba+Z4cefkc4P8AA6wjEPKVCFkR/wAyYjl+NRzvFhvDNRLrYM7wPf8ANebTqd4BZRY2AfM+5/ynj6gcyNVdUoWMAM3RaAAI8ET5kkHOl2227KtrFmHAF7QAvyn6fpp5v1VqdOVnB8j2OSfbjgeRq1hn3VoWlZki4PASLSaktYd7DuJccAhSlCE6RBItxGnPegN3tXpl6dQQwptIkHBA8j66Q9U3TVKlzmSAFwIwJjj89aLbICHkS1jEkk54/Ocfw0AlFRLsgPlQZ5+YnK//AJqp+n4kIUhSrkA38TH2pjF4clKxG6R6D+6XdRgLSp2w6L3G4mS0NEHgic/MxoKzTgpcxJRSTzJbJPn4tertcfAvPPd+nxRr6TDYxttGUTvqZ1M7mvmsQ0tS5I6FtqTgEZGNOOlVwTJNrAGfY45/qNQqUok2J/5f/bVe13JWYVBaJmDPxLHnmYOmHHA+iU/UN/seR/sUFsKQYIsevWtb0SnNKrIIJZiQRB5EYPGP9tXUdoKkrGTx/T89U9J6s1W9nILsMmI4KhcDgQNX1N0EyIF3H9/XXyye1V3Y7x28viiPtKS4SPp1n7ePLz0pdW2Qu9MA/NpH/wBdc1FBKoCqAd7zn/8Azn6aebiGpysXNzPv4/XnSDrHUClP0wAGb4sf86O0C8rsNvk7ny2qkzic7ZDn1AenL019KhTb1iKagrREEwwzHubZmf8AjWg2tJVFtpenEXYJX69uPqMGMwQJA2u1KUlgAGPE8+3PjT7a780BQTAV/vNwxBI9NvUpqJzADC5mPAUe8gGMcSQWxonQ7k8T5a8a8zuT4Ry4jzFuFpms9QIpbiwg21CByIkcH4fYR+mmm96UpgAd3kSPP5aD6/QNKqsoIRx4MqLgZwcjGid7vjZf2kkDg4+sg+3nQ1NreQgTcW89vb2pMNdm7nzfVvxA4jjNo2Iigh06kz+VjkSCC3vgf3A11XplMuylHhIy2Ee4cT7e+obfq9h4UlhBHP8Avo99+lsYFyzGYyfrI4+Y+muo7VBhNwPcnVVuooziV5u9/wBWPLgB/vORFItx9l6i1GdmlyF5WQB4AUYAAwBwPznVuz6YqFnftVZMH2Gf0A5j/fR1Xq5BWqaiJSyGUyWOISMGOOceeZA0y2O5WoAYVkPk8ckEZ/TTQxK0gp61pdbbmcCLWHoOtNqL6RtlNL1/UUU4uubtUAH5xEe2k3Wd6jbip6RqMpPqgqpFjlSriHI7STeCEbLkYES6+0eyqlFRKyJRqvTp0qarYVIF5M4DMvpllBkHtEckrK/TS5VjVLBirhmRIl1LwS1IAgtYoCyOAYiCh2inDKjRXu4AgAV709TUIH3KkjyVqNxJg1CbfOBQ0fTphGVVFKrMlpVGtUDLX0qaOomB3UmHcM6E6BVqXqtFw9MQ1TuCOSJlFue10UmWgJGFJJJAf1KlrEhWar6pQMvxJABpRPKlDJWYNzk4uZVnjT+BTxHXX9TUK6qlTsCuSLigbCqAGuW1UBAJZee7tJICkBcqFa7hC1tNVW2nmp3KKgVWMBhaCL+WVQpiLtFKacKyNbUUEipIFNS7gvZeCCKhLBAYBskYgkXqmwZmoAU3aAtOneEHwrULStwZQyojZM/FEEAFNQJr6BpSU2Udovy5eHnqdr1Gh6lKvRLMtRySKbX2gIxJdGf4naVeeTE4yNfPE2ykSylickjj6flx+WvqaOlOixhEqFIqFXZ4iSRcWN0kGffOTGkXSekqaNMsyqWUNEHF3d/vr6H9NxK8K0bTp7189+opaxThlRAHz5bR41J/tdbNM09m6lYJO4LUyIuIzSCtnETzHjOhdp0MF2aWJn1SaXOabrbOSKJWrKGW+7UwAbp2r9Uqei5pks8doIuzOQFkXG0E2/TWHpbB1eSxA7qxWCj0y61EpqbbQLi7NbaCgCL+IAQFgpFMKJUZNVdYdaJp2qtNJLogb03Rm9Ms5Y3FlPYIuUE2SSHgUttLlSosj1VBbNxMEqIaBIMFpgTdOiaW8LKlR2ZHeS7qbXqKWBVDYT90O4ye43GApybq6epWgPeAQqvkggJN2Zk4IkyJBJmMqOrQe4bnxjzmD8VTwjS0d9VhHAmdBxHHjS3fu1JA6KxsPwg2yDzn+Pz0JtPtDWqkBaZUMYW65pI+KSIAAH8j8pd77YCw5C2svcZAANhDHJiAxn6eNLNv9nIqllttXCx8MDAI45gZ8gDSC1IIIVNrazz0gcaPmbDmaRJ0tl5ayf8AaaruSGMg4BF3sSpIHM8aIR3M9rKYBtOOZgjPyOOZHjQ+12paoFsF7BlEwPwt+LiOdVMk57iYAyScDgAknAzwYzrqHB2fZqGZA3GqfDcDiCI4ca44zmdBSoJXvP8A0NpgweRBkeor1WYAgg/E38SToWrt5wF58eP040VS9QyApeJMWzAHJ+g14G82qPnGsft0BeZK+ehn2BHvTqMQpKcpQJ5KEe5B9qAp9LaSeFH70/oDzzOrKqO5mwDwMn+miSSXE5kefBBEfTnU/wBmwCActbdAi7mM5/hHznVEYgLIQADmiSbfBFh4kk+VKZezlxZgpmALgTsJ3PGBAsBrIabVjP8ApJxxx/HVD7MkzB0222ztuFsBUYCBgfTVQoCdAexa0rgfSNByH3o7bYIyqurc8zQ1Lp3mPr9NEr0qHiDke3t/+6Ko1EpmGkmC0KJMcwQMifc4zmNF7NxUtKkmGWSDaoEgEWnuMjEsCSSPh1wYp7WYEa1OeZRNIt90kgHGs/venkBjaZxB9s5/hr6L1Xai3x+us31PZAqYPMcfQ/3+erv6b+qq/apXxVHpUZxCe3KOAB96SdM3LKzCD8IP/kunW6a8gDB5A9/cD5/L5aSdRqhysUqdL06VhsEXQy5OP68nJ1fs9zTtcOjM5A9JlMBT5J4nMe/BGJnVZhx4/wAqkGRpEE3Mcb8Ty511xodmYuJv6H0PD8WoredUanVIgleCPcaK3oYsrCSCBGTyOAf5n/nQvUenLVAcYY8ER3fTPxfw0NtOpW9jLgeDmPz9/c6fZ/kyqSLp1HHn4fNJvthJMGyt+XD/ANuWwrU9K3FS21gx+s6dVV/9UpLFfu6NP8MBXFWZuU8mcnWX6N17bgnLCPEEk/QAEnWmWqa24pFOy+nRjgnDbkfTxxqZ+opg/TF6Zak3VrVNXYfe06RdhTQlKLgmLoE0SSZNubCSZyhMqpdZXoVEdjBPhkmAfms4BPMcH5E50m5pKVek+UtqCEptaO4CJjt+AspDdpxOBoDcj1aFNnP3nda7CC6hiBMDLwAT85PHEdx1SBIPLypmEq7qtPvx8OPrtWR3Gxc9yluecj9fIj9dDb2vVNHtLzSkN/mUmbvoDIjwCNaDcbC8FlKq/BmYb5ERj5NyPnxpPU6cQfuyFZfikcYzcI7gR4yG8TOqmBfQUkg308OuNBdXkAQfqF44nS/r5c6ylfrbu8FTI4Ofz+o+XyGtZ0eyrSFJ0JQEGAbTOZyAOZP66WdY+wyIwZYpE8o8W5J+E3G3P4WOJGTq7o2zai6+orATnwSPkTg/UTppxj+PtmzKvQ2oaXg5/Gvxg8euFtq+jfaKu7bYWU1IRTVdp+9olQCjItyy0EmSYgEG6YKDbVTuKPrPSrVSbgAaRWmEDGHYqClUmJILFQSYURnRdLrJUUEAkrAGYYDMZ5xxj8/Gmx2zlCpJZGUrb+IAiD3HmB9NQg+BI50RbQUq9YfYbw1SCoQ3CSWYNFsKJRFqqDB7exTA8ac1NoSQXIa4QxKVFuUZsl2LssmSlNFBGGYAmVeyq7mmziu4DIRTKJfdYJhwq5ZOSD3dpacrAkeoI9ZaIcX1PxNLIIkDK4c4MKDEggspwTqRPOstOFBgWpx/1JVKlmdiTClVDOTHw01XsUx+4Ha0dzCJ0PXSoWYlGDOCC3qE+kvLIpNzM5AN7gZIAXAB17T3+2ovajhqjQHeb6rA+Pu5FJOMdqjnOTqHUd+wguBT4DWsPUB5IxcgHiSD5950MHs+8oevUn0pklRsDWZ3dSS1CncacoCcgBYMpBgyRifaTiQNDp1nen4DTtkhZQHAMDI+mnu+ZCphVUu6cf8AdJ+scnzoX/pY/CYHgaL+5YcQFOSBfXfnb0oLgenK2kGPb1471f8AZ3epJAZWYKSACCInPmTCmB8tRqVCFqpku+57zIJ5vQY8Gm9IDn/CPtpT9n9slKuzgz2t2jlQytP6xg+Py003dHtLU3RpFO9GIW8Iwg5BtqKotz2ssg/hOpKwOzCZEm+3XQ41bfbWtZVFha1+o/PClO1YelREZ9FIx59MEcmPpj21ZR3Hi4kk/C5GCMg90spGDPHgjXbJqZRAzAWAqpQ+p2h1CzKwbaRPylRPnRlSkrLbJbjN7FVPuMwWHIt4Mcc661DeZS4idaK8sPBKW5kCIomhUV0qK5CVGGFMDFuGE/FJb+AHjV+xpA0lYm0BZZjgAL8RP6as6dsEDAqIPEEkjIAnuOGwvcMmI86XDrlFPU2vpVKiG+mzowuySJVGWCATgswMgGPcDYS8orbJgkT6RUnHNEAIVTWlTSp2mnUUsjsoqBIYD/SxKtBBtYDE+2lW+SnSSGFpZ5FQXEwF+CwAiME/x50T0jrC1a9JVqI7CpELjsNNxNpJZAKTtKtlWS05GQftKlQqVAwTjEmZxjzmOOeNCxjOVaVJIA3v8a/FGwSrZTJAvH5/FC7Z1aSrEiSJEr4EjMTg8cHVwrr85+n9NQ6T0yFKsCSrZBkMDAJMHhpk6Yel7HyAAFwR+IlvwkZx8uDOODGsoOVZKzzgR5kE/FUFJUpMpASDa0/AIHzQf7WQPxgEiQODBkSJzByNGbRV5gmcz4mImJiYxPPjSje9YXuW17kb/KMqQZ+PAxP0I002puAdJBYAwRj/ALokA/Mfx04MXh3WyhbIA5H5ioWNbew6gtKzJ0J+1G7PbG9yGAWDHYLriIMtyViO35D2zdU2cRcAZ4K4P6E/yOhtx1AUgGKPJIBRAGbJOfYj5jyQMHWho0go4/v89Sv1lAbbQ839JsBbbmPnei/p2KdClIXrrNIq/Ty6qpuHdgzDSFc3LxaPl5gZg6EXZhHpvf8ACx7bSzqQxDCAe5QZyIJBiJOtDuAH7YujMcAfOeQfmM6FXb5IHA7QBhff6n2z7aXRiFNMjtu6eG5HIfmOVMB9LqiG+9z2HmfsDVVStcYsWqik8/dh5Agxk4MjiDyPGlZ2rkBWcT84AwJyzH+zp7SoRgnH6D89Zf7U9VsAXbNLXQ5RZj2ExEz451R/S2+3CmkIIGuZUhI19NefCl3T2biVBQJ0sJPjf8Cq91s0IUCnbFO1iI7zcDeR4Y/nqNEUaKlmVWqTaiO0AkgkE/5RHsMkCRyLkoVmpL+0Xq9TtVKaj1CObyol2GI7Y50dS+zdOQtTZ1ipICFbFd2gFrlqVFMfEZgQFk84+madSygAm44fk3rKiMpQJg1VukWoh9Kk6uRdYxjA/Enlog49voYh07oRe13Ave4KCLVIEXPUmTakjyLiyAxJIf8A/pqaNRanXo+nFQPar2Zw4NJ2MSIYjjzGDqx9xWUU6qsKoQspcMTFxUmm4KXrJCEEhmUqJLXW64rGOZYSfPehIb2i3ClafZCiKvdKMxABGKVQkYHMU3P7oJVvwnNofVduKO6oCQAqUxPjDVp/nq5ay1e2094JKMFtYYE9gKVVBIBgyJBgaX3hmpB5hD6ZuPdaKotkzzZUSST76WU+ViFGmEYckzTlkQZZMwhkAkkhrnGMj/Ej28fVX0ylPrUGlqdHCFlAZZdigVhHABBkSGXnMA99wF2xqGSSLm94C3wPaWI/MjnQvS9sQlZZMyl7cfeWlqgGBjuDe8uR40riLtqHKuFCkpKuFIt9TKOSZyMMDEn5ic4jEQRPHgTd1QzNaIsDKHGG5I5JtIJE2lY47ge4aiv08FYjnWeO0WO61VaYqdxaAYglGWTAmGDeBpT9NxaVEhOg60oCEB26x3x7j8j400ihdzuRuEKG71FUkytoPdT7lBzHb/2wfkSt29BqcgMwHt4/Q4/hp2nTwQhaqSyGQCIcAEAAOncjlVycjJECNV1FP485Cq/E+BdPBwM8EnwTGrKsbCciD1ypd9sm+WfHT3qW66olO5kUqpKhVYAnwJNp95OtN03qJaRLwtsG0C5SggguBnOc/wA9ZodPuDXKMRz9Rpv0/d2gKWEAdpUZjyMzIP0x41JxLiwlASdpvf7GhtJRmJUqOQP/AMzTnc7QVVArItUDjAMe8SMfkdKd30+mzXuqkDsU1QIUEfCskQuYgAjP10dSUkdt3EyWg/8AH5AaT0XU1PTwasFuJMTxcfMSY9gTrmDeWpCyoxBA4az/AJtFHfdabUkTqCfSOPjOlV72sq0mWgyq+IawemMj4QFI9xJH5aBq0iSC03RkxEnzyeCcxp8wTyR3HAJgk+wGJ5+eknU6iJfTSqqVkpXgWm2FHLZILN5jPGNAGKW8otlJzCSbXG22wpk9kkJUjTxkH0i/rQKUwXaFYWEwMWnAhhnAPj6fWPDvF8hwfp/Q6s6RtqnpNVcf4rKZaFKgBhcYXhvHAHb76v8ASnJUg/Q/01SdKXQA2sJKbEE28j415D7jSjKcwNwUiT4GkPSt+JW0M7rddCgBpBDQTiPI/wBK6O3oZhA4PPH+40P0DoHo+oz1HNUNbTQmUZDEsT4aJ5IiODI151vptUsjU6rKD2sA9oA/f5x5B/LHOpnZi4uTJ160pjBFGGWpoLKkmScxm51Gm/DjU9rQsAUDAuMWcZkEHAJMzj/bXm03iViQpZWiciMfPOM/TzqytTqruHoFqJVFBNRCSRcO0Zb4vOfAnzozYdPgu6pT/CWKwo/dGDkmZz+WTyDLF1K14ffxq8Xmy2MotsTb03+KadNDBpRUUEghRwMeCR554H8yVPW+nUPXqeiavqMxDqiU2pBzN6gu6GZJYwWCsT8105pV7ILuqAfSf1bn9NL95tgKjTWmmxZ8J96BUdnKC77sgkkepPE9pmdUcOoBNhA4moWMQcwQDJ4Uv6Z0bdEMyKgqUSAKiVTScllJIVmUrPpstxMCIC/hh1vt1UFGiKjs1XDszKiFWWFIAUQIZSZzMzwRqqpUD05pUbUVSeQYDGC7G4s5zcWMk8k+dBKDcrO+3LCeyvURZBBCtDQRIyJ8H5zorye1QUpImuYZSWoWoTtHXKraLM7uzxVN0lXgAmxQPhEYjAiPoc6ZrtmsFplgACWwGIESfIb5n850F03pTjhUqDHwVKb+I8Npo/TqgEihVH+kYP8A8W1DxWBeSRlvTv7lkgkWrG9UWs7LRNvpqWabe6WJJBzxJOPbycHUem9fr2oq+mWm0Cw/Fx++Pr9NaDcKhb/ECvxDkKfzDQdLdj9l/SrK9UWq8sgLqJEzIzzBHMGI0chQahVvKpzTqFrV2gCthyPHaaddF+0dDeP6dNKquiklmUJb4wQxKsSOPkfY6u3lZmqLLqy4Aqq0BSGNxYL2kkEAnAxmONS2L7em1ULYHqNe/m7FpPaTBieDEkn8Wqeljb7ftpOtkkzddkgDn6AD8tGw6kFtQIPcGYDY7zPjyuJkUvim1JUMn/RCZ1tvTrcEU19x8vOl27rGnQeoYlVZowJMEwY+eg91Wiy0H0myAfhYDJs/d+hEZkRzoTqu9FZ/SVDUlMC6LXJmbfxECD/AfEdLNM5VpcgqzStZ3AB05E+vC9aLZVI0SmEpG08edL+h7/dbwlGMIObVCA/IkZj5DnydbTpfR6dG0QGYRAgQPy4GqOlVKdNQFB9ybWz/AOOrqG+5NrG6YMfFHMeYHB0xhsW5j3luuDKlMZUaDfw4X38q680WMqG0/VMkDq52oTdbs7Wq9FHCer94KtoNVr2bsao5glSDazYIhCyMVLQWkKtSoWtJFtNbyx7oDmHqg2MSRNMhHFg5jTulvS6lCrkOpWABkEQfixwZzpRS+z0AHb1a2FCtfa6OoutU2sCEyYXKwBjVMqCrgi3p613KRrRFbo6rkgErdEqBHYzHEHBsyNL13Jo4okJTcuppushglRaaqVdB95YbYv7oWY5MhtN2rCmWpkiGtFRJU+AlN7RTBEwYJBznUt3szSj71QwCj0VV2UQZADJULYaGzDOUGDxryUrCbmTTeHKM/eqrbV2uWkXNMK7NcgllbuTtuYlZgXKVuN7CCQW1RT+MljXvtUyrqwLMJPBNwaKcfID3GiWptSd1uZTF1NGCl3FRbS4UMq3fGWJi0xJbMhMAzEYRb2zUhCVkYLNeGgLbCzOffQzNW0AHTh/fWtGDexbR7yQ0/eoR2JabbCUu77VKjm0aedMoVwtpX00tJkwzM7PcWtAwY/CYtnzGMvua1vLMK4cENLkIqm9mxUcG0OvhcF+c6bHqO4tk1mKs5XApo4m0KQzoIDS1uBgTJ8e1BFAfZKkgJiDx48RtTNtg4+Nqh+hCj9AAdA7jpqRAQiR7GeSfoDJJ+eidl1NwPS9Et6TelfcVDEcHuQgFgQ2WyTydWbndMDDU2pz5dCy//OkWUfVo1CdweKQslnTkY9qluJUkwTHgY+KQ7eo1MlW8efl4mPHidG7tOxmMERxAyOIMyI9/lq7dbCo0N2BlmMH6FTmIOlxepaIHYWgiYggXFMPdEBs44jAM6Al1SlZkkAjUcOv68Ru4RDgz2k6+P9/14jVKLKtVSAyggGO8rwcTBdMgFeeQJ40Vt1mXWyHN0IIXgDHPtn5zq6jtyq2yomIUCTl+0Als/EMk/medVUdm8s1NlDN4OFYzkkCYbEXfrMDVR1z91h5B7yfQjj67iefGpbjAQ5kUoBKojXX09ONS6VsxTqVXX1Jrk5YgpKTIUTI4bkcDGBrundJVK5ar3Em9TJwePBjjGrNoFaoYZlqCZBUCCckYJGYmRgxySCAbWom0Q5OYACqM/KF1NYxf/kFL5JCwAbGRbukW29xNMvYMdmkoIzJMj7jTo1duellripBDqFbtBMAkiD4OTnPg8idJ+q7MVa6I5pIOajMVVmAOKeTJF3Pj8xo3bCoBatV2rVDIHaAB5JkGAI4xqioRTZ5K1qVYovqKwKfCAabsCbZYEiQJLjJMg3MLhXGiS5fgR8z8X+K0VNuAKRb1+Db2qfUtlVarTIq2LTbvSALx7Z/P9dW/s/1/TQW/3NQUEZFq1qnqek4VvYSGiCZtKzjDXTq4bRjkOY/1am4trsUoClEJuBYHeb3B33ojeWSSRJ/9h+R6RWe6o3pMQHcsfhyMn8hgDk/IHSfpiV2rN6lZ7E9gAPkCTBxzj5Tzrt7vv2iuqozq5lbbSIAEzlMCBz/HTra9JsEsbmVlJEAtI4ggCB8o985OrZaXnhMZfG/XnUtCnGHVFZEQTcaHaBHlPtS3ra1ERXoBiAYODmSAsZB5MTEZ50VS6e2C5yAZYM3cTB98AcCD+nGjOr756dO9QvxZuyQD5wY9p+vy0P03etUVqhRZkgEE+OfiJ8yMe2hlACso166+1XW3HXWs9sumo8evmoVayLARfvG4JnHuxzJA/jIHnSff7sPUUUzaZC1FzKz8/PGD7anWqVhUdvSumACWIwPEW+8n9PbRdLbta1UqBxgckg4yR7T+g9tLr7XtSFfT4zSDKsQcYTk/iAsQQL8fA6bnfjT3p9IYFvg5IgccZ+njTCpsndg9MdyqFZeL1BJFpJChxJHdhhAJEA6qpVFRboJB9onPnMY8fpo9NzSb0xUc0jll++NInwfhcXDPGtYcid+uX91UfAKbAR1v/VJaKUGBDCKiYcGmHeS0KgRhN7MQArCPM5Gi+i9EolarWK1aGLUgSrUSFLKli2tcSQS8QZAXtjQbUGFctf6/oVQyF4dzTKBlPqepcVBqXC8emSiw1OTq3cdQWrtRbTSo1dqlSQ0vTVnJJPYDTYIBT+KRaTkIdPIaU4QlJ3HXhU5Ry3Ne9O6q60GeonrhVdqLOCXAA7C9xmrSkhWebkPx4Nwt2PU2FNWtavUQVWNY3oir6hYSVW0oyd1O0NPYAIjXPUqW0PTdSoW5TY3aYe50UPT+GPxXFwzWiBBiFZKwCMsvUQVKaBqKf+41ITTBNK4ukSzX3AQAp1U/aAg9dfml89HbJ61bbOaoS9GdDd8RCgDLJ2l1JZCyi1iDhSSoU7iswqAkWLGSuSTPMriI/eUaIO5RNy4WnSqLWtSoKbragZ6NNipWoSFvabWpqSSSD8Uh9QpCjeVd7VMWnvHMcHI/XULF4cMOhSQDmtHjrpv4002oLTBJEXnwqI3Kqxa9SvAJaOTJjNozyBExpb02mKlRqrHJJYHjk4Gf8sCNWbg2sJEMQcqRcQfdWE+P4H5jQ3Qt+Ep/h4QFWMewmYyB9PGhvt9ghLzIn6R4gZgQbb70RDZcSptzUkm20wQRWqbdwuQAAMRw3t9Pp/PUQkZBF5Et7ZzGk/UephaNwFucqZtYA5KmI4yI/wCdR6T1p6jwbbQJaFM5+HMn2J44A99JIdGBw2bDiCVEmeAERzidtSQRa1b/AGSsS6VuGQkAa3knUDyt4GtPt69RuYxkE8cjU6P2eok3LehIIYI1oYkybuSTPPvjQNLecxn6H56sTq1rcCO2ZaGNzWi0R3R5/LSzn6jiMQAhCUp3sNfWgowqWlHvKJ50xq7Db06bPY0BMqKj9xJEAy0STaJ/XjXm22ppib6dGJxQWlA/7qgZ2+oAn21ZRAqU2RvhcMp+hkY+g1LZ7Ss0epVVSPi9FcsYA+NxjA4VQRnOrjSyQpM/TYnrnNKpXYE76deFAdWppZYF9Rn7y8hnJkLIfkMSVRSIAYgABUYaF2HTH7VWp2EZJCxaJFyn4hgOVL3QsYODph1PbL6oo0+fidySzE2mLmYkmxCzR4LoQNMdvRsBkCStoH/bTED5AGI9gdHDQAFU2cYUoKevekOwK7atUspE01JuAUD7v0qYYi6CVVokNkSp4YnRVTYJVYLt6iLSrZZYhkYLKlULL2mSSuRdmMk696buIqVqkgwGzGe6rGT5/wAP8uNXVPtCwntLBBexxCrkTBz4PHsfkCNag2O9WnMXLnd1jXjH3Gte9Kc7QenWIVCSfVNxVmMZLzCkxkOFzwW50f1F3VAUugkSUgm3zb4Pj8pjMaBqdcSlBqVAoaQB5J8gKJZvynxoA9eoU5NKm1MvAn0ayU8sAWK2hMDM4OORqViUJfg5VSnSASDymgFSnDm40W9WpYt147iGICl7e602gET8EwPJgeyuqGUiofijvEAGPyxMRMf7aNpdTFWizI9NipZbhlJHBIBkD5T9PGsxsOvVq9VaZWmMm7B7QMHNxzPaPrPGomHbUFqCgBrOvpW/5RK0XAF5O3XvFPWrqqMQAUj4cRyMgnAHkjjz4g9W6itNGNSFFMwSpkcA4wPcCIGdA7rd+gSLSwiQFI94Iz7SDHz+uqBVp1aHqFfSpycMVUNHJEYmZHzg/XTBZLS0qQTOx31No/2hLSXGyHEyg7/nmPn1o7pO9p7oEsFWshw9MiQDwQcgmBaQZBtyIga7fdZNJvSa16hi0gwvOC+ZpnjznEHMAGhvalQWUAUpjHqvz/2Dyfn/AC016PtqSKypD3fE5IYsfNx/2402hhtP8ixKhcoG3O2g3KPO2yX8jQCHDOwVEeR/O/jr2+6WzbSqikNVe0tPbcAwJpicARwDAJABgE6x276Y9Kmpfb1VLmw2gI7gypCm8M0hj2AHEngTrY7mp+zKWVS9MR93JMZA7TyF9wZjxHGhemlWsZRO5dR6l6wynmozyJFMEQqraIgCO0m5hHe1bzzI69IryVkSlWoruhHcIqmkKy0CzFiUR7YBR2UH7zBACiPDYMRp3vpFRgMZ1WNwtNVRCYQQD5OSSxjEkknGM6qbczn/AH1Kx2KzwlI03oKnAq1Z7ZUqS1mqgVWquAtpXMeYEDgCTEfCPPOkNCkqLLQKkhQqM5MZJtRSYGJMYJA5Oq9yFNWpXe6koIUECST8lEyTmccLJiDFTdSpMyvSbNnpsHwygOzB4yGWTkqcQpOAYuqeuUhIA9PvRkM9solYUeZ3+9Leu9LFRBBDK4lSOD4P+4jQO0rpSRUWWPhVUkkfIRx8+NNOthzRAp9riu64MYYCowIPIBcz9NBbbZ1EYF29dVWLCbDHAMrMxzn2nkDR05y32iUyN738q8GwhWQq4QPzSDrP2pKVxTh6JGCCAZJAZT8J5455I9jpjtty/pffCZUwwZTEzyojjAkDwffVm56c9RqT1KRZkFtyVOQWgEhoyxBtk/ib5a7rV16QjIQLe6BgnBwxBgzH1I0oQlJUtAnlp/h63pvtSrK0oQLydT7G462plsEFWksHBEGP0Ou6pXqoES1ler/7dRqdSlVRAQRZcWuysKtpcmO09ywTfJskS4hq/K0b8skze8BrFAk3EZ8ar6WzLXUqlSrVZQ7q1OpezFIDNMQoNxUuCo9QwwtIXyxlukSawFkk8Ku23RSn3dIVUrKT6jlipUFQbB6cNXLqpfsMBlUSO4aobabdduqXH1zbSqKXXDoGCsyliIttAa2oFVYAkk6sG8pEXfs5gU1LLdUAJLgrdKIGsvtEyO4AYnV42a0xeFalUpVc2xcimpTsWy5ktCl7VMgqpbnI4wtTSpopRnF6hS3qVPUWoUDtjtQEEMDKtfWLWQUhRhLRAPkqv0xiiUabB5cklXHcW29S8l2Rhe0MSbVEn8PlvTF4pU29KrTYmqaitK1LO7uUyAS7JMMwwRjA0BtekKu8+5IsRWYw1wUNTdRMYuvJAURhSZM4ojHE2FLFkb0T0x69EN6oo00lzCEQJAK2qCbWvmRNvnnWeDkszEnJJ066jTGYVjbIbJB4lsZiARONLW24EiWkeD7HgyDB0qslxKtjb0ozJTIi8yBwn/KCrbYkGDALBoIzIiCD7YH9nSzoigO9JwMEgT/D+BGtFS2wFxEi4yfr/Z0h60pSotZeDCuPE+P14/TSDKO0QrCrsDBB4HSPMac4FNBxXdeNzoQOHHrjTHddJD0yAWWeBMj9Dqj7NdFFFmFWp6eJBMZzEENzA9jP6aP2e/DRnkc+31/rpl6dwk9w0ijFKwWZt1BUDx+2v9613ENjEQtK4jQi9Jq2/UK5YHEi9DyJjxBH8vnrJ9N6wKlZCGqM9MmA3qNPIg8wGHP1Gca2bUFg0yDjjPIPH9NUD7PKmaYYNIPxFcTkfKfB/iOdNLThISppKhN5B9qUWrElLiHFJiw00Gs1ounbk1BABWOQfiE+CPB07RlpU2dptQEmOT8h7knA9zGs/sqdQKvqqWt/EhJYZ8xDExGVmY40R1LdyKdNWLyPV9iSGC014AJDG/MQUUHnR0J7Y2gJ4Dc86WDaUHNMqPHYcv8ABV3SaJsq1XzUclMZyxF8CRIHAz8KAauffqyqwh2qPindALE9pDRKhQJIwRExIEwqrSpKEf4rRYtn3jMblJtALvHPke+ham2uYVKo9ILdCqw9QyIAYqCFABaAGnuORxqgVJAzKNqwZFhS/cVqtKkWFtX1T72mA9RrhjhndyJyFtkkzpDv+vqiFnpMHHwB1wT/AKvbE/lp11Tei5BhVMIij2VcAfQD+XvrJ9Sp1a+4CITbTwY+Yk8/KBpEuIcUXFAFKbzPDQeuvKaXbWpTpby3E0Z0/qgcFhUUOwF7uYc/SfhUeFGP56aU908f/wAhJHMsPyPOiek9NRUIPcZk3BT4HED5T+uj/wDptNCoWiju4Ldy9oUEAgWiS0kfIDJ8ApLw6cQ6pKpnyI8raRpyp5L6kpSqLH25VmN71ikzD1iqOMGrTPd+q/EPkZGg+kdQo0KjtDVSxFrqpAJ8SGi0/TB1sUXbl7WpikW7Qe1qZJ4F0KyycZUCcTxpZu+moHq0aL+o9NQaiXAgXNbZB5bM4n2MGJdLSQAwUkpAG8X3vE+UxfTehqUopUsXJPtSbrPUqlV7gnp2FW5kjJEtHGJke0/LTnp/RqQM1FllEqGMoB/lU4xpT0+n6V15c0zHcGIsaYh88REMQRiCNaKlXQ0/jRWpQAbhb8MjliTIBFuTgxOsuYZaEQ2qE7R8GZnmOfnXcO4tXdcgpOm0db/eBUqe3d6ks1NfUELTYhSQDAMHJu7hjjtjhpj+zGgHkPKgSCAWAWbQIAB5OfPvjV273LKtep6RdD3sRaxU2qGR1c/CIaDFtse0aS9P+0tx+4WUVf8A3HApo0kAhluAzAZO0G5PJDaX/wDz0JIUyqDY8j6aUTOQlTLl5nXX+xw+a0IryqmCLgGAIg8T+R0JuqpYRew9iD/MHBHyP8DoTZ9Qc0ia8AuzVEckq73BWDCkAVRPHxAn4oyZEHU+QSflpV5g4ZztEaGQQOPhzBiORrCsOp1vKNREE8NDV7b4qbasD2YfAf1+E/I/kTqZJ99B/wDUwQQc+P56HAH4XqAeAHMfl7a6ktK1BHlSCv09+bfNfR/tB0lam3IZxTtIcOeAQCMxGCCR+esRutrCgQKqKDdbeoiCJ70A4gEKTyT419A6xtWemloVirq1rYBgEY+eQRPkcjSobEIpq7iUpJBsm5mMiC8EySfwrzieSNVXU5jb1q6y4G0yTSzpNCqrrRKWobivrJkE2sQrobWJF/ZiAvgCNXbXbj9rqyxKC8KAGzkC1O20MhkSDnPzh1sK/wD6qupMgrTqoeQQVKkj8x/HQNegFrfdi1gLi7EtBqFrgifAGNpkn3ODnRSFIAANv6oRh0kwNKwq756b1qdU31VcQ7M0qEYYi2GkefOZkRpzQ3XqG5iJEe4GCSJHy51Hr/TPvBUJaoG5JIunIwfMjxge0aV7euKYaTKxIPuCJHI9jqyEYd1tTiEwo94+NgY5VLxPaNpInQR+a1fT94XZwHVS1rAWlWM4DQVF+Rgz40zowwq0mLxbaSGM9ymSORMf1+WsL0/dOWWuwqek0URcw7YyuCJyZBnywnidPek9SJq1RJtVgoEAyRkgY92/nqMwsOpKuHDTWs/uspsDBAN9eHv709fotMrWC2g1aYpr2DsAW0AR+GYa0RmdDdX2TVGauy+n+z06gUkC6obGBMySEGCPJuPHkxd2pJzkRMe8kR7nP18anXPqJVpzFylAT7kWz9J/kdbUgbU43iwSAazz7RFRR6aM8gGKaGpIIAW5gck4mBz7DRVI0tsgohlVyS7RKywji5coohZ9l8mdXdM25k1aq2OJCqeQeGck/wDxWfFxE3DQO+6vSZvTeqKZDAFZtJ7gACVAPczBRnyfbGGkkDMaLiXRPZjzjraiy3ckMbWYAACVXA+cXDmDgA8eNZ/q3UKZqAmrRYEiAKggjH3ZI8cZIORnBOj+r9LpoCzUrmjJAC3YUTA+AyALgblgc6yvpLuNwSrMhWoJFkgi2TUJYRBYzEDjga44ViABM29a7gOyOcKVz0+L9cKdDcFAoBUC43A3GFJwonOOPyHjQ+4p3Uz2llb5GDP5Z1NtlVoi7sqL5uWGA/ImNEU+pvaS1OVB5uHg8ENB0FxsIkQTy3Ebg8uPrFMRChCxm2k2OxEbTNxxuJrL7Tdik4puePhOf0MjWq2bmwFXweOf56A69XpVqLUybCYKGovBkEw2cf10s+z3WKtEFaiCpTUwIIuHzH7w/joClKcZ7RpSc0/QrQ8xmEAncAxrBvFdcaSow4gpPEfka+gPEVpN4mA0x3AEqSGIYiR8sA8aKTbC0FFVGnDAefPHxSOVJz4giQPQ3lOuDaVsxdcYK88jBUyOcEGI8ansuokEIGRzLCCyh/igC4Mbicdtqg66ySE9m6kBQMwCbW3gx5TQIKzKVKgDU2n1vbw3o6j1VQCHdFKkAiZ+YIMZUjIP1GCCNT3W0epuqxJKJYg9SAWIKLFOnOFKstVixBj1BAkyEO/36NUBEiwkPKmF55YArhlUkgxjxmWv/VASUuLMAYVQTJAyFaLeeTMLmeDpqS0BCbHhtpesdkCTBMxv51c9I0w0BXBy1QmKuPLMxzHuGWPA0F6ivhat8wJKsFBPC+oREnxPJxMkAmb5l9Gpd8IsDTkBfVS4n5WySfYalv6Cvh1MEWgkENmZAJHcseD/ABHCxSh7vLBvXM62hlFYffeoKlT1IUAYJulQM4AHMiZ+S+2mH2d2zAAlgGqXEsR5EEwCQOW8yIHGjetUWYLRkmGXuM3jMKjE/ErG2GOfDczoat1AU7aSiSPiDyLWyBEENIzJBjMDzHktdiMgTIVc+AFtfHztQwy0pRdScqibyT11yo3c9Q9OD2yMMcgEGIIwfJAI8EjkEHTMbilUpE1SV9EM5KHuSFuYZWG4GCCCQPI1j93uWJhmAK4VInx7lro+E5bGDOTBvTt122sLlYMjglcowI4U4PBx5ZjOcaMNwomALeAvbw+NqMoqslKJk3/NB73eCqMCoKN0Mhcs7Zths+kJZgLVQgEDMHTn7IdOp1GLPRUPBNFWANNV7RUhJYCpeASc4YR5irY9IpoXqUi9SsFdqIcJC1LWtICqLnHAnAnAnTTpFRFqUFpNdZetoklU9I23iOwh4U3ZugSY04VBaTHrQcuVQ+KU9S6SGqO6lyhJBLgCkSDDSCSQCwPeyhePGdC7DZ+kyrW+DutKghwwYG1jbfaTMHBJt4JGm++6pTpFkSsrhWclLakpJN6moiMtoYmZjkhpIJ0s2n2gphGqtRqNTUkBTYgsC3lCS2CIJCgcFQItwSTkKRp1fxryFZTlNG/aBG3G1RqAZhdNVQGZmABCFlElwDPhslT+GQsp9GdhSeorUwzWqkurMqlWdiotK0wqlAsdxqTGAz3b+u9I02R1q02QS1IlwrAQ4Bksyhpie4DBnTLa11K0zeIBNlQgPTlgJV1nKGBwQQQD9QJBbSSfpG/W/L7XoxkhIJlR94FU7zpMghQYpOUAkCBYjqvPALMAPAgeBpNudq8wI4MSYnxzGNbBjAy1zO1zEC0TgAKMmIESSSflxrNdccohZYlWPImRyREj66hOvh1TgRcAp+CD7xT+HT9AV/0CPgj2pKen1UuNRkUFlIz7XEgYydRpVzHxKBJgFhMSY1KvvGq0GPaSGlSMccHJODkc5H10Ai1HFwJQH8JAJH1+esBSiLgUx+2aTOZZF9hO3jX36owsH/b/ADGkn2k6dXrsq0wnprk3MQS0QMBTgD+J+Q12u19ApAcGU6GoTjYcSUK0NB0+nV6SJIUvTuAVCWLUjFyZAggmV/IeNMP21DUcrFjUqRXxw1Uj+UfL+Xa7WynKgDh+KMykJGUbD7iguostsssKhLLd5iYEfESbwLRkmB7jWeWgYChVuRFV2tDEkDvCljbi1luIYFwRAiT2u17tFJEJMUZDSFnvifGurdPgGpJdmAYSxqK+ACpGWQMBAqIBBJBwADHdbClRprVvqJRK+oai3Fu4AqWTIzdntMY4EnXuu1xBVkUkEi21YxDCFLSSN+hQGx6/Ufbgv2q8NhSahXIJhWAAImDHmc861S7kvQYqQt6CwzniLiRyZgCPA+eu12jZQoZzrpUBRCVHKNDVO1o1rQHN0G4KSSyiByzwWjJHMToTqW2pvuEcWllMnyCwlUaZzaCxAA5YHlZ12u14AQBQnn1pWSD9Uz151KrujJWcYGg/2dFaQiOOSrTacfnxzwf9x2u1mAoEGh4d9aVEg1L9sIW2UNqrhgSak4IXPOPM8iYGdF0Nmkh1VFIkZW5SDjIkZ+c8SODrzXaEU5iQq4NNMYtwZcpiZnnelp27wARcq/dkjBK4gd3uIyI1OymwY1KXaXKguoifIkmZwczGCPlrtdr5x5RDykm8Ex0L19cwvtcoHdmBbnyMj2pZuOgIGLUoBFpET5dzMhj8NiiPmD8iqq/aWqpajUCtED2MKDGRggXDxiPEa7Xa+iwOJPYjMAbb7eFLYlvs3SmdKP2/2iFyfdkFTcqWCIAkTbBbwZtgEHAzpjS+0iBqYcml6f4fSa+GW3yCGgHLHLRiPPmu0N59BUElOoOh/INbZaCzTGh9saKtHczx3BUKjAyZqWhV554E6FTqCEn06nor3EJSPr8c5SmQij91XIHGMa7XadXhmsOhKkD6gDe/9e1JvKnWqzugQUWyoCsh0Yqq3KTLSDY+AeYH4iMaN3tdKo9Q7M1HUXPc5poAJyjgGb2DQGtGM5Kz2u0NxIBmkkjMqTXleifQpMFS2rayLDWpTsVwquckgLcWYZZjgRpWdygwRZP6fzjXa7UnGJzvpbPWv4qqyrs2ysddTUhvbcRBx7j9QcjTLa9fJdQc5HHJjAz5jwTxrtdoDCy2SNuFUFthczqN6QbTpTC6KlMUVhbyHYmIVIpAAs5JWFJiTgnOmGz2a7ZRVcX9tQ2Pa9glSuQsFwQqk5y2Mc9rtVWnlFsr3/qvn2B24Rm34eMVRX6pUb70G5e7mZxzGf7/AC1Rump1VmmpUmbgrDkFcwWCkxdDDPjySPNdqe7+oPLbmYAOg0Pjxqi3g2mnVga6STeKVU+qg1YmsVWewk1fx3DD1CIshZgRn4snTB6gqLBucQha2oWED4yWvFvEQQDn8EFtdrtUEICsO44AAUx4HMT8R511CAtSAerVVR24UBHRmC2yJgNLPdPeyiBaB9Zg6I2kBACOJ5kmJMfiPiPJ+p512u1BW+XAAQB4UwlGQkg1/9k="/>
          <p:cNvSpPr>
            <a:spLocks noChangeAspect="1" noChangeArrowheads="1"/>
          </p:cNvSpPr>
          <p:nvPr/>
        </p:nvSpPr>
        <p:spPr bwMode="auto">
          <a:xfrm>
            <a:off x="215900" y="-231775"/>
            <a:ext cx="304800" cy="304800"/>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174" name="Picture 6" descr="http://media.economist.com/images/images-magazine/2010/30/fn/201030fnd000.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20700" y="3284984"/>
            <a:ext cx="5667375" cy="3190875"/>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p:cNvSpPr txBox="1"/>
          <p:nvPr/>
        </p:nvSpPr>
        <p:spPr>
          <a:xfrm>
            <a:off x="6444208" y="5373216"/>
            <a:ext cx="2592288" cy="338554"/>
          </a:xfrm>
          <a:prstGeom prst="rect">
            <a:avLst/>
          </a:prstGeom>
          <a:noFill/>
        </p:spPr>
        <p:txBody>
          <a:bodyPr wrap="square" rtlCol="0">
            <a:spAutoFit/>
          </a:bodyPr>
          <a:lstStyle/>
          <a:p>
            <a:r>
              <a:rPr lang="en-GB" dirty="0" smtClean="0"/>
              <a:t>The Economist, 2010</a:t>
            </a:r>
            <a:endParaRPr lang="en-GB" dirty="0"/>
          </a:p>
        </p:txBody>
      </p:sp>
    </p:spTree>
    <p:extLst>
      <p:ext uri="{BB962C8B-B14F-4D97-AF65-F5344CB8AC3E}">
        <p14:creationId xmlns:p14="http://schemas.microsoft.com/office/powerpoint/2010/main" xmlns="" val="22955982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Modelling Issues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The Lucas Critique</a:t>
            </a:r>
          </a:p>
          <a:p>
            <a:r>
              <a:rPr lang="en-GB" b="0" dirty="0" smtClean="0"/>
              <a:t>Treatment of technology</a:t>
            </a:r>
          </a:p>
          <a:p>
            <a:r>
              <a:rPr lang="en-GB" dirty="0" smtClean="0"/>
              <a:t>Finance</a:t>
            </a:r>
          </a:p>
          <a:p>
            <a:r>
              <a:rPr lang="en-GB" b="0" dirty="0" smtClean="0"/>
              <a:t>Labour markets</a:t>
            </a:r>
          </a:p>
          <a:p>
            <a:r>
              <a:rPr lang="en-GB" dirty="0" smtClean="0"/>
              <a:t>Non-</a:t>
            </a:r>
            <a:r>
              <a:rPr lang="en-GB" dirty="0" err="1" smtClean="0"/>
              <a:t>linearities</a:t>
            </a:r>
            <a:endParaRPr lang="en-GB" dirty="0" smtClean="0"/>
          </a:p>
          <a:p>
            <a:r>
              <a:rPr lang="en-GB" dirty="0" smtClean="0"/>
              <a:t>Treatment of uncertainty</a:t>
            </a:r>
            <a:endParaRPr lang="en-GB" b="0" dirty="0"/>
          </a:p>
          <a:p>
            <a:endParaRPr lang="en-GB" b="0" dirty="0"/>
          </a:p>
        </p:txBody>
      </p:sp>
    </p:spTree>
    <p:extLst>
      <p:ext uri="{BB962C8B-B14F-4D97-AF65-F5344CB8AC3E}">
        <p14:creationId xmlns:p14="http://schemas.microsoft.com/office/powerpoint/2010/main" xmlns="" val="11528274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The Lucas Critique</a:t>
            </a:r>
            <a:endParaRPr lang="en-GB" b="0" dirty="0"/>
          </a:p>
        </p:txBody>
      </p:sp>
      <p:sp>
        <p:nvSpPr>
          <p:cNvPr id="86020" name="Rectangle 4"/>
          <p:cNvSpPr>
            <a:spLocks noGrp="1" noChangeArrowheads="1"/>
          </p:cNvSpPr>
          <p:nvPr>
            <p:ph type="body" idx="1"/>
          </p:nvPr>
        </p:nvSpPr>
        <p:spPr>
          <a:xfrm>
            <a:off x="2411760" y="1676400"/>
            <a:ext cx="6408712" cy="4128864"/>
          </a:xfrm>
        </p:spPr>
        <p:txBody>
          <a:bodyPr>
            <a:normAutofit fontScale="92500"/>
          </a:bodyPr>
          <a:lstStyle/>
          <a:p>
            <a:r>
              <a:rPr lang="en-GB" dirty="0" smtClean="0"/>
              <a:t>A specific example of the more  general issue that behavioural relationships that are fixed in economic models may change over time and circumstances</a:t>
            </a:r>
          </a:p>
          <a:p>
            <a:r>
              <a:rPr lang="en-GB" dirty="0" smtClean="0"/>
              <a:t>Applies to both modelling approaches but usually applied to econometric  modelling</a:t>
            </a:r>
            <a:endParaRPr lang="en-GB" dirty="0"/>
          </a:p>
          <a:p>
            <a:r>
              <a:rPr lang="en-GB" dirty="0" smtClean="0"/>
              <a:t>The critique was formed before current econometric theory was developed but is still applicable to some extent</a:t>
            </a:r>
          </a:p>
        </p:txBody>
      </p:sp>
      <p:pic>
        <p:nvPicPr>
          <p:cNvPr id="4" name="Picture 2" descr="http://www.google.co.uk/url?sa=i&amp;source=images&amp;cd=&amp;docid=ZmrrgrS8sy2LeM&amp;tbnid=7mDZWYTjXNjuAM:&amp;ved=0CAUQjBwwAA&amp;url=http%3A%2F%2Fwww.nndb.com%2Fpeople%2F792%2F000107471%2Frobert-lucas-1-sized.jpg&amp;ei=ZqZvUubRGc2thQeHr4GoBg&amp;psig=AFQjCNHcDMNrNrB8etsXZz5nUseyvCFzfw&amp;ust=138313520661760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5536" y="2348880"/>
            <a:ext cx="1924050" cy="28765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846984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Treatment of Technology</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It is now generally accepted that technology should be endogenous in modelling</a:t>
            </a:r>
          </a:p>
          <a:p>
            <a:r>
              <a:rPr lang="en-GB" dirty="0" smtClean="0"/>
              <a:t>There are two ways of doing it</a:t>
            </a:r>
          </a:p>
          <a:p>
            <a:pPr lvl="1"/>
            <a:r>
              <a:rPr lang="en-GB" dirty="0" smtClean="0"/>
              <a:t>explicitly (bottom-up, partial approaches)</a:t>
            </a:r>
          </a:p>
          <a:p>
            <a:pPr lvl="1"/>
            <a:r>
              <a:rPr lang="en-GB" dirty="0" smtClean="0"/>
              <a:t>implicitly (top-down, general approaches)</a:t>
            </a:r>
          </a:p>
          <a:p>
            <a:r>
              <a:rPr lang="en-GB" dirty="0" smtClean="0"/>
              <a:t>There will always be a limitation that it is not possible to predict all future technologies</a:t>
            </a:r>
          </a:p>
        </p:txBody>
      </p:sp>
    </p:spTree>
    <p:extLst>
      <p:ext uri="{BB962C8B-B14F-4D97-AF65-F5344CB8AC3E}">
        <p14:creationId xmlns:p14="http://schemas.microsoft.com/office/powerpoint/2010/main" xmlns="" val="17065466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Treatment of Finance</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CGE models assume ‘money neutrality’, meaning that a change in the money supply has no real economic impacts</a:t>
            </a:r>
          </a:p>
          <a:p>
            <a:r>
              <a:rPr lang="en-GB" dirty="0" smtClean="0"/>
              <a:t>Post-Keynesian models may allow for ‘endogenous money’ – when commercial banks extend loans they increase the money supply, which may impact on aggregate demand</a:t>
            </a:r>
          </a:p>
        </p:txBody>
      </p:sp>
    </p:spTree>
    <p:extLst>
      <p:ext uri="{BB962C8B-B14F-4D97-AF65-F5344CB8AC3E}">
        <p14:creationId xmlns:p14="http://schemas.microsoft.com/office/powerpoint/2010/main" xmlns="" val="7883376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Treatment of Labour Markets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Most models now incorporate unemployment in some form (voluntary or involuntary)</a:t>
            </a:r>
          </a:p>
          <a:p>
            <a:r>
              <a:rPr lang="en-GB" dirty="0" smtClean="0"/>
              <a:t>But labour types are rarely differentiated, except possible high/low skilled</a:t>
            </a:r>
          </a:p>
          <a:p>
            <a:r>
              <a:rPr lang="en-GB" dirty="0" smtClean="0"/>
              <a:t>Macro models therefore struggle to deal with skills shortages and similar issues</a:t>
            </a:r>
          </a:p>
        </p:txBody>
      </p:sp>
    </p:spTree>
    <p:extLst>
      <p:ext uri="{BB962C8B-B14F-4D97-AF65-F5344CB8AC3E}">
        <p14:creationId xmlns:p14="http://schemas.microsoft.com/office/powerpoint/2010/main" xmlns="" val="1632327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Non-</a:t>
            </a:r>
            <a:r>
              <a:rPr lang="en-GB" dirty="0" err="1" smtClean="0"/>
              <a:t>Linearities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This could refer to:</a:t>
            </a:r>
          </a:p>
          <a:p>
            <a:pPr lvl="1"/>
            <a:r>
              <a:rPr lang="en-GB" dirty="0" smtClean="0"/>
              <a:t>relationships that are in general not linear</a:t>
            </a:r>
          </a:p>
          <a:p>
            <a:pPr lvl="1"/>
            <a:r>
              <a:rPr lang="en-GB" dirty="0" smtClean="0"/>
              <a:t>threshold effects or tipping points</a:t>
            </a:r>
          </a:p>
          <a:p>
            <a:pPr lvl="1"/>
            <a:r>
              <a:rPr lang="en-GB" dirty="0" smtClean="0"/>
              <a:t>asymmetries</a:t>
            </a:r>
            <a:endParaRPr lang="en-GB" dirty="0"/>
          </a:p>
          <a:p>
            <a:r>
              <a:rPr lang="en-GB" dirty="0" smtClean="0"/>
              <a:t>All models provide approximations…</a:t>
            </a:r>
          </a:p>
          <a:p>
            <a:pPr lvl="1"/>
            <a:r>
              <a:rPr lang="en-GB" dirty="0" smtClean="0"/>
              <a:t>general models typically assume (log-)linearity</a:t>
            </a:r>
          </a:p>
          <a:p>
            <a:pPr lvl="1"/>
            <a:r>
              <a:rPr lang="en-GB" dirty="0" smtClean="0"/>
              <a:t>partial models may be able to take this into account better</a:t>
            </a:r>
          </a:p>
          <a:p>
            <a:r>
              <a:rPr lang="en-GB" dirty="0" smtClean="0"/>
              <a:t>But the principles behind the Lucas Critique are especially prevalent here</a:t>
            </a:r>
          </a:p>
        </p:txBody>
      </p:sp>
    </p:spTree>
    <p:extLst>
      <p:ext uri="{BB962C8B-B14F-4D97-AF65-F5344CB8AC3E}">
        <p14:creationId xmlns:p14="http://schemas.microsoft.com/office/powerpoint/2010/main" xmlns="" val="38932062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Treatment of Uncertainty</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This cuts across all the modelling approaches</a:t>
            </a:r>
          </a:p>
          <a:p>
            <a:r>
              <a:rPr lang="en-GB" dirty="0" smtClean="0"/>
              <a:t>At present, most still provide point estimates, with only a very basic treatment of uncertainty</a:t>
            </a:r>
          </a:p>
          <a:p>
            <a:pPr lvl="1"/>
            <a:r>
              <a:rPr lang="en-GB" dirty="0" smtClean="0"/>
              <a:t>see e.g. treatment of climate models</a:t>
            </a:r>
          </a:p>
          <a:p>
            <a:r>
              <a:rPr lang="en-GB" dirty="0" smtClean="0"/>
              <a:t>This is recognised as an issue in the community</a:t>
            </a:r>
          </a:p>
        </p:txBody>
      </p:sp>
    </p:spTree>
    <p:extLst>
      <p:ext uri="{BB962C8B-B14F-4D97-AF65-F5344CB8AC3E}">
        <p14:creationId xmlns:p14="http://schemas.microsoft.com/office/powerpoint/2010/main" xmlns="" val="11426301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Current Trends (1) – Wider Coverage</a:t>
            </a:r>
            <a:endParaRPr lang="en-GB" b="0" dirty="0"/>
          </a:p>
        </p:txBody>
      </p:sp>
      <p:pic>
        <p:nvPicPr>
          <p:cNvPr id="8194"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r="3879"/>
          <a:stretch/>
        </p:blipFill>
        <p:spPr bwMode="auto">
          <a:xfrm>
            <a:off x="611560" y="1556792"/>
            <a:ext cx="6436940" cy="502255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6" name="TextBox 5"/>
          <p:cNvSpPr txBox="1"/>
          <p:nvPr/>
        </p:nvSpPr>
        <p:spPr>
          <a:xfrm>
            <a:off x="1037680" y="6240796"/>
            <a:ext cx="5976664" cy="338554"/>
          </a:xfrm>
          <a:prstGeom prst="rect">
            <a:avLst/>
          </a:prstGeom>
          <a:noFill/>
        </p:spPr>
        <p:txBody>
          <a:bodyPr wrap="square" rtlCol="0">
            <a:spAutoFit/>
          </a:bodyPr>
          <a:lstStyle/>
          <a:p>
            <a:r>
              <a:rPr lang="en-GB" dirty="0" smtClean="0"/>
              <a:t>Cambridge Econometrics and SERI (2011), for DG Environment</a:t>
            </a:r>
            <a:endParaRPr lang="en-GB" dirty="0"/>
          </a:p>
        </p:txBody>
      </p:sp>
    </p:spTree>
    <p:extLst>
      <p:ext uri="{BB962C8B-B14F-4D97-AF65-F5344CB8AC3E}">
        <p14:creationId xmlns:p14="http://schemas.microsoft.com/office/powerpoint/2010/main" xmlns="" val="33522308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GB" dirty="0" smtClean="0"/>
              <a:t>Current Trends (2) – More Detailed Sub-models</a:t>
            </a:r>
            <a:endParaRPr lang="en-GB" b="0" dirty="0"/>
          </a:p>
        </p:txBody>
      </p:sp>
      <p:pic>
        <p:nvPicPr>
          <p:cNvPr id="8194" name="Picture 2"/>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r="3879"/>
          <a:stretch/>
        </p:blipFill>
        <p:spPr bwMode="auto">
          <a:xfrm>
            <a:off x="611560" y="1556792"/>
            <a:ext cx="6436940" cy="502255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Oval 1"/>
          <p:cNvSpPr/>
          <p:nvPr/>
        </p:nvSpPr>
        <p:spPr bwMode="auto">
          <a:xfrm>
            <a:off x="4788024" y="4437112"/>
            <a:ext cx="2592288" cy="2142238"/>
          </a:xfrm>
          <a:prstGeom prst="ellipse">
            <a:avLst/>
          </a:prstGeom>
          <a:noFill/>
          <a:ln w="3810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5" name="TextBox 4"/>
          <p:cNvSpPr txBox="1"/>
          <p:nvPr/>
        </p:nvSpPr>
        <p:spPr>
          <a:xfrm>
            <a:off x="1037680" y="6240796"/>
            <a:ext cx="5976664" cy="338554"/>
          </a:xfrm>
          <a:prstGeom prst="rect">
            <a:avLst/>
          </a:prstGeom>
          <a:noFill/>
        </p:spPr>
        <p:txBody>
          <a:bodyPr wrap="square" rtlCol="0">
            <a:spAutoFit/>
          </a:bodyPr>
          <a:lstStyle/>
          <a:p>
            <a:r>
              <a:rPr lang="en-GB" dirty="0" smtClean="0"/>
              <a:t>Cambridge Econometrics and SERI (2011), for DG Environment</a:t>
            </a:r>
            <a:endParaRPr lang="en-GB" dirty="0"/>
          </a:p>
        </p:txBody>
      </p:sp>
    </p:spTree>
    <p:extLst>
      <p:ext uri="{BB962C8B-B14F-4D97-AF65-F5344CB8AC3E}">
        <p14:creationId xmlns:p14="http://schemas.microsoft.com/office/powerpoint/2010/main" xmlns="" val="14478382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a:xfrm>
            <a:off x="611188" y="304800"/>
            <a:ext cx="7993260" cy="1143000"/>
          </a:xfrm>
        </p:spPr>
        <p:txBody>
          <a:bodyPr/>
          <a:lstStyle/>
          <a:p>
            <a:r>
              <a:rPr lang="en-GB" dirty="0" smtClean="0"/>
              <a:t>Current Trends (3) – Better Treatments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Equilibrium and non-equilibrium modelling approaches learning from each other</a:t>
            </a:r>
            <a:endParaRPr lang="en-GB" dirty="0"/>
          </a:p>
          <a:p>
            <a:pPr lvl="1"/>
            <a:r>
              <a:rPr lang="en-GB" dirty="0" smtClean="0"/>
              <a:t>e.g. better treatment of labour markets</a:t>
            </a:r>
          </a:p>
          <a:p>
            <a:r>
              <a:rPr lang="en-GB" dirty="0" smtClean="0"/>
              <a:t>Other improvements and developments ongoing</a:t>
            </a:r>
          </a:p>
          <a:p>
            <a:pPr lvl="1"/>
            <a:endParaRPr lang="en-GB" dirty="0" smtClean="0"/>
          </a:p>
        </p:txBody>
      </p:sp>
    </p:spTree>
    <p:extLst>
      <p:ext uri="{BB962C8B-B14F-4D97-AF65-F5344CB8AC3E}">
        <p14:creationId xmlns:p14="http://schemas.microsoft.com/office/powerpoint/2010/main" xmlns="" val="15553604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a:xfrm>
            <a:off x="611188" y="304800"/>
            <a:ext cx="7993260" cy="1143000"/>
          </a:xfrm>
        </p:spPr>
        <p:txBody>
          <a:bodyPr/>
          <a:lstStyle/>
          <a:p>
            <a:r>
              <a:rPr lang="en-GB" dirty="0" smtClean="0"/>
              <a:t>Current Trends (4) – New Approaches</a:t>
            </a:r>
            <a:endParaRPr lang="en-GB" b="0" dirty="0"/>
          </a:p>
        </p:txBody>
      </p:sp>
      <p:sp>
        <p:nvSpPr>
          <p:cNvPr id="86020" name="Rectangle 4"/>
          <p:cNvSpPr>
            <a:spLocks noGrp="1" noChangeArrowheads="1"/>
          </p:cNvSpPr>
          <p:nvPr>
            <p:ph type="body" idx="1"/>
          </p:nvPr>
        </p:nvSpPr>
        <p:spPr>
          <a:xfrm>
            <a:off x="611188" y="1676400"/>
            <a:ext cx="7546975" cy="4114800"/>
          </a:xfrm>
        </p:spPr>
        <p:txBody>
          <a:bodyPr/>
          <a:lstStyle/>
          <a:p>
            <a:r>
              <a:rPr lang="en-GB" dirty="0" smtClean="0"/>
              <a:t>Interdisciplinary work</a:t>
            </a:r>
          </a:p>
          <a:p>
            <a:r>
              <a:rPr lang="en-GB" dirty="0" smtClean="0"/>
              <a:t>Agent-based models</a:t>
            </a:r>
          </a:p>
          <a:p>
            <a:r>
              <a:rPr lang="en-GB" dirty="0" smtClean="0"/>
              <a:t>Behavioural economics</a:t>
            </a:r>
          </a:p>
          <a:p>
            <a:r>
              <a:rPr lang="en-GB" dirty="0" smtClean="0"/>
              <a:t>New data sources</a:t>
            </a:r>
          </a:p>
          <a:p>
            <a:r>
              <a:rPr lang="en-GB" dirty="0" smtClean="0"/>
              <a:t>Online and networking, cloud computing</a:t>
            </a:r>
          </a:p>
          <a:p>
            <a:r>
              <a:rPr lang="en-GB" dirty="0" smtClean="0"/>
              <a:t>…?</a:t>
            </a:r>
          </a:p>
          <a:p>
            <a:pPr lvl="1"/>
            <a:endParaRPr lang="en-GB" dirty="0" smtClean="0"/>
          </a:p>
        </p:txBody>
      </p:sp>
    </p:spTree>
    <p:extLst>
      <p:ext uri="{BB962C8B-B14F-4D97-AF65-F5344CB8AC3E}">
        <p14:creationId xmlns:p14="http://schemas.microsoft.com/office/powerpoint/2010/main" xmlns="" val="2531566883"/>
      </p:ext>
    </p:extLst>
  </p:cSld>
  <p:clrMapOvr>
    <a:masterClrMapping/>
  </p:clrMapOvr>
  <p:timing>
    <p:tnLst>
      <p:par>
        <p:cTn id="1" dur="indefinite" restart="never" nodeType="tmRoot"/>
      </p:par>
    </p:tnLst>
  </p:timing>
</p:sld>
</file>

<file path=ppt/theme/theme1.xml><?xml version="1.0" encoding="utf-8"?>
<a:theme xmlns:a="http://schemas.openxmlformats.org/drawingml/2006/main" name="_CE Master">
  <a:themeElements>
    <a:clrScheme name="CE template fracta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E template fract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GB" sz="16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GB" sz="16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E template fracta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E template fracta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E template fracta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E template fracta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E template fract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E template fract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E template fract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_CE Master</Template>
  <TotalTime>2018</TotalTime>
  <Words>1512</Words>
  <Application>Microsoft Office PowerPoint</Application>
  <PresentationFormat>화면 슬라이드 쇼(4:3)</PresentationFormat>
  <Paragraphs>252</Paragraphs>
  <Slides>33</Slides>
  <Notes>33</Notes>
  <HiddenSlides>0</HiddenSlides>
  <MMClips>0</MMClips>
  <ScaleCrop>false</ScaleCrop>
  <HeadingPairs>
    <vt:vector size="4" baseType="variant">
      <vt:variant>
        <vt:lpstr>테마</vt:lpstr>
      </vt:variant>
      <vt:variant>
        <vt:i4>1</vt:i4>
      </vt:variant>
      <vt:variant>
        <vt:lpstr>슬라이드 제목</vt:lpstr>
      </vt:variant>
      <vt:variant>
        <vt:i4>33</vt:i4>
      </vt:variant>
    </vt:vector>
  </HeadingPairs>
  <TitlesOfParts>
    <vt:vector size="34" baseType="lpstr">
      <vt:lpstr>_CE Master</vt:lpstr>
      <vt:lpstr>Macroeconomic Modelling: Types of Models used for Policy Analysis</vt:lpstr>
      <vt:lpstr>Why use macroeconomic modelling?</vt:lpstr>
      <vt:lpstr>Introduction</vt:lpstr>
      <vt:lpstr>Outline</vt:lpstr>
      <vt:lpstr>General and Partial Modelling</vt:lpstr>
      <vt:lpstr>Top-down and Bottom-up Modelling</vt:lpstr>
      <vt:lpstr>Types of General Economic Model</vt:lpstr>
      <vt:lpstr>Types of partial model</vt:lpstr>
      <vt:lpstr>Industrial Models?</vt:lpstr>
      <vt:lpstr>Equilibrium and Non-Equilibrium</vt:lpstr>
      <vt:lpstr>Equilibrium and Non-Equilibrium (cont.)</vt:lpstr>
      <vt:lpstr>Examples of models in Europe</vt:lpstr>
      <vt:lpstr>Treatment of Supply and Demand?</vt:lpstr>
      <vt:lpstr>Long and Short-Term Analysis?</vt:lpstr>
      <vt:lpstr>Theoretical and Empirical?</vt:lpstr>
      <vt:lpstr>The differences in practice…</vt:lpstr>
      <vt:lpstr>Integrated Assessment Models</vt:lpstr>
      <vt:lpstr>Model Linkages</vt:lpstr>
      <vt:lpstr>E3ME as an IAM</vt:lpstr>
      <vt:lpstr>Small-Scale IAMs</vt:lpstr>
      <vt:lpstr>Criticisms of IAMs</vt:lpstr>
      <vt:lpstr>Agent-Based Models</vt:lpstr>
      <vt:lpstr>Modelling Issues</vt:lpstr>
      <vt:lpstr>The Lucas Critique</vt:lpstr>
      <vt:lpstr>Treatment of Technology</vt:lpstr>
      <vt:lpstr>Treatment of Finance</vt:lpstr>
      <vt:lpstr>Treatment of Labour Markets</vt:lpstr>
      <vt:lpstr>Non-Linearities</vt:lpstr>
      <vt:lpstr>Treatment of Uncertainty</vt:lpstr>
      <vt:lpstr>Current Trends (1) – Wider Coverage</vt:lpstr>
      <vt:lpstr>Current Trends (2) – More Detailed Sub-models</vt:lpstr>
      <vt:lpstr>Current Trends (3) – Better Treatments</vt:lpstr>
      <vt:lpstr>Current Trends (4) – New Approaches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to the economics of the Idiom model - E3ME</dc:title>
  <dc:subject>CE</dc:subject>
  <dc:creator>Alicia Higson</dc:creator>
  <cp:lastModifiedBy>KEI 김이진</cp:lastModifiedBy>
  <cp:revision>70</cp:revision>
  <dcterms:created xsi:type="dcterms:W3CDTF">2013-03-21T17:00:02Z</dcterms:created>
  <dcterms:modified xsi:type="dcterms:W3CDTF">2015-09-02T00:47:25Z</dcterms:modified>
</cp:coreProperties>
</file>