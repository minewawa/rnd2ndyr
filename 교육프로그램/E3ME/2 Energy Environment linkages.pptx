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81" r:id="rId4"/>
    <p:sldId id="258" r:id="rId5"/>
    <p:sldId id="282" r:id="rId6"/>
    <p:sldId id="259" r:id="rId7"/>
    <p:sldId id="277" r:id="rId8"/>
    <p:sldId id="261" r:id="rId9"/>
    <p:sldId id="262" r:id="rId10"/>
    <p:sldId id="276" r:id="rId11"/>
    <p:sldId id="284" r:id="rId12"/>
    <p:sldId id="264" r:id="rId13"/>
    <p:sldId id="265" r:id="rId14"/>
    <p:sldId id="266" r:id="rId15"/>
    <p:sldId id="267" r:id="rId16"/>
    <p:sldId id="272" r:id="rId17"/>
    <p:sldId id="268" r:id="rId18"/>
    <p:sldId id="270" r:id="rId19"/>
    <p:sldId id="271" r:id="rId20"/>
    <p:sldId id="285" r:id="rId21"/>
    <p:sldId id="273" r:id="rId22"/>
    <p:sldId id="274" r:id="rId23"/>
    <p:sldId id="275" r:id="rId24"/>
    <p:sldId id="283" r:id="rId25"/>
    <p:sldId id="279" r:id="rId26"/>
  </p:sldIdLst>
  <p:sldSz cx="9144000" cy="6858000" type="screen4x3"/>
  <p:notesSz cx="6797675" cy="9874250"/>
  <p:defaultTextStyle>
    <a:defPPr>
      <a:defRPr lang="en-GB"/>
    </a:defPPr>
    <a:lvl1pPr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66"/>
    <a:srgbClr val="01A77C"/>
    <a:srgbClr val="00CC99"/>
    <a:srgbClr val="FF5050"/>
    <a:srgbClr val="1386BB"/>
    <a:srgbClr val="ACD5FA"/>
    <a:srgbClr val="00D9FF"/>
    <a:srgbClr val="000099"/>
    <a:srgbClr val="85AECD"/>
    <a:srgbClr val="63C4E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14" autoAdjust="0"/>
    <p:restoredTop sz="99112" autoAdjust="0"/>
  </p:normalViewPr>
  <p:slideViewPr>
    <p:cSldViewPr>
      <p:cViewPr varScale="1">
        <p:scale>
          <a:sx n="105" d="100"/>
          <a:sy n="105" d="100"/>
        </p:scale>
        <p:origin x="-258" y="-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t" anchorCtr="0" compatLnSpc="1">
            <a:prstTxWarp prst="textNoShape">
              <a:avLst/>
            </a:prstTxWarp>
          </a:bodyPr>
          <a:lstStyle>
            <a:lvl1pPr defTabSz="952518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625" y="0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t" anchorCtr="0" compatLnSpc="1">
            <a:prstTxWarp prst="textNoShape">
              <a:avLst/>
            </a:prstTxWarp>
          </a:bodyPr>
          <a:lstStyle>
            <a:lvl1pPr algn="r" defTabSz="952518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80538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b" anchorCtr="0" compatLnSpc="1">
            <a:prstTxWarp prst="textNoShape">
              <a:avLst/>
            </a:prstTxWarp>
          </a:bodyPr>
          <a:lstStyle>
            <a:lvl1pPr defTabSz="952518">
              <a:defRPr sz="1300" b="1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625" y="9380538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b" anchorCtr="0" compatLnSpc="1">
            <a:prstTxWarp prst="textNoShape">
              <a:avLst/>
            </a:prstTxWarp>
          </a:bodyPr>
          <a:lstStyle>
            <a:lvl1pPr algn="r" defTabSz="952518">
              <a:defRPr sz="1300" b="1" smtClean="0"/>
            </a:lvl1pPr>
          </a:lstStyle>
          <a:p>
            <a:pPr>
              <a:defRPr/>
            </a:pPr>
            <a:fld id="{5B1CBF3A-A95E-41E9-8B03-63A9DEC92A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567094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t" anchorCtr="0" compatLnSpc="1">
            <a:prstTxWarp prst="textNoShape">
              <a:avLst/>
            </a:prstTxWarp>
          </a:bodyPr>
          <a:lstStyle>
            <a:lvl1pPr defTabSz="952518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103" y="0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t" anchorCtr="0" compatLnSpc="1">
            <a:prstTxWarp prst="textNoShape">
              <a:avLst/>
            </a:prstTxWarp>
          </a:bodyPr>
          <a:lstStyle>
            <a:lvl1pPr algn="r" defTabSz="952518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59" y="4690269"/>
            <a:ext cx="5439358" cy="444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9005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b" anchorCtr="0" compatLnSpc="1">
            <a:prstTxWarp prst="textNoShape">
              <a:avLst/>
            </a:prstTxWarp>
          </a:bodyPr>
          <a:lstStyle>
            <a:lvl1pPr defTabSz="952518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103" y="9379005"/>
            <a:ext cx="29450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261" tIns="47630" rIns="95261" bIns="47630" numCol="1" anchor="b" anchorCtr="0" compatLnSpc="1">
            <a:prstTxWarp prst="textNoShape">
              <a:avLst/>
            </a:prstTxWarp>
          </a:bodyPr>
          <a:lstStyle>
            <a:lvl1pPr algn="r" defTabSz="952518">
              <a:spcBef>
                <a:spcPct val="0"/>
              </a:spcBef>
              <a:defRPr sz="1300" smtClean="0"/>
            </a:lvl1pPr>
          </a:lstStyle>
          <a:p>
            <a:pPr>
              <a:defRPr/>
            </a:pPr>
            <a:fld id="{4FF8E858-C013-432E-896E-119CBD0AF3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3435408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D8314DD-ED50-4B75-824B-A63BFE0589A5}" type="slidenum">
              <a:rPr lang="en-GB" sz="1300"/>
              <a:pPr/>
              <a:t>1</a:t>
            </a:fld>
            <a:endParaRPr lang="en-GB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smtClean="0">
                <a:latin typeface="Arial" charset="0"/>
              </a:rPr>
              <a:t>The</a:t>
            </a:r>
          </a:p>
        </p:txBody>
      </p:sp>
    </p:spTree>
    <p:extLst>
      <p:ext uri="{BB962C8B-B14F-4D97-AF65-F5344CB8AC3E}">
        <p14:creationId xmlns:p14="http://schemas.microsoft.com/office/powerpoint/2010/main" xmlns="" val="294008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17C82F5-BEE4-4064-8A3A-D89BEEC5F20F}" type="slidenum">
              <a:rPr lang="en-GB" sz="1300"/>
              <a:pPr/>
              <a:t>2</a:t>
            </a:fld>
            <a:endParaRPr lang="en-GB" sz="13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smtClean="0">
                <a:latin typeface="Arial" charset="0"/>
              </a:rPr>
              <a:t>The</a:t>
            </a:r>
          </a:p>
        </p:txBody>
      </p:sp>
    </p:spTree>
    <p:extLst>
      <p:ext uri="{BB962C8B-B14F-4D97-AF65-F5344CB8AC3E}">
        <p14:creationId xmlns:p14="http://schemas.microsoft.com/office/powerpoint/2010/main" xmlns="" val="2259469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AE73F72-E45C-4309-8199-C7401BAFED4C}" type="slidenum">
              <a:rPr lang="en-GB" sz="1300"/>
              <a:pPr/>
              <a:t>3</a:t>
            </a:fld>
            <a:endParaRPr lang="en-GB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962832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AE73F72-E45C-4309-8199-C7401BAFED4C}" type="slidenum">
              <a:rPr lang="en-GB" sz="1300"/>
              <a:pPr/>
              <a:t>4</a:t>
            </a:fld>
            <a:endParaRPr lang="en-GB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569623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AE73F72-E45C-4309-8199-C7401BAFED4C}" type="slidenum">
              <a:rPr lang="en-GB" sz="1300"/>
              <a:pPr/>
              <a:t>5</a:t>
            </a:fld>
            <a:endParaRPr lang="en-GB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3853493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91A1205-21E5-4C4A-B797-57D816925D51}" type="slidenum">
              <a:rPr lang="en-GB" sz="1300"/>
              <a:pPr/>
              <a:t>6</a:t>
            </a:fld>
            <a:endParaRPr lang="en-GB" sz="13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2815529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813E5B6-27C2-4114-A95F-21DA1999ED7E}" type="slidenum">
              <a:rPr lang="en-GB" sz="1300"/>
              <a:pPr/>
              <a:t>8</a:t>
            </a:fld>
            <a:endParaRPr lang="en-GB" sz="13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3123845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94662E2-EF50-4CA8-A014-88260F7680FE}" type="slidenum">
              <a:rPr lang="en-GB" sz="1300"/>
              <a:pPr/>
              <a:t>9</a:t>
            </a:fld>
            <a:endParaRPr lang="en-GB" sz="13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048943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5F059A1-30AB-4F9A-9B17-AD81724CC927}" type="slidenum">
              <a:rPr lang="en-GB" sz="1300"/>
              <a:pPr/>
              <a:t>12</a:t>
            </a:fld>
            <a:endParaRPr lang="en-GB" sz="13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2969649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6161248-D0F7-46A0-844F-C1F4E22DDCC5}" type="slidenum">
              <a:rPr lang="en-GB" sz="1300"/>
              <a:pPr/>
              <a:t>13</a:t>
            </a:fld>
            <a:endParaRPr lang="en-GB" sz="13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79200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0E90C9A-DA43-4F90-933A-B58B7C6125D9}" type="slidenum">
              <a:rPr lang="en-GB" sz="1300"/>
              <a:pPr/>
              <a:t>14</a:t>
            </a:fld>
            <a:endParaRPr lang="en-GB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836308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222C3A9-3D28-4BD8-8646-C033273842F1}" type="slidenum">
              <a:rPr lang="en-GB" sz="1300"/>
              <a:pPr/>
              <a:t>15</a:t>
            </a:fld>
            <a:endParaRPr lang="en-GB" sz="13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3165674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DCDA57E-66F5-402B-B264-47C15385FE14}" type="slidenum">
              <a:rPr lang="en-GB" sz="1300"/>
              <a:pPr/>
              <a:t>16</a:t>
            </a:fld>
            <a:endParaRPr lang="en-GB" sz="13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019314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85511E9-E446-4E89-9B00-259DE52E9DAE}" type="slidenum">
              <a:rPr lang="en-GB" sz="1300"/>
              <a:pPr/>
              <a:t>17</a:t>
            </a:fld>
            <a:endParaRPr lang="en-GB" sz="13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4147383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99BBAE0-A96C-4B24-BCD5-FDAEE45EA469}" type="slidenum">
              <a:rPr lang="en-GB" sz="1300"/>
              <a:pPr/>
              <a:t>18</a:t>
            </a:fld>
            <a:endParaRPr lang="en-GB" sz="13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453777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CD32A46-4F00-4745-BADD-9D9B5089FB7A}" type="slidenum">
              <a:rPr lang="en-GB" sz="1300"/>
              <a:pPr/>
              <a:t>19</a:t>
            </a:fld>
            <a:endParaRPr lang="en-GB" sz="13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966116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CD32A46-4F00-4745-BADD-9D9B5089FB7A}" type="slidenum">
              <a:rPr lang="en-GB" sz="1300"/>
              <a:pPr/>
              <a:t>20</a:t>
            </a:fld>
            <a:endParaRPr lang="en-GB" sz="13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451981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5228BDE-76B6-42E6-AD91-3B7609FDC33E}" type="slidenum">
              <a:rPr lang="en-GB" sz="1300"/>
              <a:pPr/>
              <a:t>21</a:t>
            </a:fld>
            <a:endParaRPr lang="en-GB" sz="13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402423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8F688FD-C682-4029-A25D-747D22E07424}" type="slidenum">
              <a:rPr lang="en-GB" sz="1300"/>
              <a:pPr/>
              <a:t>22</a:t>
            </a:fld>
            <a:endParaRPr lang="en-GB" sz="13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1101734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1E217D3-8C12-43A6-8B5A-046EC5022FC0}" type="slidenum">
              <a:rPr lang="en-GB" sz="1300"/>
              <a:pPr/>
              <a:t>23</a:t>
            </a:fld>
            <a:endParaRPr lang="en-GB" sz="13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69669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1pPr>
            <a:lvl2pPr marL="715535" indent="-275206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2pPr>
            <a:lvl3pPr marL="110082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3pPr>
            <a:lvl4pPr marL="1541153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4pPr>
            <a:lvl5pPr marL="1981482" indent="-220165" defTabSz="952518">
              <a:defRPr sz="1500">
                <a:solidFill>
                  <a:schemeClr val="tx1"/>
                </a:solidFill>
                <a:latin typeface="Times New Roman" pitchFamily="18" charset="0"/>
              </a:defRPr>
            </a:lvl5pPr>
            <a:lvl6pPr marL="242181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6pPr>
            <a:lvl7pPr marL="2862141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7pPr>
            <a:lvl8pPr marL="3302470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8pPr>
            <a:lvl9pPr marL="3742799" indent="-220165" defTabSz="952518" eaLnBrk="0" fontAlgn="base" hangingPunct="0">
              <a:spcBef>
                <a:spcPct val="5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90BB28D-000E-4A1F-B9B8-2473F5567AD6}" type="slidenum">
              <a:rPr lang="en-GB" sz="1300"/>
              <a:pPr/>
              <a:t>25</a:t>
            </a:fld>
            <a:endParaRPr lang="en-GB" sz="13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880659">
              <a:defRPr/>
            </a:pPr>
            <a:r>
              <a:rPr lang="en-GB" dirty="0" smtClean="0"/>
              <a:t>Examples: macroeconomic impacts from carbon and energy taxations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630324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9" descr="slide fractal b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80975"/>
            <a:ext cx="78581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4" descr="cambridge_econometrics_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04800"/>
            <a:ext cx="31972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0"/>
          <p:cNvSpPr>
            <a:spLocks noChangeArrowheads="1"/>
          </p:cNvSpPr>
          <p:nvPr/>
        </p:nvSpPr>
        <p:spPr bwMode="auto">
          <a:xfrm>
            <a:off x="217488" y="241300"/>
            <a:ext cx="8686800" cy="6400800"/>
          </a:xfrm>
          <a:prstGeom prst="rect">
            <a:avLst/>
          </a:prstGeom>
          <a:noFill/>
          <a:ln w="15875">
            <a:solidFill>
              <a:srgbClr val="6399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971550" y="1916113"/>
            <a:ext cx="7772400" cy="1400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3114" name="Rectangle 4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71550" y="3357563"/>
            <a:ext cx="7056438" cy="1066800"/>
          </a:xfrm>
        </p:spPr>
        <p:txBody>
          <a:bodyPr/>
          <a:lstStyle>
            <a:lvl1pPr marL="0" indent="0">
              <a:buFontTx/>
              <a:buNone/>
              <a:defRPr sz="2400" b="0"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GB" noProof="0" smtClean="0"/>
          </a:p>
        </p:txBody>
      </p:sp>
      <p:sp>
        <p:nvSpPr>
          <p:cNvPr id="7" name="Rectangle 4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5508625" y="6165850"/>
            <a:ext cx="323532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123D6B"/>
                </a:solidFill>
                <a:latin typeface="+mn-lt"/>
              </a:defRPr>
            </a:lvl1pPr>
          </a:lstStyle>
          <a:p>
            <a:pPr>
              <a:defRPr/>
            </a:pPr>
            <a:fld id="{BEB6F494-2AE7-4200-A67D-B71B460AE5F3}" type="datetime2">
              <a:rPr lang="en-GB"/>
              <a:pPr>
                <a:defRPr/>
              </a:pPr>
              <a:t>Wednesday, 02 September 2015</a:t>
            </a:fld>
            <a:endParaRPr lang="en-GB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90600" y="61722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F9E9BE4-9446-48D6-9B0C-A3F76EECFB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92465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520ED-2505-4FF9-8124-EEFCD88BEE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15157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85144-E5F4-44BA-89BF-7DD848F8F4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44861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6764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6764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88B4A-E40F-4156-A918-D05877B303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1251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46334-9CCD-4692-86A1-029CCC0EC0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5103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055A8-857C-43D2-BFE9-F1C10F64E3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65840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E9BB6-546A-4B99-B08C-551BCC290C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14835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7E9E-85D5-44AE-9519-A3A397E320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75503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E43F2-9543-40C1-AE0C-0E791007C5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06509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8AD1F-E88A-4318-B859-F9E19E0C25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74932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7638" y="304800"/>
            <a:ext cx="196215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04800"/>
            <a:ext cx="573405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9668A-8B6C-4D00-9B75-A6F43AFF7E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97605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2" descr="slide fractal front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74625"/>
            <a:ext cx="7858125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9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04800"/>
            <a:ext cx="7848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8" name="Rectangle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764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0113" y="6172200"/>
            <a:ext cx="176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B1479F5C-639F-4A36-AAE0-EDA889A865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0" name="Rectangle 41"/>
          <p:cNvSpPr>
            <a:spLocks noChangeArrowheads="1"/>
          </p:cNvSpPr>
          <p:nvPr/>
        </p:nvSpPr>
        <p:spPr bwMode="auto">
          <a:xfrm>
            <a:off x="217488" y="241300"/>
            <a:ext cx="8686800" cy="6400800"/>
          </a:xfrm>
          <a:prstGeom prst="rect">
            <a:avLst/>
          </a:prstGeom>
          <a:noFill/>
          <a:ln w="15875">
            <a:solidFill>
              <a:srgbClr val="6399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Line 43"/>
          <p:cNvSpPr>
            <a:spLocks noChangeShapeType="1"/>
          </p:cNvSpPr>
          <p:nvPr/>
        </p:nvSpPr>
        <p:spPr bwMode="auto">
          <a:xfrm>
            <a:off x="611188" y="1484313"/>
            <a:ext cx="7848600" cy="0"/>
          </a:xfrm>
          <a:prstGeom prst="line">
            <a:avLst/>
          </a:prstGeom>
          <a:noFill/>
          <a:ln w="50800">
            <a:solidFill>
              <a:srgbClr val="6399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032" name="Picture 44" descr="cambridge_econometrics_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24713" y="6230938"/>
            <a:ext cx="1595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123D6B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123D6B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•"/>
        <a:defRPr sz="2700">
          <a:solidFill>
            <a:srgbClr val="123D6B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–"/>
        <a:defRPr sz="2000">
          <a:solidFill>
            <a:srgbClr val="123D6B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•"/>
        <a:defRPr sz="1600">
          <a:solidFill>
            <a:srgbClr val="123D6B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–"/>
        <a:defRPr sz="1600">
          <a:solidFill>
            <a:srgbClr val="123D6B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>
          <a:solidFill>
            <a:srgbClr val="123D6B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23D6B"/>
        </a:buClr>
        <a:buChar char="»"/>
        <a:defRPr sz="1600" b="1">
          <a:solidFill>
            <a:srgbClr val="123D6B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Modelling Energy, the Environment and the Economy</a:t>
            </a:r>
            <a:r>
              <a:rPr lang="en-GB" b="0" dirty="0" smtClean="0"/>
              <a:t/>
            </a:r>
            <a:br>
              <a:rPr lang="en-GB" b="0" dirty="0" smtClean="0"/>
            </a:br>
            <a:endParaRPr lang="en-GB" b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972344" y="4549616"/>
            <a:ext cx="7200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400" dirty="0" smtClean="0">
                <a:solidFill>
                  <a:srgbClr val="003966"/>
                </a:solidFill>
                <a:latin typeface="Arial" charset="0"/>
              </a:rPr>
              <a:t>Hector Pollitt</a:t>
            </a:r>
            <a:endParaRPr lang="en-GB" sz="2400" dirty="0">
              <a:solidFill>
                <a:srgbClr val="003966"/>
              </a:solidFill>
              <a:latin typeface="Arial" charset="0"/>
            </a:endParaRPr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972344" y="3140968"/>
            <a:ext cx="705643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FontTx/>
              <a:buNone/>
              <a:defRPr sz="2400" b="0">
                <a:solidFill>
                  <a:srgbClr val="123D6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–"/>
              <a:defRPr sz="2000" b="1">
                <a:solidFill>
                  <a:srgbClr val="123D6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•"/>
              <a:defRPr sz="1600" b="1">
                <a:solidFill>
                  <a:srgbClr val="123D6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–"/>
              <a:defRPr sz="1600" b="1">
                <a:solidFill>
                  <a:srgbClr val="123D6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23D6B"/>
              </a:buClr>
              <a:buChar char="»"/>
              <a:defRPr sz="1600" b="1">
                <a:solidFill>
                  <a:srgbClr val="123D6B"/>
                </a:solidFill>
                <a:latin typeface="+mn-lt"/>
              </a:defRPr>
            </a:lvl9pPr>
          </a:lstStyle>
          <a:p>
            <a:pPr>
              <a:spcBef>
                <a:spcPct val="50000"/>
              </a:spcBef>
              <a:buClrTx/>
            </a:pPr>
            <a:endParaRPr lang="en-GB" dirty="0" smtClean="0">
              <a:latin typeface="+mj-lt"/>
              <a:cs typeface="Times New Roman" pitchFamily="18" charset="0"/>
            </a:endParaRPr>
          </a:p>
          <a:p>
            <a:r>
              <a:rPr lang="en-GB" dirty="0" smtClean="0">
                <a:latin typeface="+mj-lt"/>
                <a:cs typeface="Times New Roman" pitchFamily="18" charset="0"/>
              </a:rPr>
              <a:t>Cambridge Econometrics Training Course</a:t>
            </a:r>
            <a:endParaRPr lang="en-GB" dirty="0">
              <a:latin typeface="+mj-lt"/>
              <a:cs typeface="Times New Roman" pitchFamily="18" charset="0"/>
            </a:endParaRPr>
          </a:p>
          <a:p>
            <a:endParaRPr lang="en-GB" dirty="0" smtClean="0">
              <a:latin typeface="+mj-lt"/>
              <a:cs typeface="Times New Roman" pitchFamily="18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372200" y="6224680"/>
            <a:ext cx="24711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/>
            <a:r>
              <a:rPr lang="en-GB" sz="1400" dirty="0" smtClean="0">
                <a:solidFill>
                  <a:srgbClr val="123D6B"/>
                </a:solidFill>
                <a:latin typeface="Arial" charset="0"/>
              </a:rPr>
              <a:t>September 2015</a:t>
            </a:r>
            <a:endParaRPr lang="en-GB" sz="1400" dirty="0">
              <a:solidFill>
                <a:srgbClr val="123D6B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19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Overview</a:t>
            </a: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676400"/>
            <a:ext cx="7546975" cy="4114800"/>
          </a:xfrm>
        </p:spPr>
        <p:txBody>
          <a:bodyPr/>
          <a:lstStyle/>
          <a:p>
            <a:r>
              <a:rPr lang="en-GB" dirty="0" smtClean="0"/>
              <a:t>How the E3 interactions are modelled in the energy sub-model </a:t>
            </a:r>
          </a:p>
          <a:p>
            <a:r>
              <a:rPr lang="en-GB" dirty="0" smtClean="0"/>
              <a:t>Environmental emissions in E3ME</a:t>
            </a:r>
          </a:p>
          <a:p>
            <a:r>
              <a:rPr lang="en-GB" dirty="0" smtClean="0"/>
              <a:t>Modelling the economic impact of a carbon tax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428499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63525" y="274638"/>
            <a:ext cx="8880475" cy="1143000"/>
          </a:xfrm>
        </p:spPr>
        <p:txBody>
          <a:bodyPr lIns="156269" tIns="78134" rIns="156269" bIns="78134" anchor="t"/>
          <a:lstStyle/>
          <a:p>
            <a:pPr defTabSz="534988"/>
            <a:r>
              <a:rPr lang="en-GB" sz="2800" dirty="0" smtClean="0">
                <a:solidFill>
                  <a:srgbClr val="003966"/>
                </a:solidFill>
              </a:rPr>
              <a:t>Energy-Environment-Economy interactions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7236296" y="6165304"/>
            <a:ext cx="1584176" cy="4148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616" y="1527705"/>
            <a:ext cx="676275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571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63525" y="274638"/>
            <a:ext cx="8880475" cy="1143000"/>
          </a:xfrm>
        </p:spPr>
        <p:txBody>
          <a:bodyPr lIns="156269" tIns="78134" rIns="156269" bIns="78134" anchor="t"/>
          <a:lstStyle/>
          <a:p>
            <a:pPr defTabSz="534988"/>
            <a:r>
              <a:rPr lang="en-GB" sz="2800" dirty="0">
                <a:solidFill>
                  <a:srgbClr val="003966"/>
                </a:solidFill>
              </a:rPr>
              <a:t>Engineering-Energy-Environment-Economy </a:t>
            </a:r>
            <a:r>
              <a:rPr lang="en-GB" sz="2800" dirty="0" smtClean="0">
                <a:solidFill>
                  <a:srgbClr val="003966"/>
                </a:solidFill>
              </a:rPr>
              <a:t>interactions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7882954" y="6093296"/>
            <a:ext cx="937517" cy="4148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054" y="1556792"/>
            <a:ext cx="681990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2882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63525" y="274638"/>
            <a:ext cx="8880475" cy="1143000"/>
          </a:xfrm>
        </p:spPr>
        <p:txBody>
          <a:bodyPr lIns="156269" tIns="78134" rIns="156269" bIns="78134" anchor="t"/>
          <a:lstStyle/>
          <a:p>
            <a:pPr defTabSz="534988"/>
            <a:r>
              <a:rPr lang="en-GB" sz="2800" dirty="0" smtClean="0">
                <a:solidFill>
                  <a:srgbClr val="003966"/>
                </a:solidFill>
              </a:rPr>
              <a:t>Engineering-Energy-Environment-Economy interactions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7882954" y="6093296"/>
            <a:ext cx="937517" cy="4148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2579" y="1556792"/>
            <a:ext cx="68103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032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energy sub-model</a:t>
            </a:r>
            <a:endParaRPr lang="en-US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Determines final energy demand (by fuel and user) and prices of fuel use</a:t>
            </a:r>
          </a:p>
          <a:p>
            <a:r>
              <a:rPr lang="en-US" dirty="0" smtClean="0"/>
              <a:t>Provides feedback to main economic framework </a:t>
            </a:r>
          </a:p>
          <a:p>
            <a:r>
              <a:rPr lang="en-US" dirty="0" smtClean="0"/>
              <a:t>This 'top-down' approach is intended to be supplemented by a set of 'bottom-up' engineering sub-models</a:t>
            </a:r>
          </a:p>
          <a:p>
            <a:pPr lvl="1"/>
            <a:r>
              <a:rPr lang="en-US" sz="1800" dirty="0" smtClean="0"/>
              <a:t>the current model version includes a detailed treatment of the electricity supply industry (FTT)</a:t>
            </a:r>
          </a:p>
        </p:txBody>
      </p:sp>
    </p:spTree>
    <p:extLst>
      <p:ext uri="{BB962C8B-B14F-4D97-AF65-F5344CB8AC3E}">
        <p14:creationId xmlns:p14="http://schemas.microsoft.com/office/powerpoint/2010/main" xmlns="" val="353722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304800"/>
            <a:ext cx="7848600" cy="1143000"/>
          </a:xfrm>
        </p:spPr>
        <p:txBody>
          <a:bodyPr>
            <a:normAutofit/>
          </a:bodyPr>
          <a:lstStyle/>
          <a:p>
            <a:r>
              <a:rPr lang="en-GB" dirty="0" smtClean="0"/>
              <a:t>The energy sub-model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556792"/>
            <a:ext cx="8568952" cy="507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20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04800"/>
            <a:ext cx="7920038" cy="1143000"/>
          </a:xfrm>
        </p:spPr>
        <p:txBody>
          <a:bodyPr/>
          <a:lstStyle/>
          <a:p>
            <a:r>
              <a:rPr lang="en-GB" dirty="0" smtClean="0"/>
              <a:t>Aggregate energy demand functions</a:t>
            </a:r>
            <a:endParaRPr 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137525" cy="4114800"/>
          </a:xfrm>
        </p:spPr>
        <p:txBody>
          <a:bodyPr/>
          <a:lstStyle/>
          <a:p>
            <a:r>
              <a:rPr lang="en-GB" sz="2400" dirty="0" smtClean="0"/>
              <a:t>No explicit production function</a:t>
            </a:r>
            <a:endParaRPr lang="en-GB" sz="2400" b="0" dirty="0" smtClean="0"/>
          </a:p>
          <a:p>
            <a:r>
              <a:rPr lang="en-US" sz="2400" dirty="0" smtClean="0"/>
              <a:t>Energy demand as derived from demand for heat, power etc. and in turn from demand for products</a:t>
            </a:r>
            <a:endParaRPr lang="en-GB" sz="2400" b="0" dirty="0" smtClean="0"/>
          </a:p>
          <a:p>
            <a:r>
              <a:rPr lang="en-US" sz="2400" dirty="0" smtClean="0"/>
              <a:t>2-level hierarchy: aggregate energy demand equations and fuel share equations </a:t>
            </a:r>
          </a:p>
          <a:p>
            <a:r>
              <a:rPr lang="en-US" sz="2400" dirty="0" smtClean="0"/>
              <a:t>Aggregate demand affected by industrial output of user industry, household spending in total, relative prices, technical progress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277174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Fuel share equations</a:t>
            </a:r>
            <a:endParaRPr 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7991475" cy="4114800"/>
          </a:xfrm>
        </p:spPr>
        <p:txBody>
          <a:bodyPr/>
          <a:lstStyle/>
          <a:p>
            <a:r>
              <a:rPr lang="en-US" smtClean="0"/>
              <a:t>This aggregate demand then shared out among main fuel types (coal, fuel oil, gas and electricity)</a:t>
            </a:r>
            <a:endParaRPr lang="en-GB" smtClean="0"/>
          </a:p>
          <a:p>
            <a:r>
              <a:rPr lang="en-US" smtClean="0"/>
              <a:t>Fuel share equations depend upon:</a:t>
            </a:r>
          </a:p>
          <a:p>
            <a:pPr lvl="1"/>
            <a:r>
              <a:rPr lang="en-US" sz="1800" smtClean="0"/>
              <a:t>activity, technology, relative price effects</a:t>
            </a:r>
            <a:endParaRPr lang="en-US" smtClean="0"/>
          </a:p>
          <a:p>
            <a:r>
              <a:rPr lang="en-US" smtClean="0"/>
              <a:t>Total demand is scaled to match the results from the aggregate demand equation</a:t>
            </a:r>
            <a:r>
              <a:rPr lang="en-US" sz="2400" smtClean="0"/>
              <a:t> </a:t>
            </a:r>
          </a:p>
          <a:p>
            <a:pPr>
              <a:buFontTx/>
              <a:buNone/>
            </a:pPr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xmlns="" val="293524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304800"/>
            <a:ext cx="7848600" cy="1143000"/>
          </a:xfrm>
        </p:spPr>
        <p:txBody>
          <a:bodyPr/>
          <a:lstStyle/>
          <a:p>
            <a:r>
              <a:rPr lang="en-GB" dirty="0"/>
              <a:t>Feedback from the </a:t>
            </a:r>
            <a:r>
              <a:rPr lang="en-GB" dirty="0" smtClean="0"/>
              <a:t>Energy Sub-model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619" r="3802" b="5105"/>
          <a:stretch/>
        </p:blipFill>
        <p:spPr bwMode="auto">
          <a:xfrm>
            <a:off x="812800" y="1554223"/>
            <a:ext cx="7546784" cy="4495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2318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5"/>
          <p:cNvSpPr>
            <a:spLocks noGrp="1" noChangeArrowheads="1"/>
          </p:cNvSpPr>
          <p:nvPr>
            <p:ph type="title"/>
          </p:nvPr>
        </p:nvSpPr>
        <p:spPr>
          <a:xfrm>
            <a:off x="611188" y="304800"/>
            <a:ext cx="7848600" cy="1143000"/>
          </a:xfrm>
        </p:spPr>
        <p:txBody>
          <a:bodyPr/>
          <a:lstStyle/>
          <a:p>
            <a:r>
              <a:rPr lang="en-GB" dirty="0" smtClean="0"/>
              <a:t>FTT and E3ME Model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07827" y="1543770"/>
            <a:ext cx="7055321" cy="463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033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Prices in the Energy Sub-model</a:t>
            </a:r>
            <a:endParaRPr lang="en-US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496300" cy="4114800"/>
          </a:xfrm>
        </p:spPr>
        <p:txBody>
          <a:bodyPr/>
          <a:lstStyle/>
          <a:p>
            <a:r>
              <a:rPr lang="en-US" dirty="0" smtClean="0"/>
              <a:t>Prices are determined as follows:</a:t>
            </a:r>
          </a:p>
          <a:p>
            <a:pPr lvl="1"/>
            <a:r>
              <a:rPr lang="en-US" dirty="0" smtClean="0"/>
              <a:t>fossil fuel prices facing user linked to assumptions on oil, gas and coal production prices</a:t>
            </a:r>
          </a:p>
          <a:p>
            <a:pPr lvl="1"/>
            <a:r>
              <a:rPr lang="en-US" dirty="0" smtClean="0"/>
              <a:t>electricity prices from the FTT linked to cost of generation, transmission, distribution, and supply </a:t>
            </a:r>
          </a:p>
          <a:p>
            <a:r>
              <a:rPr lang="en-US" dirty="0" smtClean="0"/>
              <a:t>Policy measures affect the prices e.g.:</a:t>
            </a:r>
          </a:p>
          <a:p>
            <a:pPr lvl="1"/>
            <a:r>
              <a:rPr lang="en-US" dirty="0" smtClean="0"/>
              <a:t>UK Climate Change Levy, carbon/energy tax, EU ETS etc....</a:t>
            </a:r>
          </a:p>
          <a:p>
            <a:r>
              <a:rPr lang="en-US" dirty="0" smtClean="0"/>
              <a:t>Revenue from any energy tax may be used in main model, depending on the assumptions: </a:t>
            </a:r>
          </a:p>
          <a:p>
            <a:pPr lvl="1"/>
            <a:r>
              <a:rPr lang="en-US" dirty="0" smtClean="0"/>
              <a:t>recycle carbon tax revenues as reduction in employer taxes </a:t>
            </a:r>
          </a:p>
          <a:p>
            <a:pPr lvl="1"/>
            <a:r>
              <a:rPr lang="en-US" dirty="0" smtClean="0"/>
              <a:t>reduce direct/indirect tax burden </a:t>
            </a:r>
          </a:p>
        </p:txBody>
      </p:sp>
    </p:spTree>
    <p:extLst>
      <p:ext uri="{BB962C8B-B14F-4D97-AF65-F5344CB8AC3E}">
        <p14:creationId xmlns:p14="http://schemas.microsoft.com/office/powerpoint/2010/main" xmlns="" val="162596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Energy in E3ME</a:t>
            </a:r>
            <a:endParaRPr lang="en-US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Based on IEA data</a:t>
            </a:r>
          </a:p>
          <a:p>
            <a:r>
              <a:rPr lang="en-GB" dirty="0" smtClean="0"/>
              <a:t>Treatment is mainly by econometric equations</a:t>
            </a:r>
          </a:p>
          <a:p>
            <a:r>
              <a:rPr lang="en-GB" dirty="0" smtClean="0"/>
              <a:t>Fuel demand by power generation comes from an energy technology sub-model (the FTT)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94290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04800"/>
            <a:ext cx="8351838" cy="1143000"/>
          </a:xfrm>
        </p:spPr>
        <p:txBody>
          <a:bodyPr/>
          <a:lstStyle/>
          <a:p>
            <a:r>
              <a:rPr lang="en-GB" dirty="0" smtClean="0"/>
              <a:t>Treatment of environmental emissions</a:t>
            </a:r>
            <a:endParaRPr lang="en-US" dirty="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Emissions are analyzed by type and source</a:t>
            </a:r>
          </a:p>
          <a:p>
            <a:r>
              <a:rPr lang="en-US" sz="2400" dirty="0" smtClean="0"/>
              <a:t>Data from EDGAR database</a:t>
            </a:r>
          </a:p>
          <a:p>
            <a:r>
              <a:rPr lang="en-US" sz="2400" dirty="0" smtClean="0"/>
              <a:t>Indicators of source activity are projected and the underlying assumption made that the emission/source coefficient is predictable</a:t>
            </a:r>
          </a:p>
          <a:p>
            <a:r>
              <a:rPr lang="en-US" sz="2400" dirty="0" smtClean="0"/>
              <a:t>Projections </a:t>
            </a:r>
            <a:r>
              <a:rPr lang="en-US" sz="2400" dirty="0" smtClean="0">
                <a:solidFill>
                  <a:srgbClr val="003966"/>
                </a:solidFill>
              </a:rPr>
              <a:t>of fuel use by user and type determine much of the emissions</a:t>
            </a:r>
            <a:r>
              <a:rPr lang="en-US" sz="2400" dirty="0" smtClean="0"/>
              <a:t>, allowing for different fuel </a:t>
            </a:r>
            <a:r>
              <a:rPr lang="en-US" sz="2400" dirty="0" smtClean="0">
                <a:solidFill>
                  <a:srgbClr val="003966"/>
                </a:solidFill>
              </a:rPr>
              <a:t>quality/combustion processes</a:t>
            </a:r>
          </a:p>
          <a:p>
            <a:r>
              <a:rPr lang="en-GB" sz="2400" dirty="0" smtClean="0">
                <a:solidFill>
                  <a:srgbClr val="003966"/>
                </a:solidFill>
              </a:rPr>
              <a:t>The projections allow for achievement of selected trans-boundary pollution targets for the EU</a:t>
            </a:r>
            <a:endParaRPr lang="en-US" sz="2400" dirty="0" smtClean="0">
              <a:solidFill>
                <a:srgbClr val="003966"/>
              </a:solidFill>
            </a:endParaRP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303078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Valuing damages from air pollution in E3ME</a:t>
            </a:r>
            <a:endParaRPr lang="en-US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300" dirty="0" smtClean="0"/>
              <a:t>An example for EU regions</a:t>
            </a:r>
          </a:p>
          <a:p>
            <a:r>
              <a:rPr lang="en-US" sz="2300" dirty="0" smtClean="0"/>
              <a:t>method: use of </a:t>
            </a:r>
            <a:r>
              <a:rPr lang="en-US" sz="2300" dirty="0" err="1" smtClean="0"/>
              <a:t>ExternE</a:t>
            </a:r>
            <a:r>
              <a:rPr lang="en-US" sz="2300" dirty="0" smtClean="0"/>
              <a:t> valuations of damages by 4 pollutants (SO</a:t>
            </a:r>
            <a:r>
              <a:rPr lang="en-US" sz="2300" baseline="-25000" dirty="0" smtClean="0"/>
              <a:t>2</a:t>
            </a:r>
            <a:r>
              <a:rPr lang="en-US" sz="2300" dirty="0" smtClean="0"/>
              <a:t>, </a:t>
            </a:r>
            <a:r>
              <a:rPr lang="en-US" sz="2300" dirty="0" err="1" smtClean="0"/>
              <a:t>NO</a:t>
            </a:r>
            <a:r>
              <a:rPr lang="en-US" sz="2300" baseline="-25000" dirty="0" err="1" smtClean="0"/>
              <a:t>x</a:t>
            </a:r>
            <a:r>
              <a:rPr lang="en-US" sz="2300" dirty="0" smtClean="0"/>
              <a:t> and PM</a:t>
            </a:r>
            <a:r>
              <a:rPr lang="en-US" sz="2300" baseline="-25000" dirty="0" smtClean="0"/>
              <a:t>10</a:t>
            </a:r>
            <a:r>
              <a:rPr lang="en-US" sz="2300" dirty="0" smtClean="0"/>
              <a:t>, VOCs)</a:t>
            </a:r>
          </a:p>
          <a:p>
            <a:r>
              <a:rPr lang="en-US" sz="2300" dirty="0" smtClean="0"/>
              <a:t>marginal costs applied through scenario analysis</a:t>
            </a:r>
          </a:p>
          <a:p>
            <a:r>
              <a:rPr lang="en-US" sz="2300" dirty="0" smtClean="0"/>
              <a:t>damages are assigned to the region inflicting the damages</a:t>
            </a:r>
          </a:p>
          <a:p>
            <a:r>
              <a:rPr lang="en-US" sz="2300" dirty="0" smtClean="0"/>
              <a:t>damage costs are dominated by costs to human health and use values of life-years lost for premature mortality, rather than values of statistical life</a:t>
            </a:r>
          </a:p>
          <a:p>
            <a:r>
              <a:rPr lang="en-US" sz="2300" dirty="0" smtClean="0"/>
              <a:t>currently damage coefficients are available for the EU regions only</a:t>
            </a:r>
          </a:p>
        </p:txBody>
      </p:sp>
    </p:spTree>
    <p:extLst>
      <p:ext uri="{BB962C8B-B14F-4D97-AF65-F5344CB8AC3E}">
        <p14:creationId xmlns:p14="http://schemas.microsoft.com/office/powerpoint/2010/main" xmlns="" val="381201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04800"/>
            <a:ext cx="8137525" cy="1143000"/>
          </a:xfrm>
        </p:spPr>
        <p:txBody>
          <a:bodyPr/>
          <a:lstStyle/>
          <a:p>
            <a:r>
              <a:rPr lang="en-GB" dirty="0" smtClean="0">
                <a:solidFill>
                  <a:srgbClr val="003966"/>
                </a:solidFill>
              </a:rPr>
              <a:t>Effects of GHG mitigation on air pollution in E3ME (OECD 2000 paper)</a:t>
            </a:r>
            <a:endParaRPr lang="en-US" dirty="0" smtClean="0">
              <a:solidFill>
                <a:srgbClr val="003966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628775"/>
            <a:ext cx="8424862" cy="4114800"/>
          </a:xfrm>
        </p:spPr>
        <p:txBody>
          <a:bodyPr/>
          <a:lstStyle/>
          <a:p>
            <a:r>
              <a:rPr lang="en-US" sz="2400" dirty="0" smtClean="0">
                <a:solidFill>
                  <a:srgbClr val="003966"/>
                </a:solidFill>
              </a:rPr>
              <a:t>GHG mitigation leads to significant reductions in some damaging externalities at no extra cost</a:t>
            </a:r>
          </a:p>
          <a:p>
            <a:r>
              <a:rPr lang="en-US" sz="2400" dirty="0" smtClean="0">
                <a:solidFill>
                  <a:srgbClr val="003966"/>
                </a:solidFill>
              </a:rPr>
              <a:t>The value of lower SO</a:t>
            </a:r>
            <a:r>
              <a:rPr lang="en-US" sz="2400" baseline="-25000" dirty="0" smtClean="0">
                <a:solidFill>
                  <a:srgbClr val="003966"/>
                </a:solidFill>
              </a:rPr>
              <a:t>2</a:t>
            </a:r>
            <a:r>
              <a:rPr lang="en-US" sz="2400" dirty="0" smtClean="0">
                <a:solidFill>
                  <a:srgbClr val="003966"/>
                </a:solidFill>
              </a:rPr>
              <a:t>, </a:t>
            </a:r>
            <a:r>
              <a:rPr lang="en-US" sz="2400" dirty="0" err="1" smtClean="0">
                <a:solidFill>
                  <a:srgbClr val="003966"/>
                </a:solidFill>
              </a:rPr>
              <a:t>NO</a:t>
            </a:r>
            <a:r>
              <a:rPr lang="en-US" sz="2400" baseline="-25000" dirty="0" err="1" smtClean="0">
                <a:solidFill>
                  <a:srgbClr val="003966"/>
                </a:solidFill>
              </a:rPr>
              <a:t>x</a:t>
            </a:r>
            <a:r>
              <a:rPr lang="en-US" sz="2400" dirty="0" smtClean="0">
                <a:solidFill>
                  <a:srgbClr val="003966"/>
                </a:solidFill>
              </a:rPr>
              <a:t> and PM</a:t>
            </a:r>
            <a:r>
              <a:rPr lang="en-US" sz="2400" baseline="-25000" dirty="0" smtClean="0">
                <a:solidFill>
                  <a:srgbClr val="003966"/>
                </a:solidFill>
              </a:rPr>
              <a:t>10</a:t>
            </a:r>
            <a:r>
              <a:rPr lang="en-US" sz="2400" dirty="0" smtClean="0">
                <a:solidFill>
                  <a:srgbClr val="003966"/>
                </a:solidFill>
              </a:rPr>
              <a:t> estimated for the EU to achieve Kyoto target ranges between</a:t>
            </a:r>
          </a:p>
          <a:p>
            <a:pPr lvl="1"/>
            <a:r>
              <a:rPr lang="en-US" sz="1800" dirty="0" smtClean="0">
                <a:solidFill>
                  <a:srgbClr val="003966"/>
                </a:solidFill>
              </a:rPr>
              <a:t>		... 0.0 to 0.3 of GDP compared with</a:t>
            </a:r>
          </a:p>
          <a:p>
            <a:pPr lvl="1"/>
            <a:r>
              <a:rPr lang="en-US" sz="1800" dirty="0" smtClean="0">
                <a:solidFill>
                  <a:srgbClr val="003966"/>
                </a:solidFill>
              </a:rPr>
              <a:t>		... direct mitigation costs of -0.8 to 0.3 of GDP in 2010</a:t>
            </a:r>
          </a:p>
          <a:p>
            <a:r>
              <a:rPr lang="en-US" sz="2400" dirty="0" smtClean="0">
                <a:solidFill>
                  <a:srgbClr val="003966"/>
                </a:solidFill>
              </a:rPr>
              <a:t>The values of ancillary benefits are expected to halve 1995 to 2010 as non-GHG policies reduce pollution</a:t>
            </a:r>
          </a:p>
          <a:p>
            <a:r>
              <a:rPr lang="en-US" sz="2400" dirty="0" smtClean="0">
                <a:solidFill>
                  <a:srgbClr val="003966"/>
                </a:solidFill>
              </a:rPr>
              <a:t>The values are likely to be underestimates </a:t>
            </a:r>
          </a:p>
          <a:p>
            <a:pPr lvl="1"/>
            <a:r>
              <a:rPr lang="en-US" sz="1800" dirty="0" smtClean="0">
                <a:solidFill>
                  <a:srgbClr val="003966"/>
                </a:solidFill>
              </a:rPr>
              <a:t>only 3 pollutants, not in cities, only known effects, not traffic-related</a:t>
            </a:r>
          </a:p>
          <a:p>
            <a:pPr lvl="1"/>
            <a:r>
              <a:rPr lang="en-US" sz="1800" dirty="0" err="1" smtClean="0">
                <a:solidFill>
                  <a:srgbClr val="003966"/>
                </a:solidFill>
              </a:rPr>
              <a:t>ExternE</a:t>
            </a:r>
            <a:r>
              <a:rPr lang="en-US" sz="1800" dirty="0" smtClean="0">
                <a:solidFill>
                  <a:srgbClr val="003966"/>
                </a:solidFill>
              </a:rPr>
              <a:t> uses values of life years lost, not value of a statistical life</a:t>
            </a:r>
          </a:p>
          <a:p>
            <a:pPr lvl="1"/>
            <a:r>
              <a:rPr lang="en-US" sz="1800" dirty="0" smtClean="0">
                <a:solidFill>
                  <a:srgbClr val="003966"/>
                </a:solidFill>
              </a:rPr>
              <a:t>no allowance for higher valuations as incomes grow </a:t>
            </a:r>
          </a:p>
        </p:txBody>
      </p:sp>
    </p:spTree>
    <p:extLst>
      <p:ext uri="{BB962C8B-B14F-4D97-AF65-F5344CB8AC3E}">
        <p14:creationId xmlns:p14="http://schemas.microsoft.com/office/powerpoint/2010/main" xmlns="" val="239688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dirty="0" smtClean="0"/>
              <a:t>Energy and emission classifications in </a:t>
            </a:r>
            <a:r>
              <a:rPr lang="en-US" sz="3100" dirty="0" smtClean="0">
                <a:solidFill>
                  <a:srgbClr val="003966"/>
                </a:solidFill>
              </a:rPr>
              <a:t>E3ME</a:t>
            </a:r>
            <a:r>
              <a:rPr lang="en-US" sz="3100" dirty="0" smtClean="0">
                <a:solidFill>
                  <a:srgbClr val="FF0000"/>
                </a:solidFill>
              </a:rPr>
              <a:t> </a:t>
            </a:r>
            <a:r>
              <a:rPr lang="en-US" sz="3100" dirty="0" smtClean="0">
                <a:solidFill>
                  <a:srgbClr val="003966"/>
                </a:solidFill>
              </a:rPr>
              <a:t>Version 6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502472"/>
            <a:ext cx="3117850" cy="5090552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  <a:defRPr/>
            </a:pPr>
            <a:r>
              <a:rPr lang="en-GB" sz="1600" b="1" dirty="0" smtClean="0">
                <a:latin typeface="+mj-lt"/>
              </a:rPr>
              <a:t>FU:22 (fuel users)</a:t>
            </a:r>
          </a:p>
          <a:p>
            <a:pPr marL="514350" indent="-514350">
              <a:lnSpc>
                <a:spcPct val="80000"/>
              </a:lnSpc>
              <a:defRPr/>
            </a:pPr>
            <a:endParaRPr lang="en-GB" sz="800" dirty="0" smtClean="0">
              <a:latin typeface="+mj-lt"/>
            </a:endParaRP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Power Generation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Own use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Iron &amp; Steel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Non-ferrous Metals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Chemicals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Mineral Products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Ore-extraction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Food, Drink &amp; </a:t>
            </a:r>
            <a:r>
              <a:rPr lang="en-GB" sz="1400" dirty="0" err="1" smtClean="0">
                <a:latin typeface="+mj-lt"/>
              </a:rPr>
              <a:t>Tob</a:t>
            </a:r>
            <a:r>
              <a:rPr lang="en-GB" sz="1400" dirty="0" smtClean="0">
                <a:latin typeface="+mj-lt"/>
              </a:rPr>
              <a:t>.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Tex., Cloth. &amp; Foot.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Paper &amp; Printing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Engineering </a:t>
            </a:r>
            <a:r>
              <a:rPr lang="en-GB" sz="1400" dirty="0" err="1" smtClean="0">
                <a:latin typeface="+mj-lt"/>
              </a:rPr>
              <a:t>etc</a:t>
            </a:r>
            <a:endParaRPr lang="en-GB" sz="1400" dirty="0" smtClean="0">
              <a:latin typeface="+mj-lt"/>
            </a:endParaRP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Other Industry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Construction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Rail Transport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Road Transport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Air Transport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Other Transport serv.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Households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Agriculture, forestry, etc.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Fishing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Other Final Users</a:t>
            </a:r>
          </a:p>
          <a:p>
            <a:pPr marL="514350" indent="-514350">
              <a:lnSpc>
                <a:spcPct val="80000"/>
              </a:lnSpc>
              <a:buFontTx/>
              <a:buAutoNum type="arabicPeriod"/>
              <a:defRPr/>
            </a:pPr>
            <a:r>
              <a:rPr lang="en-GB" sz="1400" dirty="0" smtClean="0">
                <a:latin typeface="+mj-lt"/>
              </a:rPr>
              <a:t>Non-energy use</a:t>
            </a:r>
            <a:endParaRPr lang="en-US" sz="1400" dirty="0" smtClean="0">
              <a:latin typeface="+mj-lt"/>
            </a:endParaRPr>
          </a:p>
        </p:txBody>
      </p:sp>
      <p:sp>
        <p:nvSpPr>
          <p:cNvPr id="187396" name="Rectangle 4"/>
          <p:cNvSpPr>
            <a:spLocks noChangeArrowheads="1"/>
          </p:cNvSpPr>
          <p:nvPr/>
        </p:nvSpPr>
        <p:spPr bwMode="auto">
          <a:xfrm>
            <a:off x="3131840" y="1502472"/>
            <a:ext cx="2881313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123D6B"/>
              </a:buClr>
              <a:defRPr/>
            </a:pPr>
            <a:r>
              <a:rPr lang="en-US" b="1" dirty="0">
                <a:solidFill>
                  <a:srgbClr val="123D6B"/>
                </a:solidFill>
                <a:latin typeface="Arial" charset="0"/>
              </a:rPr>
              <a:t>J:12 (fuels)</a:t>
            </a:r>
          </a:p>
          <a:p>
            <a:pPr marL="342900" indent="-342900">
              <a:spcBef>
                <a:spcPct val="20000"/>
              </a:spcBef>
              <a:buClr>
                <a:srgbClr val="123D6B"/>
              </a:buClr>
              <a:buFontTx/>
              <a:buChar char="•"/>
              <a:defRPr/>
            </a:pPr>
            <a:endParaRPr lang="en-US" sz="800" b="1" dirty="0">
              <a:solidFill>
                <a:srgbClr val="123D6B"/>
              </a:solidFill>
              <a:latin typeface="Arial" charset="0"/>
            </a:endParaRP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Hard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coal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Other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coal </a:t>
            </a:r>
            <a:r>
              <a:rPr lang="en-GB" sz="1400" dirty="0" err="1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etc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Crude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oil </a:t>
            </a:r>
            <a:r>
              <a:rPr lang="en-GB" sz="1400" dirty="0" err="1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etc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Heavy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fuel oil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Middle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distillates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Other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gas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Natural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gas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Electricity </a:t>
            </a:r>
            <a:endParaRPr lang="en-GB" sz="1400" dirty="0">
              <a:solidFill>
                <a:srgbClr val="003966"/>
              </a:solidFill>
              <a:latin typeface="Arial" charset="0"/>
              <a:cs typeface="Times New Roman" pitchFamily="18" charset="0"/>
            </a:endParaRP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Heat </a:t>
            </a:r>
            <a:endParaRPr lang="en-GB" sz="1400" dirty="0">
              <a:solidFill>
                <a:srgbClr val="003966"/>
              </a:solidFill>
              <a:latin typeface="Arial" charset="0"/>
              <a:cs typeface="Times New Roman" pitchFamily="18" charset="0"/>
            </a:endParaRP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Combustible </a:t>
            </a:r>
            <a:r>
              <a:rPr lang="en-GB" sz="1400" dirty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waste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Biofuels</a:t>
            </a:r>
            <a:endParaRPr lang="en-GB" sz="1400" dirty="0">
              <a:solidFill>
                <a:srgbClr val="003966"/>
              </a:solidFill>
              <a:latin typeface="Arial" charset="0"/>
              <a:cs typeface="Times New Roman" pitchFamily="18" charset="0"/>
            </a:endParaRP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r>
              <a:rPr lang="en-GB" sz="1400" dirty="0" smtClean="0">
                <a:solidFill>
                  <a:srgbClr val="003966"/>
                </a:solidFill>
                <a:latin typeface="Arial" charset="0"/>
                <a:cs typeface="Times New Roman" pitchFamily="18" charset="0"/>
              </a:rPr>
              <a:t>Hydrogen</a:t>
            </a:r>
            <a:r>
              <a:rPr lang="en-GB" sz="1400" dirty="0" smtClean="0">
                <a:latin typeface="Arial" charset="0"/>
                <a:cs typeface="Times New Roman" pitchFamily="18" charset="0"/>
              </a:rPr>
              <a:t> </a:t>
            </a:r>
          </a:p>
          <a:p>
            <a:pPr marL="342900" indent="-342900" fontAlgn="b">
              <a:spcBef>
                <a:spcPct val="0"/>
              </a:spcBef>
              <a:buFont typeface="+mj-lt"/>
              <a:buAutoNum type="arabicPeriod"/>
              <a:defRPr/>
            </a:pPr>
            <a:endParaRPr lang="en-US" sz="14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187398" name="Rectangle 6"/>
          <p:cNvSpPr>
            <a:spLocks noChangeArrowheads="1"/>
          </p:cNvSpPr>
          <p:nvPr/>
        </p:nvSpPr>
        <p:spPr bwMode="auto">
          <a:xfrm>
            <a:off x="5371739" y="1502473"/>
            <a:ext cx="311785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123D6B"/>
              </a:buClr>
              <a:defRPr/>
            </a:pPr>
            <a:r>
              <a:rPr lang="en-US" b="1" dirty="0">
                <a:solidFill>
                  <a:srgbClr val="123D6B"/>
                </a:solidFill>
                <a:latin typeface="Arial" charset="0"/>
              </a:rPr>
              <a:t>EM:14 (air emissions)</a:t>
            </a:r>
          </a:p>
          <a:p>
            <a:pPr marL="514350" indent="-514350">
              <a:spcBef>
                <a:spcPct val="20000"/>
              </a:spcBef>
              <a:buClr>
                <a:srgbClr val="123D6B"/>
              </a:buClr>
              <a:buFontTx/>
              <a:buAutoNum type="arabicPeriod"/>
              <a:defRPr/>
            </a:pPr>
            <a:endParaRPr lang="en-US" sz="800" b="1" dirty="0">
              <a:solidFill>
                <a:srgbClr val="123D6B"/>
              </a:solidFill>
              <a:latin typeface="Arial" charset="0"/>
            </a:endParaRP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CO</a:t>
            </a:r>
            <a:r>
              <a:rPr lang="en-US" sz="1400" baseline="-25000" dirty="0" smtClean="0">
                <a:solidFill>
                  <a:srgbClr val="123D6B"/>
                </a:solidFill>
                <a:latin typeface="Arial" charset="0"/>
              </a:rPr>
              <a:t>2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SO</a:t>
            </a:r>
            <a:r>
              <a:rPr lang="en-US" sz="1400" baseline="-25000" dirty="0" smtClean="0">
                <a:solidFill>
                  <a:srgbClr val="123D6B"/>
                </a:solidFill>
                <a:latin typeface="Arial" charset="0"/>
              </a:rPr>
              <a:t>2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NO</a:t>
            </a:r>
            <a:r>
              <a:rPr lang="en-US" sz="1400" baseline="-25000" dirty="0" smtClean="0">
                <a:solidFill>
                  <a:srgbClr val="123D6B"/>
                </a:solidFill>
                <a:latin typeface="Arial" charset="0"/>
              </a:rPr>
              <a:t>X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CO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Methane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Black smoke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VOC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Nuclear - air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Lead - air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CFCs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N</a:t>
            </a:r>
            <a:r>
              <a:rPr lang="en-US" sz="1400" baseline="-25000" dirty="0" smtClean="0">
                <a:solidFill>
                  <a:srgbClr val="123D6B"/>
                </a:solidFill>
                <a:latin typeface="Arial" charset="0"/>
              </a:rPr>
              <a:t>2</a:t>
            </a: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O (GHG)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HF</a:t>
            </a:r>
            <a:r>
              <a:rPr lang="en-US" sz="1400" baseline="-25000" dirty="0" smtClean="0">
                <a:solidFill>
                  <a:srgbClr val="123D6B"/>
                </a:solidFill>
                <a:latin typeface="Arial" charset="0"/>
              </a:rPr>
              <a:t>6</a:t>
            </a: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 (GHG)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PFC (GHG)</a:t>
            </a:r>
          </a:p>
          <a:p>
            <a:pPr marL="342900" indent="-342900">
              <a:spcBef>
                <a:spcPts val="0"/>
              </a:spcBef>
              <a:buClr>
                <a:srgbClr val="123D6B"/>
              </a:buClr>
              <a:buFont typeface="+mj-lt"/>
              <a:buAutoNum type="arabicPeriod"/>
              <a:defRPr/>
            </a:pP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SF</a:t>
            </a:r>
            <a:r>
              <a:rPr lang="en-US" sz="1400" baseline="-25000" dirty="0" smtClean="0">
                <a:solidFill>
                  <a:srgbClr val="123D6B"/>
                </a:solidFill>
                <a:latin typeface="Arial" charset="0"/>
              </a:rPr>
              <a:t>6</a:t>
            </a:r>
            <a:r>
              <a:rPr lang="en-US" sz="1400" dirty="0" smtClean="0">
                <a:solidFill>
                  <a:srgbClr val="123D6B"/>
                </a:solidFill>
                <a:latin typeface="Arial" charset="0"/>
              </a:rPr>
              <a:t> (GHG)</a:t>
            </a:r>
            <a:endParaRPr lang="en-US" sz="1400" dirty="0">
              <a:solidFill>
                <a:srgbClr val="123D6B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08929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Macroeconomic modelling of mitigation policies</a:t>
            </a:r>
            <a:endParaRPr 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Sectoral approach helpful (c/f aggregate models)</a:t>
            </a:r>
          </a:p>
          <a:p>
            <a:pPr lvl="1"/>
            <a:r>
              <a:rPr lang="en-GB" dirty="0" smtClean="0"/>
              <a:t>substitution by gas is an important mitigation option</a:t>
            </a:r>
          </a:p>
          <a:p>
            <a:pPr lvl="1"/>
            <a:r>
              <a:rPr lang="en-GB" dirty="0" smtClean="0"/>
              <a:t>fuel-using sectors (power, transport, residential) have different costs of mitigation</a:t>
            </a:r>
          </a:p>
          <a:p>
            <a:pPr lvl="1"/>
            <a:r>
              <a:rPr lang="en-GB" dirty="0" smtClean="0"/>
              <a:t>carbon-saving capital can use very different technologies  (CCGT’s, car engines, dwellings)</a:t>
            </a:r>
          </a:p>
          <a:p>
            <a:r>
              <a:rPr lang="en-GB" dirty="0" smtClean="0"/>
              <a:t>Use of fuels depends on capital stock, so short-term price responses may be low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421948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Mitigation options modelled in E3ME</a:t>
            </a:r>
            <a:endParaRPr 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498600"/>
            <a:ext cx="8113713" cy="4114800"/>
          </a:xfrm>
        </p:spPr>
        <p:txBody>
          <a:bodyPr/>
          <a:lstStyle/>
          <a:p>
            <a:r>
              <a:rPr lang="en-GB" dirty="0" smtClean="0"/>
              <a:t>Carbon taxes and emission trading schemes</a:t>
            </a:r>
          </a:p>
          <a:p>
            <a:pPr lvl="1"/>
            <a:r>
              <a:rPr lang="en-GB" dirty="0" smtClean="0"/>
              <a:t>with alternative recycling options, i.e. via reductions in income taxes, labour taxes or indirect taxes</a:t>
            </a:r>
          </a:p>
          <a:p>
            <a:pPr lvl="1"/>
            <a:r>
              <a:rPr lang="en-GB" dirty="0" smtClean="0"/>
              <a:t>covering different areas </a:t>
            </a:r>
          </a:p>
          <a:p>
            <a:pPr lvl="1"/>
            <a:r>
              <a:rPr lang="en-GB" dirty="0" smtClean="0"/>
              <a:t>allowing exemption/lower rates for energy-intensive industries</a:t>
            </a:r>
          </a:p>
          <a:p>
            <a:r>
              <a:rPr lang="en-GB" dirty="0" smtClean="0"/>
              <a:t>Subsidies for new technologies</a:t>
            </a:r>
          </a:p>
          <a:p>
            <a:pPr lvl="1"/>
            <a:r>
              <a:rPr lang="en-GB" dirty="0" smtClean="0"/>
              <a:t>guaranteed prices for renewable electricity</a:t>
            </a:r>
          </a:p>
          <a:p>
            <a:r>
              <a:rPr lang="en-GB" dirty="0" smtClean="0"/>
              <a:t>Funding/support of R&amp;D</a:t>
            </a:r>
          </a:p>
          <a:p>
            <a:pPr lvl="1"/>
            <a:r>
              <a:rPr lang="en-GB" dirty="0" smtClean="0"/>
              <a:t>general R&amp;D support</a:t>
            </a:r>
          </a:p>
          <a:p>
            <a:pPr lvl="1"/>
            <a:r>
              <a:rPr lang="en-GB" dirty="0"/>
              <a:t>s</a:t>
            </a:r>
            <a:r>
              <a:rPr lang="en-GB" dirty="0" smtClean="0"/>
              <a:t>upport for energy saving and low-carbon processes</a:t>
            </a:r>
          </a:p>
          <a:p>
            <a:pPr lvl="1"/>
            <a:endParaRPr lang="en-GB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65082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Revised energy demand treatment</a:t>
            </a:r>
            <a:endParaRPr 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498600"/>
            <a:ext cx="8113713" cy="4114800"/>
          </a:xfrm>
        </p:spPr>
        <p:txBody>
          <a:bodyPr/>
          <a:lstStyle/>
          <a:p>
            <a:r>
              <a:rPr lang="en-GB" dirty="0" smtClean="0"/>
              <a:t>Still in development phase</a:t>
            </a:r>
          </a:p>
          <a:p>
            <a:r>
              <a:rPr lang="en-GB" dirty="0"/>
              <a:t>Ideas so far</a:t>
            </a:r>
          </a:p>
          <a:p>
            <a:pPr lvl="1"/>
            <a:r>
              <a:rPr lang="en-GB" dirty="0" smtClean="0"/>
              <a:t>new specification for energy equations</a:t>
            </a:r>
          </a:p>
          <a:p>
            <a:pPr lvl="1"/>
            <a:r>
              <a:rPr lang="en-GB" dirty="0" smtClean="0"/>
              <a:t>re-defining the technological change variable</a:t>
            </a:r>
          </a:p>
          <a:p>
            <a:pPr lvl="1"/>
            <a:r>
              <a:rPr lang="en-GB" dirty="0" smtClean="0"/>
              <a:t>inclusion of a temperature variable</a:t>
            </a:r>
          </a:p>
          <a:p>
            <a:pPr lvl="1"/>
            <a:endParaRPr lang="en-GB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78320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3966"/>
                </a:solidFill>
              </a:rPr>
              <a:t>The Emissions Trading Scheme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00213"/>
            <a:ext cx="8497888" cy="4114800"/>
          </a:xfrm>
        </p:spPr>
        <p:txBody>
          <a:bodyPr/>
          <a:lstStyle/>
          <a:p>
            <a:r>
              <a:rPr lang="en-GB" sz="2800" dirty="0" smtClean="0">
                <a:solidFill>
                  <a:srgbClr val="003966"/>
                </a:solidFill>
              </a:rPr>
              <a:t>Original EU &amp; ETS work done by CE for Swedish government</a:t>
            </a:r>
          </a:p>
          <a:p>
            <a:r>
              <a:rPr lang="en-GB" sz="2800" dirty="0" smtClean="0">
                <a:solidFill>
                  <a:srgbClr val="003966"/>
                </a:solidFill>
              </a:rPr>
              <a:t>More recently work carried out for the EC’s Impact Assessment</a:t>
            </a:r>
            <a:endParaRPr lang="en-GB" sz="2600" dirty="0" smtClean="0">
              <a:solidFill>
                <a:srgbClr val="003966"/>
              </a:solidFill>
            </a:endParaRPr>
          </a:p>
          <a:p>
            <a:endParaRPr lang="en-GB" sz="2600" dirty="0" smtClean="0"/>
          </a:p>
        </p:txBody>
      </p:sp>
    </p:spTree>
    <p:extLst>
      <p:ext uri="{BB962C8B-B14F-4D97-AF65-F5344CB8AC3E}">
        <p14:creationId xmlns:p14="http://schemas.microsoft.com/office/powerpoint/2010/main" xmlns="" val="146602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3966"/>
                </a:solidFill>
              </a:rPr>
              <a:t>The EU ETS in E3ME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00213"/>
            <a:ext cx="8497888" cy="4114800"/>
          </a:xfrm>
        </p:spPr>
        <p:txBody>
          <a:bodyPr/>
          <a:lstStyle/>
          <a:p>
            <a:r>
              <a:rPr lang="en-GB" sz="2800" dirty="0" smtClean="0">
                <a:solidFill>
                  <a:srgbClr val="003966"/>
                </a:solidFill>
              </a:rPr>
              <a:t>Power and industrial fuel users are included in the EU ETS: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power generation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rest of energy branch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iron and steel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non-ferrous metals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chemicals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non-metallic mineral products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paper and pulp</a:t>
            </a:r>
          </a:p>
          <a:p>
            <a:pPr lvl="1"/>
            <a:r>
              <a:rPr lang="en-GB" sz="1900" dirty="0" smtClean="0">
                <a:solidFill>
                  <a:srgbClr val="003966"/>
                </a:solidFill>
              </a:rPr>
              <a:t>other industry</a:t>
            </a:r>
          </a:p>
          <a:p>
            <a:r>
              <a:rPr lang="en-GB" sz="2800" dirty="0" smtClean="0">
                <a:solidFill>
                  <a:srgbClr val="003966"/>
                </a:solidFill>
              </a:rPr>
              <a:t>Sectoral (and geographical) coverage can be modified easily</a:t>
            </a:r>
          </a:p>
          <a:p>
            <a:endParaRPr lang="en-GB" sz="2600" dirty="0" smtClean="0"/>
          </a:p>
        </p:txBody>
      </p:sp>
    </p:spTree>
    <p:extLst>
      <p:ext uri="{BB962C8B-B14F-4D97-AF65-F5344CB8AC3E}">
        <p14:creationId xmlns:p14="http://schemas.microsoft.com/office/powerpoint/2010/main" xmlns="" val="215191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3966"/>
                </a:solidFill>
              </a:rPr>
              <a:t>The ETS in E3ME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00213"/>
            <a:ext cx="8497888" cy="4114800"/>
          </a:xfrm>
        </p:spPr>
        <p:txBody>
          <a:bodyPr/>
          <a:lstStyle/>
          <a:p>
            <a:r>
              <a:rPr lang="en-GB" sz="2800" dirty="0" smtClean="0">
                <a:solidFill>
                  <a:srgbClr val="003966"/>
                </a:solidFill>
              </a:rPr>
              <a:t>The EU ETS is fairly stylised: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allowances are treated as taxes on energy use, depending on the carbon content of fuels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these cost increases are passed on to consumers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prices may be entered exogenously or calculated by the model – however, market clearing is assumed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allocated allowances are used to increase profits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there are no links to areas outside the EU or JI/CDM schemes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there are no awareness or signalling effects</a:t>
            </a:r>
          </a:p>
          <a:p>
            <a:pPr lvl="1"/>
            <a:r>
              <a:rPr lang="en-GB" sz="1800" dirty="0" smtClean="0">
                <a:solidFill>
                  <a:srgbClr val="003966"/>
                </a:solidFill>
              </a:rPr>
              <a:t>there is no feedback to energy prices, which are exogenous </a:t>
            </a:r>
          </a:p>
          <a:p>
            <a:endParaRPr lang="en-GB" sz="2600" dirty="0" smtClean="0"/>
          </a:p>
        </p:txBody>
      </p:sp>
    </p:spTree>
    <p:extLst>
      <p:ext uri="{BB962C8B-B14F-4D97-AF65-F5344CB8AC3E}">
        <p14:creationId xmlns:p14="http://schemas.microsoft.com/office/powerpoint/2010/main" xmlns="" val="148978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/>
          <p:cNvSpPr/>
          <p:nvPr/>
        </p:nvSpPr>
        <p:spPr bwMode="auto">
          <a:xfrm>
            <a:off x="7164288" y="6175530"/>
            <a:ext cx="1674912" cy="4148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08677" y="3090007"/>
            <a:ext cx="8280920" cy="3358944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400551" y="1624413"/>
            <a:ext cx="2289046" cy="1541356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08677" y="1624414"/>
            <a:ext cx="6041366" cy="1534568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 rot="16200000">
            <a:off x="-15976" y="2156789"/>
            <a:ext cx="1534567" cy="46981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 w="18415" cmpd="sng">
                  <a:solidFill>
                    <a:srgbClr val="C0504D">
                      <a:lumMod val="75000"/>
                    </a:srgbClr>
                  </a:solidFill>
                  <a:prstDash val="solid"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Government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69827" y="1746421"/>
            <a:ext cx="227748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arbon tax / energy tax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4008568" y="2084975"/>
            <a:ext cx="1" cy="42025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0" name="TextBox 79"/>
          <p:cNvSpPr txBox="1"/>
          <p:nvPr/>
        </p:nvSpPr>
        <p:spPr>
          <a:xfrm>
            <a:off x="2192357" y="2118290"/>
            <a:ext cx="1766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GB" sz="1200" i="1" dirty="0" smtClean="0">
                <a:solidFill>
                  <a:prstClr val="black"/>
                </a:solidFill>
                <a:latin typeface="Calibri"/>
              </a:rPr>
              <a:t>arbon / energy content</a:t>
            </a:r>
            <a:endParaRPr lang="en-GB" sz="12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834028" y="2505231"/>
            <a:ext cx="234907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t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ax rates by fuel and user (including tax)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672064" y="2378769"/>
            <a:ext cx="216024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CO</a:t>
            </a:r>
            <a:r>
              <a:rPr lang="en-GB" baseline="-25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emissions from solid fuel, oil and gas </a:t>
            </a:r>
          </a:p>
        </p:txBody>
      </p:sp>
      <p:cxnSp>
        <p:nvCxnSpPr>
          <p:cNvPr id="84" name="Straight Arrow Connector 83"/>
          <p:cNvCxnSpPr>
            <a:endCxn id="83" idx="1"/>
          </p:cNvCxnSpPr>
          <p:nvPr/>
        </p:nvCxnSpPr>
        <p:spPr>
          <a:xfrm flipV="1">
            <a:off x="5147309" y="2671157"/>
            <a:ext cx="1524755" cy="79798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5" name="TextBox 84"/>
          <p:cNvSpPr txBox="1"/>
          <p:nvPr/>
        </p:nvSpPr>
        <p:spPr>
          <a:xfrm>
            <a:off x="2755327" y="3339963"/>
            <a:ext cx="250648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f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uel use by fuel and user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6" name="Rectangle 85"/>
          <p:cNvSpPr/>
          <p:nvPr/>
        </p:nvSpPr>
        <p:spPr>
          <a:xfrm rot="16200000">
            <a:off x="-959587" y="4641755"/>
            <a:ext cx="3421788" cy="46981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 w="18415" cmpd="sng">
                  <a:solidFill>
                    <a:srgbClr val="4F81BD">
                      <a:lumMod val="75000"/>
                    </a:srgbClr>
                  </a:solidFill>
                  <a:prstDash val="solid"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Industries &amp; Households</a:t>
            </a:r>
          </a:p>
        </p:txBody>
      </p:sp>
      <p:cxnSp>
        <p:nvCxnSpPr>
          <p:cNvPr id="87" name="Straight Arrow Connector 86"/>
          <p:cNvCxnSpPr>
            <a:stCxn id="81" idx="2"/>
            <a:endCxn id="85" idx="0"/>
          </p:cNvCxnSpPr>
          <p:nvPr/>
        </p:nvCxnSpPr>
        <p:spPr>
          <a:xfrm>
            <a:off x="4008567" y="3090006"/>
            <a:ext cx="2" cy="24995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8" name="Straight Arrow Connector 87"/>
          <p:cNvCxnSpPr>
            <a:endCxn id="89" idx="0"/>
          </p:cNvCxnSpPr>
          <p:nvPr/>
        </p:nvCxnSpPr>
        <p:spPr>
          <a:xfrm>
            <a:off x="4008566" y="3806630"/>
            <a:ext cx="3" cy="37375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9" name="TextBox 88"/>
          <p:cNvSpPr txBox="1"/>
          <p:nvPr/>
        </p:nvSpPr>
        <p:spPr>
          <a:xfrm>
            <a:off x="3468508" y="4180381"/>
            <a:ext cx="108012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industrial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output</a:t>
            </a:r>
          </a:p>
        </p:txBody>
      </p:sp>
      <p:cxnSp>
        <p:nvCxnSpPr>
          <p:cNvPr id="90" name="Straight Arrow Connector 89"/>
          <p:cNvCxnSpPr>
            <a:stCxn id="89" idx="3"/>
          </p:cNvCxnSpPr>
          <p:nvPr/>
        </p:nvCxnSpPr>
        <p:spPr>
          <a:xfrm>
            <a:off x="4548629" y="4472769"/>
            <a:ext cx="1512168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1" name="TextBox 90"/>
          <p:cNvSpPr txBox="1"/>
          <p:nvPr/>
        </p:nvSpPr>
        <p:spPr>
          <a:xfrm>
            <a:off x="6060796" y="4180382"/>
            <a:ext cx="129614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industrial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employment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74397" y="5291546"/>
            <a:ext cx="126894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industrial wage rates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440930" y="5290183"/>
            <a:ext cx="113527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industrial prices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590829" y="5411356"/>
            <a:ext cx="8638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imports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587893" y="4303491"/>
            <a:ext cx="8509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exports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6" name="Straight Arrow Connector 95"/>
          <p:cNvCxnSpPr>
            <a:stCxn id="95" idx="3"/>
            <a:endCxn id="89" idx="1"/>
          </p:cNvCxnSpPr>
          <p:nvPr/>
        </p:nvCxnSpPr>
        <p:spPr>
          <a:xfrm>
            <a:off x="2438794" y="4472768"/>
            <a:ext cx="1029714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7" name="Straight Arrow Connector 96"/>
          <p:cNvCxnSpPr>
            <a:stCxn id="93" idx="1"/>
            <a:endCxn id="94" idx="3"/>
          </p:cNvCxnSpPr>
          <p:nvPr/>
        </p:nvCxnSpPr>
        <p:spPr>
          <a:xfrm flipH="1" flipV="1">
            <a:off x="2454634" y="5580633"/>
            <a:ext cx="986296" cy="193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8" name="Straight Arrow Connector 97"/>
          <p:cNvCxnSpPr>
            <a:stCxn id="93" idx="0"/>
            <a:endCxn id="89" idx="2"/>
          </p:cNvCxnSpPr>
          <p:nvPr/>
        </p:nvCxnSpPr>
        <p:spPr>
          <a:xfrm flipV="1">
            <a:off x="4008567" y="4765156"/>
            <a:ext cx="2" cy="52502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9" name="Straight Arrow Connector 98"/>
          <p:cNvCxnSpPr>
            <a:stCxn id="92" idx="0"/>
            <a:endCxn id="91" idx="2"/>
          </p:cNvCxnSpPr>
          <p:nvPr/>
        </p:nvCxnSpPr>
        <p:spPr>
          <a:xfrm flipV="1">
            <a:off x="6708868" y="4765157"/>
            <a:ext cx="1" cy="52502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0" name="Straight Arrow Connector 107"/>
          <p:cNvCxnSpPr>
            <a:stCxn id="93" idx="2"/>
            <a:endCxn id="95" idx="1"/>
          </p:cNvCxnSpPr>
          <p:nvPr/>
        </p:nvCxnSpPr>
        <p:spPr>
          <a:xfrm rot="5400000" flipH="1">
            <a:off x="2097135" y="3963526"/>
            <a:ext cx="1402190" cy="2420674"/>
          </a:xfrm>
          <a:prstGeom prst="bentConnector4">
            <a:avLst>
              <a:gd name="adj1" fmla="val -16303"/>
              <a:gd name="adj2" fmla="val 109444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1" name="Straight Arrow Connector 100"/>
          <p:cNvCxnSpPr>
            <a:endCxn id="94" idx="0"/>
          </p:cNvCxnSpPr>
          <p:nvPr/>
        </p:nvCxnSpPr>
        <p:spPr>
          <a:xfrm flipH="1">
            <a:off x="2022732" y="4765156"/>
            <a:ext cx="1589793" cy="6462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2" name="Straight Arrow Connector 114"/>
          <p:cNvCxnSpPr>
            <a:stCxn id="81" idx="1"/>
          </p:cNvCxnSpPr>
          <p:nvPr/>
        </p:nvCxnSpPr>
        <p:spPr>
          <a:xfrm rot="10800000" flipH="1" flipV="1">
            <a:off x="2834028" y="2797618"/>
            <a:ext cx="1354560" cy="3078701"/>
          </a:xfrm>
          <a:prstGeom prst="bentConnector4">
            <a:avLst>
              <a:gd name="adj1" fmla="val -127166"/>
              <a:gd name="adj2" fmla="val 113732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3" name="Straight Arrow Connector 138"/>
          <p:cNvCxnSpPr>
            <a:stCxn id="92" idx="1"/>
            <a:endCxn id="93" idx="3"/>
          </p:cNvCxnSpPr>
          <p:nvPr/>
        </p:nvCxnSpPr>
        <p:spPr>
          <a:xfrm rot="10800000">
            <a:off x="4576205" y="5582572"/>
            <a:ext cx="1498193" cy="13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04" name="Rectangle 103"/>
          <p:cNvSpPr/>
          <p:nvPr/>
        </p:nvSpPr>
        <p:spPr>
          <a:xfrm>
            <a:off x="6589657" y="1696197"/>
            <a:ext cx="1534567" cy="5397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 w="18415" cmpd="sng">
                  <a:solidFill>
                    <a:srgbClr val="9BBB59">
                      <a:lumMod val="75000"/>
                    </a:srgbClr>
                  </a:solidFill>
                  <a:prstDash val="solid"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 flipV="1">
            <a:off x="4008566" y="3716703"/>
            <a:ext cx="1" cy="40185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04800"/>
            <a:ext cx="7848600" cy="1143000"/>
          </a:xfrm>
        </p:spPr>
        <p:txBody>
          <a:bodyPr/>
          <a:lstStyle/>
          <a:p>
            <a:r>
              <a:rPr lang="en-GB" dirty="0" smtClean="0">
                <a:solidFill>
                  <a:srgbClr val="003966"/>
                </a:solidFill>
              </a:rPr>
              <a:t>Macroeconomic impacts from a carbon/energy tax</a:t>
            </a:r>
          </a:p>
        </p:txBody>
      </p:sp>
    </p:spTree>
    <p:extLst>
      <p:ext uri="{BB962C8B-B14F-4D97-AF65-F5344CB8AC3E}">
        <p14:creationId xmlns:p14="http://schemas.microsoft.com/office/powerpoint/2010/main" xmlns="" val="398635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80" grpId="0"/>
      <p:bldP spid="81" grpId="0"/>
      <p:bldP spid="83" grpId="0"/>
      <p:bldP spid="85" grpId="0"/>
      <p:bldP spid="89" grpId="0"/>
      <p:bldP spid="91" grpId="0"/>
      <p:bldP spid="92" grpId="0"/>
      <p:bldP spid="93" grpId="0"/>
      <p:bldP spid="94" grpId="0"/>
      <p:bldP spid="9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Macroeconomic impacts from a carbon/energy </a:t>
            </a:r>
            <a:r>
              <a:rPr lang="en-GB" dirty="0"/>
              <a:t>t</a:t>
            </a:r>
            <a:r>
              <a:rPr lang="en-GB" dirty="0" smtClean="0"/>
              <a:t>ax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3528" y="2996952"/>
            <a:ext cx="8467913" cy="3604702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3528" y="1638510"/>
            <a:ext cx="8467913" cy="1534568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 rot="16200000">
            <a:off x="-101125" y="2170885"/>
            <a:ext cx="1534567" cy="46981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 w="18415" cmpd="sng">
                  <a:solidFill>
                    <a:srgbClr val="C0504D">
                      <a:lumMod val="75000"/>
                    </a:srgbClr>
                  </a:solidFill>
                  <a:prstDash val="solid"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Government</a:t>
            </a:r>
          </a:p>
        </p:txBody>
      </p:sp>
      <p:sp>
        <p:nvSpPr>
          <p:cNvPr id="48" name="Rectangle 47"/>
          <p:cNvSpPr/>
          <p:nvPr/>
        </p:nvSpPr>
        <p:spPr>
          <a:xfrm rot="16200000">
            <a:off x="-1044737" y="4655852"/>
            <a:ext cx="3421791" cy="46981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 smtClean="0">
                <a:ln w="18415" cmpd="sng">
                  <a:solidFill>
                    <a:srgbClr val="4F81BD">
                      <a:lumMod val="75000"/>
                    </a:srgbClr>
                  </a:solidFill>
                  <a:prstDash val="solid"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Industries &amp; Households</a:t>
            </a:r>
          </a:p>
        </p:txBody>
      </p:sp>
      <p:cxnSp>
        <p:nvCxnSpPr>
          <p:cNvPr id="49" name="Straight Arrow Connector 59"/>
          <p:cNvCxnSpPr>
            <a:stCxn id="52" idx="2"/>
            <a:endCxn id="55" idx="0"/>
          </p:cNvCxnSpPr>
          <p:nvPr/>
        </p:nvCxnSpPr>
        <p:spPr>
          <a:xfrm rot="16200000" flipH="1">
            <a:off x="3916127" y="3111395"/>
            <a:ext cx="646794" cy="632208"/>
          </a:xfrm>
          <a:prstGeom prst="bentConnector3">
            <a:avLst>
              <a:gd name="adj1" fmla="val 52454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0" name="Straight Arrow Connector 58"/>
          <p:cNvCxnSpPr>
            <a:stCxn id="52" idx="2"/>
            <a:endCxn id="54" idx="0"/>
          </p:cNvCxnSpPr>
          <p:nvPr/>
        </p:nvCxnSpPr>
        <p:spPr>
          <a:xfrm rot="5400000">
            <a:off x="3272769" y="3131727"/>
            <a:ext cx="678277" cy="62302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1" name="TextBox 50"/>
          <p:cNvSpPr txBox="1"/>
          <p:nvPr/>
        </p:nvSpPr>
        <p:spPr>
          <a:xfrm>
            <a:off x="2784678" y="1760517"/>
            <a:ext cx="227748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arbon tax / energy tax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67336" y="2519327"/>
            <a:ext cx="15121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t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ax rates by fuel and user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37277" y="2519327"/>
            <a:ext cx="103616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t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ax revenues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646459" y="3782379"/>
            <a:ext cx="130786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d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omestic supply prices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73830" y="3750896"/>
            <a:ext cx="116359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i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mport prices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139224" y="5791845"/>
            <a:ext cx="157118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e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lectricity prices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88403" y="3781694"/>
            <a:ext cx="116359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t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axes passed on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8" name="Straight Arrow Connector 57"/>
          <p:cNvCxnSpPr>
            <a:stCxn id="51" idx="2"/>
            <a:endCxn id="52" idx="0"/>
          </p:cNvCxnSpPr>
          <p:nvPr/>
        </p:nvCxnSpPr>
        <p:spPr>
          <a:xfrm>
            <a:off x="3923419" y="2099071"/>
            <a:ext cx="1" cy="42025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" name="Straight Arrow Connector 58"/>
          <p:cNvCxnSpPr>
            <a:stCxn id="52" idx="3"/>
            <a:endCxn id="53" idx="1"/>
          </p:cNvCxnSpPr>
          <p:nvPr/>
        </p:nvCxnSpPr>
        <p:spPr>
          <a:xfrm>
            <a:off x="4679503" y="2811715"/>
            <a:ext cx="65777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0" name="Elbow Connector 59"/>
          <p:cNvCxnSpPr>
            <a:stCxn id="52" idx="1"/>
            <a:endCxn id="56" idx="2"/>
          </p:cNvCxnSpPr>
          <p:nvPr/>
        </p:nvCxnSpPr>
        <p:spPr>
          <a:xfrm rot="10800000" flipH="1" flipV="1">
            <a:off x="3167336" y="2811715"/>
            <a:ext cx="757482" cy="3318684"/>
          </a:xfrm>
          <a:prstGeom prst="bentConnector4">
            <a:avLst>
              <a:gd name="adj1" fmla="val -269573"/>
              <a:gd name="adj2" fmla="val 106888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1" name="Elbow Connector 61"/>
          <p:cNvCxnSpPr>
            <a:stCxn id="56" idx="3"/>
          </p:cNvCxnSpPr>
          <p:nvPr/>
        </p:nvCxnSpPr>
        <p:spPr>
          <a:xfrm>
            <a:off x="4710412" y="5961122"/>
            <a:ext cx="2328385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2" name="Straight Arrow Connector 62"/>
          <p:cNvCxnSpPr/>
          <p:nvPr/>
        </p:nvCxnSpPr>
        <p:spPr>
          <a:xfrm rot="16200000" flipH="1">
            <a:off x="6018557" y="3005063"/>
            <a:ext cx="833837" cy="1183439"/>
          </a:xfrm>
          <a:prstGeom prst="bent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3" name="Straight Arrow Connector 63"/>
          <p:cNvCxnSpPr>
            <a:stCxn id="54" idx="2"/>
            <a:endCxn id="82" idx="0"/>
          </p:cNvCxnSpPr>
          <p:nvPr/>
        </p:nvCxnSpPr>
        <p:spPr>
          <a:xfrm rot="16200000" flipH="1">
            <a:off x="3260672" y="4406876"/>
            <a:ext cx="733378" cy="653934"/>
          </a:xfrm>
          <a:prstGeom prst="bentConnector3">
            <a:avLst>
              <a:gd name="adj1" fmla="val 46042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4" name="Straight Arrow Connector 64"/>
          <p:cNvCxnSpPr>
            <a:stCxn id="55" idx="2"/>
            <a:endCxn id="82" idx="0"/>
          </p:cNvCxnSpPr>
          <p:nvPr/>
        </p:nvCxnSpPr>
        <p:spPr>
          <a:xfrm rot="5400000">
            <a:off x="3872548" y="4417451"/>
            <a:ext cx="764861" cy="601300"/>
          </a:xfrm>
          <a:prstGeom prst="bentConnector3">
            <a:avLst>
              <a:gd name="adj1" fmla="val 48339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64"/>
          <p:cNvCxnSpPr>
            <a:stCxn id="57" idx="3"/>
            <a:endCxn id="54" idx="1"/>
          </p:cNvCxnSpPr>
          <p:nvPr/>
        </p:nvCxnSpPr>
        <p:spPr>
          <a:xfrm>
            <a:off x="2351999" y="4074082"/>
            <a:ext cx="294460" cy="68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Elbow Connector 65"/>
          <p:cNvCxnSpPr>
            <a:stCxn id="56" idx="1"/>
            <a:endCxn id="57" idx="2"/>
          </p:cNvCxnSpPr>
          <p:nvPr/>
        </p:nvCxnSpPr>
        <p:spPr>
          <a:xfrm rot="10800000">
            <a:off x="1770202" y="4366470"/>
            <a:ext cx="1369023" cy="1594653"/>
          </a:xfrm>
          <a:prstGeom prst="bentConnector2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8" name="TextBox 67"/>
          <p:cNvSpPr txBox="1"/>
          <p:nvPr/>
        </p:nvSpPr>
        <p:spPr>
          <a:xfrm>
            <a:off x="2107208" y="2132386"/>
            <a:ext cx="1766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GB" sz="1200" i="1" dirty="0" smtClean="0">
                <a:solidFill>
                  <a:prstClr val="black"/>
                </a:solidFill>
                <a:latin typeface="Calibri"/>
              </a:rPr>
              <a:t>arbon / energy content</a:t>
            </a:r>
            <a:endParaRPr lang="en-GB" sz="12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87519" y="3471142"/>
            <a:ext cx="10777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 smtClean="0">
                <a:solidFill>
                  <a:prstClr val="black"/>
                </a:solidFill>
                <a:latin typeface="Calibri"/>
              </a:rPr>
              <a:t>fuel prices</a:t>
            </a:r>
            <a:endParaRPr lang="en-GB" sz="12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34864" y="2811714"/>
            <a:ext cx="1567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 smtClean="0">
                <a:solidFill>
                  <a:prstClr val="black"/>
                </a:solidFill>
                <a:latin typeface="Calibri"/>
              </a:rPr>
              <a:t>tax on primary energy consumption</a:t>
            </a:r>
            <a:endParaRPr lang="en-GB" sz="12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801209" y="5653345"/>
            <a:ext cx="1572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 smtClean="0">
                <a:solidFill>
                  <a:prstClr val="black"/>
                </a:solidFill>
                <a:latin typeface="Calibri"/>
              </a:rPr>
              <a:t>imputed tax liability</a:t>
            </a:r>
            <a:endParaRPr lang="en-GB" sz="12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 rot="16200000">
            <a:off x="7446361" y="3496077"/>
            <a:ext cx="792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 smtClean="0">
                <a:solidFill>
                  <a:prstClr val="black"/>
                </a:solidFill>
                <a:latin typeface="Calibri"/>
              </a:rPr>
              <a:t>inflation</a:t>
            </a:r>
            <a:endParaRPr lang="en-GB" sz="12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038797" y="3768662"/>
            <a:ext cx="67600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prices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878911" y="3173078"/>
            <a:ext cx="98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200" i="1" dirty="0" smtClean="0">
                <a:solidFill>
                  <a:srgbClr val="FF0000"/>
                </a:solidFill>
                <a:latin typeface="Calibri"/>
              </a:rPr>
              <a:t>reduction in other taxes</a:t>
            </a:r>
            <a:endParaRPr lang="en-GB" sz="1200" i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38799" y="1964410"/>
            <a:ext cx="657772" cy="4165989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7" name="Straight Arrow Connector 76"/>
          <p:cNvCxnSpPr>
            <a:stCxn id="76" idx="3"/>
            <a:endCxn id="78" idx="1"/>
          </p:cNvCxnSpPr>
          <p:nvPr/>
        </p:nvCxnSpPr>
        <p:spPr>
          <a:xfrm>
            <a:off x="7696571" y="4047405"/>
            <a:ext cx="306836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8" name="Rounded Rectangle 77"/>
          <p:cNvSpPr/>
          <p:nvPr/>
        </p:nvSpPr>
        <p:spPr>
          <a:xfrm>
            <a:off x="8003407" y="1964410"/>
            <a:ext cx="698420" cy="4165989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906908" y="3865195"/>
            <a:ext cx="88453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 smtClean="0">
                <a:solidFill>
                  <a:prstClr val="black"/>
                </a:solidFill>
                <a:latin typeface="Calibri"/>
              </a:rPr>
              <a:t>wages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0" name="Elbow Connector 79"/>
          <p:cNvCxnSpPr>
            <a:stCxn id="78" idx="2"/>
            <a:endCxn id="82" idx="3"/>
          </p:cNvCxnSpPr>
          <p:nvPr/>
        </p:nvCxnSpPr>
        <p:spPr>
          <a:xfrm rot="5400000" flipH="1">
            <a:off x="6101220" y="3879002"/>
            <a:ext cx="860590" cy="3642205"/>
          </a:xfrm>
          <a:prstGeom prst="bentConnector4">
            <a:avLst>
              <a:gd name="adj1" fmla="val -26563"/>
              <a:gd name="adj2" fmla="val 54794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2" name="TextBox 81"/>
          <p:cNvSpPr txBox="1"/>
          <p:nvPr/>
        </p:nvSpPr>
        <p:spPr>
          <a:xfrm>
            <a:off x="3198243" y="5100532"/>
            <a:ext cx="151216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solidFill>
                  <a:prstClr val="black"/>
                </a:solidFill>
                <a:latin typeface="Calibri"/>
              </a:rPr>
              <a:t>i</a:t>
            </a:r>
            <a:r>
              <a:rPr lang="en-GB" dirty="0" smtClean="0">
                <a:solidFill>
                  <a:prstClr val="black"/>
                </a:solidFill>
                <a:latin typeface="Calibri"/>
              </a:rPr>
              <a:t>ndustrial prices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3" name="Elbow Connector 82"/>
          <p:cNvCxnSpPr>
            <a:stCxn id="82" idx="1"/>
            <a:endCxn id="57" idx="2"/>
          </p:cNvCxnSpPr>
          <p:nvPr/>
        </p:nvCxnSpPr>
        <p:spPr>
          <a:xfrm rot="10800000">
            <a:off x="1770201" y="4366469"/>
            <a:ext cx="1428042" cy="903340"/>
          </a:xfrm>
          <a:prstGeom prst="bentConnector2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xmlns="" val="39512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/>
      <p:bldP spid="56" grpId="0"/>
      <p:bldP spid="57" grpId="0"/>
      <p:bldP spid="68" grpId="0"/>
      <p:bldP spid="69" grpId="0"/>
      <p:bldP spid="70" grpId="0"/>
      <p:bldP spid="71" grpId="0"/>
      <p:bldP spid="72" grpId="0"/>
      <p:bldP spid="74" grpId="0"/>
      <p:bldP spid="75" grpId="0"/>
      <p:bldP spid="76" grpId="0" animBg="1"/>
      <p:bldP spid="78" grpId="0" animBg="1"/>
      <p:bldP spid="79" grpId="0"/>
      <p:bldP spid="82" grpId="0"/>
    </p:bldLst>
  </p:timing>
</p:sld>
</file>

<file path=ppt/theme/theme1.xml><?xml version="1.0" encoding="utf-8"?>
<a:theme xmlns:a="http://schemas.openxmlformats.org/drawingml/2006/main" name="_CE Master">
  <a:themeElements>
    <a:clrScheme name="CE template frac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E template frac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3966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3966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E template frac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E template fracta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 template fracta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_CE Master</Template>
  <TotalTime>1567</TotalTime>
  <Words>1129</Words>
  <Application>Microsoft Office PowerPoint</Application>
  <PresentationFormat>화면 슬라이드 쇼(4:3)</PresentationFormat>
  <Paragraphs>225</Paragraphs>
  <Slides>25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_CE Master</vt:lpstr>
      <vt:lpstr>Modelling Energy, the Environment and the Economy </vt:lpstr>
      <vt:lpstr>Overview</vt:lpstr>
      <vt:lpstr>Energy-Environment-Economy interactions</vt:lpstr>
      <vt:lpstr>Engineering-Energy-Environment-Economy interactions</vt:lpstr>
      <vt:lpstr>Engineering-Energy-Environment-Economy interactions</vt:lpstr>
      <vt:lpstr>The energy sub-model</vt:lpstr>
      <vt:lpstr>The energy sub-model</vt:lpstr>
      <vt:lpstr>Aggregate energy demand functions</vt:lpstr>
      <vt:lpstr>Fuel share equations</vt:lpstr>
      <vt:lpstr>Feedback from the Energy Sub-model</vt:lpstr>
      <vt:lpstr>FTT and E3ME Model</vt:lpstr>
      <vt:lpstr>Prices in the Energy Sub-model</vt:lpstr>
      <vt:lpstr>Energy in E3ME</vt:lpstr>
      <vt:lpstr>Treatment of environmental emissions</vt:lpstr>
      <vt:lpstr>Valuing damages from air pollution in E3ME</vt:lpstr>
      <vt:lpstr>Effects of GHG mitigation on air pollution in E3ME (OECD 2000 paper)</vt:lpstr>
      <vt:lpstr>Energy and emission classifications in E3ME Version 6</vt:lpstr>
      <vt:lpstr>Macroeconomic modelling of mitigation policies</vt:lpstr>
      <vt:lpstr>Mitigation options modelled in E3ME</vt:lpstr>
      <vt:lpstr>Revised energy demand treatment</vt:lpstr>
      <vt:lpstr>The Emissions Trading Scheme</vt:lpstr>
      <vt:lpstr>The EU ETS in E3ME</vt:lpstr>
      <vt:lpstr>The ETS in E3ME (cont.)</vt:lpstr>
      <vt:lpstr>Macroeconomic impacts from a carbon/energy tax</vt:lpstr>
      <vt:lpstr>Macroeconomic impacts from a carbon/energy tax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Energy, the Environment and the Economy</dc:title>
  <dc:subject>CE</dc:subject>
  <dc:creator>Alicia Higson</dc:creator>
  <cp:lastModifiedBy>KEI 김이진</cp:lastModifiedBy>
  <cp:revision>69</cp:revision>
  <cp:lastPrinted>2014-07-24T10:43:19Z</cp:lastPrinted>
  <dcterms:created xsi:type="dcterms:W3CDTF">2013-03-21T16:58:03Z</dcterms:created>
  <dcterms:modified xsi:type="dcterms:W3CDTF">2015-09-02T00:46:17Z</dcterms:modified>
</cp:coreProperties>
</file>