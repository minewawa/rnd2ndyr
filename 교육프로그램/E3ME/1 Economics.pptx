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diagrams/layout1.xml" ContentType="application/vnd.openxmlformats-officedocument.drawingml.diagramLayout+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diagrams/quickStyle1.xml" ContentType="application/vnd.openxmlformats-officedocument.drawingml.diagramStyl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3"/>
  </p:notesMasterIdLst>
  <p:handoutMasterIdLst>
    <p:handoutMasterId r:id="rId34"/>
  </p:handoutMasterIdLst>
  <p:sldIdLst>
    <p:sldId id="256" r:id="rId2"/>
    <p:sldId id="257" r:id="rId3"/>
    <p:sldId id="297" r:id="rId4"/>
    <p:sldId id="316" r:id="rId5"/>
    <p:sldId id="292" r:id="rId6"/>
    <p:sldId id="298" r:id="rId7"/>
    <p:sldId id="301" r:id="rId8"/>
    <p:sldId id="300" r:id="rId9"/>
    <p:sldId id="299" r:id="rId10"/>
    <p:sldId id="284" r:id="rId11"/>
    <p:sldId id="303" r:id="rId12"/>
    <p:sldId id="302" r:id="rId13"/>
    <p:sldId id="304" r:id="rId14"/>
    <p:sldId id="305" r:id="rId15"/>
    <p:sldId id="306" r:id="rId16"/>
    <p:sldId id="288" r:id="rId17"/>
    <p:sldId id="307" r:id="rId18"/>
    <p:sldId id="308" r:id="rId19"/>
    <p:sldId id="266" r:id="rId20"/>
    <p:sldId id="309" r:id="rId21"/>
    <p:sldId id="320" r:id="rId22"/>
    <p:sldId id="291" r:id="rId23"/>
    <p:sldId id="311" r:id="rId24"/>
    <p:sldId id="315" r:id="rId25"/>
    <p:sldId id="318" r:id="rId26"/>
    <p:sldId id="317" r:id="rId27"/>
    <p:sldId id="321" r:id="rId28"/>
    <p:sldId id="312" r:id="rId29"/>
    <p:sldId id="289" r:id="rId30"/>
    <p:sldId id="313" r:id="rId31"/>
    <p:sldId id="296" r:id="rId32"/>
  </p:sldIdLst>
  <p:sldSz cx="9144000" cy="6858000" type="screen4x3"/>
  <p:notesSz cx="6669088" cy="9775825"/>
  <p:defaultTextStyle>
    <a:defPPr>
      <a:defRPr lang="en-GB"/>
    </a:defPPr>
    <a:lvl1pPr algn="l" rtl="0" eaLnBrk="0" fontAlgn="base" hangingPunct="0">
      <a:spcBef>
        <a:spcPct val="50000"/>
      </a:spcBef>
      <a:spcAft>
        <a:spcPct val="0"/>
      </a:spcAft>
      <a:defRPr sz="1600" kern="1200">
        <a:solidFill>
          <a:schemeClr val="tx1"/>
        </a:solidFill>
        <a:latin typeface="Times New Roman" pitchFamily="18" charset="0"/>
        <a:ea typeface="+mn-ea"/>
        <a:cs typeface="+mn-cs"/>
      </a:defRPr>
    </a:lvl1pPr>
    <a:lvl2pPr marL="457200" algn="l" rtl="0" eaLnBrk="0" fontAlgn="base" hangingPunct="0">
      <a:spcBef>
        <a:spcPct val="50000"/>
      </a:spcBef>
      <a:spcAft>
        <a:spcPct val="0"/>
      </a:spcAft>
      <a:defRPr sz="1600" kern="1200">
        <a:solidFill>
          <a:schemeClr val="tx1"/>
        </a:solidFill>
        <a:latin typeface="Times New Roman" pitchFamily="18" charset="0"/>
        <a:ea typeface="+mn-ea"/>
        <a:cs typeface="+mn-cs"/>
      </a:defRPr>
    </a:lvl2pPr>
    <a:lvl3pPr marL="914400" algn="l" rtl="0" eaLnBrk="0" fontAlgn="base" hangingPunct="0">
      <a:spcBef>
        <a:spcPct val="50000"/>
      </a:spcBef>
      <a:spcAft>
        <a:spcPct val="0"/>
      </a:spcAft>
      <a:defRPr sz="1600" kern="1200">
        <a:solidFill>
          <a:schemeClr val="tx1"/>
        </a:solidFill>
        <a:latin typeface="Times New Roman" pitchFamily="18" charset="0"/>
        <a:ea typeface="+mn-ea"/>
        <a:cs typeface="+mn-cs"/>
      </a:defRPr>
    </a:lvl3pPr>
    <a:lvl4pPr marL="1371600" algn="l" rtl="0" eaLnBrk="0" fontAlgn="base" hangingPunct="0">
      <a:spcBef>
        <a:spcPct val="50000"/>
      </a:spcBef>
      <a:spcAft>
        <a:spcPct val="0"/>
      </a:spcAft>
      <a:defRPr sz="1600" kern="1200">
        <a:solidFill>
          <a:schemeClr val="tx1"/>
        </a:solidFill>
        <a:latin typeface="Times New Roman" pitchFamily="18" charset="0"/>
        <a:ea typeface="+mn-ea"/>
        <a:cs typeface="+mn-cs"/>
      </a:defRPr>
    </a:lvl4pPr>
    <a:lvl5pPr marL="1828800" algn="l" rtl="0" eaLnBrk="0" fontAlgn="base" hangingPunct="0">
      <a:spcBef>
        <a:spcPct val="50000"/>
      </a:spcBef>
      <a:spcAft>
        <a:spcPct val="0"/>
      </a:spcAft>
      <a:defRPr sz="1600" kern="1200">
        <a:solidFill>
          <a:schemeClr val="tx1"/>
        </a:solidFill>
        <a:latin typeface="Times New Roman" pitchFamily="18" charset="0"/>
        <a:ea typeface="+mn-ea"/>
        <a:cs typeface="+mn-cs"/>
      </a:defRPr>
    </a:lvl5pPr>
    <a:lvl6pPr marL="2286000" algn="l" defTabSz="914400" rtl="0" eaLnBrk="1" latinLnBrk="0" hangingPunct="1">
      <a:defRPr sz="1600" kern="1200">
        <a:solidFill>
          <a:schemeClr val="tx1"/>
        </a:solidFill>
        <a:latin typeface="Times New Roman" pitchFamily="18" charset="0"/>
        <a:ea typeface="+mn-ea"/>
        <a:cs typeface="+mn-cs"/>
      </a:defRPr>
    </a:lvl6pPr>
    <a:lvl7pPr marL="2743200" algn="l" defTabSz="914400" rtl="0" eaLnBrk="1" latinLnBrk="0" hangingPunct="1">
      <a:defRPr sz="1600" kern="1200">
        <a:solidFill>
          <a:schemeClr val="tx1"/>
        </a:solidFill>
        <a:latin typeface="Times New Roman" pitchFamily="18" charset="0"/>
        <a:ea typeface="+mn-ea"/>
        <a:cs typeface="+mn-cs"/>
      </a:defRPr>
    </a:lvl7pPr>
    <a:lvl8pPr marL="3200400" algn="l" defTabSz="914400" rtl="0" eaLnBrk="1" latinLnBrk="0" hangingPunct="1">
      <a:defRPr sz="1600" kern="1200">
        <a:solidFill>
          <a:schemeClr val="tx1"/>
        </a:solidFill>
        <a:latin typeface="Times New Roman" pitchFamily="18" charset="0"/>
        <a:ea typeface="+mn-ea"/>
        <a:cs typeface="+mn-cs"/>
      </a:defRPr>
    </a:lvl8pPr>
    <a:lvl9pPr marL="3657600" algn="l" defTabSz="914400" rtl="0" eaLnBrk="1" latinLnBrk="0" hangingPunct="1">
      <a:defRPr sz="16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3D6B"/>
    <a:srgbClr val="00B485"/>
    <a:srgbClr val="00CC99"/>
    <a:srgbClr val="60C99C"/>
    <a:srgbClr val="003966"/>
    <a:srgbClr val="FF5050"/>
    <a:srgbClr val="FFFFFF"/>
    <a:srgbClr val="9999FF"/>
    <a:srgbClr val="CC99FF"/>
    <a:srgbClr val="FFFF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79784" autoAdjust="0"/>
  </p:normalViewPr>
  <p:slideViewPr>
    <p:cSldViewPr snapToGrid="0">
      <p:cViewPr varScale="1">
        <p:scale>
          <a:sx n="83" d="100"/>
          <a:sy n="83" d="100"/>
        </p:scale>
        <p:origin x="-900" y="-78"/>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FA6A10-5FBB-4965-8579-96ABA30D3575}" type="doc">
      <dgm:prSet loTypeId="urn:microsoft.com/office/officeart/2005/8/layout/equation1" loCatId="relationship" qsTypeId="urn:microsoft.com/office/officeart/2005/8/quickstyle/simple1" qsCatId="simple" csTypeId="urn:microsoft.com/office/officeart/2005/8/colors/accent5_1" csCatId="accent5" phldr="1"/>
      <dgm:spPr/>
    </dgm:pt>
    <dgm:pt modelId="{A1BCFD2B-729D-47D3-B901-26E72F6DA71D}">
      <dgm:prSet phldrT="[Text]"/>
      <dgm:spPr>
        <a:ln>
          <a:solidFill>
            <a:srgbClr val="00B485"/>
          </a:solidFill>
        </a:ln>
      </dgm:spPr>
      <dgm:t>
        <a:bodyPr/>
        <a:lstStyle/>
        <a:p>
          <a:r>
            <a:rPr lang="en-GB" dirty="0" smtClean="0">
              <a:solidFill>
                <a:srgbClr val="60C99C"/>
              </a:solidFill>
            </a:rPr>
            <a:t>Output</a:t>
          </a:r>
          <a:endParaRPr lang="en-GB" dirty="0">
            <a:solidFill>
              <a:srgbClr val="60C99C"/>
            </a:solidFill>
          </a:endParaRPr>
        </a:p>
      </dgm:t>
    </dgm:pt>
    <dgm:pt modelId="{5141EE82-981A-4DF5-8DCA-ABF3026EE2A1}" type="parTrans" cxnId="{9FC561FA-A89F-493F-B876-228C32BC40EB}">
      <dgm:prSet/>
      <dgm:spPr/>
      <dgm:t>
        <a:bodyPr/>
        <a:lstStyle/>
        <a:p>
          <a:endParaRPr lang="en-GB">
            <a:solidFill>
              <a:schemeClr val="accent1">
                <a:lumMod val="50000"/>
              </a:schemeClr>
            </a:solidFill>
          </a:endParaRPr>
        </a:p>
      </dgm:t>
    </dgm:pt>
    <dgm:pt modelId="{248E6563-1103-477D-9C6A-92E5A4EFC816}" type="sibTrans" cxnId="{9FC561FA-A89F-493F-B876-228C32BC40EB}">
      <dgm:prSet/>
      <dgm:spPr>
        <a:solidFill>
          <a:srgbClr val="60C99C"/>
        </a:solidFill>
        <a:ln>
          <a:solidFill>
            <a:srgbClr val="60C99C"/>
          </a:solidFill>
        </a:ln>
      </dgm:spPr>
      <dgm:t>
        <a:bodyPr/>
        <a:lstStyle/>
        <a:p>
          <a:endParaRPr lang="en-GB">
            <a:solidFill>
              <a:schemeClr val="accent1">
                <a:lumMod val="50000"/>
              </a:schemeClr>
            </a:solidFill>
          </a:endParaRPr>
        </a:p>
      </dgm:t>
    </dgm:pt>
    <dgm:pt modelId="{EA40EF7D-DC9B-412D-B5BF-BA3C5A43DAB1}">
      <dgm:prSet phldrT="[Text]"/>
      <dgm:spPr>
        <a:ln>
          <a:solidFill>
            <a:srgbClr val="00B485"/>
          </a:solidFill>
        </a:ln>
      </dgm:spPr>
      <dgm:t>
        <a:bodyPr/>
        <a:lstStyle/>
        <a:p>
          <a:r>
            <a:rPr lang="en-GB" dirty="0" smtClean="0">
              <a:solidFill>
                <a:srgbClr val="60C99C"/>
              </a:solidFill>
            </a:rPr>
            <a:t>Input</a:t>
          </a:r>
          <a:endParaRPr lang="en-GB" dirty="0">
            <a:solidFill>
              <a:srgbClr val="60C99C"/>
            </a:solidFill>
          </a:endParaRPr>
        </a:p>
      </dgm:t>
    </dgm:pt>
    <dgm:pt modelId="{5D246E94-1614-41D8-87CA-FAF343DED948}" type="parTrans" cxnId="{71D7CA11-CF41-4C10-99D7-9E36F2BA639F}">
      <dgm:prSet/>
      <dgm:spPr/>
      <dgm:t>
        <a:bodyPr/>
        <a:lstStyle/>
        <a:p>
          <a:endParaRPr lang="en-GB">
            <a:solidFill>
              <a:schemeClr val="accent1">
                <a:lumMod val="50000"/>
              </a:schemeClr>
            </a:solidFill>
          </a:endParaRPr>
        </a:p>
      </dgm:t>
    </dgm:pt>
    <dgm:pt modelId="{3D8D74F3-2871-40B0-8B53-4CFD6E73F7D0}" type="sibTrans" cxnId="{71D7CA11-CF41-4C10-99D7-9E36F2BA639F}">
      <dgm:prSet/>
      <dgm:spPr/>
      <dgm:t>
        <a:bodyPr/>
        <a:lstStyle/>
        <a:p>
          <a:endParaRPr lang="en-GB">
            <a:solidFill>
              <a:schemeClr val="accent1">
                <a:lumMod val="50000"/>
              </a:schemeClr>
            </a:solidFill>
          </a:endParaRPr>
        </a:p>
      </dgm:t>
    </dgm:pt>
    <dgm:pt modelId="{23B0466D-92AA-4079-82B2-A7A98EA3546B}" type="pres">
      <dgm:prSet presAssocID="{98FA6A10-5FBB-4965-8579-96ABA30D3575}" presName="linearFlow" presStyleCnt="0">
        <dgm:presLayoutVars>
          <dgm:dir/>
          <dgm:resizeHandles val="exact"/>
        </dgm:presLayoutVars>
      </dgm:prSet>
      <dgm:spPr/>
    </dgm:pt>
    <dgm:pt modelId="{F9FB5462-FD18-49C0-810E-DE6269D63BB3}" type="pres">
      <dgm:prSet presAssocID="{A1BCFD2B-729D-47D3-B901-26E72F6DA71D}" presName="node" presStyleLbl="node1" presStyleIdx="0" presStyleCnt="2" custLinFactNeighborX="-1791" custLinFactNeighborY="85">
        <dgm:presLayoutVars>
          <dgm:bulletEnabled val="1"/>
        </dgm:presLayoutVars>
      </dgm:prSet>
      <dgm:spPr/>
      <dgm:t>
        <a:bodyPr/>
        <a:lstStyle/>
        <a:p>
          <a:endParaRPr lang="en-GB"/>
        </a:p>
      </dgm:t>
    </dgm:pt>
    <dgm:pt modelId="{ED73DE61-BF53-4430-AFC5-9484019620E4}" type="pres">
      <dgm:prSet presAssocID="{248E6563-1103-477D-9C6A-92E5A4EFC816}" presName="spacerL" presStyleCnt="0"/>
      <dgm:spPr/>
    </dgm:pt>
    <dgm:pt modelId="{0AE3141B-8BCE-45D8-8C0B-FF54655B8120}" type="pres">
      <dgm:prSet presAssocID="{248E6563-1103-477D-9C6A-92E5A4EFC816}" presName="sibTrans" presStyleLbl="sibTrans2D1" presStyleIdx="0" presStyleCnt="1"/>
      <dgm:spPr/>
      <dgm:t>
        <a:bodyPr/>
        <a:lstStyle/>
        <a:p>
          <a:endParaRPr lang="en-GB"/>
        </a:p>
      </dgm:t>
    </dgm:pt>
    <dgm:pt modelId="{A7CAA1DD-B5B7-405B-8D92-F1912F22C080}" type="pres">
      <dgm:prSet presAssocID="{248E6563-1103-477D-9C6A-92E5A4EFC816}" presName="spacerR" presStyleCnt="0"/>
      <dgm:spPr/>
    </dgm:pt>
    <dgm:pt modelId="{06485989-F542-494D-A0FA-2CFDD83E272A}" type="pres">
      <dgm:prSet presAssocID="{EA40EF7D-DC9B-412D-B5BF-BA3C5A43DAB1}" presName="node" presStyleLbl="node1" presStyleIdx="1" presStyleCnt="2">
        <dgm:presLayoutVars>
          <dgm:bulletEnabled val="1"/>
        </dgm:presLayoutVars>
      </dgm:prSet>
      <dgm:spPr/>
      <dgm:t>
        <a:bodyPr/>
        <a:lstStyle/>
        <a:p>
          <a:endParaRPr lang="en-GB"/>
        </a:p>
      </dgm:t>
    </dgm:pt>
  </dgm:ptLst>
  <dgm:cxnLst>
    <dgm:cxn modelId="{022C463A-8722-4FA0-AFE6-67EFA7A0A3CB}" type="presOf" srcId="{A1BCFD2B-729D-47D3-B901-26E72F6DA71D}" destId="{F9FB5462-FD18-49C0-810E-DE6269D63BB3}" srcOrd="0" destOrd="0" presId="urn:microsoft.com/office/officeart/2005/8/layout/equation1"/>
    <dgm:cxn modelId="{9FC561FA-A89F-493F-B876-228C32BC40EB}" srcId="{98FA6A10-5FBB-4965-8579-96ABA30D3575}" destId="{A1BCFD2B-729D-47D3-B901-26E72F6DA71D}" srcOrd="0" destOrd="0" parTransId="{5141EE82-981A-4DF5-8DCA-ABF3026EE2A1}" sibTransId="{248E6563-1103-477D-9C6A-92E5A4EFC816}"/>
    <dgm:cxn modelId="{E8747522-01CC-4D0C-94F4-92F48D9993C6}" type="presOf" srcId="{98FA6A10-5FBB-4965-8579-96ABA30D3575}" destId="{23B0466D-92AA-4079-82B2-A7A98EA3546B}" srcOrd="0" destOrd="0" presId="urn:microsoft.com/office/officeart/2005/8/layout/equation1"/>
    <dgm:cxn modelId="{A9221CF0-4C6E-4B88-8A53-49BB6417B6B5}" type="presOf" srcId="{EA40EF7D-DC9B-412D-B5BF-BA3C5A43DAB1}" destId="{06485989-F542-494D-A0FA-2CFDD83E272A}" srcOrd="0" destOrd="0" presId="urn:microsoft.com/office/officeart/2005/8/layout/equation1"/>
    <dgm:cxn modelId="{71D7CA11-CF41-4C10-99D7-9E36F2BA639F}" srcId="{98FA6A10-5FBB-4965-8579-96ABA30D3575}" destId="{EA40EF7D-DC9B-412D-B5BF-BA3C5A43DAB1}" srcOrd="1" destOrd="0" parTransId="{5D246E94-1614-41D8-87CA-FAF343DED948}" sibTransId="{3D8D74F3-2871-40B0-8B53-4CFD6E73F7D0}"/>
    <dgm:cxn modelId="{BC7163A4-645A-4474-82D5-BD8934084B5E}" type="presOf" srcId="{248E6563-1103-477D-9C6A-92E5A4EFC816}" destId="{0AE3141B-8BCE-45D8-8C0B-FF54655B8120}" srcOrd="0" destOrd="0" presId="urn:microsoft.com/office/officeart/2005/8/layout/equation1"/>
    <dgm:cxn modelId="{99B6B4B1-CCBB-4B63-91E6-886CC90FF1CB}" type="presParOf" srcId="{23B0466D-92AA-4079-82B2-A7A98EA3546B}" destId="{F9FB5462-FD18-49C0-810E-DE6269D63BB3}" srcOrd="0" destOrd="0" presId="urn:microsoft.com/office/officeart/2005/8/layout/equation1"/>
    <dgm:cxn modelId="{C2DC86F7-706C-4E3A-BDD4-BE07F11D5D1B}" type="presParOf" srcId="{23B0466D-92AA-4079-82B2-A7A98EA3546B}" destId="{ED73DE61-BF53-4430-AFC5-9484019620E4}" srcOrd="1" destOrd="0" presId="urn:microsoft.com/office/officeart/2005/8/layout/equation1"/>
    <dgm:cxn modelId="{79C8289F-5A97-4416-A5AE-DDCCEAB21F68}" type="presParOf" srcId="{23B0466D-92AA-4079-82B2-A7A98EA3546B}" destId="{0AE3141B-8BCE-45D8-8C0B-FF54655B8120}" srcOrd="2" destOrd="0" presId="urn:microsoft.com/office/officeart/2005/8/layout/equation1"/>
    <dgm:cxn modelId="{60C2BA68-C26B-4382-B580-ACCEB4F9BAD5}" type="presParOf" srcId="{23B0466D-92AA-4079-82B2-A7A98EA3546B}" destId="{A7CAA1DD-B5B7-405B-8D92-F1912F22C080}" srcOrd="3" destOrd="0" presId="urn:microsoft.com/office/officeart/2005/8/layout/equation1"/>
    <dgm:cxn modelId="{00CC771A-59F3-4A2E-A2B8-151AFC24EB39}" type="presParOf" srcId="{23B0466D-92AA-4079-82B2-A7A98EA3546B}" destId="{06485989-F542-494D-A0FA-2CFDD83E272A}" srcOrd="4" destOrd="0" presId="urn:microsoft.com/office/officeart/2005/8/layout/equation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1"/>
            <a:ext cx="2889341" cy="4887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965" tIns="46982" rIns="93965" bIns="46982" numCol="1" anchor="t" anchorCtr="0" compatLnSpc="1">
            <a:prstTxWarp prst="textNoShape">
              <a:avLst/>
            </a:prstTxWarp>
          </a:bodyPr>
          <a:lstStyle>
            <a:lvl1pPr defTabSz="939562">
              <a:defRPr sz="1200" b="1" smtClean="0"/>
            </a:lvl1pPr>
          </a:lstStyle>
          <a:p>
            <a:pPr>
              <a:defRPr/>
            </a:pPr>
            <a:endParaRPr lang="en-GB"/>
          </a:p>
        </p:txBody>
      </p:sp>
      <p:sp>
        <p:nvSpPr>
          <p:cNvPr id="57347" name="Rectangle 3"/>
          <p:cNvSpPr>
            <a:spLocks noGrp="1" noChangeArrowheads="1"/>
          </p:cNvSpPr>
          <p:nvPr>
            <p:ph type="dt" sz="quarter" idx="1"/>
          </p:nvPr>
        </p:nvSpPr>
        <p:spPr bwMode="auto">
          <a:xfrm>
            <a:off x="3779748" y="1"/>
            <a:ext cx="2889341" cy="4887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965" tIns="46982" rIns="93965" bIns="46982" numCol="1" anchor="t" anchorCtr="0" compatLnSpc="1">
            <a:prstTxWarp prst="textNoShape">
              <a:avLst/>
            </a:prstTxWarp>
          </a:bodyPr>
          <a:lstStyle>
            <a:lvl1pPr algn="r" defTabSz="939562">
              <a:defRPr sz="1200" b="1" smtClean="0"/>
            </a:lvl1pPr>
          </a:lstStyle>
          <a:p>
            <a:pPr>
              <a:defRPr/>
            </a:pPr>
            <a:endParaRPr lang="en-GB"/>
          </a:p>
        </p:txBody>
      </p:sp>
      <p:sp>
        <p:nvSpPr>
          <p:cNvPr id="57348" name="Rectangle 4"/>
          <p:cNvSpPr>
            <a:spLocks noGrp="1" noChangeArrowheads="1"/>
          </p:cNvSpPr>
          <p:nvPr>
            <p:ph type="ftr" sz="quarter" idx="2"/>
          </p:nvPr>
        </p:nvSpPr>
        <p:spPr bwMode="auto">
          <a:xfrm>
            <a:off x="0" y="9287034"/>
            <a:ext cx="2889341" cy="4887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965" tIns="46982" rIns="93965" bIns="46982" numCol="1" anchor="b" anchorCtr="0" compatLnSpc="1">
            <a:prstTxWarp prst="textNoShape">
              <a:avLst/>
            </a:prstTxWarp>
          </a:bodyPr>
          <a:lstStyle>
            <a:lvl1pPr defTabSz="939562">
              <a:defRPr sz="1200" b="1" smtClean="0"/>
            </a:lvl1pPr>
          </a:lstStyle>
          <a:p>
            <a:pPr>
              <a:defRPr/>
            </a:pPr>
            <a:endParaRPr lang="en-GB"/>
          </a:p>
        </p:txBody>
      </p:sp>
      <p:sp>
        <p:nvSpPr>
          <p:cNvPr id="57349" name="Rectangle 5"/>
          <p:cNvSpPr>
            <a:spLocks noGrp="1" noChangeArrowheads="1"/>
          </p:cNvSpPr>
          <p:nvPr>
            <p:ph type="sldNum" sz="quarter" idx="3"/>
          </p:nvPr>
        </p:nvSpPr>
        <p:spPr bwMode="auto">
          <a:xfrm>
            <a:off x="3779748" y="9287034"/>
            <a:ext cx="2889341" cy="4887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965" tIns="46982" rIns="93965" bIns="46982" numCol="1" anchor="b" anchorCtr="0" compatLnSpc="1">
            <a:prstTxWarp prst="textNoShape">
              <a:avLst/>
            </a:prstTxWarp>
          </a:bodyPr>
          <a:lstStyle>
            <a:lvl1pPr algn="r" defTabSz="939562">
              <a:defRPr sz="1200" b="1" smtClean="0"/>
            </a:lvl1pPr>
          </a:lstStyle>
          <a:p>
            <a:pPr>
              <a:defRPr/>
            </a:pPr>
            <a:fld id="{63501519-E15A-46A4-BC44-1DB72EACBF09}" type="slidenum">
              <a:rPr lang="en-GB"/>
              <a:pPr>
                <a:defRPr/>
              </a:pPr>
              <a:t>‹#›</a:t>
            </a:fld>
            <a:endParaRPr lang="en-GB"/>
          </a:p>
        </p:txBody>
      </p:sp>
    </p:spTree>
    <p:extLst>
      <p:ext uri="{BB962C8B-B14F-4D97-AF65-F5344CB8AC3E}">
        <p14:creationId xmlns:p14="http://schemas.microsoft.com/office/powerpoint/2010/main" xmlns="" val="2400533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1"/>
            <a:ext cx="2889341" cy="4887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965" tIns="46982" rIns="93965" bIns="46982" numCol="1" anchor="t" anchorCtr="0" compatLnSpc="1">
            <a:prstTxWarp prst="textNoShape">
              <a:avLst/>
            </a:prstTxWarp>
          </a:bodyPr>
          <a:lstStyle>
            <a:lvl1pPr defTabSz="939562">
              <a:spcBef>
                <a:spcPct val="0"/>
              </a:spcBef>
              <a:defRPr sz="1200" smtClean="0"/>
            </a:lvl1pPr>
          </a:lstStyle>
          <a:p>
            <a:pPr>
              <a:defRPr/>
            </a:pPr>
            <a:endParaRPr lang="en-GB"/>
          </a:p>
        </p:txBody>
      </p:sp>
      <p:sp>
        <p:nvSpPr>
          <p:cNvPr id="46083" name="Rectangle 3"/>
          <p:cNvSpPr>
            <a:spLocks noGrp="1" noChangeArrowheads="1"/>
          </p:cNvSpPr>
          <p:nvPr>
            <p:ph type="dt" idx="1"/>
          </p:nvPr>
        </p:nvSpPr>
        <p:spPr bwMode="auto">
          <a:xfrm>
            <a:off x="3778254" y="1"/>
            <a:ext cx="2889341" cy="4887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965" tIns="46982" rIns="93965" bIns="46982" numCol="1" anchor="t" anchorCtr="0" compatLnSpc="1">
            <a:prstTxWarp prst="textNoShape">
              <a:avLst/>
            </a:prstTxWarp>
          </a:bodyPr>
          <a:lstStyle>
            <a:lvl1pPr algn="r" defTabSz="939562">
              <a:spcBef>
                <a:spcPct val="0"/>
              </a:spcBef>
              <a:defRPr sz="1200" smtClean="0"/>
            </a:lvl1pPr>
          </a:lstStyle>
          <a:p>
            <a:pPr>
              <a:defRPr/>
            </a:pPr>
            <a:endParaRPr lang="en-GB"/>
          </a:p>
        </p:txBody>
      </p:sp>
      <p:sp>
        <p:nvSpPr>
          <p:cNvPr id="10244" name="Rectangle 4"/>
          <p:cNvSpPr>
            <a:spLocks noGrp="1" noRot="1" noChangeAspect="1" noChangeArrowheads="1" noTextEdit="1"/>
          </p:cNvSpPr>
          <p:nvPr>
            <p:ph type="sldImg" idx="2"/>
          </p:nvPr>
        </p:nvSpPr>
        <p:spPr bwMode="auto">
          <a:xfrm>
            <a:off x="892175" y="733425"/>
            <a:ext cx="4884738" cy="3665538"/>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
        <p:nvSpPr>
          <p:cNvPr id="46085" name="Rectangle 5"/>
          <p:cNvSpPr>
            <a:spLocks noGrp="1" noChangeArrowheads="1"/>
          </p:cNvSpPr>
          <p:nvPr>
            <p:ph type="body" sz="quarter" idx="3"/>
          </p:nvPr>
        </p:nvSpPr>
        <p:spPr bwMode="auto">
          <a:xfrm>
            <a:off x="666311" y="4643518"/>
            <a:ext cx="5336466" cy="43991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965" tIns="46982" rIns="93965" bIns="46982"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46086" name="Rectangle 6"/>
          <p:cNvSpPr>
            <a:spLocks noGrp="1" noChangeArrowheads="1"/>
          </p:cNvSpPr>
          <p:nvPr>
            <p:ph type="ftr" sz="quarter" idx="4"/>
          </p:nvPr>
        </p:nvSpPr>
        <p:spPr bwMode="auto">
          <a:xfrm>
            <a:off x="0" y="9285517"/>
            <a:ext cx="2889341" cy="4887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965" tIns="46982" rIns="93965" bIns="46982" numCol="1" anchor="b" anchorCtr="0" compatLnSpc="1">
            <a:prstTxWarp prst="textNoShape">
              <a:avLst/>
            </a:prstTxWarp>
          </a:bodyPr>
          <a:lstStyle>
            <a:lvl1pPr defTabSz="939562">
              <a:spcBef>
                <a:spcPct val="0"/>
              </a:spcBef>
              <a:defRPr sz="1200" smtClean="0"/>
            </a:lvl1pPr>
          </a:lstStyle>
          <a:p>
            <a:pPr>
              <a:defRPr/>
            </a:pPr>
            <a:endParaRPr lang="en-GB"/>
          </a:p>
        </p:txBody>
      </p:sp>
      <p:sp>
        <p:nvSpPr>
          <p:cNvPr id="46087" name="Rectangle 7"/>
          <p:cNvSpPr>
            <a:spLocks noGrp="1" noChangeArrowheads="1"/>
          </p:cNvSpPr>
          <p:nvPr>
            <p:ph type="sldNum" sz="quarter" idx="5"/>
          </p:nvPr>
        </p:nvSpPr>
        <p:spPr bwMode="auto">
          <a:xfrm>
            <a:off x="3778254" y="9285517"/>
            <a:ext cx="2889341" cy="4887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3965" tIns="46982" rIns="93965" bIns="46982" numCol="1" anchor="b" anchorCtr="0" compatLnSpc="1">
            <a:prstTxWarp prst="textNoShape">
              <a:avLst/>
            </a:prstTxWarp>
          </a:bodyPr>
          <a:lstStyle>
            <a:lvl1pPr algn="r" defTabSz="939562">
              <a:spcBef>
                <a:spcPct val="0"/>
              </a:spcBef>
              <a:defRPr sz="1200" smtClean="0"/>
            </a:lvl1pPr>
          </a:lstStyle>
          <a:p>
            <a:pPr>
              <a:defRPr/>
            </a:pPr>
            <a:fld id="{1F25B51B-6C7A-4A36-9D03-0961BB7386A6}" type="slidenum">
              <a:rPr lang="en-GB"/>
              <a:pPr>
                <a:defRPr/>
              </a:pPr>
              <a:t>‹#›</a:t>
            </a:fld>
            <a:endParaRPr lang="en-GB"/>
          </a:p>
        </p:txBody>
      </p:sp>
    </p:spTree>
    <p:extLst>
      <p:ext uri="{BB962C8B-B14F-4D97-AF65-F5344CB8AC3E}">
        <p14:creationId xmlns:p14="http://schemas.microsoft.com/office/powerpoint/2010/main" xmlns="" val="378456703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defTabSz="939562">
              <a:defRPr sz="1500">
                <a:solidFill>
                  <a:schemeClr val="tx1"/>
                </a:solidFill>
                <a:latin typeface="Times New Roman" pitchFamily="18" charset="0"/>
              </a:defRPr>
            </a:lvl1pPr>
            <a:lvl2pPr marL="705803" indent="-271463" defTabSz="939562">
              <a:defRPr sz="1500">
                <a:solidFill>
                  <a:schemeClr val="tx1"/>
                </a:solidFill>
                <a:latin typeface="Times New Roman" pitchFamily="18" charset="0"/>
              </a:defRPr>
            </a:lvl2pPr>
            <a:lvl3pPr marL="1085850" indent="-217170" defTabSz="939562">
              <a:defRPr sz="1500">
                <a:solidFill>
                  <a:schemeClr val="tx1"/>
                </a:solidFill>
                <a:latin typeface="Times New Roman" pitchFamily="18" charset="0"/>
              </a:defRPr>
            </a:lvl3pPr>
            <a:lvl4pPr marL="1520190" indent="-217170" defTabSz="939562">
              <a:defRPr sz="1500">
                <a:solidFill>
                  <a:schemeClr val="tx1"/>
                </a:solidFill>
                <a:latin typeface="Times New Roman" pitchFamily="18" charset="0"/>
              </a:defRPr>
            </a:lvl4pPr>
            <a:lvl5pPr marL="1954530" indent="-217170" defTabSz="939562">
              <a:defRPr sz="1500">
                <a:solidFill>
                  <a:schemeClr val="tx1"/>
                </a:solidFill>
                <a:latin typeface="Times New Roman" pitchFamily="18" charset="0"/>
              </a:defRPr>
            </a:lvl5pPr>
            <a:lvl6pPr marL="2388870" indent="-217170" defTabSz="939562" eaLnBrk="0" fontAlgn="base" hangingPunct="0">
              <a:spcBef>
                <a:spcPct val="50000"/>
              </a:spcBef>
              <a:spcAft>
                <a:spcPct val="0"/>
              </a:spcAft>
              <a:defRPr sz="1500">
                <a:solidFill>
                  <a:schemeClr val="tx1"/>
                </a:solidFill>
                <a:latin typeface="Times New Roman" pitchFamily="18" charset="0"/>
              </a:defRPr>
            </a:lvl6pPr>
            <a:lvl7pPr marL="2823210" indent="-217170" defTabSz="939562" eaLnBrk="0" fontAlgn="base" hangingPunct="0">
              <a:spcBef>
                <a:spcPct val="50000"/>
              </a:spcBef>
              <a:spcAft>
                <a:spcPct val="0"/>
              </a:spcAft>
              <a:defRPr sz="1500">
                <a:solidFill>
                  <a:schemeClr val="tx1"/>
                </a:solidFill>
                <a:latin typeface="Times New Roman" pitchFamily="18" charset="0"/>
              </a:defRPr>
            </a:lvl7pPr>
            <a:lvl8pPr marL="3257550" indent="-217170" defTabSz="939562" eaLnBrk="0" fontAlgn="base" hangingPunct="0">
              <a:spcBef>
                <a:spcPct val="50000"/>
              </a:spcBef>
              <a:spcAft>
                <a:spcPct val="0"/>
              </a:spcAft>
              <a:defRPr sz="1500">
                <a:solidFill>
                  <a:schemeClr val="tx1"/>
                </a:solidFill>
                <a:latin typeface="Times New Roman" pitchFamily="18" charset="0"/>
              </a:defRPr>
            </a:lvl8pPr>
            <a:lvl9pPr marL="3691890" indent="-217170" defTabSz="939562" eaLnBrk="0" fontAlgn="base" hangingPunct="0">
              <a:spcBef>
                <a:spcPct val="50000"/>
              </a:spcBef>
              <a:spcAft>
                <a:spcPct val="0"/>
              </a:spcAft>
              <a:defRPr sz="1500">
                <a:solidFill>
                  <a:schemeClr val="tx1"/>
                </a:solidFill>
                <a:latin typeface="Times New Roman" pitchFamily="18" charset="0"/>
              </a:defRPr>
            </a:lvl9pPr>
          </a:lstStyle>
          <a:p>
            <a:fld id="{6C1C404B-0A94-4E2F-BEBA-948BED962C6C}" type="slidenum">
              <a:rPr lang="en-GB" sz="1200"/>
              <a:pPr/>
              <a:t>1</a:t>
            </a:fld>
            <a:endParaRPr lang="en-GB" sz="120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endParaRPr lang="en-GB" dirty="0" smtClean="0">
              <a:latin typeface="Arial" charset="0"/>
            </a:endParaRPr>
          </a:p>
        </p:txBody>
      </p:sp>
    </p:spTree>
    <p:extLst>
      <p:ext uri="{BB962C8B-B14F-4D97-AF65-F5344CB8AC3E}">
        <p14:creationId xmlns:p14="http://schemas.microsoft.com/office/powerpoint/2010/main" xmlns="" val="84877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defTabSz="939562">
              <a:defRPr sz="1500">
                <a:solidFill>
                  <a:schemeClr val="tx1"/>
                </a:solidFill>
                <a:latin typeface="Times New Roman" pitchFamily="18" charset="0"/>
              </a:defRPr>
            </a:lvl1pPr>
            <a:lvl2pPr marL="705803" indent="-271463" defTabSz="939562">
              <a:defRPr sz="1500">
                <a:solidFill>
                  <a:schemeClr val="tx1"/>
                </a:solidFill>
                <a:latin typeface="Times New Roman" pitchFamily="18" charset="0"/>
              </a:defRPr>
            </a:lvl2pPr>
            <a:lvl3pPr marL="1085850" indent="-217170" defTabSz="939562">
              <a:defRPr sz="1500">
                <a:solidFill>
                  <a:schemeClr val="tx1"/>
                </a:solidFill>
                <a:latin typeface="Times New Roman" pitchFamily="18" charset="0"/>
              </a:defRPr>
            </a:lvl3pPr>
            <a:lvl4pPr marL="1520190" indent="-217170" defTabSz="939562">
              <a:defRPr sz="1500">
                <a:solidFill>
                  <a:schemeClr val="tx1"/>
                </a:solidFill>
                <a:latin typeface="Times New Roman" pitchFamily="18" charset="0"/>
              </a:defRPr>
            </a:lvl4pPr>
            <a:lvl5pPr marL="1954530" indent="-217170" defTabSz="939562">
              <a:defRPr sz="1500">
                <a:solidFill>
                  <a:schemeClr val="tx1"/>
                </a:solidFill>
                <a:latin typeface="Times New Roman" pitchFamily="18" charset="0"/>
              </a:defRPr>
            </a:lvl5pPr>
            <a:lvl6pPr marL="2388870" indent="-217170" defTabSz="939562" eaLnBrk="0" fontAlgn="base" hangingPunct="0">
              <a:spcBef>
                <a:spcPct val="50000"/>
              </a:spcBef>
              <a:spcAft>
                <a:spcPct val="0"/>
              </a:spcAft>
              <a:defRPr sz="1500">
                <a:solidFill>
                  <a:schemeClr val="tx1"/>
                </a:solidFill>
                <a:latin typeface="Times New Roman" pitchFamily="18" charset="0"/>
              </a:defRPr>
            </a:lvl6pPr>
            <a:lvl7pPr marL="2823210" indent="-217170" defTabSz="939562" eaLnBrk="0" fontAlgn="base" hangingPunct="0">
              <a:spcBef>
                <a:spcPct val="50000"/>
              </a:spcBef>
              <a:spcAft>
                <a:spcPct val="0"/>
              </a:spcAft>
              <a:defRPr sz="1500">
                <a:solidFill>
                  <a:schemeClr val="tx1"/>
                </a:solidFill>
                <a:latin typeface="Times New Roman" pitchFamily="18" charset="0"/>
              </a:defRPr>
            </a:lvl7pPr>
            <a:lvl8pPr marL="3257550" indent="-217170" defTabSz="939562" eaLnBrk="0" fontAlgn="base" hangingPunct="0">
              <a:spcBef>
                <a:spcPct val="50000"/>
              </a:spcBef>
              <a:spcAft>
                <a:spcPct val="0"/>
              </a:spcAft>
              <a:defRPr sz="1500">
                <a:solidFill>
                  <a:schemeClr val="tx1"/>
                </a:solidFill>
                <a:latin typeface="Times New Roman" pitchFamily="18" charset="0"/>
              </a:defRPr>
            </a:lvl8pPr>
            <a:lvl9pPr marL="3691890" indent="-217170" defTabSz="939562" eaLnBrk="0" fontAlgn="base" hangingPunct="0">
              <a:spcBef>
                <a:spcPct val="50000"/>
              </a:spcBef>
              <a:spcAft>
                <a:spcPct val="0"/>
              </a:spcAft>
              <a:defRPr sz="1500">
                <a:solidFill>
                  <a:schemeClr val="tx1"/>
                </a:solidFill>
                <a:latin typeface="Times New Roman" pitchFamily="18" charset="0"/>
              </a:defRPr>
            </a:lvl9pPr>
          </a:lstStyle>
          <a:p>
            <a:fld id="{EE85BABA-8A34-4431-A950-CC0453C48B53}" type="slidenum">
              <a:rPr lang="en-GB" sz="1200"/>
              <a:pPr/>
              <a:t>2</a:t>
            </a:fld>
            <a:endParaRPr lang="en-GB" sz="120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endParaRPr lang="en-GB" dirty="0" smtClean="0">
              <a:latin typeface="Arial" charset="0"/>
            </a:endParaRPr>
          </a:p>
        </p:txBody>
      </p:sp>
    </p:spTree>
    <p:extLst>
      <p:ext uri="{BB962C8B-B14F-4D97-AF65-F5344CB8AC3E}">
        <p14:creationId xmlns:p14="http://schemas.microsoft.com/office/powerpoint/2010/main" xmlns="" val="4166234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3</a:t>
            </a:fld>
            <a:endParaRPr lang="en-GB"/>
          </a:p>
        </p:txBody>
      </p:sp>
    </p:spTree>
    <p:extLst>
      <p:ext uri="{BB962C8B-B14F-4D97-AF65-F5344CB8AC3E}">
        <p14:creationId xmlns:p14="http://schemas.microsoft.com/office/powerpoint/2010/main" xmlns="" val="327134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4</a:t>
            </a:fld>
            <a:endParaRPr lang="en-GB"/>
          </a:p>
        </p:txBody>
      </p:sp>
    </p:spTree>
    <p:extLst>
      <p:ext uri="{BB962C8B-B14F-4D97-AF65-F5344CB8AC3E}">
        <p14:creationId xmlns:p14="http://schemas.microsoft.com/office/powerpoint/2010/main" xmlns="" val="3817313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5</a:t>
            </a:fld>
            <a:endParaRPr lang="en-GB"/>
          </a:p>
        </p:txBody>
      </p:sp>
    </p:spTree>
    <p:extLst>
      <p:ext uri="{BB962C8B-B14F-4D97-AF65-F5344CB8AC3E}">
        <p14:creationId xmlns:p14="http://schemas.microsoft.com/office/powerpoint/2010/main" xmlns="" val="1395584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6</a:t>
            </a:fld>
            <a:endParaRPr lang="en-GB"/>
          </a:p>
        </p:txBody>
      </p:sp>
    </p:spTree>
    <p:extLst>
      <p:ext uri="{BB962C8B-B14F-4D97-AF65-F5344CB8AC3E}">
        <p14:creationId xmlns:p14="http://schemas.microsoft.com/office/powerpoint/2010/main" xmlns="" val="1189239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7</a:t>
            </a:fld>
            <a:endParaRPr lang="en-GB"/>
          </a:p>
        </p:txBody>
      </p:sp>
    </p:spTree>
    <p:extLst>
      <p:ext uri="{BB962C8B-B14F-4D97-AF65-F5344CB8AC3E}">
        <p14:creationId xmlns:p14="http://schemas.microsoft.com/office/powerpoint/2010/main" xmlns="" val="1957355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8</a:t>
            </a:fld>
            <a:endParaRPr lang="en-GB"/>
          </a:p>
        </p:txBody>
      </p:sp>
    </p:spTree>
    <p:extLst>
      <p:ext uri="{BB962C8B-B14F-4D97-AF65-F5344CB8AC3E}">
        <p14:creationId xmlns:p14="http://schemas.microsoft.com/office/powerpoint/2010/main" xmlns="" val="1422379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smtClean="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9</a:t>
            </a:fld>
            <a:endParaRPr lang="en-GB"/>
          </a:p>
        </p:txBody>
      </p:sp>
    </p:spTree>
    <p:extLst>
      <p:ext uri="{BB962C8B-B14F-4D97-AF65-F5344CB8AC3E}">
        <p14:creationId xmlns:p14="http://schemas.microsoft.com/office/powerpoint/2010/main" xmlns="" val="89366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10</a:t>
            </a:fld>
            <a:endParaRPr lang="en-GB"/>
          </a:p>
        </p:txBody>
      </p:sp>
    </p:spTree>
    <p:extLst>
      <p:ext uri="{BB962C8B-B14F-4D97-AF65-F5344CB8AC3E}">
        <p14:creationId xmlns:p14="http://schemas.microsoft.com/office/powerpoint/2010/main" xmlns="" val="3758836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11</a:t>
            </a:fld>
            <a:endParaRPr lang="en-GB"/>
          </a:p>
        </p:txBody>
      </p:sp>
    </p:spTree>
    <p:extLst>
      <p:ext uri="{BB962C8B-B14F-4D97-AF65-F5344CB8AC3E}">
        <p14:creationId xmlns:p14="http://schemas.microsoft.com/office/powerpoint/2010/main" xmlns="" val="2026536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12</a:t>
            </a:fld>
            <a:endParaRPr lang="en-GB"/>
          </a:p>
        </p:txBody>
      </p:sp>
    </p:spTree>
    <p:extLst>
      <p:ext uri="{BB962C8B-B14F-4D97-AF65-F5344CB8AC3E}">
        <p14:creationId xmlns:p14="http://schemas.microsoft.com/office/powerpoint/2010/main" xmlns="" val="5499589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smtClean="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13</a:t>
            </a:fld>
            <a:endParaRPr lang="en-GB"/>
          </a:p>
        </p:txBody>
      </p:sp>
    </p:spTree>
    <p:extLst>
      <p:ext uri="{BB962C8B-B14F-4D97-AF65-F5344CB8AC3E}">
        <p14:creationId xmlns:p14="http://schemas.microsoft.com/office/powerpoint/2010/main" xmlns="" val="24645265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smtClean="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14</a:t>
            </a:fld>
            <a:endParaRPr lang="en-GB"/>
          </a:p>
        </p:txBody>
      </p:sp>
    </p:spTree>
    <p:extLst>
      <p:ext uri="{BB962C8B-B14F-4D97-AF65-F5344CB8AC3E}">
        <p14:creationId xmlns:p14="http://schemas.microsoft.com/office/powerpoint/2010/main" xmlns="" val="770216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smtClean="0"/>
          </a:p>
          <a:p>
            <a:pPr defTabSz="868680">
              <a:defRPr/>
            </a:pPr>
            <a:r>
              <a:rPr lang="en-GB" dirty="0" smtClean="0"/>
              <a:t>GDP from the output or production approach - GDP(O) measures the sum of the value added created through the production of goods and services within the economy (our production or output as an economy). This approach provides the first estimate of GDP and can be used to show how much different industries (for example, agriculture) contribute within the economy.</a:t>
            </a:r>
          </a:p>
          <a:p>
            <a:endParaRPr lang="en-GB" dirty="0" smtClean="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15</a:t>
            </a:fld>
            <a:endParaRPr lang="en-GB"/>
          </a:p>
        </p:txBody>
      </p:sp>
    </p:spTree>
    <p:extLst>
      <p:ext uri="{BB962C8B-B14F-4D97-AF65-F5344CB8AC3E}">
        <p14:creationId xmlns:p14="http://schemas.microsoft.com/office/powerpoint/2010/main" xmlns="" val="11120978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smtClean="0"/>
          </a:p>
          <a:p>
            <a:r>
              <a:rPr lang="en-GB" dirty="0" smtClean="0"/>
              <a:t>Earthquake</a:t>
            </a:r>
            <a:r>
              <a:rPr lang="en-GB" baseline="0" dirty="0" smtClean="0"/>
              <a:t> – no negative effects on GDP but rebuilding has positive effects.  Wars etc.</a:t>
            </a:r>
            <a:endParaRPr lang="en-GB" dirty="0" smtClean="0"/>
          </a:p>
          <a:p>
            <a:endParaRPr lang="en-GB" dirty="0" smtClean="0"/>
          </a:p>
          <a:p>
            <a:r>
              <a:rPr lang="en-GB" dirty="0" smtClean="0"/>
              <a:t>America’s GDP rose by $560 billion, or 3.6%, mainly because the “boundary” that defines what counts as an economic asset was moved. Makes</a:t>
            </a:r>
            <a:r>
              <a:rPr lang="en-GB" baseline="0" dirty="0" smtClean="0"/>
              <a:t> international comparisons harder as not all countries have yet included this item.</a:t>
            </a:r>
          </a:p>
          <a:p>
            <a:endParaRPr lang="en-GB" baseline="0" dirty="0" smtClean="0"/>
          </a:p>
          <a:p>
            <a:r>
              <a:rPr lang="en-GB" sz="1100" dirty="0"/>
              <a:t>A country’s territorial waters are within its national boundary, but foreign crews of ships working in those waters contribute to their home country’s output. Smugglers, whose activity crosses borders and is hard to track, are a real headache.</a:t>
            </a:r>
          </a:p>
          <a:p>
            <a:endParaRPr lang="en-GB" sz="1100" dirty="0"/>
          </a:p>
          <a:p>
            <a:r>
              <a:rPr lang="en-GB" sz="1100" dirty="0"/>
              <a:t>If more fruit and vegetables are grown in the garden the economy gets bigger. The logic is that home-grown produce could be sold at a market, obtain a price and be measurable. But services—cleaning a home, caring for a relative—are excluded from GDP. </a:t>
            </a:r>
          </a:p>
          <a:p>
            <a:endParaRPr lang="en-GB" sz="1100" dirty="0"/>
          </a:p>
          <a:p>
            <a:r>
              <a:rPr lang="en-GB" sz="1100" dirty="0"/>
              <a:t>The problem is that there is scant information on investment costs. Moreover, the asset—the right to the music, manuscript or TV format—is rarely sold. Rather it is used to create a future stream of products, like books and TV shows. So the BEA must estimate likely future royalty fees, and translate them into today’s money to value the investment. Since artistic assets can last a long time (“The Simpsons” has been running since 1989) that is a tough task.</a:t>
            </a:r>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16</a:t>
            </a:fld>
            <a:endParaRPr lang="en-GB"/>
          </a:p>
        </p:txBody>
      </p:sp>
    </p:spTree>
    <p:extLst>
      <p:ext uri="{BB962C8B-B14F-4D97-AF65-F5344CB8AC3E}">
        <p14:creationId xmlns:p14="http://schemas.microsoft.com/office/powerpoint/2010/main" xmlns="" val="38816126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17</a:t>
            </a:fld>
            <a:endParaRPr lang="en-GB"/>
          </a:p>
        </p:txBody>
      </p:sp>
    </p:spTree>
    <p:extLst>
      <p:ext uri="{BB962C8B-B14F-4D97-AF65-F5344CB8AC3E}">
        <p14:creationId xmlns:p14="http://schemas.microsoft.com/office/powerpoint/2010/main" xmlns="" val="282552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18</a:t>
            </a:fld>
            <a:endParaRPr lang="en-GB"/>
          </a:p>
        </p:txBody>
      </p:sp>
    </p:spTree>
    <p:extLst>
      <p:ext uri="{BB962C8B-B14F-4D97-AF65-F5344CB8AC3E}">
        <p14:creationId xmlns:p14="http://schemas.microsoft.com/office/powerpoint/2010/main" xmlns="" val="10543436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defTabSz="939562">
              <a:defRPr sz="1500">
                <a:solidFill>
                  <a:schemeClr val="tx1"/>
                </a:solidFill>
                <a:latin typeface="Times New Roman" pitchFamily="18" charset="0"/>
              </a:defRPr>
            </a:lvl1pPr>
            <a:lvl2pPr marL="705803" indent="-271463" defTabSz="939562">
              <a:defRPr sz="1500">
                <a:solidFill>
                  <a:schemeClr val="tx1"/>
                </a:solidFill>
                <a:latin typeface="Times New Roman" pitchFamily="18" charset="0"/>
              </a:defRPr>
            </a:lvl2pPr>
            <a:lvl3pPr marL="1085850" indent="-217170" defTabSz="939562">
              <a:defRPr sz="1500">
                <a:solidFill>
                  <a:schemeClr val="tx1"/>
                </a:solidFill>
                <a:latin typeface="Times New Roman" pitchFamily="18" charset="0"/>
              </a:defRPr>
            </a:lvl3pPr>
            <a:lvl4pPr marL="1520190" indent="-217170" defTabSz="939562">
              <a:defRPr sz="1500">
                <a:solidFill>
                  <a:schemeClr val="tx1"/>
                </a:solidFill>
                <a:latin typeface="Times New Roman" pitchFamily="18" charset="0"/>
              </a:defRPr>
            </a:lvl4pPr>
            <a:lvl5pPr marL="1954530" indent="-217170" defTabSz="939562">
              <a:defRPr sz="1500">
                <a:solidFill>
                  <a:schemeClr val="tx1"/>
                </a:solidFill>
                <a:latin typeface="Times New Roman" pitchFamily="18" charset="0"/>
              </a:defRPr>
            </a:lvl5pPr>
            <a:lvl6pPr marL="2388870" indent="-217170" defTabSz="939562" eaLnBrk="0" fontAlgn="base" hangingPunct="0">
              <a:spcBef>
                <a:spcPct val="50000"/>
              </a:spcBef>
              <a:spcAft>
                <a:spcPct val="0"/>
              </a:spcAft>
              <a:defRPr sz="1500">
                <a:solidFill>
                  <a:schemeClr val="tx1"/>
                </a:solidFill>
                <a:latin typeface="Times New Roman" pitchFamily="18" charset="0"/>
              </a:defRPr>
            </a:lvl6pPr>
            <a:lvl7pPr marL="2823210" indent="-217170" defTabSz="939562" eaLnBrk="0" fontAlgn="base" hangingPunct="0">
              <a:spcBef>
                <a:spcPct val="50000"/>
              </a:spcBef>
              <a:spcAft>
                <a:spcPct val="0"/>
              </a:spcAft>
              <a:defRPr sz="1500">
                <a:solidFill>
                  <a:schemeClr val="tx1"/>
                </a:solidFill>
                <a:latin typeface="Times New Roman" pitchFamily="18" charset="0"/>
              </a:defRPr>
            </a:lvl7pPr>
            <a:lvl8pPr marL="3257550" indent="-217170" defTabSz="939562" eaLnBrk="0" fontAlgn="base" hangingPunct="0">
              <a:spcBef>
                <a:spcPct val="50000"/>
              </a:spcBef>
              <a:spcAft>
                <a:spcPct val="0"/>
              </a:spcAft>
              <a:defRPr sz="1500">
                <a:solidFill>
                  <a:schemeClr val="tx1"/>
                </a:solidFill>
                <a:latin typeface="Times New Roman" pitchFamily="18" charset="0"/>
              </a:defRPr>
            </a:lvl8pPr>
            <a:lvl9pPr marL="3691890" indent="-217170" defTabSz="939562" eaLnBrk="0" fontAlgn="base" hangingPunct="0">
              <a:spcBef>
                <a:spcPct val="50000"/>
              </a:spcBef>
              <a:spcAft>
                <a:spcPct val="0"/>
              </a:spcAft>
              <a:defRPr sz="1500">
                <a:solidFill>
                  <a:schemeClr val="tx1"/>
                </a:solidFill>
                <a:latin typeface="Times New Roman" pitchFamily="18" charset="0"/>
              </a:defRPr>
            </a:lvl9pPr>
          </a:lstStyle>
          <a:p>
            <a:fld id="{EF2CACF2-9AA4-4797-B865-589E9BDA8D5B}" type="slidenum">
              <a:rPr lang="en-GB" sz="1200"/>
              <a:pPr/>
              <a:t>19</a:t>
            </a:fld>
            <a:endParaRPr lang="en-GB" sz="120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endParaRPr lang="en-US" dirty="0" smtClean="0"/>
          </a:p>
        </p:txBody>
      </p:sp>
    </p:spTree>
    <p:extLst>
      <p:ext uri="{BB962C8B-B14F-4D97-AF65-F5344CB8AC3E}">
        <p14:creationId xmlns:p14="http://schemas.microsoft.com/office/powerpoint/2010/main" xmlns="" val="31162198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20</a:t>
            </a:fld>
            <a:endParaRPr lang="en-GB"/>
          </a:p>
        </p:txBody>
      </p:sp>
    </p:spTree>
    <p:extLst>
      <p:ext uri="{BB962C8B-B14F-4D97-AF65-F5344CB8AC3E}">
        <p14:creationId xmlns:p14="http://schemas.microsoft.com/office/powerpoint/2010/main" xmlns="" val="35962087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21</a:t>
            </a:fld>
            <a:endParaRPr lang="en-GB"/>
          </a:p>
        </p:txBody>
      </p:sp>
    </p:spTree>
    <p:extLst>
      <p:ext uri="{BB962C8B-B14F-4D97-AF65-F5344CB8AC3E}">
        <p14:creationId xmlns:p14="http://schemas.microsoft.com/office/powerpoint/2010/main" xmlns="" val="11392096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22</a:t>
            </a:fld>
            <a:endParaRPr lang="en-GB"/>
          </a:p>
        </p:txBody>
      </p:sp>
    </p:spTree>
    <p:extLst>
      <p:ext uri="{BB962C8B-B14F-4D97-AF65-F5344CB8AC3E}">
        <p14:creationId xmlns:p14="http://schemas.microsoft.com/office/powerpoint/2010/main" xmlns="" val="8272927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23</a:t>
            </a:fld>
            <a:endParaRPr lang="en-GB"/>
          </a:p>
        </p:txBody>
      </p:sp>
    </p:spTree>
    <p:extLst>
      <p:ext uri="{BB962C8B-B14F-4D97-AF65-F5344CB8AC3E}">
        <p14:creationId xmlns:p14="http://schemas.microsoft.com/office/powerpoint/2010/main" xmlns="" val="31506848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24</a:t>
            </a:fld>
            <a:endParaRPr lang="en-GB"/>
          </a:p>
        </p:txBody>
      </p:sp>
    </p:spTree>
    <p:extLst>
      <p:ext uri="{BB962C8B-B14F-4D97-AF65-F5344CB8AC3E}">
        <p14:creationId xmlns:p14="http://schemas.microsoft.com/office/powerpoint/2010/main" xmlns="" val="566140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25</a:t>
            </a:fld>
            <a:endParaRPr lang="en-GB"/>
          </a:p>
        </p:txBody>
      </p:sp>
    </p:spTree>
    <p:extLst>
      <p:ext uri="{BB962C8B-B14F-4D97-AF65-F5344CB8AC3E}">
        <p14:creationId xmlns:p14="http://schemas.microsoft.com/office/powerpoint/2010/main" xmlns="" val="25808640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26</a:t>
            </a:fld>
            <a:endParaRPr lang="en-GB"/>
          </a:p>
        </p:txBody>
      </p:sp>
    </p:spTree>
    <p:extLst>
      <p:ext uri="{BB962C8B-B14F-4D97-AF65-F5344CB8AC3E}">
        <p14:creationId xmlns:p14="http://schemas.microsoft.com/office/powerpoint/2010/main" xmlns="" val="41736483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27</a:t>
            </a:fld>
            <a:endParaRPr lang="en-GB"/>
          </a:p>
        </p:txBody>
      </p:sp>
    </p:spTree>
    <p:extLst>
      <p:ext uri="{BB962C8B-B14F-4D97-AF65-F5344CB8AC3E}">
        <p14:creationId xmlns:p14="http://schemas.microsoft.com/office/powerpoint/2010/main" xmlns="" val="12169005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28</a:t>
            </a:fld>
            <a:endParaRPr lang="en-GB"/>
          </a:p>
        </p:txBody>
      </p:sp>
    </p:spTree>
    <p:extLst>
      <p:ext uri="{BB962C8B-B14F-4D97-AF65-F5344CB8AC3E}">
        <p14:creationId xmlns:p14="http://schemas.microsoft.com/office/powerpoint/2010/main" xmlns="" val="985919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29</a:t>
            </a:fld>
            <a:endParaRPr lang="en-GB"/>
          </a:p>
        </p:txBody>
      </p:sp>
    </p:spTree>
    <p:extLst>
      <p:ext uri="{BB962C8B-B14F-4D97-AF65-F5344CB8AC3E}">
        <p14:creationId xmlns:p14="http://schemas.microsoft.com/office/powerpoint/2010/main" xmlns="" val="24974642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defTabSz="939562">
              <a:defRPr sz="1500">
                <a:solidFill>
                  <a:schemeClr val="tx1"/>
                </a:solidFill>
                <a:latin typeface="Times New Roman" pitchFamily="18" charset="0"/>
              </a:defRPr>
            </a:lvl1pPr>
            <a:lvl2pPr marL="705803" indent="-271463" defTabSz="939562">
              <a:defRPr sz="1500">
                <a:solidFill>
                  <a:schemeClr val="tx1"/>
                </a:solidFill>
                <a:latin typeface="Times New Roman" pitchFamily="18" charset="0"/>
              </a:defRPr>
            </a:lvl2pPr>
            <a:lvl3pPr marL="1085850" indent="-217170" defTabSz="939562">
              <a:defRPr sz="1500">
                <a:solidFill>
                  <a:schemeClr val="tx1"/>
                </a:solidFill>
                <a:latin typeface="Times New Roman" pitchFamily="18" charset="0"/>
              </a:defRPr>
            </a:lvl3pPr>
            <a:lvl4pPr marL="1520190" indent="-217170" defTabSz="939562">
              <a:defRPr sz="1500">
                <a:solidFill>
                  <a:schemeClr val="tx1"/>
                </a:solidFill>
                <a:latin typeface="Times New Roman" pitchFamily="18" charset="0"/>
              </a:defRPr>
            </a:lvl4pPr>
            <a:lvl5pPr marL="1954530" indent="-217170" defTabSz="939562">
              <a:defRPr sz="1500">
                <a:solidFill>
                  <a:schemeClr val="tx1"/>
                </a:solidFill>
                <a:latin typeface="Times New Roman" pitchFamily="18" charset="0"/>
              </a:defRPr>
            </a:lvl5pPr>
            <a:lvl6pPr marL="2388870" indent="-217170" defTabSz="939562" eaLnBrk="0" fontAlgn="base" hangingPunct="0">
              <a:spcBef>
                <a:spcPct val="50000"/>
              </a:spcBef>
              <a:spcAft>
                <a:spcPct val="0"/>
              </a:spcAft>
              <a:defRPr sz="1500">
                <a:solidFill>
                  <a:schemeClr val="tx1"/>
                </a:solidFill>
                <a:latin typeface="Times New Roman" pitchFamily="18" charset="0"/>
              </a:defRPr>
            </a:lvl6pPr>
            <a:lvl7pPr marL="2823210" indent="-217170" defTabSz="939562" eaLnBrk="0" fontAlgn="base" hangingPunct="0">
              <a:spcBef>
                <a:spcPct val="50000"/>
              </a:spcBef>
              <a:spcAft>
                <a:spcPct val="0"/>
              </a:spcAft>
              <a:defRPr sz="1500">
                <a:solidFill>
                  <a:schemeClr val="tx1"/>
                </a:solidFill>
                <a:latin typeface="Times New Roman" pitchFamily="18" charset="0"/>
              </a:defRPr>
            </a:lvl7pPr>
            <a:lvl8pPr marL="3257550" indent="-217170" defTabSz="939562" eaLnBrk="0" fontAlgn="base" hangingPunct="0">
              <a:spcBef>
                <a:spcPct val="50000"/>
              </a:spcBef>
              <a:spcAft>
                <a:spcPct val="0"/>
              </a:spcAft>
              <a:defRPr sz="1500">
                <a:solidFill>
                  <a:schemeClr val="tx1"/>
                </a:solidFill>
                <a:latin typeface="Times New Roman" pitchFamily="18" charset="0"/>
              </a:defRPr>
            </a:lvl8pPr>
            <a:lvl9pPr marL="3691890" indent="-217170" defTabSz="939562" eaLnBrk="0" fontAlgn="base" hangingPunct="0">
              <a:spcBef>
                <a:spcPct val="50000"/>
              </a:spcBef>
              <a:spcAft>
                <a:spcPct val="0"/>
              </a:spcAft>
              <a:defRPr sz="1500">
                <a:solidFill>
                  <a:schemeClr val="tx1"/>
                </a:solidFill>
                <a:latin typeface="Times New Roman" pitchFamily="18" charset="0"/>
              </a:defRPr>
            </a:lvl9pPr>
          </a:lstStyle>
          <a:p>
            <a:fld id="{EF2CACF2-9AA4-4797-B865-589E9BDA8D5B}" type="slidenum">
              <a:rPr lang="en-GB" sz="1200"/>
              <a:pPr/>
              <a:t>30</a:t>
            </a:fld>
            <a:endParaRPr lang="en-GB" sz="120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endParaRPr lang="en-US" dirty="0" smtClean="0"/>
          </a:p>
        </p:txBody>
      </p:sp>
    </p:spTree>
    <p:extLst>
      <p:ext uri="{BB962C8B-B14F-4D97-AF65-F5344CB8AC3E}">
        <p14:creationId xmlns:p14="http://schemas.microsoft.com/office/powerpoint/2010/main" xmlns="" val="3873734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1F25B51B-6C7A-4A36-9D03-0961BB7386A6}" type="slidenum">
              <a:rPr lang="en-GB" smtClean="0"/>
              <a:pPr>
                <a:defRPr/>
              </a:pPr>
              <a:t>31</a:t>
            </a:fld>
            <a:endParaRPr lang="en-GB"/>
          </a:p>
        </p:txBody>
      </p:sp>
    </p:spTree>
    <p:extLst>
      <p:ext uri="{BB962C8B-B14F-4D97-AF65-F5344CB8AC3E}">
        <p14:creationId xmlns:p14="http://schemas.microsoft.com/office/powerpoint/2010/main" xmlns="" val="9599219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49" descr="slide fractal back"/>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180975"/>
            <a:ext cx="7858125" cy="6677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 name="Picture 34" descr="cambridge_econometrics_logo"/>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638800" y="304800"/>
            <a:ext cx="3197225" cy="733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Rectangle 50"/>
          <p:cNvSpPr>
            <a:spLocks noChangeArrowheads="1"/>
          </p:cNvSpPr>
          <p:nvPr/>
        </p:nvSpPr>
        <p:spPr bwMode="auto">
          <a:xfrm>
            <a:off x="217488" y="241300"/>
            <a:ext cx="8686800" cy="6400800"/>
          </a:xfrm>
          <a:prstGeom prst="rect">
            <a:avLst/>
          </a:prstGeom>
          <a:noFill/>
          <a:ln w="15875">
            <a:solidFill>
              <a:srgbClr val="6399C0"/>
            </a:solidFill>
            <a:miter lim="800000"/>
            <a:headEnd/>
            <a:tailEnd/>
          </a:ln>
          <a:effectLst/>
          <a:extLst>
            <a:ext uri="{909E8E84-426E-40DD-AFC4-6F175D3DCCD1}">
              <a14:hiddenFill xmlns:a14="http://schemas.microsoft.com/office/drawing/2010/main" xmlns="">
                <a:solidFill>
                  <a:schemeClr val="accent1">
                    <a:alpha val="0"/>
                  </a:schemeClr>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3113" name="Rectangle 41"/>
          <p:cNvSpPr>
            <a:spLocks noGrp="1" noChangeArrowheads="1"/>
          </p:cNvSpPr>
          <p:nvPr>
            <p:ph type="ctrTitle" sz="quarter"/>
          </p:nvPr>
        </p:nvSpPr>
        <p:spPr>
          <a:xfrm>
            <a:off x="971550" y="1916113"/>
            <a:ext cx="7772400" cy="1400175"/>
          </a:xfrm>
        </p:spPr>
        <p:txBody>
          <a:bodyPr/>
          <a:lstStyle>
            <a:lvl1pPr>
              <a:defRPr/>
            </a:lvl1pPr>
          </a:lstStyle>
          <a:p>
            <a:pPr lvl="0"/>
            <a:r>
              <a:rPr lang="en-US" noProof="0" smtClean="0"/>
              <a:t>Click to edit Master title style</a:t>
            </a:r>
            <a:endParaRPr lang="en-GB" noProof="0" dirty="0" smtClean="0"/>
          </a:p>
        </p:txBody>
      </p:sp>
      <p:sp>
        <p:nvSpPr>
          <p:cNvPr id="3114" name="Rectangle 42"/>
          <p:cNvSpPr>
            <a:spLocks noGrp="1" noChangeArrowheads="1"/>
          </p:cNvSpPr>
          <p:nvPr>
            <p:ph type="subTitle" sz="quarter" idx="1"/>
          </p:nvPr>
        </p:nvSpPr>
        <p:spPr>
          <a:xfrm>
            <a:off x="971550" y="3357563"/>
            <a:ext cx="7056438" cy="1066800"/>
          </a:xfrm>
        </p:spPr>
        <p:txBody>
          <a:bodyPr/>
          <a:lstStyle>
            <a:lvl1pPr marL="0" indent="0">
              <a:buFontTx/>
              <a:buNone/>
              <a:defRPr sz="2400" b="0"/>
            </a:lvl1pPr>
          </a:lstStyle>
          <a:p>
            <a:pPr lvl="0"/>
            <a:r>
              <a:rPr lang="en-US" noProof="0" smtClean="0"/>
              <a:t>Click to edit Master subtitle style</a:t>
            </a:r>
            <a:endParaRPr lang="en-GB" noProof="0" smtClean="0"/>
          </a:p>
        </p:txBody>
      </p:sp>
      <p:sp>
        <p:nvSpPr>
          <p:cNvPr id="7" name="Rectangle 43"/>
          <p:cNvSpPr>
            <a:spLocks noGrp="1" noChangeArrowheads="1"/>
          </p:cNvSpPr>
          <p:nvPr>
            <p:ph type="dt" sz="quarter" idx="10"/>
          </p:nvPr>
        </p:nvSpPr>
        <p:spPr bwMode="auto">
          <a:xfrm>
            <a:off x="5508625" y="6165850"/>
            <a:ext cx="3235325" cy="457200"/>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solidFill>
                  <a:srgbClr val="123D6B"/>
                </a:solidFill>
                <a:latin typeface="+mn-lt"/>
              </a:defRPr>
            </a:lvl1pPr>
          </a:lstStyle>
          <a:p>
            <a:pPr>
              <a:defRPr/>
            </a:pPr>
            <a:fld id="{BE9AA2D2-4643-4F7E-BA3C-28F42BD1BC2B}" type="datetime2">
              <a:rPr lang="en-GB"/>
              <a:pPr>
                <a:defRPr/>
              </a:pPr>
              <a:t>Wednesday, 02 September 2015</a:t>
            </a:fld>
            <a:endParaRPr lang="en-GB"/>
          </a:p>
        </p:txBody>
      </p:sp>
      <p:sp>
        <p:nvSpPr>
          <p:cNvPr id="8" name="Rectangle 48"/>
          <p:cNvSpPr>
            <a:spLocks noGrp="1" noChangeArrowheads="1"/>
          </p:cNvSpPr>
          <p:nvPr>
            <p:ph type="sldNum" sz="quarter" idx="11"/>
          </p:nvPr>
        </p:nvSpPr>
        <p:spPr>
          <a:xfrm>
            <a:off x="990600" y="6172200"/>
            <a:ext cx="1905000" cy="457200"/>
          </a:xfrm>
        </p:spPr>
        <p:txBody>
          <a:bodyPr/>
          <a:lstStyle>
            <a:lvl1pPr>
              <a:defRPr smtClean="0"/>
            </a:lvl1pPr>
          </a:lstStyle>
          <a:p>
            <a:pPr>
              <a:defRPr/>
            </a:pPr>
            <a:fld id="{C588255F-1145-4943-ABB6-516E47E95B86}" type="slidenum">
              <a:rPr lang="en-GB"/>
              <a:pPr>
                <a:defRPr/>
              </a:pPr>
              <a:t>‹#›</a:t>
            </a:fld>
            <a:endParaRPr lang="en-GB"/>
          </a:p>
        </p:txBody>
      </p:sp>
    </p:spTree>
    <p:extLst>
      <p:ext uri="{BB962C8B-B14F-4D97-AF65-F5344CB8AC3E}">
        <p14:creationId xmlns:p14="http://schemas.microsoft.com/office/powerpoint/2010/main" xmlns="" val="3102517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35"/>
          <p:cNvSpPr>
            <a:spLocks noGrp="1" noChangeArrowheads="1"/>
          </p:cNvSpPr>
          <p:nvPr>
            <p:ph type="sldNum" sz="quarter" idx="10"/>
          </p:nvPr>
        </p:nvSpPr>
        <p:spPr>
          <a:ln/>
        </p:spPr>
        <p:txBody>
          <a:bodyPr/>
          <a:lstStyle>
            <a:lvl1pPr>
              <a:defRPr/>
            </a:lvl1pPr>
          </a:lstStyle>
          <a:p>
            <a:pPr>
              <a:defRPr/>
            </a:pPr>
            <a:fld id="{4ED9D1DF-2043-45C5-8E8B-06C67D664984}" type="slidenum">
              <a:rPr lang="en-GB"/>
              <a:pPr>
                <a:defRPr/>
              </a:pPr>
              <a:t>‹#›</a:t>
            </a:fld>
            <a:endParaRPr lang="en-GB"/>
          </a:p>
        </p:txBody>
      </p:sp>
    </p:spTree>
    <p:extLst>
      <p:ext uri="{BB962C8B-B14F-4D97-AF65-F5344CB8AC3E}">
        <p14:creationId xmlns:p14="http://schemas.microsoft.com/office/powerpoint/2010/main" xmlns="" val="2482750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35"/>
          <p:cNvSpPr>
            <a:spLocks noGrp="1" noChangeArrowheads="1"/>
          </p:cNvSpPr>
          <p:nvPr>
            <p:ph type="sldNum" sz="quarter" idx="10"/>
          </p:nvPr>
        </p:nvSpPr>
        <p:spPr>
          <a:ln/>
        </p:spPr>
        <p:txBody>
          <a:bodyPr/>
          <a:lstStyle>
            <a:lvl1pPr>
              <a:defRPr/>
            </a:lvl1pPr>
          </a:lstStyle>
          <a:p>
            <a:pPr>
              <a:defRPr/>
            </a:pPr>
            <a:fld id="{287BEE2E-77D4-4B29-AEC2-B4BCA7C31A22}" type="slidenum">
              <a:rPr lang="en-GB"/>
              <a:pPr>
                <a:defRPr/>
              </a:pPr>
              <a:t>‹#›</a:t>
            </a:fld>
            <a:endParaRPr lang="en-GB"/>
          </a:p>
        </p:txBody>
      </p:sp>
    </p:spTree>
    <p:extLst>
      <p:ext uri="{BB962C8B-B14F-4D97-AF65-F5344CB8AC3E}">
        <p14:creationId xmlns:p14="http://schemas.microsoft.com/office/powerpoint/2010/main" xmlns="" val="350133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611188" y="1676400"/>
            <a:ext cx="38481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11688" y="1676400"/>
            <a:ext cx="38481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35"/>
          <p:cNvSpPr>
            <a:spLocks noGrp="1" noChangeArrowheads="1"/>
          </p:cNvSpPr>
          <p:nvPr>
            <p:ph type="sldNum" sz="quarter" idx="10"/>
          </p:nvPr>
        </p:nvSpPr>
        <p:spPr>
          <a:ln/>
        </p:spPr>
        <p:txBody>
          <a:bodyPr/>
          <a:lstStyle>
            <a:lvl1pPr>
              <a:defRPr/>
            </a:lvl1pPr>
          </a:lstStyle>
          <a:p>
            <a:pPr>
              <a:defRPr/>
            </a:pPr>
            <a:fld id="{EA76A3C1-2D57-45F3-A6D7-8DD8FF03EF8B}" type="slidenum">
              <a:rPr lang="en-GB"/>
              <a:pPr>
                <a:defRPr/>
              </a:pPr>
              <a:t>‹#›</a:t>
            </a:fld>
            <a:endParaRPr lang="en-GB"/>
          </a:p>
        </p:txBody>
      </p:sp>
    </p:spTree>
    <p:extLst>
      <p:ext uri="{BB962C8B-B14F-4D97-AF65-F5344CB8AC3E}">
        <p14:creationId xmlns:p14="http://schemas.microsoft.com/office/powerpoint/2010/main" xmlns="" val="2077975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35"/>
          <p:cNvSpPr>
            <a:spLocks noGrp="1" noChangeArrowheads="1"/>
          </p:cNvSpPr>
          <p:nvPr>
            <p:ph type="sldNum" sz="quarter" idx="10"/>
          </p:nvPr>
        </p:nvSpPr>
        <p:spPr>
          <a:ln/>
        </p:spPr>
        <p:txBody>
          <a:bodyPr/>
          <a:lstStyle>
            <a:lvl1pPr>
              <a:defRPr/>
            </a:lvl1pPr>
          </a:lstStyle>
          <a:p>
            <a:pPr>
              <a:defRPr/>
            </a:pPr>
            <a:fld id="{3592692F-CC22-4568-A9DA-147D47F1BCE7}" type="slidenum">
              <a:rPr lang="en-GB"/>
              <a:pPr>
                <a:defRPr/>
              </a:pPr>
              <a:t>‹#›</a:t>
            </a:fld>
            <a:endParaRPr lang="en-GB"/>
          </a:p>
        </p:txBody>
      </p:sp>
    </p:spTree>
    <p:extLst>
      <p:ext uri="{BB962C8B-B14F-4D97-AF65-F5344CB8AC3E}">
        <p14:creationId xmlns:p14="http://schemas.microsoft.com/office/powerpoint/2010/main" xmlns="" val="3784037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35"/>
          <p:cNvSpPr>
            <a:spLocks noGrp="1" noChangeArrowheads="1"/>
          </p:cNvSpPr>
          <p:nvPr>
            <p:ph type="sldNum" sz="quarter" idx="10"/>
          </p:nvPr>
        </p:nvSpPr>
        <p:spPr>
          <a:ln/>
        </p:spPr>
        <p:txBody>
          <a:bodyPr/>
          <a:lstStyle>
            <a:lvl1pPr>
              <a:defRPr/>
            </a:lvl1pPr>
          </a:lstStyle>
          <a:p>
            <a:pPr>
              <a:defRPr/>
            </a:pPr>
            <a:fld id="{E258FFFA-DEBA-4D31-8ABB-B9C95E597194}" type="slidenum">
              <a:rPr lang="en-GB"/>
              <a:pPr>
                <a:defRPr/>
              </a:pPr>
              <a:t>‹#›</a:t>
            </a:fld>
            <a:endParaRPr lang="en-GB"/>
          </a:p>
        </p:txBody>
      </p:sp>
    </p:spTree>
    <p:extLst>
      <p:ext uri="{BB962C8B-B14F-4D97-AF65-F5344CB8AC3E}">
        <p14:creationId xmlns:p14="http://schemas.microsoft.com/office/powerpoint/2010/main" xmlns="" val="2662903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5"/>
          <p:cNvSpPr>
            <a:spLocks noGrp="1" noChangeArrowheads="1"/>
          </p:cNvSpPr>
          <p:nvPr>
            <p:ph type="sldNum" sz="quarter" idx="10"/>
          </p:nvPr>
        </p:nvSpPr>
        <p:spPr>
          <a:ln/>
        </p:spPr>
        <p:txBody>
          <a:bodyPr/>
          <a:lstStyle>
            <a:lvl1pPr>
              <a:defRPr/>
            </a:lvl1pPr>
          </a:lstStyle>
          <a:p>
            <a:pPr>
              <a:defRPr/>
            </a:pPr>
            <a:fld id="{1830E7E6-90EC-46E5-BD0B-6A934B858E60}" type="slidenum">
              <a:rPr lang="en-GB"/>
              <a:pPr>
                <a:defRPr/>
              </a:pPr>
              <a:t>‹#›</a:t>
            </a:fld>
            <a:endParaRPr lang="en-GB"/>
          </a:p>
        </p:txBody>
      </p:sp>
    </p:spTree>
    <p:extLst>
      <p:ext uri="{BB962C8B-B14F-4D97-AF65-F5344CB8AC3E}">
        <p14:creationId xmlns:p14="http://schemas.microsoft.com/office/powerpoint/2010/main" xmlns="" val="2770415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35"/>
          <p:cNvSpPr>
            <a:spLocks noGrp="1" noChangeArrowheads="1"/>
          </p:cNvSpPr>
          <p:nvPr>
            <p:ph type="sldNum" sz="quarter" idx="10"/>
          </p:nvPr>
        </p:nvSpPr>
        <p:spPr>
          <a:ln/>
        </p:spPr>
        <p:txBody>
          <a:bodyPr/>
          <a:lstStyle>
            <a:lvl1pPr>
              <a:defRPr/>
            </a:lvl1pPr>
          </a:lstStyle>
          <a:p>
            <a:pPr>
              <a:defRPr/>
            </a:pPr>
            <a:fld id="{D6B47020-EB55-4FB4-B317-6AE4D7A95422}" type="slidenum">
              <a:rPr lang="en-GB"/>
              <a:pPr>
                <a:defRPr/>
              </a:pPr>
              <a:t>‹#›</a:t>
            </a:fld>
            <a:endParaRPr lang="en-GB"/>
          </a:p>
        </p:txBody>
      </p:sp>
    </p:spTree>
    <p:extLst>
      <p:ext uri="{BB962C8B-B14F-4D97-AF65-F5344CB8AC3E}">
        <p14:creationId xmlns:p14="http://schemas.microsoft.com/office/powerpoint/2010/main" xmlns="" val="900787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35"/>
          <p:cNvSpPr>
            <a:spLocks noGrp="1" noChangeArrowheads="1"/>
          </p:cNvSpPr>
          <p:nvPr>
            <p:ph type="sldNum" sz="quarter" idx="10"/>
          </p:nvPr>
        </p:nvSpPr>
        <p:spPr>
          <a:ln/>
        </p:spPr>
        <p:txBody>
          <a:bodyPr/>
          <a:lstStyle>
            <a:lvl1pPr>
              <a:defRPr/>
            </a:lvl1pPr>
          </a:lstStyle>
          <a:p>
            <a:pPr>
              <a:defRPr/>
            </a:pPr>
            <a:fld id="{977E433B-4956-4500-8309-74D8D45CB80C}" type="slidenum">
              <a:rPr lang="en-GB"/>
              <a:pPr>
                <a:defRPr/>
              </a:pPr>
              <a:t>‹#›</a:t>
            </a:fld>
            <a:endParaRPr lang="en-GB"/>
          </a:p>
        </p:txBody>
      </p:sp>
    </p:spTree>
    <p:extLst>
      <p:ext uri="{BB962C8B-B14F-4D97-AF65-F5344CB8AC3E}">
        <p14:creationId xmlns:p14="http://schemas.microsoft.com/office/powerpoint/2010/main" xmlns="" val="522032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35"/>
          <p:cNvSpPr>
            <a:spLocks noGrp="1" noChangeArrowheads="1"/>
          </p:cNvSpPr>
          <p:nvPr>
            <p:ph type="sldNum" sz="quarter" idx="10"/>
          </p:nvPr>
        </p:nvSpPr>
        <p:spPr>
          <a:ln/>
        </p:spPr>
        <p:txBody>
          <a:bodyPr/>
          <a:lstStyle>
            <a:lvl1pPr>
              <a:defRPr/>
            </a:lvl1pPr>
          </a:lstStyle>
          <a:p>
            <a:pPr>
              <a:defRPr/>
            </a:pPr>
            <a:fld id="{406DFEEE-782E-46AD-BBA5-788B0FC252DF}" type="slidenum">
              <a:rPr lang="en-GB"/>
              <a:pPr>
                <a:defRPr/>
              </a:pPr>
              <a:t>‹#›</a:t>
            </a:fld>
            <a:endParaRPr lang="en-GB"/>
          </a:p>
        </p:txBody>
      </p:sp>
    </p:spTree>
    <p:extLst>
      <p:ext uri="{BB962C8B-B14F-4D97-AF65-F5344CB8AC3E}">
        <p14:creationId xmlns:p14="http://schemas.microsoft.com/office/powerpoint/2010/main" xmlns="" val="951351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97638" y="304800"/>
            <a:ext cx="196215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11188" y="304800"/>
            <a:ext cx="573405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35"/>
          <p:cNvSpPr>
            <a:spLocks noGrp="1" noChangeArrowheads="1"/>
          </p:cNvSpPr>
          <p:nvPr>
            <p:ph type="sldNum" sz="quarter" idx="10"/>
          </p:nvPr>
        </p:nvSpPr>
        <p:spPr>
          <a:ln/>
        </p:spPr>
        <p:txBody>
          <a:bodyPr/>
          <a:lstStyle>
            <a:lvl1pPr>
              <a:defRPr/>
            </a:lvl1pPr>
          </a:lstStyle>
          <a:p>
            <a:pPr>
              <a:defRPr/>
            </a:pPr>
            <a:fld id="{D7D9E0B4-D409-4C76-A56F-283325A5334D}" type="slidenum">
              <a:rPr lang="en-GB"/>
              <a:pPr>
                <a:defRPr/>
              </a:pPr>
              <a:t>‹#›</a:t>
            </a:fld>
            <a:endParaRPr lang="en-GB"/>
          </a:p>
        </p:txBody>
      </p:sp>
    </p:spTree>
    <p:extLst>
      <p:ext uri="{BB962C8B-B14F-4D97-AF65-F5344CB8AC3E}">
        <p14:creationId xmlns:p14="http://schemas.microsoft.com/office/powerpoint/2010/main" xmlns="" val="3279917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42" descr="slide fractal front"/>
          <p:cNvPicPr>
            <a:picLocks noChangeAspect="1" noChangeArrowheads="1"/>
          </p:cNvPicPr>
          <p:nvPr/>
        </p:nvPicPr>
        <p:blipFill>
          <a:blip r:embed="rId13" cstate="print">
            <a:extLst>
              <a:ext uri="{28A0092B-C50C-407E-A947-70E740481C1C}">
                <a14:useLocalDpi xmlns:a14="http://schemas.microsoft.com/office/drawing/2010/main" xmlns="" val="0"/>
              </a:ext>
            </a:extLst>
          </a:blip>
          <a:srcRect/>
          <a:stretch>
            <a:fillRect/>
          </a:stretch>
        </p:blipFill>
        <p:spPr bwMode="auto">
          <a:xfrm>
            <a:off x="0" y="174625"/>
            <a:ext cx="7858125" cy="6677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7" name="Rectangle 29"/>
          <p:cNvSpPr>
            <a:spLocks noGrp="1" noChangeArrowheads="1"/>
          </p:cNvSpPr>
          <p:nvPr>
            <p:ph type="title"/>
          </p:nvPr>
        </p:nvSpPr>
        <p:spPr bwMode="auto">
          <a:xfrm>
            <a:off x="611188" y="304800"/>
            <a:ext cx="78486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GB" smtClean="0"/>
          </a:p>
        </p:txBody>
      </p:sp>
      <p:sp>
        <p:nvSpPr>
          <p:cNvPr id="1028" name="Rectangle 30"/>
          <p:cNvSpPr>
            <a:spLocks noGrp="1" noChangeArrowheads="1"/>
          </p:cNvSpPr>
          <p:nvPr>
            <p:ph type="body" idx="1"/>
          </p:nvPr>
        </p:nvSpPr>
        <p:spPr bwMode="auto">
          <a:xfrm>
            <a:off x="611188" y="1676400"/>
            <a:ext cx="78486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smtClean="0"/>
          </a:p>
        </p:txBody>
      </p:sp>
      <p:sp>
        <p:nvSpPr>
          <p:cNvPr id="1059" name="Rectangle 35"/>
          <p:cNvSpPr>
            <a:spLocks noGrp="1" noChangeArrowheads="1"/>
          </p:cNvSpPr>
          <p:nvPr>
            <p:ph type="sldNum" sz="quarter" idx="4"/>
          </p:nvPr>
        </p:nvSpPr>
        <p:spPr bwMode="auto">
          <a:xfrm>
            <a:off x="900113" y="6172200"/>
            <a:ext cx="17668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a:defRPr/>
            </a:pPr>
            <a:fld id="{E9C833AE-D655-4D6E-BBE1-F904234F9280}" type="slidenum">
              <a:rPr lang="en-GB"/>
              <a:pPr>
                <a:defRPr/>
              </a:pPr>
              <a:t>‹#›</a:t>
            </a:fld>
            <a:endParaRPr lang="en-GB"/>
          </a:p>
        </p:txBody>
      </p:sp>
      <p:sp>
        <p:nvSpPr>
          <p:cNvPr id="1030" name="Rectangle 41"/>
          <p:cNvSpPr>
            <a:spLocks noChangeArrowheads="1"/>
          </p:cNvSpPr>
          <p:nvPr/>
        </p:nvSpPr>
        <p:spPr bwMode="auto">
          <a:xfrm>
            <a:off x="217488" y="241300"/>
            <a:ext cx="8686800" cy="6400800"/>
          </a:xfrm>
          <a:prstGeom prst="rect">
            <a:avLst/>
          </a:prstGeom>
          <a:noFill/>
          <a:ln w="15875">
            <a:solidFill>
              <a:srgbClr val="6399C0"/>
            </a:solidFill>
            <a:miter lim="800000"/>
            <a:headEnd/>
            <a:tailEnd/>
          </a:ln>
          <a:effectLst/>
          <a:extLst>
            <a:ext uri="{909E8E84-426E-40DD-AFC4-6F175D3DCCD1}">
              <a14:hiddenFill xmlns:a14="http://schemas.microsoft.com/office/drawing/2010/main" xmlns="">
                <a:solidFill>
                  <a:schemeClr val="accent1">
                    <a:alpha val="0"/>
                  </a:schemeClr>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sp>
        <p:nvSpPr>
          <p:cNvPr id="1031" name="Line 43"/>
          <p:cNvSpPr>
            <a:spLocks noChangeShapeType="1"/>
          </p:cNvSpPr>
          <p:nvPr/>
        </p:nvSpPr>
        <p:spPr bwMode="auto">
          <a:xfrm>
            <a:off x="611188" y="1484313"/>
            <a:ext cx="7848600" cy="0"/>
          </a:xfrm>
          <a:prstGeom prst="line">
            <a:avLst/>
          </a:prstGeom>
          <a:noFill/>
          <a:ln w="50800">
            <a:solidFill>
              <a:srgbClr val="6399C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endParaRPr lang="en-GB"/>
          </a:p>
        </p:txBody>
      </p:sp>
      <p:pic>
        <p:nvPicPr>
          <p:cNvPr id="1032" name="Picture 44" descr="cambridge_econometrics_logo"/>
          <p:cNvPicPr>
            <a:picLocks noChangeAspect="1" noChangeArrowheads="1"/>
          </p:cNvPicPr>
          <p:nvPr/>
        </p:nvPicPr>
        <p:blipFill>
          <a:blip r:embed="rId14" cstate="print">
            <a:extLst>
              <a:ext uri="{28A0092B-C50C-407E-A947-70E740481C1C}">
                <a14:useLocalDpi xmlns:a14="http://schemas.microsoft.com/office/drawing/2010/main" xmlns="" val="0"/>
              </a:ext>
            </a:extLst>
          </a:blip>
          <a:srcRect/>
          <a:stretch>
            <a:fillRect/>
          </a:stretch>
        </p:blipFill>
        <p:spPr bwMode="auto">
          <a:xfrm>
            <a:off x="7224713" y="6230938"/>
            <a:ext cx="159543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1" fontAlgn="base" hangingPunct="1">
        <a:spcBef>
          <a:spcPct val="0"/>
        </a:spcBef>
        <a:spcAft>
          <a:spcPct val="0"/>
        </a:spcAft>
        <a:defRPr sz="3500">
          <a:solidFill>
            <a:srgbClr val="123D6B"/>
          </a:solidFill>
          <a:latin typeface="+mj-lt"/>
          <a:ea typeface="+mj-ea"/>
          <a:cs typeface="+mj-cs"/>
        </a:defRPr>
      </a:lvl1pPr>
      <a:lvl2pPr algn="l" rtl="0" eaLnBrk="1" fontAlgn="base" hangingPunct="1">
        <a:spcBef>
          <a:spcPct val="0"/>
        </a:spcBef>
        <a:spcAft>
          <a:spcPct val="0"/>
        </a:spcAft>
        <a:defRPr sz="3500">
          <a:solidFill>
            <a:srgbClr val="123D6B"/>
          </a:solidFill>
          <a:latin typeface="Arial" charset="0"/>
        </a:defRPr>
      </a:lvl2pPr>
      <a:lvl3pPr algn="l" rtl="0" eaLnBrk="1" fontAlgn="base" hangingPunct="1">
        <a:spcBef>
          <a:spcPct val="0"/>
        </a:spcBef>
        <a:spcAft>
          <a:spcPct val="0"/>
        </a:spcAft>
        <a:defRPr sz="3500">
          <a:solidFill>
            <a:srgbClr val="123D6B"/>
          </a:solidFill>
          <a:latin typeface="Arial" charset="0"/>
        </a:defRPr>
      </a:lvl3pPr>
      <a:lvl4pPr algn="l" rtl="0" eaLnBrk="1" fontAlgn="base" hangingPunct="1">
        <a:spcBef>
          <a:spcPct val="0"/>
        </a:spcBef>
        <a:spcAft>
          <a:spcPct val="0"/>
        </a:spcAft>
        <a:defRPr sz="3500">
          <a:solidFill>
            <a:srgbClr val="123D6B"/>
          </a:solidFill>
          <a:latin typeface="Arial" charset="0"/>
        </a:defRPr>
      </a:lvl4pPr>
      <a:lvl5pPr algn="l" rtl="0" eaLnBrk="1" fontAlgn="base" hangingPunct="1">
        <a:spcBef>
          <a:spcPct val="0"/>
        </a:spcBef>
        <a:spcAft>
          <a:spcPct val="0"/>
        </a:spcAft>
        <a:defRPr sz="3500">
          <a:solidFill>
            <a:srgbClr val="123D6B"/>
          </a:solidFill>
          <a:latin typeface="Arial" charset="0"/>
        </a:defRPr>
      </a:lvl5pPr>
      <a:lvl6pPr marL="457200" algn="l" rtl="0" eaLnBrk="1" fontAlgn="base" hangingPunct="1">
        <a:spcBef>
          <a:spcPct val="0"/>
        </a:spcBef>
        <a:spcAft>
          <a:spcPct val="0"/>
        </a:spcAft>
        <a:defRPr sz="3500" b="1">
          <a:solidFill>
            <a:srgbClr val="123D6B"/>
          </a:solidFill>
          <a:latin typeface="Arial" charset="0"/>
        </a:defRPr>
      </a:lvl6pPr>
      <a:lvl7pPr marL="914400" algn="l" rtl="0" eaLnBrk="1" fontAlgn="base" hangingPunct="1">
        <a:spcBef>
          <a:spcPct val="0"/>
        </a:spcBef>
        <a:spcAft>
          <a:spcPct val="0"/>
        </a:spcAft>
        <a:defRPr sz="3500" b="1">
          <a:solidFill>
            <a:srgbClr val="123D6B"/>
          </a:solidFill>
          <a:latin typeface="Arial" charset="0"/>
        </a:defRPr>
      </a:lvl7pPr>
      <a:lvl8pPr marL="1371600" algn="l" rtl="0" eaLnBrk="1" fontAlgn="base" hangingPunct="1">
        <a:spcBef>
          <a:spcPct val="0"/>
        </a:spcBef>
        <a:spcAft>
          <a:spcPct val="0"/>
        </a:spcAft>
        <a:defRPr sz="3500" b="1">
          <a:solidFill>
            <a:srgbClr val="123D6B"/>
          </a:solidFill>
          <a:latin typeface="Arial" charset="0"/>
        </a:defRPr>
      </a:lvl8pPr>
      <a:lvl9pPr marL="1828800" algn="l" rtl="0" eaLnBrk="1" fontAlgn="base" hangingPunct="1">
        <a:spcBef>
          <a:spcPct val="0"/>
        </a:spcBef>
        <a:spcAft>
          <a:spcPct val="0"/>
        </a:spcAft>
        <a:defRPr sz="3500" b="1">
          <a:solidFill>
            <a:srgbClr val="123D6B"/>
          </a:solidFill>
          <a:latin typeface="Arial" charset="0"/>
        </a:defRPr>
      </a:lvl9pPr>
    </p:titleStyle>
    <p:body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9" Type="http://schemas.openxmlformats.org/officeDocument/2006/relationships/image" Target="../media/image10.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unstats.un.org/unsd/nationalaccount/sna.asp"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971550" y="2060575"/>
            <a:ext cx="7772400" cy="1400175"/>
          </a:xfrm>
        </p:spPr>
        <p:txBody>
          <a:bodyPr/>
          <a:lstStyle/>
          <a:p>
            <a:r>
              <a:rPr lang="en-GB" dirty="0" smtClean="0"/>
              <a:t>Introduction to the Economics of Macro-Modelling and the System of National Accounts</a:t>
            </a:r>
          </a:p>
        </p:txBody>
      </p:sp>
      <p:sp>
        <p:nvSpPr>
          <p:cNvPr id="3075" name="Rectangle 3"/>
          <p:cNvSpPr>
            <a:spLocks noGrp="1" noChangeArrowheads="1"/>
          </p:cNvSpPr>
          <p:nvPr>
            <p:ph type="subTitle" idx="1"/>
          </p:nvPr>
        </p:nvSpPr>
        <p:spPr/>
        <p:txBody>
          <a:bodyPr/>
          <a:lstStyle/>
          <a:p>
            <a:r>
              <a:rPr lang="en-GB" dirty="0" smtClean="0"/>
              <a:t> </a:t>
            </a:r>
          </a:p>
        </p:txBody>
      </p:sp>
      <p:sp>
        <p:nvSpPr>
          <p:cNvPr id="3077" name="Text Box 5"/>
          <p:cNvSpPr txBox="1">
            <a:spLocks noChangeArrowheads="1"/>
          </p:cNvSpPr>
          <p:nvPr/>
        </p:nvSpPr>
        <p:spPr bwMode="auto">
          <a:xfrm>
            <a:off x="6444208" y="6172200"/>
            <a:ext cx="247119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50000"/>
              </a:spcBef>
              <a:spcAft>
                <a:spcPct val="0"/>
              </a:spcAft>
              <a:defRPr sz="1600">
                <a:solidFill>
                  <a:schemeClr val="tx1"/>
                </a:solidFill>
                <a:latin typeface="Times New Roman" pitchFamily="18" charset="0"/>
              </a:defRPr>
            </a:lvl6pPr>
            <a:lvl7pPr marL="2971800" indent="-228600" eaLnBrk="0" fontAlgn="base" hangingPunct="0">
              <a:spcBef>
                <a:spcPct val="50000"/>
              </a:spcBef>
              <a:spcAft>
                <a:spcPct val="0"/>
              </a:spcAft>
              <a:defRPr sz="1600">
                <a:solidFill>
                  <a:schemeClr val="tx1"/>
                </a:solidFill>
                <a:latin typeface="Times New Roman" pitchFamily="18" charset="0"/>
              </a:defRPr>
            </a:lvl7pPr>
            <a:lvl8pPr marL="3429000" indent="-228600" eaLnBrk="0" fontAlgn="base" hangingPunct="0">
              <a:spcBef>
                <a:spcPct val="50000"/>
              </a:spcBef>
              <a:spcAft>
                <a:spcPct val="0"/>
              </a:spcAft>
              <a:defRPr sz="1600">
                <a:solidFill>
                  <a:schemeClr val="tx1"/>
                </a:solidFill>
                <a:latin typeface="Times New Roman" pitchFamily="18" charset="0"/>
              </a:defRPr>
            </a:lvl8pPr>
            <a:lvl9pPr marL="3886200" indent="-228600" eaLnBrk="0" fontAlgn="base" hangingPunct="0">
              <a:spcBef>
                <a:spcPct val="50000"/>
              </a:spcBef>
              <a:spcAft>
                <a:spcPct val="0"/>
              </a:spcAft>
              <a:defRPr sz="1600">
                <a:solidFill>
                  <a:schemeClr val="tx1"/>
                </a:solidFill>
                <a:latin typeface="Times New Roman" pitchFamily="18" charset="0"/>
              </a:defRPr>
            </a:lvl9pPr>
          </a:lstStyle>
          <a:p>
            <a:pPr algn="r"/>
            <a:r>
              <a:rPr lang="en-GB" sz="1400" dirty="0" smtClean="0">
                <a:solidFill>
                  <a:srgbClr val="123D6B"/>
                </a:solidFill>
                <a:latin typeface="Arial" charset="0"/>
              </a:rPr>
              <a:t>September 2015</a:t>
            </a:r>
            <a:endParaRPr lang="en-GB" sz="1400" dirty="0">
              <a:solidFill>
                <a:srgbClr val="123D6B"/>
              </a:solidFill>
              <a:latin typeface="Arial" charset="0"/>
            </a:endParaRPr>
          </a:p>
        </p:txBody>
      </p:sp>
      <p:sp>
        <p:nvSpPr>
          <p:cNvPr id="3078" name="Text Box 7"/>
          <p:cNvSpPr txBox="1">
            <a:spLocks noChangeArrowheads="1"/>
          </p:cNvSpPr>
          <p:nvPr/>
        </p:nvSpPr>
        <p:spPr bwMode="auto">
          <a:xfrm>
            <a:off x="999829" y="4853210"/>
            <a:ext cx="7200900"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50000"/>
              </a:spcBef>
              <a:spcAft>
                <a:spcPct val="0"/>
              </a:spcAft>
              <a:defRPr sz="1600">
                <a:solidFill>
                  <a:schemeClr val="tx1"/>
                </a:solidFill>
                <a:latin typeface="Times New Roman" pitchFamily="18" charset="0"/>
              </a:defRPr>
            </a:lvl6pPr>
            <a:lvl7pPr marL="2971800" indent="-228600" eaLnBrk="0" fontAlgn="base" hangingPunct="0">
              <a:spcBef>
                <a:spcPct val="50000"/>
              </a:spcBef>
              <a:spcAft>
                <a:spcPct val="0"/>
              </a:spcAft>
              <a:defRPr sz="1600">
                <a:solidFill>
                  <a:schemeClr val="tx1"/>
                </a:solidFill>
                <a:latin typeface="Times New Roman" pitchFamily="18" charset="0"/>
              </a:defRPr>
            </a:lvl7pPr>
            <a:lvl8pPr marL="3429000" indent="-228600" eaLnBrk="0" fontAlgn="base" hangingPunct="0">
              <a:spcBef>
                <a:spcPct val="50000"/>
              </a:spcBef>
              <a:spcAft>
                <a:spcPct val="0"/>
              </a:spcAft>
              <a:defRPr sz="1600">
                <a:solidFill>
                  <a:schemeClr val="tx1"/>
                </a:solidFill>
                <a:latin typeface="Times New Roman" pitchFamily="18" charset="0"/>
              </a:defRPr>
            </a:lvl8pPr>
            <a:lvl9pPr marL="3886200" indent="-228600" eaLnBrk="0" fontAlgn="base" hangingPunct="0">
              <a:spcBef>
                <a:spcPct val="50000"/>
              </a:spcBef>
              <a:spcAft>
                <a:spcPct val="0"/>
              </a:spcAft>
              <a:defRPr sz="1600">
                <a:solidFill>
                  <a:schemeClr val="tx1"/>
                </a:solidFill>
                <a:latin typeface="Times New Roman" pitchFamily="18" charset="0"/>
              </a:defRPr>
            </a:lvl9pPr>
          </a:lstStyle>
          <a:p>
            <a:r>
              <a:rPr lang="en-GB" sz="2400" dirty="0" smtClean="0">
                <a:solidFill>
                  <a:srgbClr val="003966"/>
                </a:solidFill>
                <a:latin typeface="Arial" charset="0"/>
              </a:rPr>
              <a:t>Hector Pollitt</a:t>
            </a:r>
            <a:endParaRPr lang="en-GB" sz="2400" dirty="0">
              <a:solidFill>
                <a:srgbClr val="003966"/>
              </a:solidFill>
              <a:latin typeface="Arial" charset="0"/>
            </a:endParaRPr>
          </a:p>
        </p:txBody>
      </p:sp>
      <p:sp>
        <p:nvSpPr>
          <p:cNvPr id="8" name="Rectangle 7"/>
          <p:cNvSpPr>
            <a:spLocks noGrp="1" noChangeArrowheads="1"/>
          </p:cNvSpPr>
          <p:nvPr/>
        </p:nvSpPr>
        <p:spPr bwMode="auto">
          <a:xfrm>
            <a:off x="972344" y="3573016"/>
            <a:ext cx="7056438" cy="1066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Clr>
                <a:srgbClr val="123D6B"/>
              </a:buClr>
              <a:buFontTx/>
              <a:buNone/>
              <a:defRPr sz="2400" b="0">
                <a:solidFill>
                  <a:srgbClr val="123D6B"/>
                </a:solidFill>
                <a:latin typeface="+mn-lt"/>
                <a:ea typeface="+mn-ea"/>
                <a:cs typeface="+mn-cs"/>
              </a:defRPr>
            </a:lvl1pPr>
            <a:lvl2pPr marL="742950" indent="-285750" algn="l" rtl="0" eaLnBrk="0" fontAlgn="base" hangingPunct="0">
              <a:spcBef>
                <a:spcPct val="20000"/>
              </a:spcBef>
              <a:spcAft>
                <a:spcPct val="0"/>
              </a:spcAft>
              <a:buClr>
                <a:srgbClr val="123D6B"/>
              </a:buClr>
              <a:buChar char="–"/>
              <a:defRPr sz="2000" b="1">
                <a:solidFill>
                  <a:srgbClr val="123D6B"/>
                </a:solidFill>
                <a:latin typeface="+mn-lt"/>
              </a:defRPr>
            </a:lvl2pPr>
            <a:lvl3pPr marL="1143000" indent="-228600" algn="l" rtl="0" eaLnBrk="0" fontAlgn="base" hangingPunct="0">
              <a:spcBef>
                <a:spcPct val="20000"/>
              </a:spcBef>
              <a:spcAft>
                <a:spcPct val="0"/>
              </a:spcAft>
              <a:buClr>
                <a:srgbClr val="123D6B"/>
              </a:buClr>
              <a:buChar char="•"/>
              <a:defRPr sz="1600" b="1">
                <a:solidFill>
                  <a:srgbClr val="123D6B"/>
                </a:solidFill>
                <a:latin typeface="+mn-lt"/>
              </a:defRPr>
            </a:lvl3pPr>
            <a:lvl4pPr marL="1600200" indent="-228600" algn="l" rtl="0" eaLnBrk="0" fontAlgn="base" hangingPunct="0">
              <a:spcBef>
                <a:spcPct val="20000"/>
              </a:spcBef>
              <a:spcAft>
                <a:spcPct val="0"/>
              </a:spcAft>
              <a:buClr>
                <a:srgbClr val="123D6B"/>
              </a:buClr>
              <a:buChar char="–"/>
              <a:defRPr sz="1600" b="1">
                <a:solidFill>
                  <a:srgbClr val="123D6B"/>
                </a:solidFill>
                <a:latin typeface="+mn-lt"/>
              </a:defRPr>
            </a:lvl4pPr>
            <a:lvl5pPr marL="2057400" indent="-228600" algn="l" rtl="0" eaLnBrk="0" fontAlgn="base" hangingPunct="0">
              <a:spcBef>
                <a:spcPct val="20000"/>
              </a:spcBef>
              <a:spcAft>
                <a:spcPct val="0"/>
              </a:spcAft>
              <a:buClr>
                <a:srgbClr val="123D6B"/>
              </a:buClr>
              <a:buChar char="»"/>
              <a:defRPr sz="1600" b="1">
                <a:solidFill>
                  <a:srgbClr val="123D6B"/>
                </a:solidFill>
                <a:latin typeface="+mn-lt"/>
              </a:defRPr>
            </a:lvl5pPr>
            <a:lvl6pPr marL="2514600" indent="-228600" algn="l" rtl="0" eaLnBrk="0" fontAlgn="base" hangingPunct="0">
              <a:spcBef>
                <a:spcPct val="20000"/>
              </a:spcBef>
              <a:spcAft>
                <a:spcPct val="0"/>
              </a:spcAft>
              <a:buClr>
                <a:srgbClr val="123D6B"/>
              </a:buClr>
              <a:buChar char="»"/>
              <a:defRPr sz="1600" b="1">
                <a:solidFill>
                  <a:srgbClr val="123D6B"/>
                </a:solidFill>
                <a:latin typeface="+mn-lt"/>
              </a:defRPr>
            </a:lvl6pPr>
            <a:lvl7pPr marL="2971800" indent="-228600" algn="l" rtl="0" eaLnBrk="0" fontAlgn="base" hangingPunct="0">
              <a:spcBef>
                <a:spcPct val="20000"/>
              </a:spcBef>
              <a:spcAft>
                <a:spcPct val="0"/>
              </a:spcAft>
              <a:buClr>
                <a:srgbClr val="123D6B"/>
              </a:buClr>
              <a:buChar char="»"/>
              <a:defRPr sz="1600" b="1">
                <a:solidFill>
                  <a:srgbClr val="123D6B"/>
                </a:solidFill>
                <a:latin typeface="+mn-lt"/>
              </a:defRPr>
            </a:lvl7pPr>
            <a:lvl8pPr marL="3429000" indent="-228600" algn="l" rtl="0" eaLnBrk="0" fontAlgn="base" hangingPunct="0">
              <a:spcBef>
                <a:spcPct val="20000"/>
              </a:spcBef>
              <a:spcAft>
                <a:spcPct val="0"/>
              </a:spcAft>
              <a:buClr>
                <a:srgbClr val="123D6B"/>
              </a:buClr>
              <a:buChar char="»"/>
              <a:defRPr sz="1600" b="1">
                <a:solidFill>
                  <a:srgbClr val="123D6B"/>
                </a:solidFill>
                <a:latin typeface="+mn-lt"/>
              </a:defRPr>
            </a:lvl8pPr>
            <a:lvl9pPr marL="3886200" indent="-228600" algn="l" rtl="0" eaLnBrk="0" fontAlgn="base" hangingPunct="0">
              <a:spcBef>
                <a:spcPct val="20000"/>
              </a:spcBef>
              <a:spcAft>
                <a:spcPct val="0"/>
              </a:spcAft>
              <a:buClr>
                <a:srgbClr val="123D6B"/>
              </a:buClr>
              <a:buChar char="»"/>
              <a:defRPr sz="1600" b="1">
                <a:solidFill>
                  <a:srgbClr val="123D6B"/>
                </a:solidFill>
                <a:latin typeface="+mn-lt"/>
              </a:defRPr>
            </a:lvl9pPr>
          </a:lstStyle>
          <a:p>
            <a:pPr>
              <a:spcBef>
                <a:spcPct val="50000"/>
              </a:spcBef>
              <a:buClrTx/>
            </a:pPr>
            <a:endParaRPr lang="en-GB" dirty="0" smtClean="0">
              <a:latin typeface="+mj-lt"/>
              <a:cs typeface="Times New Roman" pitchFamily="18" charset="0"/>
            </a:endParaRPr>
          </a:p>
          <a:p>
            <a:r>
              <a:rPr lang="en-GB" dirty="0" smtClean="0">
                <a:latin typeface="+mj-lt"/>
                <a:cs typeface="Times New Roman" pitchFamily="18" charset="0"/>
              </a:rPr>
              <a:t>Cambridge Econometrics Training Course</a:t>
            </a:r>
            <a:endParaRPr lang="en-GB" dirty="0">
              <a:latin typeface="+mj-lt"/>
              <a:cs typeface="Times New Roman" pitchFamily="18" charset="0"/>
            </a:endParaRPr>
          </a:p>
          <a:p>
            <a:endParaRPr lang="en-GB" dirty="0" smtClean="0">
              <a:latin typeface="+mj-lt"/>
              <a:cs typeface="Times New Roman" pitchFamily="18" charset="0"/>
            </a:endParaRPr>
          </a:p>
        </p:txBody>
      </p:sp>
    </p:spTree>
    <p:extLst>
      <p:ext uri="{BB962C8B-B14F-4D97-AF65-F5344CB8AC3E}">
        <p14:creationId xmlns:p14="http://schemas.microsoft.com/office/powerpoint/2010/main" xmlns="" val="15655658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type="title"/>
          </p:nvPr>
        </p:nvSpPr>
        <p:spPr/>
        <p:txBody>
          <a:bodyPr/>
          <a:lstStyle/>
          <a:p>
            <a:r>
              <a:rPr lang="en-GB" dirty="0" smtClean="0"/>
              <a:t>Overview</a:t>
            </a:r>
          </a:p>
        </p:txBody>
      </p:sp>
      <p:sp>
        <p:nvSpPr>
          <p:cNvPr id="4099" name="Rectangle 4"/>
          <p:cNvSpPr>
            <a:spLocks noGrp="1" noChangeArrowheads="1"/>
          </p:cNvSpPr>
          <p:nvPr>
            <p:ph type="body" idx="1"/>
          </p:nvPr>
        </p:nvSpPr>
        <p:spPr>
          <a:xfrm>
            <a:off x="611188" y="1676400"/>
            <a:ext cx="7546975" cy="4114800"/>
          </a:xfrm>
        </p:spPr>
        <p:txBody>
          <a:bodyPr/>
          <a:lstStyle/>
          <a:p>
            <a:r>
              <a:rPr lang="en-GB" dirty="0" smtClean="0"/>
              <a:t>Introduction to macroeconomic modelling</a:t>
            </a:r>
          </a:p>
          <a:p>
            <a:r>
              <a:rPr lang="en-GB" dirty="0" smtClean="0"/>
              <a:t>Introduction to National Accounting</a:t>
            </a:r>
          </a:p>
          <a:p>
            <a:pPr lvl="1"/>
            <a:r>
              <a:rPr lang="en-GB" dirty="0" smtClean="0"/>
              <a:t>GDP &amp; System of National Accounts</a:t>
            </a:r>
          </a:p>
          <a:p>
            <a:pPr lvl="1"/>
            <a:r>
              <a:rPr lang="en-GB" dirty="0" smtClean="0">
                <a:solidFill>
                  <a:srgbClr val="002060"/>
                </a:solidFill>
              </a:rPr>
              <a:t>c</a:t>
            </a:r>
            <a:r>
              <a:rPr lang="en-GB" dirty="0" smtClean="0"/>
              <a:t>omponents of GDP</a:t>
            </a:r>
          </a:p>
          <a:p>
            <a:pPr lvl="1"/>
            <a:r>
              <a:rPr lang="en-GB" dirty="0" smtClean="0">
                <a:solidFill>
                  <a:srgbClr val="003966"/>
                </a:solidFill>
              </a:rPr>
              <a:t>intermediate demand and input-output relationships </a:t>
            </a:r>
          </a:p>
          <a:p>
            <a:pPr lvl="1"/>
            <a:r>
              <a:rPr lang="en-GB" dirty="0" smtClean="0">
                <a:solidFill>
                  <a:srgbClr val="003966"/>
                </a:solidFill>
              </a:rPr>
              <a:t>input-output modelling and multipliers</a:t>
            </a:r>
          </a:p>
          <a:p>
            <a:pPr lvl="1"/>
            <a:r>
              <a:rPr lang="en-GB" dirty="0" smtClean="0">
                <a:solidFill>
                  <a:srgbClr val="003966"/>
                </a:solidFill>
              </a:rPr>
              <a:t>data sources</a:t>
            </a:r>
          </a:p>
          <a:p>
            <a:pPr marL="0" indent="0">
              <a:buNone/>
            </a:pPr>
            <a:endParaRPr lang="en-GB" dirty="0" smtClean="0"/>
          </a:p>
          <a:p>
            <a:endParaRPr lang="en-GB" dirty="0" smtClean="0"/>
          </a:p>
        </p:txBody>
      </p:sp>
    </p:spTree>
    <p:extLst>
      <p:ext uri="{BB962C8B-B14F-4D97-AF65-F5344CB8AC3E}">
        <p14:creationId xmlns:p14="http://schemas.microsoft.com/office/powerpoint/2010/main" xmlns="" val="32841324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2483768" y="1628800"/>
            <a:ext cx="2483605" cy="1700808"/>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768936" y="2729102"/>
            <a:ext cx="1714832" cy="1074420"/>
          </a:xfrm>
          <a:prstGeom prst="rect">
            <a:avLst/>
          </a:prstGeom>
        </p:spPr>
      </p:pic>
      <p:sp>
        <p:nvSpPr>
          <p:cNvPr id="2" name="Title 1"/>
          <p:cNvSpPr>
            <a:spLocks noGrp="1"/>
          </p:cNvSpPr>
          <p:nvPr>
            <p:ph type="title"/>
          </p:nvPr>
        </p:nvSpPr>
        <p:spPr/>
        <p:txBody>
          <a:bodyPr/>
          <a:lstStyle/>
          <a:p>
            <a:r>
              <a:rPr lang="en-GB" dirty="0" smtClean="0"/>
              <a:t>Introduction to macroeconomic modelling</a:t>
            </a:r>
            <a:endParaRPr lang="en-GB" dirty="0"/>
          </a:p>
        </p:txBody>
      </p:sp>
      <p:pic>
        <p:nvPicPr>
          <p:cNvPr id="4" name="Picture 3"/>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776108" y="1628800"/>
            <a:ext cx="1854573" cy="1100302"/>
          </a:xfrm>
          <a:prstGeom prst="rect">
            <a:avLst/>
          </a:prstGeom>
        </p:spPr>
      </p:pic>
      <p:pic>
        <p:nvPicPr>
          <p:cNvPr id="6" name="Picture 5"/>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3149613" y="3329608"/>
            <a:ext cx="1817760" cy="1444547"/>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a:off x="768936" y="3285162"/>
            <a:ext cx="2412231" cy="1444548"/>
          </a:xfrm>
          <a:prstGeom prst="rect">
            <a:avLst/>
          </a:prstGeom>
        </p:spPr>
      </p:pic>
      <p:sp>
        <p:nvSpPr>
          <p:cNvPr id="11" name="Rectangle 4"/>
          <p:cNvSpPr txBox="1">
            <a:spLocks noChangeArrowheads="1"/>
          </p:cNvSpPr>
          <p:nvPr/>
        </p:nvSpPr>
        <p:spPr bwMode="auto">
          <a:xfrm>
            <a:off x="5240604" y="1986626"/>
            <a:ext cx="3298131" cy="38023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a:lstStyle>
          <a:p>
            <a:pPr marL="0" indent="0">
              <a:buNone/>
            </a:pPr>
            <a:r>
              <a:rPr lang="en-GB" sz="2000" kern="0" dirty="0" smtClean="0"/>
              <a:t>Macroeconomic model: </a:t>
            </a:r>
            <a:r>
              <a:rPr lang="en-GB" sz="3200" kern="0" dirty="0" smtClean="0"/>
              <a:t>analytical tool designed to simulate interactions and dynamics of an economy </a:t>
            </a:r>
          </a:p>
        </p:txBody>
      </p:sp>
      <p:pic>
        <p:nvPicPr>
          <p:cNvPr id="7" name="Picture 6"/>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2938999" y="4745145"/>
            <a:ext cx="2028374" cy="1508381"/>
          </a:xfrm>
          <a:prstGeom prst="rect">
            <a:avLst/>
          </a:prstGeom>
        </p:spPr>
      </p:pic>
      <p:pic>
        <p:nvPicPr>
          <p:cNvPr id="5" name="Picture 4"/>
          <p:cNvPicPr>
            <a:picLocks noChangeAspect="1"/>
          </p:cNvPicPr>
          <p:nvPr/>
        </p:nvPicPr>
        <p:blipFill>
          <a:blip r:embed="rId9" cstate="print">
            <a:extLst>
              <a:ext uri="{28A0092B-C50C-407E-A947-70E740481C1C}">
                <a14:useLocalDpi xmlns:a14="http://schemas.microsoft.com/office/drawing/2010/main" xmlns="" val="0"/>
              </a:ext>
            </a:extLst>
          </a:blip>
          <a:stretch>
            <a:fillRect/>
          </a:stretch>
        </p:blipFill>
        <p:spPr>
          <a:xfrm>
            <a:off x="769765" y="4719692"/>
            <a:ext cx="2305138" cy="1533834"/>
          </a:xfrm>
          <a:prstGeom prst="rect">
            <a:avLst/>
          </a:prstGeom>
        </p:spPr>
      </p:pic>
    </p:spTree>
    <p:extLst>
      <p:ext uri="{BB962C8B-B14F-4D97-AF65-F5344CB8AC3E}">
        <p14:creationId xmlns:p14="http://schemas.microsoft.com/office/powerpoint/2010/main" xmlns="" val="25119060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003966"/>
                </a:solidFill>
              </a:rPr>
              <a:t>Economic models, macroeconomic models and </a:t>
            </a:r>
            <a:r>
              <a:rPr lang="en-GB" dirty="0" err="1" smtClean="0">
                <a:solidFill>
                  <a:srgbClr val="003966"/>
                </a:solidFill>
              </a:rPr>
              <a:t>macrosectoral</a:t>
            </a:r>
            <a:r>
              <a:rPr lang="en-GB" dirty="0" smtClean="0">
                <a:solidFill>
                  <a:srgbClr val="003966"/>
                </a:solidFill>
              </a:rPr>
              <a:t> models</a:t>
            </a:r>
            <a:endParaRPr lang="en-GB" dirty="0">
              <a:solidFill>
                <a:srgbClr val="003966"/>
              </a:solidFill>
            </a:endParaRPr>
          </a:p>
        </p:txBody>
      </p:sp>
      <p:sp>
        <p:nvSpPr>
          <p:cNvPr id="3" name="Content Placeholder 2"/>
          <p:cNvSpPr>
            <a:spLocks noGrp="1"/>
          </p:cNvSpPr>
          <p:nvPr>
            <p:ph idx="1"/>
          </p:nvPr>
        </p:nvSpPr>
        <p:spPr/>
        <p:txBody>
          <a:bodyPr/>
          <a:lstStyle/>
          <a:p>
            <a:r>
              <a:rPr lang="en-GB" dirty="0" smtClean="0">
                <a:solidFill>
                  <a:srgbClr val="003966"/>
                </a:solidFill>
              </a:rPr>
              <a:t>Theoretical and applied models</a:t>
            </a:r>
          </a:p>
          <a:p>
            <a:r>
              <a:rPr lang="en-GB" dirty="0" smtClean="0">
                <a:solidFill>
                  <a:srgbClr val="003966"/>
                </a:solidFill>
              </a:rPr>
              <a:t>(Partial) economic models</a:t>
            </a:r>
          </a:p>
          <a:p>
            <a:r>
              <a:rPr lang="en-GB" dirty="0" smtClean="0">
                <a:solidFill>
                  <a:srgbClr val="003966"/>
                </a:solidFill>
              </a:rPr>
              <a:t>Pure macroeconomic models</a:t>
            </a:r>
          </a:p>
          <a:p>
            <a:r>
              <a:rPr lang="en-GB" dirty="0" err="1" smtClean="0">
                <a:solidFill>
                  <a:srgbClr val="003966"/>
                </a:solidFill>
              </a:rPr>
              <a:t>Macrosectoral</a:t>
            </a:r>
            <a:r>
              <a:rPr lang="en-GB" dirty="0" smtClean="0">
                <a:solidFill>
                  <a:srgbClr val="003966"/>
                </a:solidFill>
              </a:rPr>
              <a:t> models</a:t>
            </a:r>
          </a:p>
          <a:p>
            <a:endParaRPr lang="en-GB" dirty="0"/>
          </a:p>
        </p:txBody>
      </p:sp>
    </p:spTree>
    <p:extLst>
      <p:ext uri="{BB962C8B-B14F-4D97-AF65-F5344CB8AC3E}">
        <p14:creationId xmlns:p14="http://schemas.microsoft.com/office/powerpoint/2010/main" xmlns="" val="8695713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628800"/>
            <a:ext cx="7848600" cy="4114800"/>
          </a:xfrm>
        </p:spPr>
        <p:txBody>
          <a:bodyPr/>
          <a:lstStyle/>
          <a:p>
            <a:pPr lvl="1"/>
            <a:r>
              <a:rPr lang="en-GB" sz="1800" dirty="0" smtClean="0">
                <a:solidFill>
                  <a:srgbClr val="003966"/>
                </a:solidFill>
              </a:rPr>
              <a:t>they provide a way of assessing the ‘whole economy’ impact of an event or policy change, going beyond the immediate impact which could be assessed without a macroeconomic model</a:t>
            </a:r>
          </a:p>
          <a:p>
            <a:pPr lvl="1"/>
            <a:r>
              <a:rPr lang="en-GB" sz="1800" dirty="0" smtClean="0">
                <a:solidFill>
                  <a:srgbClr val="003966"/>
                </a:solidFill>
              </a:rPr>
              <a:t>they are </a:t>
            </a:r>
            <a:r>
              <a:rPr lang="en-GB" sz="1800" dirty="0">
                <a:solidFill>
                  <a:srgbClr val="003966"/>
                </a:solidFill>
              </a:rPr>
              <a:t>still the </a:t>
            </a:r>
            <a:r>
              <a:rPr lang="en-GB" sz="1800" dirty="0" smtClean="0">
                <a:solidFill>
                  <a:srgbClr val="003966"/>
                </a:solidFill>
              </a:rPr>
              <a:t>main </a:t>
            </a:r>
            <a:r>
              <a:rPr lang="en-GB" sz="1800" dirty="0">
                <a:solidFill>
                  <a:srgbClr val="003966"/>
                </a:solidFill>
              </a:rPr>
              <a:t>tool for </a:t>
            </a:r>
            <a:r>
              <a:rPr lang="en-GB" sz="1800" dirty="0" smtClean="0">
                <a:solidFill>
                  <a:srgbClr val="003966"/>
                </a:solidFill>
              </a:rPr>
              <a:t>a large </a:t>
            </a:r>
            <a:r>
              <a:rPr lang="en-GB" sz="1800" dirty="0">
                <a:solidFill>
                  <a:srgbClr val="003966"/>
                </a:solidFill>
              </a:rPr>
              <a:t>number of </a:t>
            </a:r>
            <a:r>
              <a:rPr lang="en-GB" sz="1800" dirty="0" smtClean="0">
                <a:solidFill>
                  <a:srgbClr val="003966"/>
                </a:solidFill>
              </a:rPr>
              <a:t>Centra</a:t>
            </a:r>
            <a:r>
              <a:rPr lang="en-GB" sz="1800" dirty="0" smtClean="0"/>
              <a:t>l Banks</a:t>
            </a:r>
            <a:r>
              <a:rPr lang="en-GB" sz="1800" dirty="0"/>
              <a:t>, </a:t>
            </a:r>
            <a:r>
              <a:rPr lang="en-GB" sz="1800" dirty="0" smtClean="0"/>
              <a:t>Finance </a:t>
            </a:r>
            <a:r>
              <a:rPr lang="en-GB" sz="1800" dirty="0"/>
              <a:t>Ministries </a:t>
            </a:r>
            <a:r>
              <a:rPr lang="en-GB" sz="1800" dirty="0" smtClean="0"/>
              <a:t>and International organisations </a:t>
            </a:r>
            <a:r>
              <a:rPr lang="en-GB" sz="1800" dirty="0"/>
              <a:t>such </a:t>
            </a:r>
            <a:r>
              <a:rPr lang="en-GB" sz="1800" dirty="0" smtClean="0"/>
              <a:t>as </a:t>
            </a:r>
            <a:r>
              <a:rPr lang="en-GB" sz="1800" dirty="0"/>
              <a:t>the IMF, World </a:t>
            </a:r>
            <a:r>
              <a:rPr lang="en-GB" sz="1800" dirty="0" smtClean="0"/>
              <a:t>Bank and </a:t>
            </a:r>
            <a:r>
              <a:rPr lang="en-GB" sz="1800" dirty="0"/>
              <a:t>the OECD.</a:t>
            </a:r>
          </a:p>
          <a:p>
            <a:pPr lvl="1"/>
            <a:r>
              <a:rPr lang="en-GB" sz="1800" dirty="0" smtClean="0"/>
              <a:t>they are </a:t>
            </a:r>
            <a:r>
              <a:rPr lang="en-GB" sz="1800" dirty="0"/>
              <a:t>useful to conduct complex </a:t>
            </a:r>
            <a:r>
              <a:rPr lang="en-GB" sz="1800" dirty="0" smtClean="0"/>
              <a:t>analysis</a:t>
            </a:r>
            <a:r>
              <a:rPr lang="en-GB" sz="1800" dirty="0"/>
              <a:t>, with multiple inputs or </a:t>
            </a:r>
            <a:r>
              <a:rPr lang="en-GB" sz="1800" dirty="0" smtClean="0"/>
              <a:t>outputs</a:t>
            </a:r>
            <a:endParaRPr lang="en-GB" sz="1800" dirty="0"/>
          </a:p>
          <a:p>
            <a:pPr lvl="1"/>
            <a:r>
              <a:rPr lang="en-GB" sz="1800" dirty="0" smtClean="0"/>
              <a:t>a </a:t>
            </a:r>
            <a:r>
              <a:rPr lang="en-GB" sz="1800" dirty="0"/>
              <a:t>model provides </a:t>
            </a:r>
            <a:r>
              <a:rPr lang="en-GB" sz="1800" dirty="0" smtClean="0"/>
              <a:t>a </a:t>
            </a:r>
            <a:r>
              <a:rPr lang="en-GB" sz="1800" dirty="0"/>
              <a:t>fixed structure for </a:t>
            </a:r>
            <a:r>
              <a:rPr lang="en-GB" sz="1800" dirty="0" smtClean="0"/>
              <a:t>analysis so that model outputs are linked in a consistent manner </a:t>
            </a:r>
            <a:r>
              <a:rPr lang="en-GB" sz="1800" dirty="0"/>
              <a:t>(</a:t>
            </a:r>
            <a:r>
              <a:rPr lang="en-GB" sz="1800" dirty="0" smtClean="0"/>
              <a:t>most </a:t>
            </a:r>
            <a:r>
              <a:rPr lang="en-GB" sz="1800" dirty="0"/>
              <a:t>economic models </a:t>
            </a:r>
            <a:r>
              <a:rPr lang="en-GB" sz="1800" dirty="0" smtClean="0"/>
              <a:t>are based </a:t>
            </a:r>
            <a:r>
              <a:rPr lang="en-GB" sz="1800" dirty="0"/>
              <a:t>on the system of </a:t>
            </a:r>
            <a:r>
              <a:rPr lang="en-GB" sz="1800" dirty="0" smtClean="0"/>
              <a:t>national accounts). The use of multipliers allows </a:t>
            </a:r>
            <a:r>
              <a:rPr lang="en-GB" sz="1800" dirty="0"/>
              <a:t>indirect </a:t>
            </a:r>
            <a:r>
              <a:rPr lang="en-GB" sz="1800" dirty="0" smtClean="0"/>
              <a:t>and </a:t>
            </a:r>
            <a:r>
              <a:rPr lang="en-GB" sz="1800" dirty="0"/>
              <a:t>induced effects </a:t>
            </a:r>
            <a:r>
              <a:rPr lang="en-GB" sz="1800" dirty="0" smtClean="0"/>
              <a:t>to be captured.</a:t>
            </a:r>
          </a:p>
          <a:p>
            <a:pPr lvl="1"/>
            <a:r>
              <a:rPr lang="en-GB" sz="1800" dirty="0" smtClean="0"/>
              <a:t>model development leads to an accumulation </a:t>
            </a:r>
            <a:r>
              <a:rPr lang="en-GB" sz="1800" dirty="0"/>
              <a:t>of </a:t>
            </a:r>
            <a:r>
              <a:rPr lang="en-GB" sz="1800" dirty="0" smtClean="0"/>
              <a:t>technical expertise which impacts a model’s reputation. Repetition of application suggests that the basic </a:t>
            </a:r>
            <a:r>
              <a:rPr lang="en-GB" sz="1800" dirty="0"/>
              <a:t>methodology </a:t>
            </a:r>
            <a:r>
              <a:rPr lang="en-GB" sz="1800" dirty="0" smtClean="0"/>
              <a:t>has </a:t>
            </a:r>
            <a:r>
              <a:rPr lang="en-GB" sz="1800" dirty="0"/>
              <a:t>been </a:t>
            </a:r>
            <a:r>
              <a:rPr lang="en-GB" sz="1800" dirty="0" smtClean="0"/>
              <a:t>accepted and the model is a suitable tool to generate credible results by the wider community (subject </a:t>
            </a:r>
            <a:r>
              <a:rPr lang="en-GB" sz="1800" dirty="0"/>
              <a:t>to </a:t>
            </a:r>
            <a:r>
              <a:rPr lang="en-GB" sz="1800" dirty="0" smtClean="0"/>
              <a:t>assumptions).</a:t>
            </a:r>
            <a:endParaRPr lang="en-GB" sz="1800" dirty="0"/>
          </a:p>
        </p:txBody>
      </p:sp>
      <p:sp>
        <p:nvSpPr>
          <p:cNvPr id="4" name="Title 3"/>
          <p:cNvSpPr>
            <a:spLocks noGrp="1"/>
          </p:cNvSpPr>
          <p:nvPr>
            <p:ph type="title"/>
          </p:nvPr>
        </p:nvSpPr>
        <p:spPr/>
        <p:txBody>
          <a:bodyPr/>
          <a:lstStyle/>
          <a:p>
            <a:r>
              <a:rPr lang="en-GB" dirty="0"/>
              <a:t>Why use </a:t>
            </a:r>
            <a:r>
              <a:rPr lang="en-GB" dirty="0" smtClean="0"/>
              <a:t>macro-economic </a:t>
            </a:r>
            <a:r>
              <a:rPr lang="en-GB" dirty="0"/>
              <a:t>models</a:t>
            </a:r>
            <a:r>
              <a:rPr lang="en-GB" dirty="0" smtClean="0"/>
              <a:t>?</a:t>
            </a:r>
            <a:endParaRPr lang="en-GB" dirty="0"/>
          </a:p>
        </p:txBody>
      </p:sp>
    </p:spTree>
    <p:extLst>
      <p:ext uri="{BB962C8B-B14F-4D97-AF65-F5344CB8AC3E}">
        <p14:creationId xmlns:p14="http://schemas.microsoft.com/office/powerpoint/2010/main" xmlns="" val="3459929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Case example</a:t>
            </a:r>
            <a:endParaRPr lang="en-GB" dirty="0"/>
          </a:p>
        </p:txBody>
      </p:sp>
      <p:sp>
        <p:nvSpPr>
          <p:cNvPr id="5" name="TextBox 4"/>
          <p:cNvSpPr txBox="1"/>
          <p:nvPr/>
        </p:nvSpPr>
        <p:spPr>
          <a:xfrm>
            <a:off x="755576" y="2025885"/>
            <a:ext cx="1656184" cy="132343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GB" dirty="0" smtClean="0"/>
              <a:t>Cutting food waste by 15% means saving of €1000 per household</a:t>
            </a:r>
          </a:p>
        </p:txBody>
      </p:sp>
      <p:sp>
        <p:nvSpPr>
          <p:cNvPr id="6" name="TextBox 5"/>
          <p:cNvSpPr txBox="1"/>
          <p:nvPr/>
        </p:nvSpPr>
        <p:spPr>
          <a:xfrm>
            <a:off x="755576" y="3764604"/>
            <a:ext cx="1656184" cy="107721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GB" dirty="0" smtClean="0"/>
              <a:t>GDP impacts = number of households x €1000</a:t>
            </a:r>
          </a:p>
        </p:txBody>
      </p:sp>
      <p:sp>
        <p:nvSpPr>
          <p:cNvPr id="7" name="Rectangle 6"/>
          <p:cNvSpPr/>
          <p:nvPr/>
        </p:nvSpPr>
        <p:spPr bwMode="auto">
          <a:xfrm>
            <a:off x="395536" y="1892396"/>
            <a:ext cx="2448272" cy="3960440"/>
          </a:xfrm>
          <a:prstGeom prst="rect">
            <a:avLst/>
          </a:prstGeom>
          <a:noFill/>
          <a:ln w="34925" cap="flat" cmpd="sng" algn="ctr">
            <a:solidFill>
              <a:srgbClr val="003966"/>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8" name="TextBox 7"/>
          <p:cNvSpPr txBox="1"/>
          <p:nvPr/>
        </p:nvSpPr>
        <p:spPr>
          <a:xfrm>
            <a:off x="755576" y="5207364"/>
            <a:ext cx="1872208" cy="338554"/>
          </a:xfrm>
          <a:prstGeom prst="rect">
            <a:avLst/>
          </a:prstGeom>
          <a:noFill/>
        </p:spPr>
        <p:txBody>
          <a:bodyPr wrap="square" rtlCol="0">
            <a:spAutoFit/>
          </a:bodyPr>
          <a:lstStyle/>
          <a:p>
            <a:r>
              <a:rPr lang="en-GB" dirty="0" smtClean="0">
                <a:solidFill>
                  <a:srgbClr val="003966"/>
                </a:solidFill>
                <a:latin typeface="+mn-lt"/>
              </a:rPr>
              <a:t>Bottom-up studies</a:t>
            </a:r>
            <a:endParaRPr lang="en-GB" dirty="0">
              <a:solidFill>
                <a:srgbClr val="003966"/>
              </a:solidFill>
              <a:latin typeface="+mn-lt"/>
            </a:endParaRPr>
          </a:p>
        </p:txBody>
      </p:sp>
      <p:sp>
        <p:nvSpPr>
          <p:cNvPr id="10" name="Rectangle 9"/>
          <p:cNvSpPr/>
          <p:nvPr/>
        </p:nvSpPr>
        <p:spPr bwMode="auto">
          <a:xfrm>
            <a:off x="2987824" y="1916832"/>
            <a:ext cx="5719223" cy="3960440"/>
          </a:xfrm>
          <a:prstGeom prst="rect">
            <a:avLst/>
          </a:prstGeom>
          <a:noFill/>
          <a:ln w="34925" cap="flat" cmpd="sng" algn="ctr">
            <a:solidFill>
              <a:srgbClr val="003966"/>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11" name="TextBox 10"/>
          <p:cNvSpPr txBox="1"/>
          <p:nvPr/>
        </p:nvSpPr>
        <p:spPr>
          <a:xfrm>
            <a:off x="7267159" y="3437241"/>
            <a:ext cx="1180246" cy="338554"/>
          </a:xfrm>
          <a:prstGeom prst="rect">
            <a:avLst/>
          </a:prstGeom>
          <a:solidFill>
            <a:srgbClr val="003966"/>
          </a:solidFill>
          <a:ln>
            <a:solidFill>
              <a:srgbClr val="003966"/>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GB" dirty="0" smtClean="0"/>
              <a:t>GDP €?</a:t>
            </a:r>
          </a:p>
        </p:txBody>
      </p:sp>
      <p:sp>
        <p:nvSpPr>
          <p:cNvPr id="12" name="TextBox 11"/>
          <p:cNvSpPr txBox="1"/>
          <p:nvPr/>
        </p:nvSpPr>
        <p:spPr>
          <a:xfrm>
            <a:off x="4897262" y="5296203"/>
            <a:ext cx="3392058" cy="338554"/>
          </a:xfrm>
          <a:prstGeom prst="rect">
            <a:avLst/>
          </a:prstGeom>
          <a:noFill/>
        </p:spPr>
        <p:txBody>
          <a:bodyPr wrap="square" rtlCol="0">
            <a:spAutoFit/>
          </a:bodyPr>
          <a:lstStyle/>
          <a:p>
            <a:r>
              <a:rPr lang="en-GB" dirty="0" smtClean="0">
                <a:solidFill>
                  <a:srgbClr val="003966"/>
                </a:solidFill>
                <a:latin typeface="+mn-lt"/>
              </a:rPr>
              <a:t>Macroeconomic modelling</a:t>
            </a:r>
            <a:endParaRPr lang="en-GB" dirty="0">
              <a:solidFill>
                <a:srgbClr val="003966"/>
              </a:solidFill>
              <a:latin typeface="+mn-lt"/>
            </a:endParaRPr>
          </a:p>
        </p:txBody>
      </p:sp>
      <p:sp>
        <p:nvSpPr>
          <p:cNvPr id="17" name="TextBox 16"/>
          <p:cNvSpPr txBox="1"/>
          <p:nvPr/>
        </p:nvSpPr>
        <p:spPr>
          <a:xfrm>
            <a:off x="3082041" y="4122037"/>
            <a:ext cx="3537047" cy="338554"/>
          </a:xfrm>
          <a:prstGeom prst="rect">
            <a:avLst/>
          </a:prstGeom>
          <a:ln>
            <a:solidFill>
              <a:srgbClr val="003966"/>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dirty="0" smtClean="0">
                <a:solidFill>
                  <a:srgbClr val="003966"/>
                </a:solidFill>
              </a:rPr>
              <a:t>Impacts on food imports</a:t>
            </a:r>
          </a:p>
        </p:txBody>
      </p:sp>
      <p:sp>
        <p:nvSpPr>
          <p:cNvPr id="19" name="TextBox 18"/>
          <p:cNvSpPr txBox="1"/>
          <p:nvPr/>
        </p:nvSpPr>
        <p:spPr>
          <a:xfrm>
            <a:off x="3082041" y="2399298"/>
            <a:ext cx="3526302" cy="338554"/>
          </a:xfrm>
          <a:prstGeom prst="rect">
            <a:avLst/>
          </a:prstGeom>
          <a:ln>
            <a:solidFill>
              <a:srgbClr val="003966"/>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dirty="0" smtClean="0">
                <a:solidFill>
                  <a:srgbClr val="003966"/>
                </a:solidFill>
              </a:rPr>
              <a:t>Impacts on food manufacturing</a:t>
            </a:r>
          </a:p>
        </p:txBody>
      </p:sp>
      <p:sp>
        <p:nvSpPr>
          <p:cNvPr id="21" name="TextBox 20"/>
          <p:cNvSpPr txBox="1"/>
          <p:nvPr/>
        </p:nvSpPr>
        <p:spPr>
          <a:xfrm>
            <a:off x="3082041" y="1999428"/>
            <a:ext cx="3537046" cy="338554"/>
          </a:xfrm>
          <a:prstGeom prst="rect">
            <a:avLst/>
          </a:prstGeom>
          <a:ln>
            <a:solidFill>
              <a:srgbClr val="003966"/>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dirty="0" smtClean="0">
                <a:solidFill>
                  <a:srgbClr val="003966"/>
                </a:solidFill>
              </a:rPr>
              <a:t>Impacts on household spending</a:t>
            </a:r>
          </a:p>
        </p:txBody>
      </p:sp>
      <p:sp>
        <p:nvSpPr>
          <p:cNvPr id="22" name="TextBox 21"/>
          <p:cNvSpPr txBox="1"/>
          <p:nvPr/>
        </p:nvSpPr>
        <p:spPr>
          <a:xfrm>
            <a:off x="3093250" y="3475945"/>
            <a:ext cx="3525837" cy="584775"/>
          </a:xfrm>
          <a:prstGeom prst="rect">
            <a:avLst/>
          </a:prstGeom>
          <a:ln>
            <a:solidFill>
              <a:srgbClr val="003966"/>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dirty="0" smtClean="0">
                <a:solidFill>
                  <a:srgbClr val="003966"/>
                </a:solidFill>
              </a:rPr>
              <a:t>Costs/ investment involved with cutting food waste</a:t>
            </a:r>
          </a:p>
        </p:txBody>
      </p:sp>
      <p:sp>
        <p:nvSpPr>
          <p:cNvPr id="23" name="TextBox 22"/>
          <p:cNvSpPr txBox="1"/>
          <p:nvPr/>
        </p:nvSpPr>
        <p:spPr>
          <a:xfrm>
            <a:off x="3071297" y="4503268"/>
            <a:ext cx="3537046" cy="338554"/>
          </a:xfrm>
          <a:prstGeom prst="rect">
            <a:avLst/>
          </a:prstGeom>
          <a:ln>
            <a:solidFill>
              <a:srgbClr val="003966"/>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dirty="0" smtClean="0">
                <a:solidFill>
                  <a:srgbClr val="003966"/>
                </a:solidFill>
              </a:rPr>
              <a:t>Landfilled/ recycling sector</a:t>
            </a:r>
          </a:p>
        </p:txBody>
      </p:sp>
      <p:sp>
        <p:nvSpPr>
          <p:cNvPr id="24" name="Down Arrow 23"/>
          <p:cNvSpPr/>
          <p:nvPr/>
        </p:nvSpPr>
        <p:spPr bwMode="auto">
          <a:xfrm>
            <a:off x="1403589" y="3338245"/>
            <a:ext cx="360040" cy="403355"/>
          </a:xfrm>
          <a:prstGeom prst="downArrow">
            <a:avLst/>
          </a:prstGeom>
          <a:noFill/>
          <a:ln w="9525" cap="flat" cmpd="sng" algn="ctr">
            <a:solidFill>
              <a:srgbClr val="003966"/>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25" name="TextBox 24"/>
          <p:cNvSpPr txBox="1"/>
          <p:nvPr/>
        </p:nvSpPr>
        <p:spPr>
          <a:xfrm>
            <a:off x="3082041" y="4889792"/>
            <a:ext cx="3537046" cy="342008"/>
          </a:xfrm>
          <a:prstGeom prst="rect">
            <a:avLst/>
          </a:prstGeom>
          <a:ln>
            <a:solidFill>
              <a:srgbClr val="003966"/>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dirty="0" smtClean="0">
                <a:solidFill>
                  <a:srgbClr val="003966"/>
                </a:solidFill>
              </a:rPr>
              <a:t>Jobs gain/loss</a:t>
            </a:r>
          </a:p>
        </p:txBody>
      </p:sp>
      <p:sp>
        <p:nvSpPr>
          <p:cNvPr id="29" name="TextBox 28"/>
          <p:cNvSpPr txBox="1"/>
          <p:nvPr/>
        </p:nvSpPr>
        <p:spPr>
          <a:xfrm>
            <a:off x="3093250" y="2820264"/>
            <a:ext cx="3526158" cy="584775"/>
          </a:xfrm>
          <a:prstGeom prst="rect">
            <a:avLst/>
          </a:prstGeom>
          <a:ln>
            <a:solidFill>
              <a:srgbClr val="003966"/>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dirty="0" smtClean="0">
                <a:solidFill>
                  <a:srgbClr val="003966"/>
                </a:solidFill>
              </a:rPr>
              <a:t>Impacts on those supply to food manufacturing: agriculture sector</a:t>
            </a:r>
          </a:p>
        </p:txBody>
      </p:sp>
      <p:sp>
        <p:nvSpPr>
          <p:cNvPr id="35" name="Right Brace 34"/>
          <p:cNvSpPr/>
          <p:nvPr/>
        </p:nvSpPr>
        <p:spPr bwMode="auto">
          <a:xfrm>
            <a:off x="6763103" y="2025885"/>
            <a:ext cx="432048" cy="3181479"/>
          </a:xfrm>
          <a:prstGeom prst="rightBrace">
            <a:avLst/>
          </a:prstGeom>
          <a:noFill/>
          <a:ln w="9525" cap="flat" cmpd="sng" algn="ctr">
            <a:solidFill>
              <a:srgbClr val="003966"/>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Tree>
    <p:extLst>
      <p:ext uri="{BB962C8B-B14F-4D97-AF65-F5344CB8AC3E}">
        <p14:creationId xmlns:p14="http://schemas.microsoft.com/office/powerpoint/2010/main" xmlns="" val="3930911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7" grpId="0" animBg="1"/>
      <p:bldP spid="19" grpId="0" animBg="1"/>
      <p:bldP spid="21" grpId="0" animBg="1"/>
      <p:bldP spid="22" grpId="0" animBg="1"/>
      <p:bldP spid="23" grpId="0" animBg="1"/>
      <p:bldP spid="25" grpId="0" animBg="1"/>
      <p:bldP spid="29" grpId="0" animBg="1"/>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Case example (cont.)</a:t>
            </a:r>
            <a:endParaRPr lang="en-GB" dirty="0"/>
          </a:p>
        </p:txBody>
      </p:sp>
      <p:sp>
        <p:nvSpPr>
          <p:cNvPr id="20" name="Rectangle 4"/>
          <p:cNvSpPr txBox="1">
            <a:spLocks noChangeArrowheads="1"/>
          </p:cNvSpPr>
          <p:nvPr/>
        </p:nvSpPr>
        <p:spPr bwMode="auto">
          <a:xfrm>
            <a:off x="539552" y="1772816"/>
            <a:ext cx="7546975" cy="13681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a:lstStyle>
          <a:p>
            <a:pPr marL="0" indent="0">
              <a:buNone/>
            </a:pPr>
            <a:r>
              <a:rPr lang="en-GB" kern="0" dirty="0" smtClean="0"/>
              <a:t>How do various impacts fit together? </a:t>
            </a:r>
          </a:p>
          <a:p>
            <a:pPr marL="0" indent="0">
              <a:buNone/>
            </a:pPr>
            <a:r>
              <a:rPr lang="en-GB" kern="0" dirty="0" smtClean="0"/>
              <a:t>What do we need to know?</a:t>
            </a:r>
          </a:p>
          <a:p>
            <a:pPr marL="0" indent="0">
              <a:buNone/>
            </a:pPr>
            <a:endParaRPr lang="en-GB" kern="0" dirty="0" smtClean="0"/>
          </a:p>
        </p:txBody>
      </p:sp>
      <p:sp>
        <p:nvSpPr>
          <p:cNvPr id="26" name="Rectangle 4"/>
          <p:cNvSpPr txBox="1">
            <a:spLocks noChangeArrowheads="1"/>
          </p:cNvSpPr>
          <p:nvPr/>
        </p:nvSpPr>
        <p:spPr bwMode="auto">
          <a:xfrm>
            <a:off x="611188" y="3147040"/>
            <a:ext cx="7546975" cy="29523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a:lstStyle>
          <a:p>
            <a:pPr marL="0" indent="0">
              <a:buNone/>
            </a:pPr>
            <a:r>
              <a:rPr lang="en-GB" kern="0" dirty="0" smtClean="0"/>
              <a:t>Answers:</a:t>
            </a:r>
          </a:p>
          <a:p>
            <a:pPr marL="514350" indent="-514350">
              <a:buAutoNum type="arabicParenR"/>
            </a:pPr>
            <a:r>
              <a:rPr lang="en-GB" kern="0" dirty="0" smtClean="0"/>
              <a:t>structure – what are the components of GDP and supply chains:  </a:t>
            </a:r>
            <a:r>
              <a:rPr lang="en-GB" b="1" kern="0" dirty="0" smtClean="0"/>
              <a:t>System of National Account</a:t>
            </a:r>
          </a:p>
          <a:p>
            <a:pPr marL="514350" indent="-514350">
              <a:buAutoNum type="arabicParenR"/>
            </a:pPr>
            <a:r>
              <a:rPr lang="en-GB" kern="0" dirty="0" smtClean="0"/>
              <a:t>what drives these impacts: </a:t>
            </a:r>
            <a:r>
              <a:rPr lang="en-GB" b="1" kern="0" dirty="0" smtClean="0"/>
              <a:t>economic theory </a:t>
            </a:r>
            <a:r>
              <a:rPr lang="en-GB" kern="0" dirty="0" smtClean="0"/>
              <a:t>and </a:t>
            </a:r>
            <a:r>
              <a:rPr lang="en-GB" b="1" kern="0" dirty="0" smtClean="0"/>
              <a:t>estimated relationships</a:t>
            </a:r>
          </a:p>
        </p:txBody>
      </p:sp>
    </p:spTree>
    <p:extLst>
      <p:ext uri="{BB962C8B-B14F-4D97-AF65-F5344CB8AC3E}">
        <p14:creationId xmlns:p14="http://schemas.microsoft.com/office/powerpoint/2010/main" xmlns="" val="238239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stretch>
            <a:fillRect/>
          </a:stretch>
        </p:blipFill>
        <p:spPr>
          <a:xfrm>
            <a:off x="1" y="0"/>
            <a:ext cx="4788023" cy="6865814"/>
          </a:xfrm>
          <a:prstGeom prst="rect">
            <a:avLst/>
          </a:prstGeom>
        </p:spPr>
      </p:pic>
      <p:pic>
        <p:nvPicPr>
          <p:cNvPr id="3" name="Picture 2"/>
          <p:cNvPicPr>
            <a:picLocks noChangeAspect="1"/>
          </p:cNvPicPr>
          <p:nvPr/>
        </p:nvPicPr>
        <p:blipFill>
          <a:blip r:embed="rId4" cstate="print"/>
          <a:stretch>
            <a:fillRect/>
          </a:stretch>
        </p:blipFill>
        <p:spPr>
          <a:xfrm>
            <a:off x="4545038" y="0"/>
            <a:ext cx="4598962" cy="6865814"/>
          </a:xfrm>
          <a:prstGeom prst="rect">
            <a:avLst/>
          </a:prstGeom>
        </p:spPr>
      </p:pic>
    </p:spTree>
    <p:extLst>
      <p:ext uri="{BB962C8B-B14F-4D97-AF65-F5344CB8AC3E}">
        <p14:creationId xmlns:p14="http://schemas.microsoft.com/office/powerpoint/2010/main" xmlns="" val="10442665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History of the National Accounts</a:t>
            </a:r>
            <a:endParaRPr lang="en-GB" dirty="0"/>
          </a:p>
        </p:txBody>
      </p:sp>
      <p:pic>
        <p:nvPicPr>
          <p:cNvPr id="4" name="Picture 3"/>
          <p:cNvPicPr>
            <a:picLocks noChangeAspect="1"/>
          </p:cNvPicPr>
          <p:nvPr/>
        </p:nvPicPr>
        <p:blipFill>
          <a:blip r:embed="rId3" cstate="print"/>
          <a:stretch>
            <a:fillRect/>
          </a:stretch>
        </p:blipFill>
        <p:spPr>
          <a:xfrm>
            <a:off x="395536" y="2492896"/>
            <a:ext cx="8496944" cy="4110940"/>
          </a:xfrm>
          <a:prstGeom prst="rect">
            <a:avLst/>
          </a:prstGeom>
        </p:spPr>
      </p:pic>
      <p:sp>
        <p:nvSpPr>
          <p:cNvPr id="6" name="Rectangle 4"/>
          <p:cNvSpPr txBox="1">
            <a:spLocks noChangeArrowheads="1"/>
          </p:cNvSpPr>
          <p:nvPr/>
        </p:nvSpPr>
        <p:spPr bwMode="auto">
          <a:xfrm>
            <a:off x="611188" y="1676400"/>
            <a:ext cx="8425308"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a:lstStyle>
          <a:p>
            <a:pPr marL="0" indent="0">
              <a:buNone/>
            </a:pPr>
            <a:r>
              <a:rPr lang="en-GB" sz="1800" kern="0" dirty="0" smtClean="0"/>
              <a:t>An internationally agreed standard </a:t>
            </a:r>
            <a:r>
              <a:rPr lang="en-GB" sz="1800" kern="0" dirty="0"/>
              <a:t>set of </a:t>
            </a:r>
            <a:r>
              <a:rPr lang="en-GB" sz="1800" kern="0" dirty="0" smtClean="0"/>
              <a:t>recommendations </a:t>
            </a:r>
            <a:r>
              <a:rPr lang="en-GB" sz="1800" kern="0" dirty="0"/>
              <a:t>on how to compile </a:t>
            </a:r>
            <a:r>
              <a:rPr lang="en-GB" sz="1800" kern="0" dirty="0" smtClean="0"/>
              <a:t>measures </a:t>
            </a:r>
            <a:r>
              <a:rPr lang="en-GB" sz="1800" kern="0" dirty="0"/>
              <a:t>of economic </a:t>
            </a:r>
            <a:r>
              <a:rPr lang="en-GB" sz="1800" kern="0" dirty="0" smtClean="0"/>
              <a:t>activity, </a:t>
            </a:r>
            <a:r>
              <a:rPr lang="en-GB" sz="1800" i="1" kern="0" dirty="0" smtClean="0"/>
              <a:t>UNSTAT, United Nations</a:t>
            </a:r>
          </a:p>
        </p:txBody>
      </p:sp>
      <p:sp>
        <p:nvSpPr>
          <p:cNvPr id="7" name="Rectangle 6"/>
          <p:cNvSpPr/>
          <p:nvPr/>
        </p:nvSpPr>
        <p:spPr>
          <a:xfrm>
            <a:off x="5860863" y="6342226"/>
            <a:ext cx="3023585" cy="261610"/>
          </a:xfrm>
          <a:prstGeom prst="rect">
            <a:avLst/>
          </a:prstGeom>
        </p:spPr>
        <p:txBody>
          <a:bodyPr wrap="none">
            <a:spAutoFit/>
          </a:bodyPr>
          <a:lstStyle/>
          <a:p>
            <a:r>
              <a:rPr lang="en-GB" sz="1100" dirty="0">
                <a:hlinkClick r:id="rId4"/>
              </a:rPr>
              <a:t>http://</a:t>
            </a:r>
            <a:r>
              <a:rPr lang="en-GB" sz="1100" dirty="0" smtClean="0">
                <a:hlinkClick r:id="rId4"/>
              </a:rPr>
              <a:t>unstts.un.org/unsd/ntionalaccount/sna.asp</a:t>
            </a:r>
            <a:r>
              <a:rPr lang="en-GB" sz="1100" dirty="0" smtClean="0"/>
              <a:t> </a:t>
            </a:r>
            <a:endParaRPr lang="en-GB" sz="1100" dirty="0"/>
          </a:p>
        </p:txBody>
      </p:sp>
    </p:spTree>
    <p:extLst>
      <p:ext uri="{BB962C8B-B14F-4D97-AF65-F5344CB8AC3E}">
        <p14:creationId xmlns:p14="http://schemas.microsoft.com/office/powerpoint/2010/main" xmlns="" val="35788764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System of National Accounts</a:t>
            </a:r>
            <a:endParaRPr lang="en-GB" dirty="0"/>
          </a:p>
        </p:txBody>
      </p:sp>
      <p:sp>
        <p:nvSpPr>
          <p:cNvPr id="6" name="Rectangle 4"/>
          <p:cNvSpPr txBox="1">
            <a:spLocks noChangeArrowheads="1"/>
          </p:cNvSpPr>
          <p:nvPr/>
        </p:nvSpPr>
        <p:spPr bwMode="auto">
          <a:xfrm>
            <a:off x="611560" y="1690464"/>
            <a:ext cx="7546975"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a:lstStyle>
          <a:p>
            <a:r>
              <a:rPr lang="en-GB" kern="0" dirty="0" smtClean="0"/>
              <a:t>Central framework for presentation and measurement of the stocks and flows in economy</a:t>
            </a:r>
          </a:p>
          <a:p>
            <a:r>
              <a:rPr lang="en-GB" kern="0" dirty="0" smtClean="0"/>
              <a:t>Provides many key economic statistics</a:t>
            </a:r>
          </a:p>
          <a:p>
            <a:r>
              <a:rPr lang="en-GB" kern="0" dirty="0" smtClean="0"/>
              <a:t>Simple concept of representing complex economy</a:t>
            </a:r>
          </a:p>
          <a:p>
            <a:pPr lvl="1"/>
            <a:r>
              <a:rPr lang="en-GB" b="1" kern="0" dirty="0" smtClean="0"/>
              <a:t>who</a:t>
            </a:r>
            <a:r>
              <a:rPr lang="en-GB" kern="0" dirty="0" smtClean="0"/>
              <a:t> are participants of the economy?</a:t>
            </a:r>
          </a:p>
          <a:p>
            <a:pPr lvl="1"/>
            <a:r>
              <a:rPr lang="en-GB" b="1" kern="0" dirty="0" smtClean="0"/>
              <a:t>what </a:t>
            </a:r>
            <a:r>
              <a:rPr lang="en-GB" kern="0" dirty="0" smtClean="0"/>
              <a:t>transactions do they make with one another?</a:t>
            </a:r>
          </a:p>
          <a:p>
            <a:r>
              <a:rPr lang="en-GB" kern="0" dirty="0" smtClean="0"/>
              <a:t>Whole economy and sectors</a:t>
            </a:r>
          </a:p>
          <a:p>
            <a:r>
              <a:rPr lang="en-GB" kern="0" dirty="0" smtClean="0"/>
              <a:t>ESA95 – European System of National and Regional Accounts</a:t>
            </a:r>
          </a:p>
        </p:txBody>
      </p:sp>
    </p:spTree>
    <p:extLst>
      <p:ext uri="{BB962C8B-B14F-4D97-AF65-F5344CB8AC3E}">
        <p14:creationId xmlns:p14="http://schemas.microsoft.com/office/powerpoint/2010/main" xmlns="" val="35120880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SNA Concepts in Macro-Modelling</a:t>
            </a:r>
            <a:endParaRPr lang="en-GB" dirty="0"/>
          </a:p>
        </p:txBody>
      </p:sp>
      <p:sp>
        <p:nvSpPr>
          <p:cNvPr id="6" name="Rectangle 4"/>
          <p:cNvSpPr txBox="1">
            <a:spLocks noChangeArrowheads="1"/>
          </p:cNvSpPr>
          <p:nvPr/>
        </p:nvSpPr>
        <p:spPr bwMode="auto">
          <a:xfrm>
            <a:off x="625425" y="1700808"/>
            <a:ext cx="7546975"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a:lstStyle>
          <a:p>
            <a:r>
              <a:rPr lang="en-GB" kern="0" dirty="0" smtClean="0"/>
              <a:t>GDP</a:t>
            </a:r>
          </a:p>
          <a:p>
            <a:r>
              <a:rPr lang="en-GB" kern="0" dirty="0" smtClean="0">
                <a:solidFill>
                  <a:srgbClr val="002060"/>
                </a:solidFill>
              </a:rPr>
              <a:t>C</a:t>
            </a:r>
            <a:r>
              <a:rPr lang="en-GB" kern="0" dirty="0" smtClean="0"/>
              <a:t>omponents of GDP</a:t>
            </a:r>
          </a:p>
          <a:p>
            <a:r>
              <a:rPr lang="en-GB" kern="0" dirty="0" smtClean="0">
                <a:solidFill>
                  <a:srgbClr val="003966"/>
                </a:solidFill>
              </a:rPr>
              <a:t>Intermediate demand, input-output relationships (supply chain)</a:t>
            </a:r>
          </a:p>
          <a:p>
            <a:r>
              <a:rPr lang="en-GB" kern="0" dirty="0" smtClean="0">
                <a:solidFill>
                  <a:srgbClr val="003966"/>
                </a:solidFill>
              </a:rPr>
              <a:t>Multipliers </a:t>
            </a:r>
          </a:p>
          <a:p>
            <a:endParaRPr lang="en-GB" kern="0" dirty="0" smtClean="0"/>
          </a:p>
        </p:txBody>
      </p:sp>
    </p:spTree>
    <p:extLst>
      <p:ext uri="{BB962C8B-B14F-4D97-AF65-F5344CB8AC3E}">
        <p14:creationId xmlns:p14="http://schemas.microsoft.com/office/powerpoint/2010/main" xmlns="" val="263986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Gross Domestic Product (GDP)</a:t>
            </a:r>
            <a:endParaRPr lang="en-GB" dirty="0"/>
          </a:p>
        </p:txBody>
      </p:sp>
      <p:sp>
        <p:nvSpPr>
          <p:cNvPr id="6" name="Rectangle 4"/>
          <p:cNvSpPr txBox="1">
            <a:spLocks noChangeArrowheads="1"/>
          </p:cNvSpPr>
          <p:nvPr/>
        </p:nvSpPr>
        <p:spPr bwMode="auto">
          <a:xfrm>
            <a:off x="539552" y="1772816"/>
            <a:ext cx="7546975"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a:lstStyle>
          <a:p>
            <a:pPr marL="514350" indent="-514350">
              <a:buAutoNum type="arabicParenR"/>
            </a:pPr>
            <a:endParaRPr lang="en-GB" kern="0" dirty="0" smtClean="0"/>
          </a:p>
          <a:p>
            <a:pPr marL="514350" indent="-514350">
              <a:buAutoNum type="arabicParenR"/>
            </a:pPr>
            <a:endParaRPr lang="en-GB" kern="0" dirty="0" smtClean="0"/>
          </a:p>
        </p:txBody>
      </p:sp>
      <p:sp>
        <p:nvSpPr>
          <p:cNvPr id="4" name="Rectangle 4"/>
          <p:cNvSpPr txBox="1">
            <a:spLocks noChangeArrowheads="1"/>
          </p:cNvSpPr>
          <p:nvPr/>
        </p:nvSpPr>
        <p:spPr bwMode="auto">
          <a:xfrm>
            <a:off x="611188" y="1676400"/>
            <a:ext cx="7546975"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a:lstStyle>
          <a:p>
            <a:r>
              <a:rPr lang="en-GB" kern="0" dirty="0" smtClean="0"/>
              <a:t>Main summary indicator of economic activity: growth in the economy</a:t>
            </a:r>
          </a:p>
          <a:p>
            <a:r>
              <a:rPr lang="en-GB" kern="0" dirty="0" smtClean="0"/>
              <a:t>Three theoretical approaches to estimate GDP</a:t>
            </a:r>
          </a:p>
          <a:p>
            <a:pPr lvl="1"/>
            <a:r>
              <a:rPr lang="en-GB" kern="0" dirty="0" smtClean="0"/>
              <a:t>expenditure approach</a:t>
            </a:r>
          </a:p>
          <a:p>
            <a:pPr lvl="1"/>
            <a:r>
              <a:rPr lang="en-GB" kern="0" dirty="0" smtClean="0"/>
              <a:t>income approach</a:t>
            </a:r>
          </a:p>
          <a:p>
            <a:pPr lvl="1"/>
            <a:r>
              <a:rPr lang="en-GB" kern="0" dirty="0" smtClean="0"/>
              <a:t>production/output approach</a:t>
            </a:r>
          </a:p>
          <a:p>
            <a:pPr marL="457200" lvl="1" indent="0">
              <a:buNone/>
            </a:pPr>
            <a:endParaRPr lang="en-GB" kern="0" dirty="0" smtClean="0"/>
          </a:p>
        </p:txBody>
      </p:sp>
    </p:spTree>
    <p:extLst>
      <p:ext uri="{BB962C8B-B14F-4D97-AF65-F5344CB8AC3E}">
        <p14:creationId xmlns:p14="http://schemas.microsoft.com/office/powerpoint/2010/main" xmlns="" val="2967435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Components of GDP in Expenditure Approach </a:t>
            </a:r>
            <a:endParaRPr lang="en-GB" dirty="0"/>
          </a:p>
        </p:txBody>
      </p:sp>
      <p:pic>
        <p:nvPicPr>
          <p:cNvPr id="30" name="Picture 29"/>
          <p:cNvPicPr>
            <a:picLocks noChangeAspect="1"/>
          </p:cNvPicPr>
          <p:nvPr/>
        </p:nvPicPr>
        <p:blipFill>
          <a:blip r:embed="rId3" cstate="print"/>
          <a:stretch>
            <a:fillRect/>
          </a:stretch>
        </p:blipFill>
        <p:spPr>
          <a:xfrm>
            <a:off x="539552" y="1628800"/>
            <a:ext cx="4616831" cy="2304256"/>
          </a:xfrm>
          <a:prstGeom prst="rect">
            <a:avLst/>
          </a:prstGeom>
        </p:spPr>
      </p:pic>
      <p:sp>
        <p:nvSpPr>
          <p:cNvPr id="31" name="TextBox 30"/>
          <p:cNvSpPr txBox="1"/>
          <p:nvPr/>
        </p:nvSpPr>
        <p:spPr>
          <a:xfrm>
            <a:off x="553631" y="4149080"/>
            <a:ext cx="4090377" cy="2292935"/>
          </a:xfrm>
          <a:prstGeom prst="rect">
            <a:avLst/>
          </a:prstGeom>
          <a:ln w="12700">
            <a:solidFill>
              <a:srgbClr val="123D6B"/>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sz="1300" dirty="0" smtClean="0">
                <a:solidFill>
                  <a:srgbClr val="123D6B"/>
                </a:solidFill>
              </a:rPr>
              <a:t>GDP    =  	+ household final consumption</a:t>
            </a:r>
          </a:p>
          <a:p>
            <a:r>
              <a:rPr lang="en-GB" sz="1300" dirty="0" smtClean="0">
                <a:solidFill>
                  <a:srgbClr val="123D6B"/>
                </a:solidFill>
              </a:rPr>
              <a:t>  	+ government spending </a:t>
            </a:r>
          </a:p>
          <a:p>
            <a:r>
              <a:rPr lang="en-GB" sz="1300" dirty="0" smtClean="0">
                <a:solidFill>
                  <a:srgbClr val="123D6B"/>
                </a:solidFill>
              </a:rPr>
              <a:t>	+ investment </a:t>
            </a:r>
          </a:p>
          <a:p>
            <a:r>
              <a:rPr lang="en-GB" sz="1300" dirty="0">
                <a:solidFill>
                  <a:srgbClr val="123D6B"/>
                </a:solidFill>
              </a:rPr>
              <a:t>	</a:t>
            </a:r>
            <a:r>
              <a:rPr lang="en-GB" sz="1300" dirty="0" smtClean="0">
                <a:solidFill>
                  <a:srgbClr val="123D6B"/>
                </a:solidFill>
              </a:rPr>
              <a:t>+ change in inventories	</a:t>
            </a:r>
          </a:p>
          <a:p>
            <a:r>
              <a:rPr lang="en-GB" sz="1300" dirty="0" smtClean="0">
                <a:solidFill>
                  <a:srgbClr val="123D6B"/>
                </a:solidFill>
              </a:rPr>
              <a:t>           	+ exports</a:t>
            </a:r>
          </a:p>
          <a:p>
            <a:r>
              <a:rPr lang="en-GB" sz="1300" dirty="0" smtClean="0">
                <a:solidFill>
                  <a:srgbClr val="123D6B"/>
                </a:solidFill>
              </a:rPr>
              <a:t>                  – imports</a:t>
            </a:r>
            <a:endParaRPr lang="en-GB" sz="1300" dirty="0">
              <a:solidFill>
                <a:srgbClr val="123D6B"/>
              </a:solidFill>
            </a:endParaRPr>
          </a:p>
          <a:p>
            <a:r>
              <a:rPr lang="en-GB" sz="1300" b="1" i="1" dirty="0" smtClean="0">
                <a:solidFill>
                  <a:srgbClr val="123D6B"/>
                </a:solidFill>
              </a:rPr>
              <a:t>GDP   =     total final expenditure on domestically produced goods and services</a:t>
            </a:r>
          </a:p>
        </p:txBody>
      </p:sp>
      <p:sp>
        <p:nvSpPr>
          <p:cNvPr id="3" name="Rectangle 2"/>
          <p:cNvSpPr/>
          <p:nvPr/>
        </p:nvSpPr>
        <p:spPr bwMode="auto">
          <a:xfrm>
            <a:off x="7020272" y="6021288"/>
            <a:ext cx="1800200" cy="576064"/>
          </a:xfrm>
          <a:prstGeom prst="rect">
            <a:avLst/>
          </a:prstGeom>
          <a:solidFill>
            <a:schemeClr val="bg1"/>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pic>
        <p:nvPicPr>
          <p:cNvPr id="7" name="Picture 6"/>
          <p:cNvPicPr>
            <a:picLocks noChangeAspect="1"/>
          </p:cNvPicPr>
          <p:nvPr/>
        </p:nvPicPr>
        <p:blipFill rotWithShape="1">
          <a:blip r:embed="rId4" cstate="print"/>
          <a:srcRect l="6187" t="5362" r="6476" b="19291"/>
          <a:stretch/>
        </p:blipFill>
        <p:spPr>
          <a:xfrm>
            <a:off x="4754952" y="4005064"/>
            <a:ext cx="4065520" cy="2495776"/>
          </a:xfrm>
          <a:prstGeom prst="rect">
            <a:avLst/>
          </a:prstGeom>
        </p:spPr>
      </p:pic>
    </p:spTree>
    <p:extLst>
      <p:ext uri="{BB962C8B-B14F-4D97-AF65-F5344CB8AC3E}">
        <p14:creationId xmlns:p14="http://schemas.microsoft.com/office/powerpoint/2010/main" xmlns="" val="21614788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6948264" y="5949280"/>
            <a:ext cx="1872208" cy="648072"/>
          </a:xfrm>
          <a:prstGeom prst="rect">
            <a:avLst/>
          </a:prstGeom>
          <a:solidFill>
            <a:schemeClr val="bg1"/>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6" name="Title 1"/>
          <p:cNvSpPr>
            <a:spLocks noGrp="1"/>
          </p:cNvSpPr>
          <p:nvPr>
            <p:ph type="title"/>
          </p:nvPr>
        </p:nvSpPr>
        <p:spPr/>
        <p:txBody>
          <a:bodyPr/>
          <a:lstStyle/>
          <a:p>
            <a:pPr algn="ctr"/>
            <a:r>
              <a:rPr lang="en-GB" dirty="0" smtClean="0"/>
              <a:t>Components of GDP in Income Approach </a:t>
            </a:r>
            <a:endParaRPr lang="en-GB" dirty="0"/>
          </a:p>
        </p:txBody>
      </p:sp>
      <p:pic>
        <p:nvPicPr>
          <p:cNvPr id="5" name="Picture 4"/>
          <p:cNvPicPr>
            <a:picLocks noChangeAspect="1"/>
          </p:cNvPicPr>
          <p:nvPr/>
        </p:nvPicPr>
        <p:blipFill>
          <a:blip r:embed="rId3" cstate="print"/>
          <a:stretch>
            <a:fillRect/>
          </a:stretch>
        </p:blipFill>
        <p:spPr>
          <a:xfrm>
            <a:off x="611560" y="1744589"/>
            <a:ext cx="4618800" cy="2476499"/>
          </a:xfrm>
          <a:prstGeom prst="rect">
            <a:avLst/>
          </a:prstGeom>
        </p:spPr>
      </p:pic>
      <p:pic>
        <p:nvPicPr>
          <p:cNvPr id="4" name="Picture 3"/>
          <p:cNvPicPr>
            <a:picLocks noChangeAspect="1"/>
          </p:cNvPicPr>
          <p:nvPr/>
        </p:nvPicPr>
        <p:blipFill rotWithShape="1">
          <a:blip r:embed="rId4" cstate="print"/>
          <a:srcRect b="5042"/>
          <a:stretch/>
        </p:blipFill>
        <p:spPr>
          <a:xfrm>
            <a:off x="4067944" y="3789040"/>
            <a:ext cx="4765327" cy="2722632"/>
          </a:xfrm>
          <a:prstGeom prst="rect">
            <a:avLst/>
          </a:prstGeom>
        </p:spPr>
      </p:pic>
      <p:sp>
        <p:nvSpPr>
          <p:cNvPr id="9" name="TextBox 8"/>
          <p:cNvSpPr txBox="1"/>
          <p:nvPr/>
        </p:nvSpPr>
        <p:spPr>
          <a:xfrm>
            <a:off x="539552" y="4960620"/>
            <a:ext cx="3359947" cy="1492716"/>
          </a:xfrm>
          <a:prstGeom prst="rect">
            <a:avLst/>
          </a:prstGeom>
          <a:ln w="12700">
            <a:solidFill>
              <a:srgbClr val="123D6B"/>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sz="1300" dirty="0" smtClean="0">
                <a:solidFill>
                  <a:srgbClr val="123D6B"/>
                </a:solidFill>
              </a:rPr>
              <a:t>GDP    =  	+ gross operating surplus</a:t>
            </a:r>
          </a:p>
          <a:p>
            <a:r>
              <a:rPr lang="en-GB" sz="1300" dirty="0">
                <a:solidFill>
                  <a:srgbClr val="123D6B"/>
                </a:solidFill>
              </a:rPr>
              <a:t>	</a:t>
            </a:r>
            <a:r>
              <a:rPr lang="en-GB" sz="1300" dirty="0" smtClean="0">
                <a:solidFill>
                  <a:srgbClr val="123D6B"/>
                </a:solidFill>
              </a:rPr>
              <a:t>+ compensation of employees</a:t>
            </a:r>
          </a:p>
          <a:p>
            <a:r>
              <a:rPr lang="en-GB" sz="1300" dirty="0">
                <a:solidFill>
                  <a:srgbClr val="123D6B"/>
                </a:solidFill>
              </a:rPr>
              <a:t>	</a:t>
            </a:r>
            <a:r>
              <a:rPr lang="en-GB" sz="1300" dirty="0" smtClean="0">
                <a:solidFill>
                  <a:srgbClr val="123D6B"/>
                </a:solidFill>
              </a:rPr>
              <a:t>+ taxes (on production)</a:t>
            </a:r>
          </a:p>
          <a:p>
            <a:endParaRPr lang="en-GB" sz="1300" dirty="0">
              <a:solidFill>
                <a:srgbClr val="123D6B"/>
              </a:solidFill>
            </a:endParaRPr>
          </a:p>
          <a:p>
            <a:r>
              <a:rPr lang="en-GB" sz="1300" b="1" i="1" dirty="0" smtClean="0">
                <a:solidFill>
                  <a:srgbClr val="123D6B"/>
                </a:solidFill>
              </a:rPr>
              <a:t>GDP   =    total income</a:t>
            </a:r>
          </a:p>
        </p:txBody>
      </p:sp>
    </p:spTree>
    <p:extLst>
      <p:ext uri="{BB962C8B-B14F-4D97-AF65-F5344CB8AC3E}">
        <p14:creationId xmlns:p14="http://schemas.microsoft.com/office/powerpoint/2010/main" xmlns="" val="16605985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pPr algn="ctr"/>
            <a:r>
              <a:rPr lang="en-GB" dirty="0" smtClean="0"/>
              <a:t>Components of GDP in Production Approach</a:t>
            </a:r>
            <a:endParaRPr lang="en-GB" dirty="0"/>
          </a:p>
        </p:txBody>
      </p:sp>
      <p:pic>
        <p:nvPicPr>
          <p:cNvPr id="2" name="Picture 1"/>
          <p:cNvPicPr>
            <a:picLocks noChangeAspect="1"/>
          </p:cNvPicPr>
          <p:nvPr/>
        </p:nvPicPr>
        <p:blipFill>
          <a:blip r:embed="rId3" cstate="print"/>
          <a:stretch>
            <a:fillRect/>
          </a:stretch>
        </p:blipFill>
        <p:spPr>
          <a:xfrm>
            <a:off x="395536" y="2348881"/>
            <a:ext cx="4618800" cy="2855059"/>
          </a:xfrm>
          <a:prstGeom prst="rect">
            <a:avLst/>
          </a:prstGeom>
        </p:spPr>
      </p:pic>
      <p:sp>
        <p:nvSpPr>
          <p:cNvPr id="11" name="TextBox 10"/>
          <p:cNvSpPr txBox="1"/>
          <p:nvPr/>
        </p:nvSpPr>
        <p:spPr>
          <a:xfrm>
            <a:off x="5161969" y="2348880"/>
            <a:ext cx="3575971" cy="2893100"/>
          </a:xfrm>
          <a:prstGeom prst="rect">
            <a:avLst/>
          </a:prstGeom>
          <a:ln w="12700">
            <a:solidFill>
              <a:srgbClr val="123D6B"/>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sz="1300" dirty="0" smtClean="0">
                <a:solidFill>
                  <a:srgbClr val="123D6B"/>
                </a:solidFill>
              </a:rPr>
              <a:t>GDP    =  	+ output</a:t>
            </a:r>
          </a:p>
          <a:p>
            <a:r>
              <a:rPr lang="en-GB" sz="1300" dirty="0" smtClean="0">
                <a:solidFill>
                  <a:srgbClr val="123D6B"/>
                </a:solidFill>
              </a:rPr>
              <a:t>  	-  intermediate consumption</a:t>
            </a:r>
          </a:p>
          <a:p>
            <a:r>
              <a:rPr lang="en-GB" sz="1300" dirty="0" smtClean="0">
                <a:solidFill>
                  <a:srgbClr val="123D6B"/>
                </a:solidFill>
              </a:rPr>
              <a:t>	+ taxes on products	</a:t>
            </a:r>
          </a:p>
          <a:p>
            <a:r>
              <a:rPr lang="en-GB" sz="1300" dirty="0" smtClean="0">
                <a:solidFill>
                  <a:srgbClr val="123D6B"/>
                </a:solidFill>
              </a:rPr>
              <a:t>           	-  subsidies on products</a:t>
            </a:r>
          </a:p>
          <a:p>
            <a:r>
              <a:rPr lang="en-GB" sz="1300" dirty="0" smtClean="0">
                <a:solidFill>
                  <a:srgbClr val="123D6B"/>
                </a:solidFill>
              </a:rPr>
              <a:t>                  </a:t>
            </a:r>
          </a:p>
          <a:p>
            <a:r>
              <a:rPr lang="en-GB" sz="1300" dirty="0" smtClean="0">
                <a:solidFill>
                  <a:srgbClr val="123D6B"/>
                </a:solidFill>
              </a:rPr>
              <a:t>Gross value added at basic price = </a:t>
            </a:r>
          </a:p>
          <a:p>
            <a:r>
              <a:rPr lang="en-GB" sz="1300" dirty="0" smtClean="0">
                <a:solidFill>
                  <a:srgbClr val="123D6B"/>
                </a:solidFill>
              </a:rPr>
              <a:t>output – intermediate consumption  </a:t>
            </a:r>
          </a:p>
          <a:p>
            <a:endParaRPr lang="en-GB" sz="1300" dirty="0">
              <a:solidFill>
                <a:srgbClr val="123D6B"/>
              </a:solidFill>
            </a:endParaRPr>
          </a:p>
          <a:p>
            <a:r>
              <a:rPr lang="en-GB" sz="1300" b="1" i="1" dirty="0" smtClean="0">
                <a:solidFill>
                  <a:srgbClr val="123D6B"/>
                </a:solidFill>
              </a:rPr>
              <a:t>GDP   = 	total value added plus taxes on production</a:t>
            </a:r>
          </a:p>
        </p:txBody>
      </p:sp>
    </p:spTree>
    <p:extLst>
      <p:ext uri="{BB962C8B-B14F-4D97-AF65-F5344CB8AC3E}">
        <p14:creationId xmlns:p14="http://schemas.microsoft.com/office/powerpoint/2010/main" xmlns="" val="35663043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GDP Limitations</a:t>
            </a:r>
            <a:endParaRPr lang="en-GB" dirty="0"/>
          </a:p>
        </p:txBody>
      </p:sp>
      <p:sp>
        <p:nvSpPr>
          <p:cNvPr id="3" name="Content Placeholder 2"/>
          <p:cNvSpPr>
            <a:spLocks noGrp="1"/>
          </p:cNvSpPr>
          <p:nvPr>
            <p:ph idx="1"/>
          </p:nvPr>
        </p:nvSpPr>
        <p:spPr/>
        <p:txBody>
          <a:bodyPr/>
          <a:lstStyle/>
          <a:p>
            <a:r>
              <a:rPr lang="en-GB" dirty="0" smtClean="0"/>
              <a:t>Measurement problems: </a:t>
            </a:r>
          </a:p>
          <a:p>
            <a:pPr lvl="1"/>
            <a:r>
              <a:rPr lang="en-GB" dirty="0" smtClean="0"/>
              <a:t>what </a:t>
            </a:r>
            <a:r>
              <a:rPr lang="en-GB" dirty="0"/>
              <a:t>counts as a </a:t>
            </a:r>
            <a:r>
              <a:rPr lang="en-GB" dirty="0" smtClean="0"/>
              <a:t>territory</a:t>
            </a:r>
            <a:r>
              <a:rPr lang="en-GB" dirty="0"/>
              <a:t> </a:t>
            </a:r>
            <a:r>
              <a:rPr lang="en-GB" dirty="0" smtClean="0"/>
              <a:t>(e.g. international waters)</a:t>
            </a:r>
          </a:p>
          <a:p>
            <a:pPr lvl="1"/>
            <a:r>
              <a:rPr lang="en-GB" dirty="0" smtClean="0"/>
              <a:t>what </a:t>
            </a:r>
            <a:r>
              <a:rPr lang="en-GB" dirty="0"/>
              <a:t>counts as </a:t>
            </a:r>
            <a:r>
              <a:rPr lang="en-GB" dirty="0" smtClean="0"/>
              <a:t>output (e.g. food produced at home)</a:t>
            </a:r>
          </a:p>
          <a:p>
            <a:pPr lvl="1"/>
            <a:r>
              <a:rPr lang="en-GB" dirty="0" smtClean="0"/>
              <a:t>how </a:t>
            </a:r>
            <a:r>
              <a:rPr lang="en-GB" dirty="0"/>
              <a:t>to value </a:t>
            </a:r>
            <a:r>
              <a:rPr lang="en-GB" dirty="0" smtClean="0"/>
              <a:t>output (e.g. </a:t>
            </a:r>
            <a:r>
              <a:rPr lang="en-GB" dirty="0"/>
              <a:t>original </a:t>
            </a:r>
            <a:r>
              <a:rPr lang="en-GB" dirty="0" smtClean="0"/>
              <a:t>artwork)</a:t>
            </a:r>
          </a:p>
          <a:p>
            <a:r>
              <a:rPr lang="en-GB" dirty="0" smtClean="0"/>
              <a:t>Does not represent externalities or income distribution</a:t>
            </a:r>
          </a:p>
          <a:p>
            <a:r>
              <a:rPr lang="en-GB" dirty="0" smtClean="0"/>
              <a:t>Measures flows but ignores production implications on stocks </a:t>
            </a:r>
          </a:p>
          <a:p>
            <a:pPr lvl="1"/>
            <a:r>
              <a:rPr lang="en-GB" dirty="0" smtClean="0"/>
              <a:t> e.g. natural resources</a:t>
            </a:r>
          </a:p>
          <a:p>
            <a:r>
              <a:rPr lang="en-GB" dirty="0">
                <a:solidFill>
                  <a:srgbClr val="003966"/>
                </a:solidFill>
              </a:rPr>
              <a:t>Debate over alternative measures of well-being</a:t>
            </a:r>
          </a:p>
          <a:p>
            <a:endParaRPr lang="en-GB" dirty="0" smtClean="0">
              <a:solidFill>
                <a:srgbClr val="003966"/>
              </a:solidFill>
            </a:endParaRPr>
          </a:p>
        </p:txBody>
      </p:sp>
    </p:spTree>
    <p:extLst>
      <p:ext uri="{BB962C8B-B14F-4D97-AF65-F5344CB8AC3E}">
        <p14:creationId xmlns:p14="http://schemas.microsoft.com/office/powerpoint/2010/main" xmlns="" val="322930065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Input-Output Tables</a:t>
            </a:r>
            <a:endParaRPr lang="en-GB" dirty="0"/>
          </a:p>
        </p:txBody>
      </p:sp>
      <p:sp>
        <p:nvSpPr>
          <p:cNvPr id="5" name="Content Placeholder 2"/>
          <p:cNvSpPr>
            <a:spLocks noGrp="1"/>
          </p:cNvSpPr>
          <p:nvPr>
            <p:ph idx="1"/>
          </p:nvPr>
        </p:nvSpPr>
        <p:spPr>
          <a:xfrm>
            <a:off x="611188" y="1700808"/>
            <a:ext cx="7848600" cy="4114800"/>
          </a:xfrm>
        </p:spPr>
        <p:txBody>
          <a:bodyPr/>
          <a:lstStyle/>
          <a:p>
            <a:r>
              <a:rPr lang="en-GB" dirty="0" smtClean="0"/>
              <a:t>Analytical framework for economic relationships</a:t>
            </a:r>
          </a:p>
          <a:p>
            <a:pPr lvl="1"/>
            <a:r>
              <a:rPr lang="en-GB" dirty="0" smtClean="0"/>
              <a:t>developed by Leontief for the US in 1919 </a:t>
            </a:r>
          </a:p>
          <a:p>
            <a:pPr lvl="1"/>
            <a:r>
              <a:rPr lang="en-GB" dirty="0" smtClean="0"/>
              <a:t>integrated to the UN’s SNA in 1968 by Richard Stone</a:t>
            </a:r>
          </a:p>
          <a:p>
            <a:r>
              <a:rPr lang="en-GB" dirty="0" smtClean="0"/>
              <a:t>Simple concept</a:t>
            </a:r>
          </a:p>
        </p:txBody>
      </p:sp>
      <p:graphicFrame>
        <p:nvGraphicFramePr>
          <p:cNvPr id="10" name="Diagram 9"/>
          <p:cNvGraphicFramePr/>
          <p:nvPr>
            <p:extLst>
              <p:ext uri="{D42A27DB-BD31-4B8C-83A1-F6EECF244321}">
                <p14:modId xmlns:p14="http://schemas.microsoft.com/office/powerpoint/2010/main" xmlns="" val="1904736809"/>
              </p:ext>
            </p:extLst>
          </p:nvPr>
        </p:nvGraphicFramePr>
        <p:xfrm>
          <a:off x="467544" y="3717032"/>
          <a:ext cx="3168352" cy="1584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8" name="Straight Arrow Connector 17"/>
          <p:cNvCxnSpPr>
            <a:stCxn id="19" idx="1"/>
          </p:cNvCxnSpPr>
          <p:nvPr/>
        </p:nvCxnSpPr>
        <p:spPr bwMode="auto">
          <a:xfrm flipH="1">
            <a:off x="3563888" y="3742293"/>
            <a:ext cx="504056" cy="478795"/>
          </a:xfrm>
          <a:prstGeom prst="straightConnector1">
            <a:avLst/>
          </a:prstGeom>
          <a:noFill/>
          <a:ln w="9525" cap="flat" cmpd="sng" algn="ctr">
            <a:solidFill>
              <a:srgbClr val="123D6B"/>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9" name="TextBox 18"/>
          <p:cNvSpPr txBox="1"/>
          <p:nvPr/>
        </p:nvSpPr>
        <p:spPr>
          <a:xfrm>
            <a:off x="4067944" y="3573016"/>
            <a:ext cx="1728192" cy="338554"/>
          </a:xfrm>
          <a:prstGeom prst="rect">
            <a:avLst/>
          </a:prstGeom>
          <a:noFill/>
          <a:ln>
            <a:solidFill>
              <a:srgbClr val="123D6B"/>
            </a:solidFill>
          </a:ln>
        </p:spPr>
        <p:txBody>
          <a:bodyPr wrap="square" rtlCol="0">
            <a:spAutoFit/>
          </a:bodyPr>
          <a:lstStyle/>
          <a:p>
            <a:r>
              <a:rPr lang="en-GB" dirty="0" smtClean="0">
                <a:solidFill>
                  <a:srgbClr val="123D6B"/>
                </a:solidFill>
                <a:latin typeface="+mj-lt"/>
              </a:rPr>
              <a:t>raw materials</a:t>
            </a:r>
          </a:p>
        </p:txBody>
      </p:sp>
      <p:cxnSp>
        <p:nvCxnSpPr>
          <p:cNvPr id="22" name="Straight Arrow Connector 21"/>
          <p:cNvCxnSpPr>
            <a:stCxn id="24" idx="1"/>
          </p:cNvCxnSpPr>
          <p:nvPr/>
        </p:nvCxnSpPr>
        <p:spPr bwMode="auto">
          <a:xfrm flipH="1" flipV="1">
            <a:off x="3635896" y="4500210"/>
            <a:ext cx="504056" cy="8910"/>
          </a:xfrm>
          <a:prstGeom prst="straightConnector1">
            <a:avLst/>
          </a:prstGeom>
          <a:noFill/>
          <a:ln w="9525" cap="flat" cmpd="sng" algn="ctr">
            <a:solidFill>
              <a:srgbClr val="123D6B"/>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4" name="TextBox 23"/>
          <p:cNvSpPr txBox="1"/>
          <p:nvPr/>
        </p:nvSpPr>
        <p:spPr>
          <a:xfrm>
            <a:off x="4139952" y="4339843"/>
            <a:ext cx="2088232" cy="338554"/>
          </a:xfrm>
          <a:prstGeom prst="rect">
            <a:avLst/>
          </a:prstGeom>
          <a:noFill/>
          <a:ln>
            <a:solidFill>
              <a:srgbClr val="123D6B"/>
            </a:solidFill>
          </a:ln>
        </p:spPr>
        <p:txBody>
          <a:bodyPr wrap="square" rtlCol="0">
            <a:spAutoFit/>
          </a:bodyPr>
          <a:lstStyle/>
          <a:p>
            <a:r>
              <a:rPr lang="en-GB" dirty="0" smtClean="0">
                <a:solidFill>
                  <a:srgbClr val="123D6B"/>
                </a:solidFill>
                <a:latin typeface="+mj-lt"/>
              </a:rPr>
              <a:t>semi-finished goods</a:t>
            </a:r>
          </a:p>
        </p:txBody>
      </p:sp>
      <p:cxnSp>
        <p:nvCxnSpPr>
          <p:cNvPr id="25" name="Straight Arrow Connector 24"/>
          <p:cNvCxnSpPr>
            <a:stCxn id="28" idx="1"/>
          </p:cNvCxnSpPr>
          <p:nvPr/>
        </p:nvCxnSpPr>
        <p:spPr bwMode="auto">
          <a:xfrm flipH="1" flipV="1">
            <a:off x="3563890" y="4809730"/>
            <a:ext cx="648070" cy="299035"/>
          </a:xfrm>
          <a:prstGeom prst="straightConnector1">
            <a:avLst/>
          </a:prstGeom>
          <a:noFill/>
          <a:ln w="9525" cap="flat" cmpd="sng" algn="ctr">
            <a:solidFill>
              <a:srgbClr val="123D6B"/>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28" name="TextBox 27"/>
          <p:cNvSpPr txBox="1"/>
          <p:nvPr/>
        </p:nvSpPr>
        <p:spPr>
          <a:xfrm>
            <a:off x="4211960" y="4939488"/>
            <a:ext cx="1728192" cy="338554"/>
          </a:xfrm>
          <a:prstGeom prst="rect">
            <a:avLst/>
          </a:prstGeom>
          <a:noFill/>
          <a:ln>
            <a:solidFill>
              <a:srgbClr val="123D6B"/>
            </a:solidFill>
          </a:ln>
        </p:spPr>
        <p:txBody>
          <a:bodyPr wrap="square" rtlCol="0">
            <a:spAutoFit/>
          </a:bodyPr>
          <a:lstStyle/>
          <a:p>
            <a:r>
              <a:rPr lang="en-GB" dirty="0" smtClean="0">
                <a:solidFill>
                  <a:srgbClr val="123D6B"/>
                </a:solidFill>
                <a:latin typeface="+mj-lt"/>
              </a:rPr>
              <a:t>labour</a:t>
            </a:r>
          </a:p>
        </p:txBody>
      </p:sp>
      <p:sp>
        <p:nvSpPr>
          <p:cNvPr id="32" name="Right Brace 31"/>
          <p:cNvSpPr/>
          <p:nvPr/>
        </p:nvSpPr>
        <p:spPr bwMode="auto">
          <a:xfrm>
            <a:off x="5970786" y="3573016"/>
            <a:ext cx="720080" cy="1705026"/>
          </a:xfrm>
          <a:prstGeom prst="rightBrace">
            <a:avLst/>
          </a:prstGeom>
          <a:noFill/>
          <a:ln w="9525" cap="flat" cmpd="sng" algn="ctr">
            <a:solidFill>
              <a:srgbClr val="123D6B"/>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33" name="TextBox 32"/>
          <p:cNvSpPr txBox="1"/>
          <p:nvPr/>
        </p:nvSpPr>
        <p:spPr>
          <a:xfrm>
            <a:off x="6690866" y="4234737"/>
            <a:ext cx="2057598" cy="338554"/>
          </a:xfrm>
          <a:prstGeom prst="rect">
            <a:avLst/>
          </a:prstGeom>
          <a:noFill/>
          <a:ln>
            <a:solidFill>
              <a:srgbClr val="123D6B"/>
            </a:solidFill>
          </a:ln>
        </p:spPr>
        <p:txBody>
          <a:bodyPr wrap="square" rtlCol="0">
            <a:spAutoFit/>
          </a:bodyPr>
          <a:lstStyle/>
          <a:p>
            <a:r>
              <a:rPr lang="en-GB" dirty="0" smtClean="0">
                <a:solidFill>
                  <a:srgbClr val="123D6B"/>
                </a:solidFill>
                <a:latin typeface="+mj-lt"/>
              </a:rPr>
              <a:t>domestic or imports</a:t>
            </a:r>
          </a:p>
        </p:txBody>
      </p:sp>
    </p:spTree>
    <p:extLst>
      <p:ext uri="{BB962C8B-B14F-4D97-AF65-F5344CB8AC3E}">
        <p14:creationId xmlns:p14="http://schemas.microsoft.com/office/powerpoint/2010/main" xmlns="" val="27727369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Input-Output Tables</a:t>
            </a:r>
            <a:endParaRPr lang="en-GB" dirty="0"/>
          </a:p>
        </p:txBody>
      </p:sp>
      <p:pic>
        <p:nvPicPr>
          <p:cNvPr id="7" name="Picture 6"/>
          <p:cNvPicPr>
            <a:picLocks noChangeAspect="1"/>
          </p:cNvPicPr>
          <p:nvPr/>
        </p:nvPicPr>
        <p:blipFill>
          <a:blip r:embed="rId3" cstate="print"/>
          <a:stretch>
            <a:fillRect/>
          </a:stretch>
        </p:blipFill>
        <p:spPr>
          <a:xfrm>
            <a:off x="1835696" y="1582582"/>
            <a:ext cx="4776372" cy="4511377"/>
          </a:xfrm>
          <a:prstGeom prst="rect">
            <a:avLst/>
          </a:prstGeom>
        </p:spPr>
      </p:pic>
      <p:sp>
        <p:nvSpPr>
          <p:cNvPr id="8" name="Down Arrow 7"/>
          <p:cNvSpPr/>
          <p:nvPr/>
        </p:nvSpPr>
        <p:spPr bwMode="auto">
          <a:xfrm>
            <a:off x="1403648" y="1750038"/>
            <a:ext cx="432048" cy="4176464"/>
          </a:xfrm>
          <a:prstGeom prst="downArrow">
            <a:avLst/>
          </a:prstGeom>
          <a:noFill/>
          <a:ln w="9525" cap="flat" cmpd="sng" algn="ctr">
            <a:solidFill>
              <a:srgbClr val="003966"/>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11" name="Right Arrow 10"/>
          <p:cNvSpPr/>
          <p:nvPr/>
        </p:nvSpPr>
        <p:spPr bwMode="auto">
          <a:xfrm>
            <a:off x="2063642" y="6107941"/>
            <a:ext cx="4320480" cy="476672"/>
          </a:xfrm>
          <a:prstGeom prst="rightArrow">
            <a:avLst/>
          </a:prstGeom>
          <a:noFill/>
          <a:ln w="9525" cap="flat" cmpd="sng" algn="ctr">
            <a:solidFill>
              <a:srgbClr val="003966"/>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12" name="TextBox 11"/>
          <p:cNvSpPr txBox="1"/>
          <p:nvPr/>
        </p:nvSpPr>
        <p:spPr>
          <a:xfrm rot="16200000">
            <a:off x="503362" y="3608334"/>
            <a:ext cx="2232620" cy="338554"/>
          </a:xfrm>
          <a:prstGeom prst="rect">
            <a:avLst/>
          </a:prstGeom>
          <a:noFill/>
        </p:spPr>
        <p:txBody>
          <a:bodyPr wrap="square" rtlCol="0">
            <a:spAutoFit/>
          </a:bodyPr>
          <a:lstStyle/>
          <a:p>
            <a:r>
              <a:rPr lang="en-GB" dirty="0" smtClean="0">
                <a:solidFill>
                  <a:srgbClr val="123D6B"/>
                </a:solidFill>
                <a:latin typeface="Arial" panose="020B0604020202020204" pitchFamily="34" charset="0"/>
              </a:rPr>
              <a:t>purchase of inputs</a:t>
            </a:r>
            <a:endParaRPr lang="en-GB" dirty="0">
              <a:solidFill>
                <a:srgbClr val="123D6B"/>
              </a:solidFill>
              <a:latin typeface="Arial" panose="020B0604020202020204" pitchFamily="34" charset="0"/>
            </a:endParaRPr>
          </a:p>
        </p:txBody>
      </p:sp>
      <p:sp>
        <p:nvSpPr>
          <p:cNvPr id="21" name="TextBox 20"/>
          <p:cNvSpPr txBox="1"/>
          <p:nvPr/>
        </p:nvSpPr>
        <p:spPr>
          <a:xfrm>
            <a:off x="3419178" y="6177000"/>
            <a:ext cx="2232620" cy="338554"/>
          </a:xfrm>
          <a:prstGeom prst="rect">
            <a:avLst/>
          </a:prstGeom>
          <a:noFill/>
        </p:spPr>
        <p:txBody>
          <a:bodyPr wrap="square" rtlCol="0">
            <a:spAutoFit/>
          </a:bodyPr>
          <a:lstStyle/>
          <a:p>
            <a:r>
              <a:rPr lang="en-GB" dirty="0" smtClean="0">
                <a:solidFill>
                  <a:srgbClr val="123D6B"/>
                </a:solidFill>
                <a:latin typeface="+mn-lt"/>
              </a:rPr>
              <a:t>sales of outputs</a:t>
            </a:r>
            <a:endParaRPr lang="en-GB" dirty="0">
              <a:solidFill>
                <a:srgbClr val="123D6B"/>
              </a:solidFill>
              <a:latin typeface="+mn-lt"/>
            </a:endParaRPr>
          </a:p>
        </p:txBody>
      </p:sp>
      <p:pic>
        <p:nvPicPr>
          <p:cNvPr id="23" name="Picture 22"/>
          <p:cNvPicPr>
            <a:picLocks noChangeAspect="1"/>
          </p:cNvPicPr>
          <p:nvPr/>
        </p:nvPicPr>
        <p:blipFill>
          <a:blip r:embed="rId4" cstate="print"/>
          <a:stretch>
            <a:fillRect/>
          </a:stretch>
        </p:blipFill>
        <p:spPr>
          <a:xfrm>
            <a:off x="6732240" y="3526986"/>
            <a:ext cx="1938369" cy="337262"/>
          </a:xfrm>
          <a:prstGeom prst="rect">
            <a:avLst/>
          </a:prstGeom>
        </p:spPr>
      </p:pic>
    </p:spTree>
    <p:extLst>
      <p:ext uri="{BB962C8B-B14F-4D97-AF65-F5344CB8AC3E}">
        <p14:creationId xmlns:p14="http://schemas.microsoft.com/office/powerpoint/2010/main" xmlns="" val="38640271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ChangeArrowheads="1"/>
          </p:cNvSpPr>
          <p:nvPr/>
        </p:nvSpPr>
        <p:spPr bwMode="auto">
          <a:xfrm>
            <a:off x="611560" y="332656"/>
            <a:ext cx="7402513"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p>
            <a:pPr>
              <a:spcBef>
                <a:spcPct val="0"/>
              </a:spcBef>
            </a:pPr>
            <a:r>
              <a:rPr lang="en-GB" sz="3500" dirty="0" smtClean="0">
                <a:solidFill>
                  <a:srgbClr val="123D6B"/>
                </a:solidFill>
                <a:latin typeface="Arial" charset="0"/>
              </a:rPr>
              <a:t>IO in System of National Accounts</a:t>
            </a:r>
            <a:endParaRPr lang="en-GB" sz="3500" dirty="0">
              <a:solidFill>
                <a:srgbClr val="123D6B"/>
              </a:solidFill>
              <a:latin typeface="Arial" charset="0"/>
            </a:endParaRPr>
          </a:p>
        </p:txBody>
      </p:sp>
      <p:grpSp>
        <p:nvGrpSpPr>
          <p:cNvPr id="6" name="Group 5"/>
          <p:cNvGrpSpPr/>
          <p:nvPr/>
        </p:nvGrpSpPr>
        <p:grpSpPr>
          <a:xfrm>
            <a:off x="316117" y="1582812"/>
            <a:ext cx="8330575" cy="4914265"/>
            <a:chOff x="435891" y="824547"/>
            <a:chExt cx="8330575" cy="4914265"/>
          </a:xfrm>
        </p:grpSpPr>
        <p:sp>
          <p:nvSpPr>
            <p:cNvPr id="7" name="Rectangle 6"/>
            <p:cNvSpPr/>
            <p:nvPr/>
          </p:nvSpPr>
          <p:spPr>
            <a:xfrm>
              <a:off x="835433" y="1208120"/>
              <a:ext cx="1512168" cy="1434899"/>
            </a:xfrm>
            <a:prstGeom prst="rect">
              <a:avLst/>
            </a:prstGeom>
            <a:noFill/>
            <a:ln>
              <a:solidFill>
                <a:srgbClr val="123D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solidFill>
                    <a:srgbClr val="123D6B"/>
                  </a:solidFill>
                  <a:cs typeface="Times New Roman" pitchFamily="18" charset="0"/>
                </a:rPr>
                <a:t>Input-Output Table</a:t>
              </a:r>
              <a:endParaRPr lang="en-GB" dirty="0">
                <a:solidFill>
                  <a:srgbClr val="123D6B"/>
                </a:solidFill>
                <a:cs typeface="Times New Roman" pitchFamily="18" charset="0"/>
              </a:endParaRPr>
            </a:p>
          </p:txBody>
        </p:sp>
        <p:sp>
          <p:nvSpPr>
            <p:cNvPr id="8" name="TextBox 7"/>
            <p:cNvSpPr txBox="1"/>
            <p:nvPr/>
          </p:nvSpPr>
          <p:spPr>
            <a:xfrm>
              <a:off x="979449" y="824547"/>
              <a:ext cx="1224136" cy="276999"/>
            </a:xfrm>
            <a:prstGeom prst="rect">
              <a:avLst/>
            </a:prstGeom>
            <a:noFill/>
          </p:spPr>
          <p:txBody>
            <a:bodyPr wrap="square" rtlCol="0">
              <a:spAutoFit/>
            </a:bodyPr>
            <a:lstStyle/>
            <a:p>
              <a:pPr algn="ctr"/>
              <a:r>
                <a:rPr lang="en-GB" sz="1200" dirty="0" smtClean="0">
                  <a:solidFill>
                    <a:srgbClr val="123D6B"/>
                  </a:solidFill>
                  <a:latin typeface="+mn-lt"/>
                  <a:cs typeface="Times New Roman" pitchFamily="18" charset="0"/>
                </a:rPr>
                <a:t>Industries</a:t>
              </a:r>
              <a:endParaRPr lang="en-GB" sz="1200" dirty="0">
                <a:solidFill>
                  <a:srgbClr val="123D6B"/>
                </a:solidFill>
                <a:latin typeface="+mn-lt"/>
                <a:cs typeface="Times New Roman" pitchFamily="18" charset="0"/>
              </a:endParaRPr>
            </a:p>
          </p:txBody>
        </p:sp>
        <p:sp>
          <p:nvSpPr>
            <p:cNvPr id="9" name="TextBox 8"/>
            <p:cNvSpPr txBox="1"/>
            <p:nvPr/>
          </p:nvSpPr>
          <p:spPr>
            <a:xfrm>
              <a:off x="435891" y="911644"/>
              <a:ext cx="369332" cy="1953485"/>
            </a:xfrm>
            <a:prstGeom prst="rect">
              <a:avLst/>
            </a:prstGeom>
            <a:noFill/>
          </p:spPr>
          <p:txBody>
            <a:bodyPr vert="vert270" wrap="square" rtlCol="0">
              <a:spAutoFit/>
            </a:bodyPr>
            <a:lstStyle/>
            <a:p>
              <a:pPr algn="ctr"/>
              <a:r>
                <a:rPr lang="en-GB" sz="1200" dirty="0" smtClean="0">
                  <a:solidFill>
                    <a:srgbClr val="123D6B"/>
                  </a:solidFill>
                  <a:latin typeface="+mn-lt"/>
                  <a:cs typeface="Times New Roman" pitchFamily="18" charset="0"/>
                </a:rPr>
                <a:t>Industries (product of)</a:t>
              </a:r>
              <a:endParaRPr lang="en-GB" sz="1200" dirty="0">
                <a:solidFill>
                  <a:srgbClr val="123D6B"/>
                </a:solidFill>
                <a:latin typeface="+mn-lt"/>
                <a:cs typeface="Times New Roman" pitchFamily="18" charset="0"/>
              </a:endParaRPr>
            </a:p>
          </p:txBody>
        </p:sp>
        <p:sp>
          <p:nvSpPr>
            <p:cNvPr id="10" name="Rectangle 9"/>
            <p:cNvSpPr/>
            <p:nvPr/>
          </p:nvSpPr>
          <p:spPr>
            <a:xfrm>
              <a:off x="2663788" y="1208120"/>
              <a:ext cx="648072" cy="1449140"/>
            </a:xfrm>
            <a:prstGeom prst="rect">
              <a:avLst/>
            </a:prstGeom>
            <a:noFill/>
            <a:ln w="12700">
              <a:solidFill>
                <a:srgbClr val="123D6B"/>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1400" dirty="0" smtClean="0">
                  <a:solidFill>
                    <a:srgbClr val="123D6B"/>
                  </a:solidFill>
                  <a:cs typeface="Times New Roman" pitchFamily="18" charset="0"/>
                </a:rPr>
                <a:t>Household Final Consumption</a:t>
              </a:r>
              <a:endParaRPr lang="en-GB" sz="1400" dirty="0">
                <a:solidFill>
                  <a:srgbClr val="123D6B"/>
                </a:solidFill>
                <a:cs typeface="Times New Roman" pitchFamily="18" charset="0"/>
              </a:endParaRPr>
            </a:p>
          </p:txBody>
        </p:sp>
        <p:sp>
          <p:nvSpPr>
            <p:cNvPr id="11" name="Rectangle 10"/>
            <p:cNvSpPr/>
            <p:nvPr/>
          </p:nvSpPr>
          <p:spPr>
            <a:xfrm>
              <a:off x="3648332" y="1193879"/>
              <a:ext cx="587196" cy="1449140"/>
            </a:xfrm>
            <a:prstGeom prst="rect">
              <a:avLst/>
            </a:prstGeom>
            <a:noFill/>
            <a:ln w="12700">
              <a:solidFill>
                <a:srgbClr val="123D6B"/>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1400" dirty="0" smtClean="0">
                  <a:solidFill>
                    <a:srgbClr val="123D6B"/>
                  </a:solidFill>
                  <a:cs typeface="Times New Roman" pitchFamily="18" charset="0"/>
                </a:rPr>
                <a:t>Government Final Consumption</a:t>
              </a:r>
              <a:endParaRPr lang="en-GB" sz="1400" dirty="0">
                <a:solidFill>
                  <a:srgbClr val="123D6B"/>
                </a:solidFill>
                <a:cs typeface="Times New Roman" pitchFamily="18" charset="0"/>
              </a:endParaRPr>
            </a:p>
          </p:txBody>
        </p:sp>
        <p:sp>
          <p:nvSpPr>
            <p:cNvPr id="12" name="Rectangle 11"/>
            <p:cNvSpPr/>
            <p:nvPr/>
          </p:nvSpPr>
          <p:spPr>
            <a:xfrm>
              <a:off x="4575085" y="1210508"/>
              <a:ext cx="378042" cy="1449140"/>
            </a:xfrm>
            <a:prstGeom prst="rect">
              <a:avLst/>
            </a:prstGeom>
            <a:noFill/>
            <a:ln w="12700">
              <a:solidFill>
                <a:srgbClr val="123D6B"/>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1400" dirty="0" smtClean="0">
                  <a:solidFill>
                    <a:srgbClr val="123D6B"/>
                  </a:solidFill>
                  <a:cs typeface="Times New Roman" pitchFamily="18" charset="0"/>
                </a:rPr>
                <a:t>Fixed Investment</a:t>
              </a:r>
              <a:endParaRPr lang="en-GB" sz="1400" dirty="0">
                <a:solidFill>
                  <a:srgbClr val="123D6B"/>
                </a:solidFill>
                <a:cs typeface="Times New Roman" pitchFamily="18" charset="0"/>
              </a:endParaRPr>
            </a:p>
          </p:txBody>
        </p:sp>
        <p:sp>
          <p:nvSpPr>
            <p:cNvPr id="13" name="Rectangle 12"/>
            <p:cNvSpPr/>
            <p:nvPr/>
          </p:nvSpPr>
          <p:spPr>
            <a:xfrm>
              <a:off x="5306812" y="1193879"/>
              <a:ext cx="540059" cy="1449140"/>
            </a:xfrm>
            <a:prstGeom prst="rect">
              <a:avLst/>
            </a:prstGeom>
            <a:noFill/>
            <a:ln w="12700">
              <a:solidFill>
                <a:srgbClr val="123D6B"/>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1400" dirty="0" smtClean="0">
                  <a:solidFill>
                    <a:srgbClr val="123D6B"/>
                  </a:solidFill>
                  <a:cs typeface="Times New Roman" pitchFamily="18" charset="0"/>
                </a:rPr>
                <a:t>Change in Inventories</a:t>
              </a:r>
              <a:endParaRPr lang="en-GB" sz="1400" dirty="0">
                <a:solidFill>
                  <a:srgbClr val="123D6B"/>
                </a:solidFill>
                <a:cs typeface="Times New Roman" pitchFamily="18" charset="0"/>
              </a:endParaRPr>
            </a:p>
          </p:txBody>
        </p:sp>
        <p:sp>
          <p:nvSpPr>
            <p:cNvPr id="14" name="Rectangle 13"/>
            <p:cNvSpPr/>
            <p:nvPr/>
          </p:nvSpPr>
          <p:spPr>
            <a:xfrm>
              <a:off x="6197377" y="1193879"/>
              <a:ext cx="378042" cy="1449140"/>
            </a:xfrm>
            <a:prstGeom prst="rect">
              <a:avLst/>
            </a:prstGeom>
            <a:noFill/>
            <a:ln w="12700">
              <a:solidFill>
                <a:srgbClr val="123D6B"/>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1400" dirty="0" smtClean="0">
                  <a:solidFill>
                    <a:srgbClr val="123D6B"/>
                  </a:solidFill>
                  <a:cs typeface="Times New Roman" pitchFamily="18" charset="0"/>
                </a:rPr>
                <a:t>Exports</a:t>
              </a:r>
              <a:endParaRPr lang="en-GB" sz="1400" dirty="0">
                <a:solidFill>
                  <a:srgbClr val="123D6B"/>
                </a:solidFill>
                <a:cs typeface="Times New Roman" pitchFamily="18" charset="0"/>
              </a:endParaRPr>
            </a:p>
          </p:txBody>
        </p:sp>
        <p:sp>
          <p:nvSpPr>
            <p:cNvPr id="15" name="Rectangle 14"/>
            <p:cNvSpPr/>
            <p:nvPr/>
          </p:nvSpPr>
          <p:spPr>
            <a:xfrm>
              <a:off x="6995978" y="1193879"/>
              <a:ext cx="378042" cy="1449140"/>
            </a:xfrm>
            <a:prstGeom prst="rect">
              <a:avLst/>
            </a:prstGeom>
            <a:noFill/>
            <a:ln w="12700">
              <a:solidFill>
                <a:srgbClr val="123D6B"/>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1400" b="1" dirty="0" smtClean="0">
                  <a:solidFill>
                    <a:srgbClr val="123D6B"/>
                  </a:solidFill>
                  <a:cs typeface="Times New Roman" pitchFamily="18" charset="0"/>
                </a:rPr>
                <a:t>Total Demand</a:t>
              </a:r>
              <a:endParaRPr lang="en-GB" sz="1400" b="1" dirty="0">
                <a:solidFill>
                  <a:srgbClr val="123D6B"/>
                </a:solidFill>
                <a:cs typeface="Times New Roman" pitchFamily="18" charset="0"/>
              </a:endParaRPr>
            </a:p>
          </p:txBody>
        </p:sp>
        <p:sp>
          <p:nvSpPr>
            <p:cNvPr id="16" name="Rectangle 15"/>
            <p:cNvSpPr/>
            <p:nvPr/>
          </p:nvSpPr>
          <p:spPr>
            <a:xfrm>
              <a:off x="8388424" y="1193879"/>
              <a:ext cx="378042" cy="1449140"/>
            </a:xfrm>
            <a:prstGeom prst="rect">
              <a:avLst/>
            </a:prstGeom>
            <a:noFill/>
            <a:ln w="12700">
              <a:solidFill>
                <a:srgbClr val="123D6B"/>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1400" dirty="0" smtClean="0">
                  <a:solidFill>
                    <a:srgbClr val="123D6B"/>
                  </a:solidFill>
                  <a:cs typeface="Times New Roman" pitchFamily="18" charset="0"/>
                </a:rPr>
                <a:t>Domestic Supply</a:t>
              </a:r>
              <a:endParaRPr lang="en-GB" sz="1400" dirty="0">
                <a:solidFill>
                  <a:srgbClr val="123D6B"/>
                </a:solidFill>
                <a:cs typeface="Times New Roman" pitchFamily="18" charset="0"/>
              </a:endParaRPr>
            </a:p>
          </p:txBody>
        </p:sp>
        <p:sp>
          <p:nvSpPr>
            <p:cNvPr id="17" name="Rectangle 16"/>
            <p:cNvSpPr/>
            <p:nvPr/>
          </p:nvSpPr>
          <p:spPr>
            <a:xfrm>
              <a:off x="7740352" y="1208120"/>
              <a:ext cx="378042" cy="1449140"/>
            </a:xfrm>
            <a:prstGeom prst="rect">
              <a:avLst/>
            </a:prstGeom>
            <a:noFill/>
            <a:ln w="12700">
              <a:solidFill>
                <a:srgbClr val="123D6B"/>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1400" dirty="0" smtClean="0">
                  <a:solidFill>
                    <a:srgbClr val="123D6B"/>
                  </a:solidFill>
                  <a:cs typeface="Times New Roman" pitchFamily="18" charset="0"/>
                </a:rPr>
                <a:t>Imports</a:t>
              </a:r>
              <a:endParaRPr lang="en-GB" sz="1400" dirty="0">
                <a:solidFill>
                  <a:srgbClr val="123D6B"/>
                </a:solidFill>
                <a:cs typeface="Times New Roman" pitchFamily="18" charset="0"/>
              </a:endParaRPr>
            </a:p>
          </p:txBody>
        </p:sp>
        <p:sp>
          <p:nvSpPr>
            <p:cNvPr id="18" name="Rectangle 17"/>
            <p:cNvSpPr/>
            <p:nvPr/>
          </p:nvSpPr>
          <p:spPr>
            <a:xfrm>
              <a:off x="832747" y="3097247"/>
              <a:ext cx="1514854" cy="1116932"/>
            </a:xfrm>
            <a:prstGeom prst="rect">
              <a:avLst/>
            </a:prstGeom>
            <a:noFill/>
            <a:ln w="12700">
              <a:solidFill>
                <a:srgbClr val="123D6B"/>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GB" sz="1400" dirty="0" smtClean="0">
                  <a:solidFill>
                    <a:srgbClr val="123D6B"/>
                  </a:solidFill>
                  <a:cs typeface="Times New Roman" pitchFamily="18" charset="0"/>
                </a:rPr>
                <a:t>Value Added: wages </a:t>
              </a:r>
            </a:p>
            <a:p>
              <a:pPr algn="ctr"/>
              <a:r>
                <a:rPr lang="en-GB" sz="1400" dirty="0" smtClean="0">
                  <a:solidFill>
                    <a:srgbClr val="123D6B"/>
                  </a:solidFill>
                  <a:cs typeface="Times New Roman" pitchFamily="18" charset="0"/>
                </a:rPr>
                <a:t>profits deprecation</a:t>
              </a:r>
              <a:endParaRPr lang="en-GB" sz="1400" dirty="0">
                <a:solidFill>
                  <a:srgbClr val="123D6B"/>
                </a:solidFill>
                <a:cs typeface="Times New Roman" pitchFamily="18" charset="0"/>
              </a:endParaRPr>
            </a:p>
          </p:txBody>
        </p:sp>
        <p:sp>
          <p:nvSpPr>
            <p:cNvPr id="19" name="Rectangle 18"/>
            <p:cNvSpPr/>
            <p:nvPr/>
          </p:nvSpPr>
          <p:spPr>
            <a:xfrm>
              <a:off x="834090" y="4522440"/>
              <a:ext cx="1514854" cy="576064"/>
            </a:xfrm>
            <a:prstGeom prst="rect">
              <a:avLst/>
            </a:prstGeom>
            <a:noFill/>
            <a:ln w="12700">
              <a:solidFill>
                <a:srgbClr val="123D6B"/>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GB" sz="1400" dirty="0" smtClean="0">
                  <a:solidFill>
                    <a:srgbClr val="123D6B"/>
                  </a:solidFill>
                  <a:cs typeface="Times New Roman" pitchFamily="18" charset="0"/>
                </a:rPr>
                <a:t>Taxes and Subsides</a:t>
              </a:r>
              <a:endParaRPr lang="en-GB" sz="1400" dirty="0">
                <a:solidFill>
                  <a:srgbClr val="123D6B"/>
                </a:solidFill>
                <a:cs typeface="Times New Roman" pitchFamily="18" charset="0"/>
              </a:endParaRPr>
            </a:p>
          </p:txBody>
        </p:sp>
        <p:sp>
          <p:nvSpPr>
            <p:cNvPr id="20" name="Rectangle 19"/>
            <p:cNvSpPr/>
            <p:nvPr/>
          </p:nvSpPr>
          <p:spPr>
            <a:xfrm>
              <a:off x="853270" y="5378772"/>
              <a:ext cx="1514854" cy="360040"/>
            </a:xfrm>
            <a:prstGeom prst="rect">
              <a:avLst/>
            </a:prstGeom>
            <a:noFill/>
            <a:ln w="12700">
              <a:solidFill>
                <a:srgbClr val="123D6B"/>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GB" sz="1400" b="1" dirty="0" smtClean="0">
                  <a:solidFill>
                    <a:srgbClr val="123D6B"/>
                  </a:solidFill>
                  <a:cs typeface="Times New Roman" pitchFamily="18" charset="0"/>
                </a:rPr>
                <a:t>Gross Output</a:t>
              </a:r>
              <a:endParaRPr lang="en-GB" sz="1400" b="1" dirty="0">
                <a:solidFill>
                  <a:srgbClr val="123D6B"/>
                </a:solidFill>
                <a:cs typeface="Times New Roman" pitchFamily="18" charset="0"/>
              </a:endParaRPr>
            </a:p>
          </p:txBody>
        </p:sp>
        <p:cxnSp>
          <p:nvCxnSpPr>
            <p:cNvPr id="21" name="Curved Connector 20"/>
            <p:cNvCxnSpPr>
              <a:stCxn id="16" idx="2"/>
              <a:endCxn id="20" idx="3"/>
            </p:cNvCxnSpPr>
            <p:nvPr/>
          </p:nvCxnSpPr>
          <p:spPr>
            <a:xfrm rot="5400000">
              <a:off x="4014899" y="996245"/>
              <a:ext cx="2915773" cy="6209321"/>
            </a:xfrm>
            <a:prstGeom prst="curvedConnector2">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7452320" y="852571"/>
              <a:ext cx="0" cy="2131755"/>
            </a:xfrm>
            <a:prstGeom prst="line">
              <a:avLst/>
            </a:prstGeom>
            <a:ln>
              <a:solidFill>
                <a:srgbClr val="123D6B"/>
              </a:solidFill>
              <a:prstDash val="dash"/>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355248" y="1695312"/>
              <a:ext cx="336472" cy="523220"/>
            </a:xfrm>
            <a:prstGeom prst="rect">
              <a:avLst/>
            </a:prstGeom>
            <a:noFill/>
          </p:spPr>
          <p:txBody>
            <a:bodyPr wrap="square" rtlCol="0">
              <a:spAutoFit/>
            </a:bodyPr>
            <a:lstStyle/>
            <a:p>
              <a:r>
                <a:rPr lang="en-GB" sz="2800" dirty="0" smtClean="0">
                  <a:solidFill>
                    <a:srgbClr val="123D6B"/>
                  </a:solidFill>
                  <a:latin typeface="+mn-lt"/>
                  <a:cs typeface="Times New Roman" pitchFamily="18" charset="0"/>
                </a:rPr>
                <a:t>+</a:t>
              </a:r>
              <a:endParaRPr lang="en-GB" sz="2800" dirty="0">
                <a:solidFill>
                  <a:srgbClr val="123D6B"/>
                </a:solidFill>
                <a:latin typeface="+mn-lt"/>
                <a:cs typeface="Times New Roman" pitchFamily="18" charset="0"/>
              </a:endParaRPr>
            </a:p>
          </p:txBody>
        </p:sp>
        <p:sp>
          <p:nvSpPr>
            <p:cNvPr id="24" name="TextBox 23"/>
            <p:cNvSpPr txBox="1"/>
            <p:nvPr/>
          </p:nvSpPr>
          <p:spPr>
            <a:xfrm>
              <a:off x="3328320" y="1687322"/>
              <a:ext cx="336472" cy="523220"/>
            </a:xfrm>
            <a:prstGeom prst="rect">
              <a:avLst/>
            </a:prstGeom>
            <a:noFill/>
          </p:spPr>
          <p:txBody>
            <a:bodyPr wrap="square" rtlCol="0">
              <a:spAutoFit/>
            </a:bodyPr>
            <a:lstStyle/>
            <a:p>
              <a:r>
                <a:rPr lang="en-GB" sz="2800" dirty="0" smtClean="0">
                  <a:solidFill>
                    <a:srgbClr val="123D6B"/>
                  </a:solidFill>
                  <a:latin typeface="+mn-lt"/>
                  <a:cs typeface="Times New Roman" pitchFamily="18" charset="0"/>
                </a:rPr>
                <a:t>+</a:t>
              </a:r>
              <a:endParaRPr lang="en-GB" sz="2800" dirty="0">
                <a:solidFill>
                  <a:srgbClr val="123D6B"/>
                </a:solidFill>
                <a:latin typeface="+mn-lt"/>
                <a:cs typeface="Times New Roman" pitchFamily="18" charset="0"/>
              </a:endParaRPr>
            </a:p>
          </p:txBody>
        </p:sp>
        <p:sp>
          <p:nvSpPr>
            <p:cNvPr id="25" name="TextBox 24"/>
            <p:cNvSpPr txBox="1"/>
            <p:nvPr/>
          </p:nvSpPr>
          <p:spPr>
            <a:xfrm>
              <a:off x="4238613" y="1671080"/>
              <a:ext cx="336472" cy="523220"/>
            </a:xfrm>
            <a:prstGeom prst="rect">
              <a:avLst/>
            </a:prstGeom>
            <a:noFill/>
          </p:spPr>
          <p:txBody>
            <a:bodyPr wrap="square" rtlCol="0">
              <a:spAutoFit/>
            </a:bodyPr>
            <a:lstStyle/>
            <a:p>
              <a:r>
                <a:rPr lang="en-GB" sz="2800" dirty="0" smtClean="0">
                  <a:solidFill>
                    <a:srgbClr val="123D6B"/>
                  </a:solidFill>
                  <a:latin typeface="+mn-lt"/>
                  <a:cs typeface="Times New Roman" pitchFamily="18" charset="0"/>
                </a:rPr>
                <a:t>+</a:t>
              </a:r>
              <a:endParaRPr lang="en-GB" sz="2800" dirty="0">
                <a:solidFill>
                  <a:srgbClr val="123D6B"/>
                </a:solidFill>
                <a:latin typeface="+mn-lt"/>
                <a:cs typeface="Times New Roman" pitchFamily="18" charset="0"/>
              </a:endParaRPr>
            </a:p>
          </p:txBody>
        </p:sp>
        <p:sp>
          <p:nvSpPr>
            <p:cNvPr id="26" name="TextBox 25"/>
            <p:cNvSpPr txBox="1"/>
            <p:nvPr/>
          </p:nvSpPr>
          <p:spPr>
            <a:xfrm>
              <a:off x="4970340" y="1673468"/>
              <a:ext cx="336472" cy="523220"/>
            </a:xfrm>
            <a:prstGeom prst="rect">
              <a:avLst/>
            </a:prstGeom>
            <a:noFill/>
          </p:spPr>
          <p:txBody>
            <a:bodyPr wrap="square" rtlCol="0">
              <a:spAutoFit/>
            </a:bodyPr>
            <a:lstStyle/>
            <a:p>
              <a:r>
                <a:rPr lang="en-GB" sz="2800" dirty="0" smtClean="0">
                  <a:solidFill>
                    <a:srgbClr val="123D6B"/>
                  </a:solidFill>
                  <a:latin typeface="+mn-lt"/>
                  <a:cs typeface="Times New Roman" pitchFamily="18" charset="0"/>
                </a:rPr>
                <a:t>+</a:t>
              </a:r>
              <a:endParaRPr lang="en-GB" sz="2800" dirty="0">
                <a:solidFill>
                  <a:srgbClr val="123D6B"/>
                </a:solidFill>
                <a:latin typeface="+mn-lt"/>
                <a:cs typeface="Times New Roman" pitchFamily="18" charset="0"/>
              </a:endParaRPr>
            </a:p>
          </p:txBody>
        </p:sp>
        <p:sp>
          <p:nvSpPr>
            <p:cNvPr id="27" name="TextBox 26"/>
            <p:cNvSpPr txBox="1"/>
            <p:nvPr/>
          </p:nvSpPr>
          <p:spPr>
            <a:xfrm>
              <a:off x="5846871" y="1656839"/>
              <a:ext cx="336472" cy="523220"/>
            </a:xfrm>
            <a:prstGeom prst="rect">
              <a:avLst/>
            </a:prstGeom>
            <a:noFill/>
          </p:spPr>
          <p:txBody>
            <a:bodyPr wrap="square" rtlCol="0">
              <a:spAutoFit/>
            </a:bodyPr>
            <a:lstStyle/>
            <a:p>
              <a:r>
                <a:rPr lang="en-GB" sz="2800" dirty="0" smtClean="0">
                  <a:solidFill>
                    <a:srgbClr val="123D6B"/>
                  </a:solidFill>
                  <a:latin typeface="+mn-lt"/>
                  <a:cs typeface="Times New Roman" pitchFamily="18" charset="0"/>
                </a:rPr>
                <a:t>+</a:t>
              </a:r>
              <a:endParaRPr lang="en-GB" sz="2800" dirty="0">
                <a:solidFill>
                  <a:srgbClr val="123D6B"/>
                </a:solidFill>
                <a:latin typeface="+mn-lt"/>
                <a:cs typeface="Times New Roman" pitchFamily="18" charset="0"/>
              </a:endParaRPr>
            </a:p>
          </p:txBody>
        </p:sp>
        <p:sp>
          <p:nvSpPr>
            <p:cNvPr id="28" name="TextBox 27"/>
            <p:cNvSpPr txBox="1"/>
            <p:nvPr/>
          </p:nvSpPr>
          <p:spPr>
            <a:xfrm>
              <a:off x="1421938" y="4077072"/>
              <a:ext cx="336472" cy="523220"/>
            </a:xfrm>
            <a:prstGeom prst="rect">
              <a:avLst/>
            </a:prstGeom>
            <a:noFill/>
          </p:spPr>
          <p:txBody>
            <a:bodyPr wrap="square" rtlCol="0">
              <a:spAutoFit/>
            </a:bodyPr>
            <a:lstStyle/>
            <a:p>
              <a:r>
                <a:rPr lang="en-GB" sz="2800" dirty="0" smtClean="0">
                  <a:solidFill>
                    <a:srgbClr val="123D6B"/>
                  </a:solidFill>
                  <a:latin typeface="+mn-lt"/>
                  <a:cs typeface="Times New Roman" pitchFamily="18" charset="0"/>
                </a:rPr>
                <a:t>+</a:t>
              </a:r>
              <a:endParaRPr lang="en-GB" sz="2800" dirty="0">
                <a:solidFill>
                  <a:srgbClr val="123D6B"/>
                </a:solidFill>
                <a:latin typeface="+mn-lt"/>
                <a:cs typeface="Times New Roman" pitchFamily="18" charset="0"/>
              </a:endParaRPr>
            </a:p>
          </p:txBody>
        </p:sp>
        <p:sp>
          <p:nvSpPr>
            <p:cNvPr id="29" name="TextBox 28"/>
            <p:cNvSpPr txBox="1"/>
            <p:nvPr/>
          </p:nvSpPr>
          <p:spPr>
            <a:xfrm>
              <a:off x="1423281" y="2617748"/>
              <a:ext cx="336472" cy="523220"/>
            </a:xfrm>
            <a:prstGeom prst="rect">
              <a:avLst/>
            </a:prstGeom>
            <a:noFill/>
          </p:spPr>
          <p:txBody>
            <a:bodyPr wrap="square" rtlCol="0">
              <a:spAutoFit/>
            </a:bodyPr>
            <a:lstStyle/>
            <a:p>
              <a:r>
                <a:rPr lang="en-GB" sz="2800" dirty="0" smtClean="0">
                  <a:solidFill>
                    <a:srgbClr val="123D6B"/>
                  </a:solidFill>
                  <a:latin typeface="+mn-lt"/>
                  <a:cs typeface="Times New Roman" pitchFamily="18" charset="0"/>
                </a:rPr>
                <a:t>+</a:t>
              </a:r>
              <a:endParaRPr lang="en-GB" sz="2800" dirty="0">
                <a:solidFill>
                  <a:srgbClr val="123D6B"/>
                </a:solidFill>
                <a:latin typeface="+mn-lt"/>
                <a:cs typeface="Times New Roman" pitchFamily="18" charset="0"/>
              </a:endParaRPr>
            </a:p>
          </p:txBody>
        </p:sp>
        <p:sp>
          <p:nvSpPr>
            <p:cNvPr id="30" name="TextBox 29"/>
            <p:cNvSpPr txBox="1"/>
            <p:nvPr/>
          </p:nvSpPr>
          <p:spPr>
            <a:xfrm>
              <a:off x="1421938" y="4954736"/>
              <a:ext cx="336472" cy="523220"/>
            </a:xfrm>
            <a:prstGeom prst="rect">
              <a:avLst/>
            </a:prstGeom>
            <a:noFill/>
          </p:spPr>
          <p:txBody>
            <a:bodyPr wrap="square" rtlCol="0">
              <a:spAutoFit/>
            </a:bodyPr>
            <a:lstStyle/>
            <a:p>
              <a:r>
                <a:rPr lang="en-GB" sz="2800" dirty="0" smtClean="0">
                  <a:solidFill>
                    <a:srgbClr val="123D6B"/>
                  </a:solidFill>
                  <a:latin typeface="+mn-lt"/>
                  <a:cs typeface="Times New Roman" pitchFamily="18" charset="0"/>
                </a:rPr>
                <a:t>=</a:t>
              </a:r>
              <a:endParaRPr lang="en-GB" sz="2800" dirty="0">
                <a:solidFill>
                  <a:srgbClr val="123D6B"/>
                </a:solidFill>
                <a:latin typeface="+mn-lt"/>
                <a:cs typeface="Times New Roman" pitchFamily="18" charset="0"/>
              </a:endParaRPr>
            </a:p>
          </p:txBody>
        </p:sp>
        <p:sp>
          <p:nvSpPr>
            <p:cNvPr id="31" name="TextBox 30"/>
            <p:cNvSpPr txBox="1"/>
            <p:nvPr/>
          </p:nvSpPr>
          <p:spPr>
            <a:xfrm>
              <a:off x="8051952" y="1656839"/>
              <a:ext cx="336472" cy="523220"/>
            </a:xfrm>
            <a:prstGeom prst="rect">
              <a:avLst/>
            </a:prstGeom>
            <a:noFill/>
          </p:spPr>
          <p:txBody>
            <a:bodyPr wrap="square" rtlCol="0">
              <a:spAutoFit/>
            </a:bodyPr>
            <a:lstStyle/>
            <a:p>
              <a:r>
                <a:rPr lang="en-GB" sz="2800" dirty="0" smtClean="0">
                  <a:solidFill>
                    <a:srgbClr val="123D6B"/>
                  </a:solidFill>
                  <a:latin typeface="+mn-lt"/>
                  <a:cs typeface="Times New Roman" pitchFamily="18" charset="0"/>
                </a:rPr>
                <a:t>=</a:t>
              </a:r>
              <a:endParaRPr lang="en-GB" sz="2800" dirty="0">
                <a:solidFill>
                  <a:srgbClr val="123D6B"/>
                </a:solidFill>
                <a:latin typeface="+mn-lt"/>
                <a:cs typeface="Times New Roman" pitchFamily="18" charset="0"/>
              </a:endParaRPr>
            </a:p>
          </p:txBody>
        </p:sp>
        <p:sp>
          <p:nvSpPr>
            <p:cNvPr id="32" name="TextBox 31"/>
            <p:cNvSpPr txBox="1"/>
            <p:nvPr/>
          </p:nvSpPr>
          <p:spPr>
            <a:xfrm>
              <a:off x="6600029" y="1695312"/>
              <a:ext cx="336472" cy="523220"/>
            </a:xfrm>
            <a:prstGeom prst="rect">
              <a:avLst/>
            </a:prstGeom>
            <a:noFill/>
          </p:spPr>
          <p:txBody>
            <a:bodyPr wrap="square" rtlCol="0">
              <a:spAutoFit/>
            </a:bodyPr>
            <a:lstStyle/>
            <a:p>
              <a:r>
                <a:rPr lang="en-GB" sz="2800" dirty="0" smtClean="0">
                  <a:solidFill>
                    <a:srgbClr val="123D6B"/>
                  </a:solidFill>
                  <a:latin typeface="+mn-lt"/>
                  <a:cs typeface="Times New Roman" pitchFamily="18" charset="0"/>
                </a:rPr>
                <a:t>=</a:t>
              </a:r>
              <a:endParaRPr lang="en-GB" sz="2800" dirty="0">
                <a:solidFill>
                  <a:srgbClr val="123D6B"/>
                </a:solidFill>
                <a:latin typeface="+mn-lt"/>
                <a:cs typeface="Times New Roman" pitchFamily="18" charset="0"/>
              </a:endParaRPr>
            </a:p>
          </p:txBody>
        </p:sp>
        <p:cxnSp>
          <p:nvCxnSpPr>
            <p:cNvPr id="33" name="Straight Connector 32"/>
            <p:cNvCxnSpPr/>
            <p:nvPr/>
          </p:nvCxnSpPr>
          <p:spPr>
            <a:xfrm>
              <a:off x="7507926" y="1956922"/>
              <a:ext cx="189021" cy="0"/>
            </a:xfrm>
            <a:prstGeom prst="line">
              <a:avLst/>
            </a:prstGeom>
            <a:ln w="12700">
              <a:solidFill>
                <a:srgbClr val="123D6B"/>
              </a:solidFill>
            </a:ln>
          </p:spPr>
          <p:style>
            <a:lnRef idx="1">
              <a:schemeClr val="accent1"/>
            </a:lnRef>
            <a:fillRef idx="0">
              <a:schemeClr val="accent1"/>
            </a:fillRef>
            <a:effectRef idx="0">
              <a:schemeClr val="accent1"/>
            </a:effectRef>
            <a:fontRef idx="minor">
              <a:schemeClr val="tx1"/>
            </a:fontRef>
          </p:style>
        </p:cxnSp>
      </p:grpSp>
      <p:sp>
        <p:nvSpPr>
          <p:cNvPr id="2" name="Oval 1"/>
          <p:cNvSpPr/>
          <p:nvPr/>
        </p:nvSpPr>
        <p:spPr bwMode="auto">
          <a:xfrm>
            <a:off x="2411760" y="1859811"/>
            <a:ext cx="5856890" cy="1882780"/>
          </a:xfrm>
          <a:prstGeom prst="ellipse">
            <a:avLst/>
          </a:prstGeom>
          <a:noFill/>
          <a:ln w="952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3" name="Oval 2"/>
          <p:cNvSpPr/>
          <p:nvPr/>
        </p:nvSpPr>
        <p:spPr bwMode="auto">
          <a:xfrm>
            <a:off x="570300" y="3662893"/>
            <a:ext cx="1800200" cy="2206689"/>
          </a:xfrm>
          <a:prstGeom prst="ellipse">
            <a:avLst/>
          </a:prstGeom>
          <a:noFill/>
          <a:ln w="9525" cap="flat" cmpd="sng" algn="ctr">
            <a:solidFill>
              <a:schemeClr val="accent1">
                <a:lumMod val="50000"/>
              </a:schemeClr>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4" name="TextBox 3"/>
          <p:cNvSpPr txBox="1"/>
          <p:nvPr/>
        </p:nvSpPr>
        <p:spPr>
          <a:xfrm>
            <a:off x="4067944" y="3742591"/>
            <a:ext cx="2664296" cy="338554"/>
          </a:xfrm>
          <a:prstGeom prst="rect">
            <a:avLst/>
          </a:prstGeom>
          <a:noFill/>
        </p:spPr>
        <p:txBody>
          <a:bodyPr wrap="square" rtlCol="0">
            <a:spAutoFit/>
          </a:bodyPr>
          <a:lstStyle/>
          <a:p>
            <a:r>
              <a:rPr lang="en-GB" dirty="0" smtClean="0">
                <a:solidFill>
                  <a:srgbClr val="FF0000"/>
                </a:solidFill>
                <a:latin typeface="+mn-lt"/>
              </a:rPr>
              <a:t>GDP expenditure approach</a:t>
            </a:r>
          </a:p>
        </p:txBody>
      </p:sp>
      <p:sp>
        <p:nvSpPr>
          <p:cNvPr id="36" name="TextBox 35"/>
          <p:cNvSpPr txBox="1"/>
          <p:nvPr/>
        </p:nvSpPr>
        <p:spPr>
          <a:xfrm>
            <a:off x="2368219" y="4596960"/>
            <a:ext cx="2376264" cy="338554"/>
          </a:xfrm>
          <a:prstGeom prst="rect">
            <a:avLst/>
          </a:prstGeom>
          <a:noFill/>
        </p:spPr>
        <p:txBody>
          <a:bodyPr wrap="square" rtlCol="0">
            <a:spAutoFit/>
          </a:bodyPr>
          <a:lstStyle/>
          <a:p>
            <a:r>
              <a:rPr lang="en-GB" dirty="0" smtClean="0">
                <a:solidFill>
                  <a:schemeClr val="accent1">
                    <a:lumMod val="50000"/>
                  </a:schemeClr>
                </a:solidFill>
                <a:latin typeface="+mn-lt"/>
              </a:rPr>
              <a:t>GDP income approach</a:t>
            </a:r>
          </a:p>
        </p:txBody>
      </p:sp>
      <p:sp>
        <p:nvSpPr>
          <p:cNvPr id="35" name="Oval 34"/>
          <p:cNvSpPr/>
          <p:nvPr/>
        </p:nvSpPr>
        <p:spPr bwMode="auto">
          <a:xfrm>
            <a:off x="668987" y="6078617"/>
            <a:ext cx="1701513" cy="576064"/>
          </a:xfrm>
          <a:prstGeom prst="ellipse">
            <a:avLst/>
          </a:prstGeom>
          <a:noFill/>
          <a:ln w="9525" cap="flat" cmpd="sng" algn="ctr">
            <a:solidFill>
              <a:srgbClr val="FFC000"/>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38" name="Oval 37"/>
          <p:cNvSpPr/>
          <p:nvPr/>
        </p:nvSpPr>
        <p:spPr bwMode="auto">
          <a:xfrm>
            <a:off x="414689" y="1761611"/>
            <a:ext cx="2118311" cy="1904992"/>
          </a:xfrm>
          <a:prstGeom prst="ellipse">
            <a:avLst/>
          </a:prstGeom>
          <a:noFill/>
          <a:ln w="9525" cap="flat" cmpd="sng" algn="ctr">
            <a:solidFill>
              <a:srgbClr val="FFC000"/>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39" name="TextBox 38"/>
          <p:cNvSpPr txBox="1"/>
          <p:nvPr/>
        </p:nvSpPr>
        <p:spPr>
          <a:xfrm>
            <a:off x="2332666" y="5682734"/>
            <a:ext cx="2599374" cy="338554"/>
          </a:xfrm>
          <a:prstGeom prst="rect">
            <a:avLst/>
          </a:prstGeom>
          <a:noFill/>
        </p:spPr>
        <p:txBody>
          <a:bodyPr wrap="square" rtlCol="0">
            <a:spAutoFit/>
          </a:bodyPr>
          <a:lstStyle/>
          <a:p>
            <a:r>
              <a:rPr lang="en-GB" dirty="0" smtClean="0">
                <a:solidFill>
                  <a:srgbClr val="FFC000"/>
                </a:solidFill>
                <a:latin typeface="+mn-lt"/>
              </a:rPr>
              <a:t>GDP production approach</a:t>
            </a:r>
          </a:p>
        </p:txBody>
      </p:sp>
    </p:spTree>
    <p:extLst>
      <p:ext uri="{BB962C8B-B14F-4D97-AF65-F5344CB8AC3E}">
        <p14:creationId xmlns:p14="http://schemas.microsoft.com/office/powerpoint/2010/main" xmlns="" val="2397761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36" grpId="0"/>
      <p:bldP spid="35" grpId="0" animBg="1"/>
      <p:bldP spid="38" grpId="0" animBg="1"/>
      <p:bldP spid="3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Input-Output Analysis</a:t>
            </a:r>
            <a:endParaRPr lang="en-GB" dirty="0"/>
          </a:p>
        </p:txBody>
      </p:sp>
      <p:sp>
        <p:nvSpPr>
          <p:cNvPr id="72" name="Content Placeholder 2"/>
          <p:cNvSpPr>
            <a:spLocks noGrp="1"/>
          </p:cNvSpPr>
          <p:nvPr>
            <p:ph idx="1"/>
          </p:nvPr>
        </p:nvSpPr>
        <p:spPr>
          <a:xfrm>
            <a:off x="611188" y="1676400"/>
            <a:ext cx="7848600" cy="4114800"/>
          </a:xfrm>
        </p:spPr>
        <p:txBody>
          <a:bodyPr/>
          <a:lstStyle/>
          <a:p>
            <a:r>
              <a:rPr lang="en-GB" dirty="0" smtClean="0"/>
              <a:t>Looking at relationships between industries – supply-chain analysis</a:t>
            </a:r>
          </a:p>
          <a:p>
            <a:r>
              <a:rPr lang="en-GB" dirty="0" smtClean="0"/>
              <a:t>Estimate the effect of a change in final demand</a:t>
            </a:r>
          </a:p>
          <a:p>
            <a:pPr lvl="1"/>
            <a:r>
              <a:rPr lang="en-GB" dirty="0" smtClean="0"/>
              <a:t>direct effects</a:t>
            </a:r>
          </a:p>
          <a:p>
            <a:pPr lvl="1"/>
            <a:r>
              <a:rPr lang="en-GB" dirty="0" smtClean="0"/>
              <a:t>indirect effects</a:t>
            </a:r>
          </a:p>
          <a:p>
            <a:pPr lvl="1"/>
            <a:r>
              <a:rPr lang="en-GB" dirty="0" smtClean="0"/>
              <a:t>type I multipliers </a:t>
            </a:r>
          </a:p>
          <a:p>
            <a:pPr lvl="1"/>
            <a:r>
              <a:rPr lang="en-GB" dirty="0" smtClean="0"/>
              <a:t>type II multipliers</a:t>
            </a:r>
          </a:p>
          <a:p>
            <a:endParaRPr lang="en-GB" dirty="0" smtClean="0"/>
          </a:p>
        </p:txBody>
      </p:sp>
    </p:spTree>
    <p:extLst>
      <p:ext uri="{BB962C8B-B14F-4D97-AF65-F5344CB8AC3E}">
        <p14:creationId xmlns:p14="http://schemas.microsoft.com/office/powerpoint/2010/main" xmlns="" val="42939099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60648"/>
            <a:ext cx="7848600" cy="1143000"/>
          </a:xfrm>
        </p:spPr>
        <p:txBody>
          <a:bodyPr/>
          <a:lstStyle/>
          <a:p>
            <a:r>
              <a:rPr lang="en-GB" dirty="0" smtClean="0"/>
              <a:t>Multipliers</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xmlns="" val="3837165516"/>
              </p:ext>
            </p:extLst>
          </p:nvPr>
        </p:nvGraphicFramePr>
        <p:xfrm>
          <a:off x="683568" y="1844824"/>
          <a:ext cx="7704856" cy="3168354"/>
        </p:xfrm>
        <a:graphic>
          <a:graphicData uri="http://schemas.openxmlformats.org/drawingml/2006/table">
            <a:tbl>
              <a:tblPr firstRow="1" bandRow="1">
                <a:tableStyleId>{91EBBBCC-DAD2-459C-BE2E-F6DE35CF9A28}</a:tableStyleId>
              </a:tblPr>
              <a:tblGrid>
                <a:gridCol w="3852428"/>
                <a:gridCol w="3852428"/>
              </a:tblGrid>
              <a:tr h="528059">
                <a:tc>
                  <a:txBody>
                    <a:bodyPr/>
                    <a:lstStyle/>
                    <a:p>
                      <a:r>
                        <a:rPr lang="en-GB" dirty="0" smtClean="0"/>
                        <a:t>Type 1 Multipliers</a:t>
                      </a:r>
                      <a:endParaRPr lang="en-GB" dirty="0"/>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solidFill>
                      <a:srgbClr val="123D6B"/>
                    </a:solidFill>
                  </a:tcPr>
                </a:tc>
                <a:tc>
                  <a:txBody>
                    <a:bodyPr/>
                    <a:lstStyle/>
                    <a:p>
                      <a:r>
                        <a:rPr lang="en-GB" dirty="0" smtClean="0"/>
                        <a:t>Type II Multipliers</a:t>
                      </a:r>
                      <a:endParaRPr lang="en-GB" dirty="0"/>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solidFill>
                      <a:srgbClr val="123D6B"/>
                    </a:solidFill>
                  </a:tcPr>
                </a:tc>
              </a:tr>
              <a:tr h="528059">
                <a:tc>
                  <a:txBody>
                    <a:bodyPr/>
                    <a:lstStyle/>
                    <a:p>
                      <a:pPr algn="l"/>
                      <a:r>
                        <a:rPr lang="en-GB" dirty="0" smtClean="0">
                          <a:solidFill>
                            <a:srgbClr val="123D6B"/>
                          </a:solidFill>
                          <a:latin typeface="+mn-lt"/>
                        </a:rPr>
                        <a:t>Final</a:t>
                      </a:r>
                      <a:r>
                        <a:rPr lang="en-GB" baseline="0" dirty="0" smtClean="0">
                          <a:solidFill>
                            <a:srgbClr val="123D6B"/>
                          </a:solidFill>
                          <a:latin typeface="+mn-lt"/>
                        </a:rPr>
                        <a:t> demand change</a:t>
                      </a:r>
                      <a:endParaRPr lang="en-GB" dirty="0">
                        <a:solidFill>
                          <a:srgbClr val="123D6B"/>
                        </a:solidFill>
                        <a:latin typeface="+mn-lt"/>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tcPr>
                </a:tc>
                <a:tc>
                  <a:txBody>
                    <a:bodyPr/>
                    <a:lstStyle/>
                    <a:p>
                      <a:pPr algn="l"/>
                      <a:r>
                        <a:rPr lang="en-GB" dirty="0" smtClean="0">
                          <a:solidFill>
                            <a:srgbClr val="123D6B"/>
                          </a:solidFill>
                          <a:latin typeface="+mn-lt"/>
                        </a:rPr>
                        <a:t>Final demand change</a:t>
                      </a:r>
                      <a:endParaRPr lang="en-GB" dirty="0">
                        <a:solidFill>
                          <a:srgbClr val="123D6B"/>
                        </a:solidFill>
                        <a:latin typeface="+mn-lt"/>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r>
              <a:tr h="528059">
                <a:tc>
                  <a:txBody>
                    <a:bodyPr/>
                    <a:lstStyle/>
                    <a:p>
                      <a:pPr algn="l"/>
                      <a:r>
                        <a:rPr lang="en-GB" dirty="0" smtClean="0">
                          <a:solidFill>
                            <a:srgbClr val="123D6B"/>
                          </a:solidFill>
                          <a:latin typeface="+mn-lt"/>
                        </a:rPr>
                        <a:t>+ Direct impacts</a:t>
                      </a:r>
                      <a:endParaRPr lang="en-GB" dirty="0">
                        <a:solidFill>
                          <a:srgbClr val="123D6B"/>
                        </a:solidFill>
                        <a:latin typeface="+mn-lt"/>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c>
                  <a:txBody>
                    <a:bodyPr/>
                    <a:lstStyle/>
                    <a:p>
                      <a:pPr algn="l"/>
                      <a:r>
                        <a:rPr lang="en-GB" dirty="0" smtClean="0">
                          <a:solidFill>
                            <a:srgbClr val="123D6B"/>
                          </a:solidFill>
                          <a:latin typeface="+mn-lt"/>
                        </a:rPr>
                        <a:t>+ Direct impacts</a:t>
                      </a:r>
                      <a:endParaRPr lang="en-GB" dirty="0">
                        <a:solidFill>
                          <a:srgbClr val="123D6B"/>
                        </a:solidFill>
                        <a:latin typeface="+mn-lt"/>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r>
              <a:tr h="528059">
                <a:tc>
                  <a:txBody>
                    <a:bodyPr/>
                    <a:lstStyle/>
                    <a:p>
                      <a:pPr algn="l"/>
                      <a:r>
                        <a:rPr lang="en-GB" dirty="0" smtClean="0">
                          <a:solidFill>
                            <a:srgbClr val="123D6B"/>
                          </a:solidFill>
                          <a:latin typeface="+mn-lt"/>
                        </a:rPr>
                        <a:t>+</a:t>
                      </a:r>
                      <a:r>
                        <a:rPr lang="en-GB" baseline="0" dirty="0" smtClean="0">
                          <a:solidFill>
                            <a:srgbClr val="123D6B"/>
                          </a:solidFill>
                          <a:latin typeface="+mn-lt"/>
                        </a:rPr>
                        <a:t> Indirect impacts</a:t>
                      </a:r>
                      <a:endParaRPr lang="en-GB" dirty="0">
                        <a:solidFill>
                          <a:srgbClr val="123D6B"/>
                        </a:solidFill>
                        <a:latin typeface="+mn-lt"/>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c>
                  <a:txBody>
                    <a:bodyPr/>
                    <a:lstStyle/>
                    <a:p>
                      <a:pPr algn="l"/>
                      <a:r>
                        <a:rPr lang="en-GB" dirty="0" smtClean="0">
                          <a:solidFill>
                            <a:srgbClr val="123D6B"/>
                          </a:solidFill>
                          <a:latin typeface="+mn-lt"/>
                        </a:rPr>
                        <a:t>+ Indirect</a:t>
                      </a:r>
                      <a:r>
                        <a:rPr lang="en-GB" baseline="0" dirty="0" smtClean="0">
                          <a:solidFill>
                            <a:srgbClr val="123D6B"/>
                          </a:solidFill>
                          <a:latin typeface="+mn-lt"/>
                        </a:rPr>
                        <a:t> impacts</a:t>
                      </a:r>
                      <a:endParaRPr lang="en-GB" dirty="0">
                        <a:solidFill>
                          <a:srgbClr val="123D6B"/>
                        </a:solidFill>
                        <a:latin typeface="+mn-lt"/>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r>
              <a:tr h="528059">
                <a:tc>
                  <a:txBody>
                    <a:bodyPr/>
                    <a:lstStyle/>
                    <a:p>
                      <a:pPr algn="l"/>
                      <a:endParaRPr lang="en-GB" dirty="0">
                        <a:solidFill>
                          <a:srgbClr val="123D6B"/>
                        </a:solidFill>
                        <a:latin typeface="+mn-lt"/>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c>
                  <a:txBody>
                    <a:bodyPr/>
                    <a:lstStyle/>
                    <a:p>
                      <a:pPr algn="l"/>
                      <a:r>
                        <a:rPr lang="en-GB" dirty="0" smtClean="0">
                          <a:solidFill>
                            <a:srgbClr val="123D6B"/>
                          </a:solidFill>
                          <a:latin typeface="+mn-lt"/>
                        </a:rPr>
                        <a:t>+ Induced</a:t>
                      </a:r>
                      <a:r>
                        <a:rPr lang="en-GB" baseline="0" dirty="0" smtClean="0">
                          <a:solidFill>
                            <a:srgbClr val="123D6B"/>
                          </a:solidFill>
                          <a:latin typeface="+mn-lt"/>
                        </a:rPr>
                        <a:t> impacts</a:t>
                      </a:r>
                      <a:endParaRPr lang="en-GB" dirty="0">
                        <a:solidFill>
                          <a:srgbClr val="123D6B"/>
                        </a:solidFill>
                        <a:latin typeface="+mn-lt"/>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r>
              <a:tr h="528059">
                <a:tc>
                  <a:txBody>
                    <a:bodyPr/>
                    <a:lstStyle/>
                    <a:p>
                      <a:pPr algn="l"/>
                      <a:r>
                        <a:rPr lang="en-GB" dirty="0" smtClean="0">
                          <a:solidFill>
                            <a:srgbClr val="123D6B"/>
                          </a:solidFill>
                          <a:latin typeface="+mn-lt"/>
                        </a:rPr>
                        <a:t>= Total</a:t>
                      </a:r>
                      <a:r>
                        <a:rPr lang="en-GB" baseline="0" dirty="0" smtClean="0">
                          <a:solidFill>
                            <a:srgbClr val="123D6B"/>
                          </a:solidFill>
                          <a:latin typeface="+mn-lt"/>
                        </a:rPr>
                        <a:t> impact</a:t>
                      </a:r>
                      <a:endParaRPr lang="en-GB" dirty="0">
                        <a:solidFill>
                          <a:srgbClr val="123D6B"/>
                        </a:solidFill>
                        <a:latin typeface="+mn-lt"/>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B w="12700" cap="flat" cmpd="sng" algn="ctr">
                      <a:solidFill>
                        <a:srgbClr val="123D6B"/>
                      </a:solidFill>
                      <a:prstDash val="solid"/>
                      <a:round/>
                      <a:headEnd type="none" w="med" len="med"/>
                      <a:tailEnd type="none" w="med" len="med"/>
                    </a:lnB>
                  </a:tcPr>
                </a:tc>
                <a:tc>
                  <a:txBody>
                    <a:bodyPr/>
                    <a:lstStyle/>
                    <a:p>
                      <a:pPr algn="l"/>
                      <a:r>
                        <a:rPr lang="en-GB" dirty="0" smtClean="0">
                          <a:solidFill>
                            <a:srgbClr val="123D6B"/>
                          </a:solidFill>
                          <a:latin typeface="+mn-lt"/>
                        </a:rPr>
                        <a:t>= Total impact</a:t>
                      </a:r>
                      <a:endParaRPr lang="en-GB" dirty="0">
                        <a:solidFill>
                          <a:srgbClr val="123D6B"/>
                        </a:solidFill>
                        <a:latin typeface="+mn-lt"/>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B w="12700" cap="flat" cmpd="sng" algn="ctr">
                      <a:solidFill>
                        <a:srgbClr val="123D6B"/>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xmlns="" val="22510917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Output Multiplier Type I </a:t>
            </a:r>
            <a:endParaRPr lang="en-GB" dirty="0"/>
          </a:p>
        </p:txBody>
      </p:sp>
      <p:sp>
        <p:nvSpPr>
          <p:cNvPr id="4" name="Rectangle 3"/>
          <p:cNvSpPr/>
          <p:nvPr/>
        </p:nvSpPr>
        <p:spPr bwMode="auto">
          <a:xfrm>
            <a:off x="225022" y="1553420"/>
            <a:ext cx="8668753" cy="1358630"/>
          </a:xfrm>
          <a:prstGeom prst="rect">
            <a:avLst/>
          </a:prstGeom>
          <a:solidFill>
            <a:srgbClr val="CCFFCC"/>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5" name="Rectangle 4"/>
          <p:cNvSpPr/>
          <p:nvPr/>
        </p:nvSpPr>
        <p:spPr bwMode="auto">
          <a:xfrm>
            <a:off x="226336" y="2353142"/>
            <a:ext cx="8667439" cy="1358630"/>
          </a:xfrm>
          <a:prstGeom prst="rect">
            <a:avLst/>
          </a:prstGeom>
          <a:solidFill>
            <a:srgbClr val="CCFFFF"/>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6" name="Rectangle 5"/>
          <p:cNvSpPr/>
          <p:nvPr/>
        </p:nvSpPr>
        <p:spPr bwMode="auto">
          <a:xfrm>
            <a:off x="226336" y="3087710"/>
            <a:ext cx="8667440" cy="1358630"/>
          </a:xfrm>
          <a:prstGeom prst="rect">
            <a:avLst/>
          </a:prstGeom>
          <a:solidFill>
            <a:srgbClr val="FFCCCC"/>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7" name="Rectangle 6"/>
          <p:cNvSpPr/>
          <p:nvPr/>
        </p:nvSpPr>
        <p:spPr bwMode="auto">
          <a:xfrm>
            <a:off x="226336" y="4021200"/>
            <a:ext cx="8667439" cy="1358630"/>
          </a:xfrm>
          <a:prstGeom prst="rect">
            <a:avLst/>
          </a:prstGeom>
          <a:solidFill>
            <a:srgbClr val="FFFFCC"/>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graphicFrame>
        <p:nvGraphicFramePr>
          <p:cNvPr id="8" name="Table 7"/>
          <p:cNvGraphicFramePr>
            <a:graphicFrameLocks noGrp="1"/>
          </p:cNvGraphicFramePr>
          <p:nvPr>
            <p:extLst>
              <p:ext uri="{D42A27DB-BD31-4B8C-83A1-F6EECF244321}">
                <p14:modId xmlns:p14="http://schemas.microsoft.com/office/powerpoint/2010/main" xmlns="" val="32757985"/>
              </p:ext>
            </p:extLst>
          </p:nvPr>
        </p:nvGraphicFramePr>
        <p:xfrm>
          <a:off x="6748195" y="1641730"/>
          <a:ext cx="2020416" cy="1483360"/>
        </p:xfrm>
        <a:graphic>
          <a:graphicData uri="http://schemas.openxmlformats.org/drawingml/2006/table">
            <a:tbl>
              <a:tblPr firstRow="1" bandRow="1">
                <a:tableStyleId>{C4B1156A-380E-4F78-BDF5-A606A8083BF9}</a:tableStyleId>
              </a:tblPr>
              <a:tblGrid>
                <a:gridCol w="465207"/>
                <a:gridCol w="518403"/>
                <a:gridCol w="518403"/>
                <a:gridCol w="518403"/>
              </a:tblGrid>
              <a:tr h="370840">
                <a:tc>
                  <a:txBody>
                    <a:bodyPr/>
                    <a:lstStyle/>
                    <a:p>
                      <a:r>
                        <a:rPr lang="en-GB" sz="1000" b="0" dirty="0" smtClean="0">
                          <a:solidFill>
                            <a:srgbClr val="123D6B"/>
                          </a:solidFill>
                        </a:rPr>
                        <a:t>I/O</a:t>
                      </a:r>
                      <a:endParaRPr lang="en-GB" sz="1000" b="0" dirty="0">
                        <a:solidFill>
                          <a:srgbClr val="123D6B"/>
                        </a:solidFill>
                      </a:endParaRPr>
                    </a:p>
                  </a:txBody>
                  <a:tcPr/>
                </a:tc>
                <a:tc>
                  <a:txBody>
                    <a:bodyPr/>
                    <a:lstStyle/>
                    <a:p>
                      <a:r>
                        <a:rPr lang="en-GB" sz="1000" b="0" dirty="0" err="1" smtClean="0">
                          <a:solidFill>
                            <a:srgbClr val="123D6B"/>
                          </a:solidFill>
                        </a:rPr>
                        <a:t>Agr</a:t>
                      </a:r>
                      <a:endParaRPr lang="en-GB" sz="1000" b="0" dirty="0">
                        <a:solidFill>
                          <a:srgbClr val="123D6B"/>
                        </a:solidFill>
                      </a:endParaRPr>
                    </a:p>
                  </a:txBody>
                  <a:tcPr/>
                </a:tc>
                <a:tc>
                  <a:txBody>
                    <a:bodyPr/>
                    <a:lstStyle/>
                    <a:p>
                      <a:r>
                        <a:rPr lang="en-GB" sz="1000" b="0" dirty="0" err="1" smtClean="0">
                          <a:solidFill>
                            <a:srgbClr val="123D6B"/>
                          </a:solidFill>
                        </a:rPr>
                        <a:t>Manf</a:t>
                      </a:r>
                      <a:endParaRPr lang="en-GB" sz="1000" b="0" dirty="0">
                        <a:solidFill>
                          <a:srgbClr val="123D6B"/>
                        </a:solidFill>
                      </a:endParaRPr>
                    </a:p>
                  </a:txBody>
                  <a:tcPr/>
                </a:tc>
                <a:tc>
                  <a:txBody>
                    <a:bodyPr/>
                    <a:lstStyle/>
                    <a:p>
                      <a:r>
                        <a:rPr lang="en-GB" sz="1000" b="0" dirty="0" err="1" smtClean="0">
                          <a:solidFill>
                            <a:srgbClr val="123D6B"/>
                          </a:solidFill>
                        </a:rPr>
                        <a:t>Serv</a:t>
                      </a:r>
                      <a:endParaRPr lang="en-GB" sz="1000" b="0" dirty="0">
                        <a:solidFill>
                          <a:srgbClr val="123D6B"/>
                        </a:solidFill>
                      </a:endParaRPr>
                    </a:p>
                  </a:txBody>
                  <a:tcPr/>
                </a:tc>
              </a:tr>
              <a:tr h="370840">
                <a:tc>
                  <a:txBody>
                    <a:bodyPr/>
                    <a:lstStyle/>
                    <a:p>
                      <a:r>
                        <a:rPr lang="en-GB" sz="1000" dirty="0" err="1" smtClean="0">
                          <a:solidFill>
                            <a:srgbClr val="123D6B"/>
                          </a:solidFill>
                        </a:rPr>
                        <a:t>Agr</a:t>
                      </a:r>
                      <a:endParaRPr lang="en-GB" sz="1000" dirty="0">
                        <a:solidFill>
                          <a:srgbClr val="123D6B"/>
                        </a:solidFill>
                      </a:endParaRPr>
                    </a:p>
                  </a:txBody>
                  <a:tcPr/>
                </a:tc>
                <a:tc>
                  <a:txBody>
                    <a:bodyPr/>
                    <a:lstStyle/>
                    <a:p>
                      <a:r>
                        <a:rPr lang="en-GB" sz="1000" dirty="0" smtClean="0">
                          <a:solidFill>
                            <a:srgbClr val="123D6B"/>
                          </a:solidFill>
                        </a:rPr>
                        <a:t>0.2</a:t>
                      </a:r>
                      <a:endParaRPr lang="en-GB" sz="1000" dirty="0">
                        <a:solidFill>
                          <a:srgbClr val="123D6B"/>
                        </a:solidFill>
                      </a:endParaRPr>
                    </a:p>
                  </a:txBody>
                  <a:tcPr/>
                </a:tc>
                <a:tc>
                  <a:txBody>
                    <a:bodyPr/>
                    <a:lstStyle/>
                    <a:p>
                      <a:r>
                        <a:rPr lang="en-GB" sz="1000" dirty="0" smtClean="0">
                          <a:solidFill>
                            <a:srgbClr val="123D6B"/>
                          </a:solidFill>
                        </a:rPr>
                        <a:t>0.1</a:t>
                      </a:r>
                      <a:endParaRPr lang="en-GB" sz="1000" dirty="0">
                        <a:solidFill>
                          <a:srgbClr val="123D6B"/>
                        </a:solidFill>
                      </a:endParaRPr>
                    </a:p>
                  </a:txBody>
                  <a:tcPr/>
                </a:tc>
                <a:tc>
                  <a:txBody>
                    <a:bodyPr/>
                    <a:lstStyle/>
                    <a:p>
                      <a:r>
                        <a:rPr lang="en-GB" sz="1000" dirty="0" smtClean="0">
                          <a:solidFill>
                            <a:srgbClr val="123D6B"/>
                          </a:solidFill>
                        </a:rPr>
                        <a:t>0.0</a:t>
                      </a:r>
                      <a:endParaRPr lang="en-GB" sz="1000" dirty="0">
                        <a:solidFill>
                          <a:srgbClr val="123D6B"/>
                        </a:solidFill>
                      </a:endParaRPr>
                    </a:p>
                  </a:txBody>
                  <a:tcPr/>
                </a:tc>
              </a:tr>
              <a:tr h="370840">
                <a:tc>
                  <a:txBody>
                    <a:bodyPr/>
                    <a:lstStyle/>
                    <a:p>
                      <a:r>
                        <a:rPr lang="en-GB" sz="1000" dirty="0" err="1" smtClean="0">
                          <a:solidFill>
                            <a:srgbClr val="123D6B"/>
                          </a:solidFill>
                        </a:rPr>
                        <a:t>Manf</a:t>
                      </a:r>
                      <a:endParaRPr lang="en-GB" sz="1000" dirty="0">
                        <a:solidFill>
                          <a:srgbClr val="123D6B"/>
                        </a:solidFill>
                      </a:endParaRPr>
                    </a:p>
                  </a:txBody>
                  <a:tcPr/>
                </a:tc>
                <a:tc>
                  <a:txBody>
                    <a:bodyPr/>
                    <a:lstStyle/>
                    <a:p>
                      <a:r>
                        <a:rPr lang="en-GB" sz="1000" dirty="0" smtClean="0">
                          <a:solidFill>
                            <a:srgbClr val="123D6B"/>
                          </a:solidFill>
                        </a:rPr>
                        <a:t>0.2</a:t>
                      </a:r>
                      <a:endParaRPr lang="en-GB" sz="1000" dirty="0">
                        <a:solidFill>
                          <a:srgbClr val="123D6B"/>
                        </a:solidFill>
                      </a:endParaRPr>
                    </a:p>
                  </a:txBody>
                  <a:tcPr/>
                </a:tc>
                <a:tc>
                  <a:txBody>
                    <a:bodyPr/>
                    <a:lstStyle/>
                    <a:p>
                      <a:r>
                        <a:rPr lang="en-GB" sz="1000" dirty="0" smtClean="0">
                          <a:solidFill>
                            <a:srgbClr val="123D6B"/>
                          </a:solidFill>
                        </a:rPr>
                        <a:t>0.3</a:t>
                      </a:r>
                    </a:p>
                  </a:txBody>
                  <a:tcPr/>
                </a:tc>
                <a:tc>
                  <a:txBody>
                    <a:bodyPr/>
                    <a:lstStyle/>
                    <a:p>
                      <a:r>
                        <a:rPr lang="en-GB" sz="1000" dirty="0" smtClean="0">
                          <a:solidFill>
                            <a:srgbClr val="123D6B"/>
                          </a:solidFill>
                        </a:rPr>
                        <a:t>0.3</a:t>
                      </a:r>
                      <a:endParaRPr lang="en-GB" sz="1000" dirty="0">
                        <a:solidFill>
                          <a:srgbClr val="123D6B"/>
                        </a:solidFill>
                      </a:endParaRPr>
                    </a:p>
                  </a:txBody>
                  <a:tcPr/>
                </a:tc>
              </a:tr>
              <a:tr h="370840">
                <a:tc>
                  <a:txBody>
                    <a:bodyPr/>
                    <a:lstStyle/>
                    <a:p>
                      <a:r>
                        <a:rPr lang="en-GB" sz="1000" dirty="0" err="1" smtClean="0">
                          <a:solidFill>
                            <a:srgbClr val="123D6B"/>
                          </a:solidFill>
                        </a:rPr>
                        <a:t>Serv</a:t>
                      </a:r>
                      <a:endParaRPr lang="en-GB" sz="1000" dirty="0">
                        <a:solidFill>
                          <a:srgbClr val="123D6B"/>
                        </a:solidFill>
                      </a:endParaRPr>
                    </a:p>
                  </a:txBody>
                  <a:tcPr/>
                </a:tc>
                <a:tc>
                  <a:txBody>
                    <a:bodyPr/>
                    <a:lstStyle/>
                    <a:p>
                      <a:r>
                        <a:rPr lang="en-GB" sz="1000" dirty="0" smtClean="0">
                          <a:solidFill>
                            <a:srgbClr val="123D6B"/>
                          </a:solidFill>
                        </a:rPr>
                        <a:t>0.1</a:t>
                      </a:r>
                      <a:endParaRPr lang="en-GB" sz="1000" dirty="0">
                        <a:solidFill>
                          <a:srgbClr val="123D6B"/>
                        </a:solidFill>
                      </a:endParaRPr>
                    </a:p>
                  </a:txBody>
                  <a:tcPr/>
                </a:tc>
                <a:tc>
                  <a:txBody>
                    <a:bodyPr/>
                    <a:lstStyle/>
                    <a:p>
                      <a:r>
                        <a:rPr lang="en-GB" sz="1000" dirty="0" smtClean="0">
                          <a:solidFill>
                            <a:srgbClr val="123D6B"/>
                          </a:solidFill>
                        </a:rPr>
                        <a:t>0.2</a:t>
                      </a:r>
                      <a:endParaRPr lang="en-GB" sz="1000" dirty="0">
                        <a:solidFill>
                          <a:srgbClr val="123D6B"/>
                        </a:solidFill>
                      </a:endParaRPr>
                    </a:p>
                  </a:txBody>
                  <a:tcPr/>
                </a:tc>
                <a:tc>
                  <a:txBody>
                    <a:bodyPr/>
                    <a:lstStyle/>
                    <a:p>
                      <a:r>
                        <a:rPr lang="en-GB" sz="1000" dirty="0" smtClean="0">
                          <a:solidFill>
                            <a:srgbClr val="123D6B"/>
                          </a:solidFill>
                        </a:rPr>
                        <a:t>0.4</a:t>
                      </a:r>
                    </a:p>
                  </a:txBody>
                  <a:tcPr/>
                </a:tc>
              </a:tr>
            </a:tbl>
          </a:graphicData>
        </a:graphic>
      </p:graphicFrame>
      <p:sp>
        <p:nvSpPr>
          <p:cNvPr id="9" name="TextBox 8"/>
          <p:cNvSpPr txBox="1"/>
          <p:nvPr/>
        </p:nvSpPr>
        <p:spPr>
          <a:xfrm>
            <a:off x="2643739" y="1641730"/>
            <a:ext cx="2237532" cy="52322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400" dirty="0" smtClean="0">
                <a:solidFill>
                  <a:srgbClr val="123D6B"/>
                </a:solidFill>
              </a:rPr>
              <a:t>$100 increase in manufacturing demand</a:t>
            </a:r>
            <a:endParaRPr lang="en-GB" sz="1400" dirty="0">
              <a:solidFill>
                <a:srgbClr val="123D6B"/>
              </a:solidFill>
            </a:endParaRPr>
          </a:p>
        </p:txBody>
      </p:sp>
      <p:cxnSp>
        <p:nvCxnSpPr>
          <p:cNvPr id="10" name="Straight Arrow Connector 9"/>
          <p:cNvCxnSpPr>
            <a:stCxn id="9" idx="2"/>
            <a:endCxn id="13" idx="0"/>
          </p:cNvCxnSpPr>
          <p:nvPr/>
        </p:nvCxnSpPr>
        <p:spPr bwMode="auto">
          <a:xfrm flipH="1">
            <a:off x="1350461" y="2164950"/>
            <a:ext cx="2412044" cy="590473"/>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1" name="Straight Arrow Connector 10"/>
          <p:cNvCxnSpPr>
            <a:stCxn id="9" idx="2"/>
            <a:endCxn id="14" idx="0"/>
          </p:cNvCxnSpPr>
          <p:nvPr/>
        </p:nvCxnSpPr>
        <p:spPr bwMode="auto">
          <a:xfrm flipH="1">
            <a:off x="3759863" y="2164950"/>
            <a:ext cx="2642" cy="573291"/>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 name="Straight Arrow Connector 11"/>
          <p:cNvCxnSpPr>
            <a:stCxn id="9" idx="2"/>
            <a:endCxn id="15" idx="0"/>
          </p:cNvCxnSpPr>
          <p:nvPr/>
        </p:nvCxnSpPr>
        <p:spPr bwMode="auto">
          <a:xfrm>
            <a:off x="3762505" y="2164950"/>
            <a:ext cx="2391624" cy="590473"/>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Box 12"/>
          <p:cNvSpPr txBox="1"/>
          <p:nvPr/>
        </p:nvSpPr>
        <p:spPr>
          <a:xfrm>
            <a:off x="1026425" y="2755423"/>
            <a:ext cx="648072"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400" dirty="0" smtClean="0">
                <a:solidFill>
                  <a:srgbClr val="123D6B"/>
                </a:solidFill>
              </a:rPr>
              <a:t>$10 A</a:t>
            </a:r>
            <a:endParaRPr lang="en-GB" sz="1400" dirty="0">
              <a:solidFill>
                <a:srgbClr val="123D6B"/>
              </a:solidFill>
            </a:endParaRPr>
          </a:p>
        </p:txBody>
      </p:sp>
      <p:sp>
        <p:nvSpPr>
          <p:cNvPr id="14" name="TextBox 13"/>
          <p:cNvSpPr txBox="1"/>
          <p:nvPr/>
        </p:nvSpPr>
        <p:spPr>
          <a:xfrm>
            <a:off x="3417825" y="2738241"/>
            <a:ext cx="684076"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$30 M</a:t>
            </a:r>
            <a:endParaRPr lang="en-GB" sz="1400" dirty="0">
              <a:solidFill>
                <a:srgbClr val="123D6B"/>
              </a:solidFill>
            </a:endParaRPr>
          </a:p>
        </p:txBody>
      </p:sp>
      <p:sp>
        <p:nvSpPr>
          <p:cNvPr id="15" name="TextBox 14"/>
          <p:cNvSpPr txBox="1"/>
          <p:nvPr/>
        </p:nvSpPr>
        <p:spPr>
          <a:xfrm>
            <a:off x="5830093" y="2755423"/>
            <a:ext cx="648072" cy="307777"/>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$20 S</a:t>
            </a:r>
            <a:endParaRPr lang="en-GB" sz="1400" dirty="0">
              <a:solidFill>
                <a:srgbClr val="123D6B"/>
              </a:solidFill>
            </a:endParaRPr>
          </a:p>
        </p:txBody>
      </p:sp>
      <p:sp>
        <p:nvSpPr>
          <p:cNvPr id="16" name="TextBox 15"/>
          <p:cNvSpPr txBox="1"/>
          <p:nvPr/>
        </p:nvSpPr>
        <p:spPr>
          <a:xfrm>
            <a:off x="303479" y="3490613"/>
            <a:ext cx="648072"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400" dirty="0" smtClean="0">
                <a:solidFill>
                  <a:srgbClr val="123D6B"/>
                </a:solidFill>
              </a:rPr>
              <a:t>$2 A</a:t>
            </a:r>
            <a:endParaRPr lang="en-GB" sz="1400" dirty="0">
              <a:solidFill>
                <a:srgbClr val="123D6B"/>
              </a:solidFill>
            </a:endParaRPr>
          </a:p>
        </p:txBody>
      </p:sp>
      <p:sp>
        <p:nvSpPr>
          <p:cNvPr id="17" name="TextBox 16"/>
          <p:cNvSpPr txBox="1"/>
          <p:nvPr/>
        </p:nvSpPr>
        <p:spPr>
          <a:xfrm>
            <a:off x="5105386" y="3442724"/>
            <a:ext cx="648072"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400" dirty="0" smtClean="0">
                <a:solidFill>
                  <a:srgbClr val="123D6B"/>
                </a:solidFill>
              </a:rPr>
              <a:t>$0 A</a:t>
            </a:r>
            <a:endParaRPr lang="en-GB" sz="1400" dirty="0">
              <a:solidFill>
                <a:srgbClr val="123D6B"/>
              </a:solidFill>
            </a:endParaRPr>
          </a:p>
        </p:txBody>
      </p:sp>
      <p:sp>
        <p:nvSpPr>
          <p:cNvPr id="18" name="TextBox 17"/>
          <p:cNvSpPr txBox="1"/>
          <p:nvPr/>
        </p:nvSpPr>
        <p:spPr>
          <a:xfrm>
            <a:off x="2690878" y="3473503"/>
            <a:ext cx="648072"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400" dirty="0" smtClean="0">
                <a:solidFill>
                  <a:srgbClr val="123D6B"/>
                </a:solidFill>
              </a:rPr>
              <a:t>$3 A</a:t>
            </a:r>
            <a:endParaRPr lang="en-GB" sz="1400" dirty="0">
              <a:solidFill>
                <a:srgbClr val="123D6B"/>
              </a:solidFill>
            </a:endParaRPr>
          </a:p>
        </p:txBody>
      </p:sp>
      <p:sp>
        <p:nvSpPr>
          <p:cNvPr id="19" name="TextBox 18"/>
          <p:cNvSpPr txBox="1"/>
          <p:nvPr/>
        </p:nvSpPr>
        <p:spPr>
          <a:xfrm>
            <a:off x="3417825" y="3482376"/>
            <a:ext cx="684076"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$9 M</a:t>
            </a:r>
            <a:endParaRPr lang="en-GB" sz="1400" dirty="0">
              <a:solidFill>
                <a:srgbClr val="123D6B"/>
              </a:solidFill>
            </a:endParaRPr>
          </a:p>
        </p:txBody>
      </p:sp>
      <p:sp>
        <p:nvSpPr>
          <p:cNvPr id="20" name="TextBox 19"/>
          <p:cNvSpPr txBox="1"/>
          <p:nvPr/>
        </p:nvSpPr>
        <p:spPr>
          <a:xfrm>
            <a:off x="1017424" y="3478632"/>
            <a:ext cx="666074"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$2 M</a:t>
            </a:r>
            <a:endParaRPr lang="en-GB" sz="1400" dirty="0">
              <a:solidFill>
                <a:srgbClr val="123D6B"/>
              </a:solidFill>
            </a:endParaRPr>
          </a:p>
        </p:txBody>
      </p:sp>
      <p:sp>
        <p:nvSpPr>
          <p:cNvPr id="21" name="TextBox 20"/>
          <p:cNvSpPr txBox="1"/>
          <p:nvPr/>
        </p:nvSpPr>
        <p:spPr>
          <a:xfrm>
            <a:off x="5812091" y="3447042"/>
            <a:ext cx="684076"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$6 M</a:t>
            </a:r>
            <a:endParaRPr lang="en-GB" sz="1400" dirty="0">
              <a:solidFill>
                <a:srgbClr val="123D6B"/>
              </a:solidFill>
            </a:endParaRPr>
          </a:p>
        </p:txBody>
      </p:sp>
      <p:sp>
        <p:nvSpPr>
          <p:cNvPr id="22" name="TextBox 21"/>
          <p:cNvSpPr txBox="1"/>
          <p:nvPr/>
        </p:nvSpPr>
        <p:spPr>
          <a:xfrm>
            <a:off x="4188836" y="3473502"/>
            <a:ext cx="648072" cy="307777"/>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$6 S</a:t>
            </a:r>
            <a:endParaRPr lang="en-GB" sz="1400" dirty="0">
              <a:solidFill>
                <a:srgbClr val="123D6B"/>
              </a:solidFill>
            </a:endParaRPr>
          </a:p>
        </p:txBody>
      </p:sp>
      <p:sp>
        <p:nvSpPr>
          <p:cNvPr id="23" name="TextBox 22"/>
          <p:cNvSpPr txBox="1"/>
          <p:nvPr/>
        </p:nvSpPr>
        <p:spPr>
          <a:xfrm>
            <a:off x="1779643" y="3483430"/>
            <a:ext cx="648072" cy="307777"/>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$1 S</a:t>
            </a:r>
            <a:endParaRPr lang="en-GB" sz="1400" dirty="0">
              <a:solidFill>
                <a:srgbClr val="123D6B"/>
              </a:solidFill>
            </a:endParaRPr>
          </a:p>
        </p:txBody>
      </p:sp>
      <p:sp>
        <p:nvSpPr>
          <p:cNvPr id="24" name="TextBox 23"/>
          <p:cNvSpPr txBox="1"/>
          <p:nvPr/>
        </p:nvSpPr>
        <p:spPr>
          <a:xfrm>
            <a:off x="6604179" y="3442723"/>
            <a:ext cx="648072" cy="307777"/>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$8 S</a:t>
            </a:r>
            <a:endParaRPr lang="en-GB" sz="1400" dirty="0">
              <a:solidFill>
                <a:srgbClr val="123D6B"/>
              </a:solidFill>
            </a:endParaRPr>
          </a:p>
        </p:txBody>
      </p:sp>
      <p:cxnSp>
        <p:nvCxnSpPr>
          <p:cNvPr id="25" name="Straight Arrow Connector 24"/>
          <p:cNvCxnSpPr>
            <a:stCxn id="13" idx="2"/>
            <a:endCxn id="16" idx="0"/>
          </p:cNvCxnSpPr>
          <p:nvPr/>
        </p:nvCxnSpPr>
        <p:spPr bwMode="auto">
          <a:xfrm flipH="1">
            <a:off x="627515" y="3063200"/>
            <a:ext cx="722946" cy="427413"/>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6" name="Straight Arrow Connector 25"/>
          <p:cNvCxnSpPr>
            <a:stCxn id="13" idx="2"/>
            <a:endCxn id="20" idx="0"/>
          </p:cNvCxnSpPr>
          <p:nvPr/>
        </p:nvCxnSpPr>
        <p:spPr bwMode="auto">
          <a:xfrm>
            <a:off x="1350461" y="3063200"/>
            <a:ext cx="0" cy="415432"/>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7" name="Straight Arrow Connector 26"/>
          <p:cNvCxnSpPr>
            <a:stCxn id="13" idx="2"/>
            <a:endCxn id="23" idx="0"/>
          </p:cNvCxnSpPr>
          <p:nvPr/>
        </p:nvCxnSpPr>
        <p:spPr bwMode="auto">
          <a:xfrm>
            <a:off x="1350461" y="3063200"/>
            <a:ext cx="753218" cy="420230"/>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8" name="Straight Arrow Connector 27"/>
          <p:cNvCxnSpPr>
            <a:stCxn id="14" idx="2"/>
            <a:endCxn id="18" idx="0"/>
          </p:cNvCxnSpPr>
          <p:nvPr/>
        </p:nvCxnSpPr>
        <p:spPr bwMode="auto">
          <a:xfrm flipH="1">
            <a:off x="3014914" y="3046018"/>
            <a:ext cx="744949" cy="427485"/>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9" name="Straight Arrow Connector 28"/>
          <p:cNvCxnSpPr>
            <a:stCxn id="14" idx="2"/>
            <a:endCxn id="19" idx="0"/>
          </p:cNvCxnSpPr>
          <p:nvPr/>
        </p:nvCxnSpPr>
        <p:spPr bwMode="auto">
          <a:xfrm>
            <a:off x="3759863" y="3046018"/>
            <a:ext cx="0" cy="436358"/>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0" name="Straight Arrow Connector 29"/>
          <p:cNvCxnSpPr>
            <a:stCxn id="14" idx="2"/>
            <a:endCxn id="22" idx="0"/>
          </p:cNvCxnSpPr>
          <p:nvPr/>
        </p:nvCxnSpPr>
        <p:spPr bwMode="auto">
          <a:xfrm>
            <a:off x="3759863" y="3046018"/>
            <a:ext cx="753009" cy="427484"/>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1" name="Straight Arrow Connector 30"/>
          <p:cNvCxnSpPr>
            <a:stCxn id="15" idx="2"/>
            <a:endCxn id="17" idx="0"/>
          </p:cNvCxnSpPr>
          <p:nvPr/>
        </p:nvCxnSpPr>
        <p:spPr bwMode="auto">
          <a:xfrm flipH="1">
            <a:off x="5429422" y="3063200"/>
            <a:ext cx="724707" cy="379524"/>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2" name="Straight Arrow Connector 31"/>
          <p:cNvCxnSpPr>
            <a:stCxn id="15" idx="2"/>
            <a:endCxn id="21" idx="0"/>
          </p:cNvCxnSpPr>
          <p:nvPr/>
        </p:nvCxnSpPr>
        <p:spPr bwMode="auto">
          <a:xfrm>
            <a:off x="6154129" y="3063200"/>
            <a:ext cx="0" cy="383842"/>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3" name="Straight Arrow Connector 32"/>
          <p:cNvCxnSpPr>
            <a:stCxn id="15" idx="2"/>
            <a:endCxn id="24" idx="0"/>
          </p:cNvCxnSpPr>
          <p:nvPr/>
        </p:nvCxnSpPr>
        <p:spPr bwMode="auto">
          <a:xfrm>
            <a:off x="6154129" y="3063200"/>
            <a:ext cx="774086" cy="379523"/>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4" name="TextBox 33"/>
          <p:cNvSpPr txBox="1"/>
          <p:nvPr/>
        </p:nvSpPr>
        <p:spPr>
          <a:xfrm>
            <a:off x="281849" y="4307841"/>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$0.4 A</a:t>
            </a:r>
            <a:endParaRPr lang="en-GB" sz="1200" dirty="0">
              <a:solidFill>
                <a:srgbClr val="123D6B"/>
              </a:solidFill>
            </a:endParaRPr>
          </a:p>
        </p:txBody>
      </p:sp>
      <p:sp>
        <p:nvSpPr>
          <p:cNvPr id="35" name="TextBox 34"/>
          <p:cNvSpPr txBox="1"/>
          <p:nvPr/>
        </p:nvSpPr>
        <p:spPr>
          <a:xfrm>
            <a:off x="280800" y="4672481"/>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$0.4 M</a:t>
            </a:r>
            <a:endParaRPr lang="en-GB" sz="1200" dirty="0">
              <a:solidFill>
                <a:srgbClr val="123D6B"/>
              </a:solidFill>
            </a:endParaRPr>
          </a:p>
        </p:txBody>
      </p:sp>
      <p:sp>
        <p:nvSpPr>
          <p:cNvPr id="36" name="TextBox 35"/>
          <p:cNvSpPr txBox="1"/>
          <p:nvPr/>
        </p:nvSpPr>
        <p:spPr>
          <a:xfrm>
            <a:off x="280800" y="5035381"/>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$0.2 S</a:t>
            </a:r>
            <a:endParaRPr lang="en-GB" sz="1200" dirty="0">
              <a:solidFill>
                <a:srgbClr val="123D6B"/>
              </a:solidFill>
            </a:endParaRPr>
          </a:p>
        </p:txBody>
      </p:sp>
      <p:sp>
        <p:nvSpPr>
          <p:cNvPr id="37" name="TextBox 36"/>
          <p:cNvSpPr txBox="1"/>
          <p:nvPr/>
        </p:nvSpPr>
        <p:spPr>
          <a:xfrm>
            <a:off x="1020753" y="4307841"/>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$0.2 A</a:t>
            </a:r>
            <a:endParaRPr lang="en-GB" sz="1200" dirty="0">
              <a:solidFill>
                <a:srgbClr val="123D6B"/>
              </a:solidFill>
            </a:endParaRPr>
          </a:p>
        </p:txBody>
      </p:sp>
      <p:sp>
        <p:nvSpPr>
          <p:cNvPr id="38" name="TextBox 37"/>
          <p:cNvSpPr txBox="1"/>
          <p:nvPr/>
        </p:nvSpPr>
        <p:spPr>
          <a:xfrm>
            <a:off x="1022400" y="4672481"/>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$0.6 M</a:t>
            </a:r>
            <a:endParaRPr lang="en-GB" sz="1200" dirty="0">
              <a:solidFill>
                <a:srgbClr val="123D6B"/>
              </a:solidFill>
            </a:endParaRPr>
          </a:p>
        </p:txBody>
      </p:sp>
      <p:sp>
        <p:nvSpPr>
          <p:cNvPr id="39" name="TextBox 38"/>
          <p:cNvSpPr txBox="1"/>
          <p:nvPr/>
        </p:nvSpPr>
        <p:spPr>
          <a:xfrm>
            <a:off x="1022400" y="5035381"/>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$0.4 S</a:t>
            </a:r>
            <a:endParaRPr lang="en-GB" sz="1200" dirty="0">
              <a:solidFill>
                <a:srgbClr val="123D6B"/>
              </a:solidFill>
            </a:endParaRPr>
          </a:p>
        </p:txBody>
      </p:sp>
      <p:sp>
        <p:nvSpPr>
          <p:cNvPr id="40" name="TextBox 39"/>
          <p:cNvSpPr txBox="1"/>
          <p:nvPr/>
        </p:nvSpPr>
        <p:spPr>
          <a:xfrm>
            <a:off x="1768771" y="4307841"/>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 A</a:t>
            </a:r>
            <a:endParaRPr lang="en-GB" sz="1200" dirty="0">
              <a:solidFill>
                <a:srgbClr val="123D6B"/>
              </a:solidFill>
            </a:endParaRPr>
          </a:p>
        </p:txBody>
      </p:sp>
      <p:sp>
        <p:nvSpPr>
          <p:cNvPr id="41" name="TextBox 40"/>
          <p:cNvSpPr txBox="1"/>
          <p:nvPr/>
        </p:nvSpPr>
        <p:spPr>
          <a:xfrm>
            <a:off x="1767600" y="4672481"/>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$0.3 M</a:t>
            </a:r>
            <a:endParaRPr lang="en-GB" sz="1200" dirty="0">
              <a:solidFill>
                <a:srgbClr val="123D6B"/>
              </a:solidFill>
            </a:endParaRPr>
          </a:p>
        </p:txBody>
      </p:sp>
      <p:sp>
        <p:nvSpPr>
          <p:cNvPr id="42" name="TextBox 41"/>
          <p:cNvSpPr txBox="1"/>
          <p:nvPr/>
        </p:nvSpPr>
        <p:spPr>
          <a:xfrm>
            <a:off x="1767600" y="5035381"/>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$0.4 S</a:t>
            </a:r>
            <a:endParaRPr lang="en-GB" sz="1200" dirty="0">
              <a:solidFill>
                <a:srgbClr val="123D6B"/>
              </a:solidFill>
            </a:endParaRPr>
          </a:p>
        </p:txBody>
      </p:sp>
      <p:sp>
        <p:nvSpPr>
          <p:cNvPr id="43" name="TextBox 42"/>
          <p:cNvSpPr txBox="1"/>
          <p:nvPr/>
        </p:nvSpPr>
        <p:spPr>
          <a:xfrm>
            <a:off x="2690878" y="4309200"/>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$0.6 A</a:t>
            </a:r>
            <a:endParaRPr lang="en-GB" sz="1200" dirty="0">
              <a:solidFill>
                <a:srgbClr val="123D6B"/>
              </a:solidFill>
            </a:endParaRPr>
          </a:p>
        </p:txBody>
      </p:sp>
      <p:sp>
        <p:nvSpPr>
          <p:cNvPr id="44" name="TextBox 43"/>
          <p:cNvSpPr txBox="1"/>
          <p:nvPr/>
        </p:nvSpPr>
        <p:spPr>
          <a:xfrm>
            <a:off x="2698134" y="4672926"/>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$0.6 M</a:t>
            </a:r>
            <a:endParaRPr lang="en-GB" sz="1200" dirty="0">
              <a:solidFill>
                <a:srgbClr val="123D6B"/>
              </a:solidFill>
            </a:endParaRPr>
          </a:p>
        </p:txBody>
      </p:sp>
      <p:sp>
        <p:nvSpPr>
          <p:cNvPr id="45" name="TextBox 44"/>
          <p:cNvSpPr txBox="1"/>
          <p:nvPr/>
        </p:nvSpPr>
        <p:spPr>
          <a:xfrm>
            <a:off x="2698134" y="5036652"/>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$0.3 S</a:t>
            </a:r>
            <a:endParaRPr lang="en-GB" sz="1200" dirty="0">
              <a:solidFill>
                <a:srgbClr val="123D6B"/>
              </a:solidFill>
            </a:endParaRPr>
          </a:p>
        </p:txBody>
      </p:sp>
      <p:sp>
        <p:nvSpPr>
          <p:cNvPr id="46" name="TextBox 45"/>
          <p:cNvSpPr txBox="1"/>
          <p:nvPr/>
        </p:nvSpPr>
        <p:spPr>
          <a:xfrm>
            <a:off x="3433109" y="4309200"/>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$0.9 A</a:t>
            </a:r>
            <a:endParaRPr lang="en-GB" sz="1200" dirty="0">
              <a:solidFill>
                <a:srgbClr val="123D6B"/>
              </a:solidFill>
            </a:endParaRPr>
          </a:p>
        </p:txBody>
      </p:sp>
      <p:sp>
        <p:nvSpPr>
          <p:cNvPr id="47" name="TextBox 46"/>
          <p:cNvSpPr txBox="1"/>
          <p:nvPr/>
        </p:nvSpPr>
        <p:spPr>
          <a:xfrm>
            <a:off x="3440365" y="4672926"/>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$2.7 M</a:t>
            </a:r>
            <a:endParaRPr lang="en-GB" sz="1200" dirty="0">
              <a:solidFill>
                <a:srgbClr val="123D6B"/>
              </a:solidFill>
            </a:endParaRPr>
          </a:p>
        </p:txBody>
      </p:sp>
      <p:sp>
        <p:nvSpPr>
          <p:cNvPr id="48" name="TextBox 47"/>
          <p:cNvSpPr txBox="1"/>
          <p:nvPr/>
        </p:nvSpPr>
        <p:spPr>
          <a:xfrm>
            <a:off x="3440365" y="5036652"/>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$1.8 S</a:t>
            </a:r>
            <a:endParaRPr lang="en-GB" sz="1200" dirty="0">
              <a:solidFill>
                <a:srgbClr val="123D6B"/>
              </a:solidFill>
            </a:endParaRPr>
          </a:p>
        </p:txBody>
      </p:sp>
      <p:sp>
        <p:nvSpPr>
          <p:cNvPr id="49" name="TextBox 48"/>
          <p:cNvSpPr txBox="1"/>
          <p:nvPr/>
        </p:nvSpPr>
        <p:spPr>
          <a:xfrm>
            <a:off x="4190866" y="4309200"/>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 A</a:t>
            </a:r>
            <a:endParaRPr lang="en-GB" sz="1200" dirty="0">
              <a:solidFill>
                <a:srgbClr val="123D6B"/>
              </a:solidFill>
            </a:endParaRPr>
          </a:p>
        </p:txBody>
      </p:sp>
      <p:sp>
        <p:nvSpPr>
          <p:cNvPr id="50" name="TextBox 49"/>
          <p:cNvSpPr txBox="1"/>
          <p:nvPr/>
        </p:nvSpPr>
        <p:spPr>
          <a:xfrm>
            <a:off x="4196092" y="4672926"/>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$1.8 M</a:t>
            </a:r>
            <a:endParaRPr lang="en-GB" sz="1200" dirty="0">
              <a:solidFill>
                <a:srgbClr val="123D6B"/>
              </a:solidFill>
            </a:endParaRPr>
          </a:p>
        </p:txBody>
      </p:sp>
      <p:sp>
        <p:nvSpPr>
          <p:cNvPr id="51" name="TextBox 50"/>
          <p:cNvSpPr txBox="1"/>
          <p:nvPr/>
        </p:nvSpPr>
        <p:spPr>
          <a:xfrm>
            <a:off x="4196092" y="5036652"/>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$2.4 S</a:t>
            </a:r>
            <a:endParaRPr lang="en-GB" sz="1200" dirty="0">
              <a:solidFill>
                <a:srgbClr val="123D6B"/>
              </a:solidFill>
            </a:endParaRPr>
          </a:p>
        </p:txBody>
      </p:sp>
      <p:sp>
        <p:nvSpPr>
          <p:cNvPr id="52" name="TextBox 51"/>
          <p:cNvSpPr txBox="1"/>
          <p:nvPr/>
        </p:nvSpPr>
        <p:spPr>
          <a:xfrm>
            <a:off x="5812091" y="4309200"/>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$0.6 A</a:t>
            </a:r>
            <a:endParaRPr lang="en-GB" sz="1200" dirty="0">
              <a:solidFill>
                <a:srgbClr val="123D6B"/>
              </a:solidFill>
            </a:endParaRPr>
          </a:p>
        </p:txBody>
      </p:sp>
      <p:sp>
        <p:nvSpPr>
          <p:cNvPr id="53" name="TextBox 52"/>
          <p:cNvSpPr txBox="1"/>
          <p:nvPr/>
        </p:nvSpPr>
        <p:spPr>
          <a:xfrm>
            <a:off x="5819347" y="4672926"/>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$1.8 M</a:t>
            </a:r>
            <a:endParaRPr lang="en-GB" sz="1200" dirty="0">
              <a:solidFill>
                <a:srgbClr val="123D6B"/>
              </a:solidFill>
            </a:endParaRPr>
          </a:p>
        </p:txBody>
      </p:sp>
      <p:sp>
        <p:nvSpPr>
          <p:cNvPr id="54" name="TextBox 53"/>
          <p:cNvSpPr txBox="1"/>
          <p:nvPr/>
        </p:nvSpPr>
        <p:spPr>
          <a:xfrm>
            <a:off x="5812091" y="5036652"/>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$1.2 S</a:t>
            </a:r>
            <a:endParaRPr lang="en-GB" sz="1200" dirty="0">
              <a:solidFill>
                <a:srgbClr val="123D6B"/>
              </a:solidFill>
            </a:endParaRPr>
          </a:p>
        </p:txBody>
      </p:sp>
      <p:sp>
        <p:nvSpPr>
          <p:cNvPr id="55" name="TextBox 54"/>
          <p:cNvSpPr txBox="1"/>
          <p:nvPr/>
        </p:nvSpPr>
        <p:spPr>
          <a:xfrm>
            <a:off x="6604179" y="4307841"/>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 A</a:t>
            </a:r>
            <a:endParaRPr lang="en-GB" sz="1200" dirty="0">
              <a:solidFill>
                <a:srgbClr val="123D6B"/>
              </a:solidFill>
            </a:endParaRPr>
          </a:p>
        </p:txBody>
      </p:sp>
      <p:sp>
        <p:nvSpPr>
          <p:cNvPr id="56" name="TextBox 55"/>
          <p:cNvSpPr txBox="1"/>
          <p:nvPr/>
        </p:nvSpPr>
        <p:spPr>
          <a:xfrm>
            <a:off x="6611435" y="4672481"/>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$2.4 M</a:t>
            </a:r>
            <a:endParaRPr lang="en-GB" sz="1200" dirty="0">
              <a:solidFill>
                <a:srgbClr val="123D6B"/>
              </a:solidFill>
            </a:endParaRPr>
          </a:p>
        </p:txBody>
      </p:sp>
      <p:sp>
        <p:nvSpPr>
          <p:cNvPr id="57" name="TextBox 56"/>
          <p:cNvSpPr txBox="1"/>
          <p:nvPr/>
        </p:nvSpPr>
        <p:spPr>
          <a:xfrm>
            <a:off x="6611435" y="5036652"/>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$3.2 S</a:t>
            </a:r>
            <a:endParaRPr lang="en-GB" sz="1200" dirty="0">
              <a:solidFill>
                <a:srgbClr val="123D6B"/>
              </a:solidFill>
            </a:endParaRPr>
          </a:p>
        </p:txBody>
      </p:sp>
      <p:cxnSp>
        <p:nvCxnSpPr>
          <p:cNvPr id="58" name="Straight Arrow Connector 57"/>
          <p:cNvCxnSpPr>
            <a:stCxn id="16" idx="2"/>
            <a:endCxn id="34" idx="0"/>
          </p:cNvCxnSpPr>
          <p:nvPr/>
        </p:nvCxnSpPr>
        <p:spPr bwMode="auto">
          <a:xfrm flipH="1">
            <a:off x="616700" y="3798390"/>
            <a:ext cx="10815" cy="509451"/>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9" name="Straight Arrow Connector 58"/>
          <p:cNvCxnSpPr>
            <a:stCxn id="20" idx="2"/>
            <a:endCxn id="37" idx="0"/>
          </p:cNvCxnSpPr>
          <p:nvPr/>
        </p:nvCxnSpPr>
        <p:spPr bwMode="auto">
          <a:xfrm>
            <a:off x="1350461" y="3786409"/>
            <a:ext cx="5143" cy="521432"/>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0" name="Straight Arrow Connector 59"/>
          <p:cNvCxnSpPr>
            <a:stCxn id="23" idx="2"/>
            <a:endCxn id="40" idx="0"/>
          </p:cNvCxnSpPr>
          <p:nvPr/>
        </p:nvCxnSpPr>
        <p:spPr bwMode="auto">
          <a:xfrm flipH="1">
            <a:off x="2103622" y="3791207"/>
            <a:ext cx="57" cy="516634"/>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1" name="Straight Arrow Connector 60"/>
          <p:cNvCxnSpPr>
            <a:stCxn id="18" idx="2"/>
            <a:endCxn id="43" idx="0"/>
          </p:cNvCxnSpPr>
          <p:nvPr/>
        </p:nvCxnSpPr>
        <p:spPr bwMode="auto">
          <a:xfrm>
            <a:off x="3014914" y="3781280"/>
            <a:ext cx="10815" cy="527920"/>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2" name="Straight Arrow Connector 61"/>
          <p:cNvCxnSpPr>
            <a:stCxn id="19" idx="2"/>
            <a:endCxn id="46" idx="0"/>
          </p:cNvCxnSpPr>
          <p:nvPr/>
        </p:nvCxnSpPr>
        <p:spPr bwMode="auto">
          <a:xfrm>
            <a:off x="3759863" y="3790153"/>
            <a:ext cx="8097" cy="519047"/>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3" name="Straight Arrow Connector 62"/>
          <p:cNvCxnSpPr>
            <a:stCxn id="22" idx="2"/>
            <a:endCxn id="49" idx="0"/>
          </p:cNvCxnSpPr>
          <p:nvPr/>
        </p:nvCxnSpPr>
        <p:spPr bwMode="auto">
          <a:xfrm>
            <a:off x="4512872" y="3781279"/>
            <a:ext cx="12845" cy="527921"/>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4" name="Straight Arrow Connector 63"/>
          <p:cNvCxnSpPr>
            <a:stCxn id="21" idx="2"/>
            <a:endCxn id="52" idx="0"/>
          </p:cNvCxnSpPr>
          <p:nvPr/>
        </p:nvCxnSpPr>
        <p:spPr bwMode="auto">
          <a:xfrm flipH="1">
            <a:off x="6146942" y="3754819"/>
            <a:ext cx="7187" cy="554381"/>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5" name="Straight Arrow Connector 64"/>
          <p:cNvCxnSpPr>
            <a:stCxn id="24" idx="2"/>
            <a:endCxn id="55" idx="0"/>
          </p:cNvCxnSpPr>
          <p:nvPr/>
        </p:nvCxnSpPr>
        <p:spPr bwMode="auto">
          <a:xfrm>
            <a:off x="6928215" y="3750500"/>
            <a:ext cx="10815" cy="557341"/>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6" name="Rectangle 3"/>
          <p:cNvSpPr txBox="1">
            <a:spLocks noChangeArrowheads="1"/>
          </p:cNvSpPr>
          <p:nvPr/>
        </p:nvSpPr>
        <p:spPr bwMode="auto">
          <a:xfrm>
            <a:off x="1012054" y="5517232"/>
            <a:ext cx="2598117" cy="1027972"/>
          </a:xfrm>
          <a:prstGeom prst="rect">
            <a:avLst/>
          </a:prstGeom>
          <a:ln>
            <a:solidFill>
              <a:srgbClr val="123D6B"/>
            </a:solidFill>
          </a:ln>
          <a:extLst/>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a:lstStyle>
          <a:p>
            <a:pPr marL="0" indent="0">
              <a:buNone/>
            </a:pPr>
            <a:r>
              <a:rPr lang="en-US" sz="1000" b="1" kern="0" dirty="0" smtClean="0"/>
              <a:t>Injection: M=$100</a:t>
            </a:r>
          </a:p>
          <a:p>
            <a:pPr marL="0" indent="0">
              <a:buNone/>
            </a:pPr>
            <a:r>
              <a:rPr lang="en-US" sz="1000" b="1" kern="0" dirty="0" smtClean="0"/>
              <a:t>First round: A=$10, M=$30, S=$20</a:t>
            </a:r>
          </a:p>
          <a:p>
            <a:pPr marL="0" indent="0">
              <a:buNone/>
            </a:pPr>
            <a:r>
              <a:rPr lang="en-US" sz="1000" b="1" kern="0" dirty="0" smtClean="0"/>
              <a:t>Second round: A=$5, M=$17, S=$15</a:t>
            </a:r>
          </a:p>
          <a:p>
            <a:pPr marL="0" indent="0">
              <a:buNone/>
            </a:pPr>
            <a:r>
              <a:rPr lang="en-US" sz="1000" b="1" kern="0" dirty="0" smtClean="0"/>
              <a:t>Third round:  A=$2.7, M= $10.6, S= $9.9 </a:t>
            </a:r>
            <a:endParaRPr lang="en-US" sz="1000" kern="0" dirty="0" smtClean="0"/>
          </a:p>
          <a:p>
            <a:pPr lvl="1">
              <a:buFontTx/>
              <a:buNone/>
            </a:pPr>
            <a:endParaRPr lang="en-US" kern="0" dirty="0" smtClean="0"/>
          </a:p>
          <a:p>
            <a:endParaRPr lang="en-US" kern="0" dirty="0" smtClean="0"/>
          </a:p>
        </p:txBody>
      </p:sp>
      <p:sp>
        <p:nvSpPr>
          <p:cNvPr id="67" name="Rectangle 3"/>
          <p:cNvSpPr txBox="1">
            <a:spLocks noChangeArrowheads="1"/>
          </p:cNvSpPr>
          <p:nvPr/>
        </p:nvSpPr>
        <p:spPr bwMode="auto">
          <a:xfrm>
            <a:off x="3853757" y="5517232"/>
            <a:ext cx="2384354" cy="1027972"/>
          </a:xfrm>
          <a:prstGeom prst="rect">
            <a:avLst/>
          </a:prstGeom>
          <a:ln>
            <a:solidFill>
              <a:srgbClr val="123D6B"/>
            </a:solidFill>
          </a:ln>
          <a:extLst/>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a:lstStyle>
          <a:p>
            <a:pPr marL="0" indent="0">
              <a:buNone/>
            </a:pPr>
            <a:r>
              <a:rPr lang="en-US" sz="1000" b="1" kern="0" dirty="0" smtClean="0"/>
              <a:t>Agriculture: $17.7 </a:t>
            </a:r>
          </a:p>
          <a:p>
            <a:pPr marL="0" indent="0">
              <a:buNone/>
            </a:pPr>
            <a:r>
              <a:rPr lang="en-US" sz="1000" b="1" kern="0" dirty="0" smtClean="0"/>
              <a:t>Manufacturing: $57.6</a:t>
            </a:r>
          </a:p>
          <a:p>
            <a:pPr marL="0" indent="0">
              <a:buNone/>
            </a:pPr>
            <a:r>
              <a:rPr lang="en-US" sz="1000" b="1" kern="0" dirty="0" smtClean="0"/>
              <a:t>Services: $44.9</a:t>
            </a:r>
          </a:p>
          <a:p>
            <a:pPr marL="0" indent="0">
              <a:buNone/>
            </a:pPr>
            <a:r>
              <a:rPr lang="en-US" sz="1000" b="1" kern="0" dirty="0" smtClean="0"/>
              <a:t>Total: $120.2</a:t>
            </a:r>
          </a:p>
          <a:p>
            <a:pPr marL="0" indent="0">
              <a:buNone/>
            </a:pPr>
            <a:r>
              <a:rPr lang="en-US" sz="1000" b="1" kern="0" dirty="0" smtClean="0">
                <a:solidFill>
                  <a:srgbClr val="FF0000"/>
                </a:solidFill>
              </a:rPr>
              <a:t>Multiplier: $120.2/$100 = 1.202</a:t>
            </a:r>
            <a:endParaRPr lang="en-US" kern="0" dirty="0" smtClean="0">
              <a:solidFill>
                <a:srgbClr val="FF0000"/>
              </a:solidFill>
            </a:endParaRPr>
          </a:p>
        </p:txBody>
      </p:sp>
      <p:sp>
        <p:nvSpPr>
          <p:cNvPr id="68" name="TextBox 67"/>
          <p:cNvSpPr txBox="1"/>
          <p:nvPr/>
        </p:nvSpPr>
        <p:spPr>
          <a:xfrm>
            <a:off x="5100536" y="1772535"/>
            <a:ext cx="1275276" cy="261610"/>
          </a:xfrm>
          <a:prstGeom prst="rect">
            <a:avLst/>
          </a:prstGeom>
          <a:noFill/>
        </p:spPr>
        <p:txBody>
          <a:bodyPr wrap="square" rtlCol="0">
            <a:spAutoFit/>
          </a:bodyPr>
          <a:lstStyle/>
          <a:p>
            <a:r>
              <a:rPr lang="en-GB" sz="1100" dirty="0" smtClean="0">
                <a:solidFill>
                  <a:srgbClr val="123D6B"/>
                </a:solidFill>
                <a:latin typeface="+mn-lt"/>
              </a:rPr>
              <a:t>Injection</a:t>
            </a:r>
            <a:endParaRPr lang="en-GB" sz="1100" dirty="0">
              <a:solidFill>
                <a:srgbClr val="123D6B"/>
              </a:solidFill>
              <a:latin typeface="+mn-lt"/>
            </a:endParaRPr>
          </a:p>
        </p:txBody>
      </p:sp>
      <p:sp>
        <p:nvSpPr>
          <p:cNvPr id="69" name="TextBox 68"/>
          <p:cNvSpPr txBox="1"/>
          <p:nvPr/>
        </p:nvSpPr>
        <p:spPr>
          <a:xfrm>
            <a:off x="5786625" y="2381112"/>
            <a:ext cx="1275276" cy="261610"/>
          </a:xfrm>
          <a:prstGeom prst="rect">
            <a:avLst/>
          </a:prstGeom>
          <a:noFill/>
        </p:spPr>
        <p:txBody>
          <a:bodyPr wrap="square" rtlCol="0">
            <a:spAutoFit/>
          </a:bodyPr>
          <a:lstStyle/>
          <a:p>
            <a:r>
              <a:rPr lang="en-GB" sz="1100" dirty="0" smtClean="0">
                <a:solidFill>
                  <a:srgbClr val="123D6B"/>
                </a:solidFill>
                <a:latin typeface="+mn-lt"/>
              </a:rPr>
              <a:t>first round</a:t>
            </a:r>
            <a:endParaRPr lang="en-GB" sz="1100" dirty="0">
              <a:solidFill>
                <a:srgbClr val="123D6B"/>
              </a:solidFill>
              <a:latin typeface="+mn-lt"/>
            </a:endParaRPr>
          </a:p>
        </p:txBody>
      </p:sp>
      <p:sp>
        <p:nvSpPr>
          <p:cNvPr id="70" name="TextBox 69"/>
          <p:cNvSpPr txBox="1"/>
          <p:nvPr/>
        </p:nvSpPr>
        <p:spPr>
          <a:xfrm>
            <a:off x="7618499" y="3488890"/>
            <a:ext cx="1275276" cy="261610"/>
          </a:xfrm>
          <a:prstGeom prst="rect">
            <a:avLst/>
          </a:prstGeom>
          <a:noFill/>
        </p:spPr>
        <p:txBody>
          <a:bodyPr wrap="square" rtlCol="0">
            <a:spAutoFit/>
          </a:bodyPr>
          <a:lstStyle/>
          <a:p>
            <a:r>
              <a:rPr lang="en-GB" sz="1100" dirty="0" smtClean="0">
                <a:solidFill>
                  <a:srgbClr val="123D6B"/>
                </a:solidFill>
                <a:latin typeface="+mn-lt"/>
              </a:rPr>
              <a:t>second round</a:t>
            </a:r>
            <a:endParaRPr lang="en-GB" sz="1100" dirty="0">
              <a:solidFill>
                <a:srgbClr val="123D6B"/>
              </a:solidFill>
              <a:latin typeface="+mn-lt"/>
            </a:endParaRPr>
          </a:p>
        </p:txBody>
      </p:sp>
      <p:sp>
        <p:nvSpPr>
          <p:cNvPr id="71" name="TextBox 70"/>
          <p:cNvSpPr txBox="1"/>
          <p:nvPr/>
        </p:nvSpPr>
        <p:spPr>
          <a:xfrm>
            <a:off x="7633158" y="4687552"/>
            <a:ext cx="1275276" cy="261610"/>
          </a:xfrm>
          <a:prstGeom prst="rect">
            <a:avLst/>
          </a:prstGeom>
          <a:noFill/>
        </p:spPr>
        <p:txBody>
          <a:bodyPr wrap="square" rtlCol="0">
            <a:spAutoFit/>
          </a:bodyPr>
          <a:lstStyle/>
          <a:p>
            <a:r>
              <a:rPr lang="en-GB" sz="1100" dirty="0" smtClean="0">
                <a:solidFill>
                  <a:srgbClr val="123D6B"/>
                </a:solidFill>
                <a:latin typeface="+mn-lt"/>
              </a:rPr>
              <a:t>third</a:t>
            </a:r>
            <a:r>
              <a:rPr lang="en-GB" sz="1100" dirty="0" smtClean="0">
                <a:latin typeface="+mn-lt"/>
              </a:rPr>
              <a:t> </a:t>
            </a:r>
            <a:r>
              <a:rPr lang="en-GB" sz="1100" dirty="0" smtClean="0">
                <a:solidFill>
                  <a:srgbClr val="123D6B"/>
                </a:solidFill>
                <a:latin typeface="+mn-lt"/>
              </a:rPr>
              <a:t>round</a:t>
            </a:r>
            <a:endParaRPr lang="en-GB" sz="1100" dirty="0">
              <a:solidFill>
                <a:srgbClr val="123D6B"/>
              </a:solidFill>
              <a:latin typeface="+mn-lt"/>
            </a:endParaRPr>
          </a:p>
        </p:txBody>
      </p:sp>
    </p:spTree>
    <p:extLst>
      <p:ext uri="{BB962C8B-B14F-4D97-AF65-F5344CB8AC3E}">
        <p14:creationId xmlns:p14="http://schemas.microsoft.com/office/powerpoint/2010/main" xmlns="" val="168957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5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5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71"/>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65"/>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64"/>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63"/>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62"/>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61"/>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60"/>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59"/>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58"/>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66"/>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66" grpId="0" animBg="1"/>
      <p:bldP spid="67" grpId="0" animBg="1"/>
      <p:bldP spid="69" grpId="0"/>
      <p:bldP spid="70" grpId="0"/>
      <p:bldP spid="7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7092280" y="5967498"/>
            <a:ext cx="1728192" cy="576064"/>
          </a:xfrm>
          <a:prstGeom prst="rect">
            <a:avLst/>
          </a:prstGeom>
          <a:solidFill>
            <a:schemeClr val="bg1"/>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342" name="Rectangle 341"/>
          <p:cNvSpPr/>
          <p:nvPr/>
        </p:nvSpPr>
        <p:spPr bwMode="auto">
          <a:xfrm>
            <a:off x="251520" y="3740735"/>
            <a:ext cx="8631879" cy="1187294"/>
          </a:xfrm>
          <a:prstGeom prst="rect">
            <a:avLst/>
          </a:prstGeom>
          <a:solidFill>
            <a:srgbClr val="FFCCCC"/>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341" name="Rectangle 340"/>
          <p:cNvSpPr/>
          <p:nvPr/>
        </p:nvSpPr>
        <p:spPr bwMode="auto">
          <a:xfrm>
            <a:off x="251520" y="5031394"/>
            <a:ext cx="8631880" cy="1584000"/>
          </a:xfrm>
          <a:prstGeom prst="rect">
            <a:avLst/>
          </a:prstGeom>
          <a:solidFill>
            <a:srgbClr val="FFFFCC"/>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340" name="Rectangle 339"/>
          <p:cNvSpPr/>
          <p:nvPr/>
        </p:nvSpPr>
        <p:spPr bwMode="auto">
          <a:xfrm>
            <a:off x="251519" y="2421272"/>
            <a:ext cx="8631880" cy="1187294"/>
          </a:xfrm>
          <a:prstGeom prst="rect">
            <a:avLst/>
          </a:prstGeom>
          <a:solidFill>
            <a:srgbClr val="CCFFFF"/>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339" name="Rectangle 338"/>
          <p:cNvSpPr/>
          <p:nvPr/>
        </p:nvSpPr>
        <p:spPr bwMode="auto">
          <a:xfrm>
            <a:off x="251518" y="1575010"/>
            <a:ext cx="8631881" cy="1187294"/>
          </a:xfrm>
          <a:prstGeom prst="rect">
            <a:avLst/>
          </a:prstGeom>
          <a:solidFill>
            <a:srgbClr val="CCFFCC"/>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chemeClr val="tx1"/>
              </a:solidFill>
              <a:effectLst/>
              <a:latin typeface="Times New Roman" pitchFamily="18" charset="0"/>
            </a:endParaRPr>
          </a:p>
        </p:txBody>
      </p:sp>
      <p:sp>
        <p:nvSpPr>
          <p:cNvPr id="8" name="TextBox 7"/>
          <p:cNvSpPr txBox="1"/>
          <p:nvPr/>
        </p:nvSpPr>
        <p:spPr>
          <a:xfrm>
            <a:off x="4025184" y="2240304"/>
            <a:ext cx="1346600" cy="338554"/>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$100 increase in manufacturing demand</a:t>
            </a:r>
            <a:endParaRPr lang="en-GB" sz="800" dirty="0">
              <a:solidFill>
                <a:srgbClr val="123D6B"/>
              </a:solidFill>
            </a:endParaRPr>
          </a:p>
        </p:txBody>
      </p:sp>
      <p:cxnSp>
        <p:nvCxnSpPr>
          <p:cNvPr id="9" name="Straight Arrow Connector 8"/>
          <p:cNvCxnSpPr>
            <a:stCxn id="8" idx="2"/>
            <a:endCxn id="12" idx="0"/>
          </p:cNvCxnSpPr>
          <p:nvPr/>
        </p:nvCxnSpPr>
        <p:spPr bwMode="auto">
          <a:xfrm flipH="1">
            <a:off x="1556666" y="2578858"/>
            <a:ext cx="3141818" cy="621753"/>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 name="Straight Arrow Connector 9"/>
          <p:cNvCxnSpPr>
            <a:stCxn id="8" idx="2"/>
            <a:endCxn id="13" idx="0"/>
          </p:cNvCxnSpPr>
          <p:nvPr/>
        </p:nvCxnSpPr>
        <p:spPr bwMode="auto">
          <a:xfrm flipH="1">
            <a:off x="3585287" y="2578858"/>
            <a:ext cx="1113197" cy="621542"/>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1" name="Straight Arrow Connector 10"/>
          <p:cNvCxnSpPr>
            <a:stCxn id="8" idx="2"/>
            <a:endCxn id="14" idx="0"/>
          </p:cNvCxnSpPr>
          <p:nvPr/>
        </p:nvCxnSpPr>
        <p:spPr bwMode="auto">
          <a:xfrm>
            <a:off x="4698484" y="2578858"/>
            <a:ext cx="876714" cy="621542"/>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2" name="TextBox 11"/>
          <p:cNvSpPr txBox="1"/>
          <p:nvPr/>
        </p:nvSpPr>
        <p:spPr>
          <a:xfrm>
            <a:off x="1289364" y="3200611"/>
            <a:ext cx="534603" cy="21544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$10 A</a:t>
            </a:r>
            <a:endParaRPr lang="en-GB" sz="800" dirty="0">
              <a:solidFill>
                <a:srgbClr val="123D6B"/>
              </a:solidFill>
            </a:endParaRPr>
          </a:p>
        </p:txBody>
      </p:sp>
      <p:sp>
        <p:nvSpPr>
          <p:cNvPr id="13" name="TextBox 12"/>
          <p:cNvSpPr txBox="1"/>
          <p:nvPr/>
        </p:nvSpPr>
        <p:spPr>
          <a:xfrm>
            <a:off x="3317087" y="3200400"/>
            <a:ext cx="536400" cy="21544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$30 M</a:t>
            </a:r>
            <a:endParaRPr lang="en-GB" sz="800" dirty="0">
              <a:solidFill>
                <a:srgbClr val="123D6B"/>
              </a:solidFill>
            </a:endParaRPr>
          </a:p>
        </p:txBody>
      </p:sp>
      <p:sp>
        <p:nvSpPr>
          <p:cNvPr id="14" name="TextBox 13"/>
          <p:cNvSpPr txBox="1"/>
          <p:nvPr/>
        </p:nvSpPr>
        <p:spPr>
          <a:xfrm>
            <a:off x="5306998" y="3200400"/>
            <a:ext cx="536400" cy="21544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$20 S</a:t>
            </a:r>
            <a:endParaRPr lang="en-GB" sz="800" dirty="0">
              <a:solidFill>
                <a:srgbClr val="123D6B"/>
              </a:solidFill>
            </a:endParaRPr>
          </a:p>
        </p:txBody>
      </p:sp>
      <p:sp>
        <p:nvSpPr>
          <p:cNvPr id="15" name="TextBox 14"/>
          <p:cNvSpPr txBox="1"/>
          <p:nvPr/>
        </p:nvSpPr>
        <p:spPr>
          <a:xfrm>
            <a:off x="662589" y="4226475"/>
            <a:ext cx="407292" cy="21544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$2 A</a:t>
            </a:r>
            <a:endParaRPr lang="en-GB" sz="800" dirty="0">
              <a:solidFill>
                <a:srgbClr val="123D6B"/>
              </a:solidFill>
            </a:endParaRPr>
          </a:p>
        </p:txBody>
      </p:sp>
      <p:sp>
        <p:nvSpPr>
          <p:cNvPr id="16" name="TextBox 15"/>
          <p:cNvSpPr txBox="1"/>
          <p:nvPr/>
        </p:nvSpPr>
        <p:spPr>
          <a:xfrm>
            <a:off x="4660544" y="4226400"/>
            <a:ext cx="407292" cy="21544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 A</a:t>
            </a:r>
            <a:endParaRPr lang="en-GB" sz="800" dirty="0">
              <a:solidFill>
                <a:srgbClr val="123D6B"/>
              </a:solidFill>
            </a:endParaRPr>
          </a:p>
        </p:txBody>
      </p:sp>
      <p:sp>
        <p:nvSpPr>
          <p:cNvPr id="17" name="TextBox 16"/>
          <p:cNvSpPr txBox="1"/>
          <p:nvPr/>
        </p:nvSpPr>
        <p:spPr>
          <a:xfrm>
            <a:off x="2658347" y="4226400"/>
            <a:ext cx="407292" cy="21544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$3 A</a:t>
            </a:r>
            <a:endParaRPr lang="en-GB" sz="800" dirty="0">
              <a:solidFill>
                <a:srgbClr val="123D6B"/>
              </a:solidFill>
            </a:endParaRPr>
          </a:p>
        </p:txBody>
      </p:sp>
      <p:sp>
        <p:nvSpPr>
          <p:cNvPr id="18" name="TextBox 17"/>
          <p:cNvSpPr txBox="1"/>
          <p:nvPr/>
        </p:nvSpPr>
        <p:spPr>
          <a:xfrm>
            <a:off x="3129218" y="4226400"/>
            <a:ext cx="429920" cy="21544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$9 M</a:t>
            </a:r>
            <a:endParaRPr lang="en-GB" sz="800" dirty="0">
              <a:solidFill>
                <a:srgbClr val="123D6B"/>
              </a:solidFill>
            </a:endParaRPr>
          </a:p>
        </p:txBody>
      </p:sp>
      <p:sp>
        <p:nvSpPr>
          <p:cNvPr id="19" name="TextBox 18"/>
          <p:cNvSpPr txBox="1"/>
          <p:nvPr/>
        </p:nvSpPr>
        <p:spPr>
          <a:xfrm>
            <a:off x="1107549" y="4226400"/>
            <a:ext cx="418606" cy="21544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$2 M</a:t>
            </a:r>
            <a:endParaRPr lang="en-GB" sz="800" dirty="0">
              <a:solidFill>
                <a:srgbClr val="123D6B"/>
              </a:solidFill>
            </a:endParaRPr>
          </a:p>
        </p:txBody>
      </p:sp>
      <p:sp>
        <p:nvSpPr>
          <p:cNvPr id="20" name="TextBox 19"/>
          <p:cNvSpPr txBox="1"/>
          <p:nvPr/>
        </p:nvSpPr>
        <p:spPr>
          <a:xfrm>
            <a:off x="5132105" y="4226400"/>
            <a:ext cx="429920" cy="21544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$6 M</a:t>
            </a:r>
            <a:endParaRPr lang="en-GB" sz="800" dirty="0">
              <a:solidFill>
                <a:srgbClr val="123D6B"/>
              </a:solidFill>
            </a:endParaRPr>
          </a:p>
        </p:txBody>
      </p:sp>
      <p:sp>
        <p:nvSpPr>
          <p:cNvPr id="21" name="TextBox 20"/>
          <p:cNvSpPr txBox="1"/>
          <p:nvPr/>
        </p:nvSpPr>
        <p:spPr>
          <a:xfrm>
            <a:off x="3619600" y="4226400"/>
            <a:ext cx="407292" cy="21544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$6 S</a:t>
            </a:r>
            <a:endParaRPr lang="en-GB" sz="800" dirty="0">
              <a:solidFill>
                <a:srgbClr val="123D6B"/>
              </a:solidFill>
            </a:endParaRPr>
          </a:p>
        </p:txBody>
      </p:sp>
      <p:sp>
        <p:nvSpPr>
          <p:cNvPr id="22" name="TextBox 21"/>
          <p:cNvSpPr txBox="1"/>
          <p:nvPr/>
        </p:nvSpPr>
        <p:spPr>
          <a:xfrm>
            <a:off x="1568745" y="4226400"/>
            <a:ext cx="407292" cy="21544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 S</a:t>
            </a:r>
            <a:endParaRPr lang="en-GB" sz="800" dirty="0">
              <a:solidFill>
                <a:srgbClr val="123D6B"/>
              </a:solidFill>
            </a:endParaRPr>
          </a:p>
        </p:txBody>
      </p:sp>
      <p:sp>
        <p:nvSpPr>
          <p:cNvPr id="23" name="TextBox 22"/>
          <p:cNvSpPr txBox="1"/>
          <p:nvPr/>
        </p:nvSpPr>
        <p:spPr>
          <a:xfrm>
            <a:off x="5601160" y="4226400"/>
            <a:ext cx="407292" cy="21544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$8 S</a:t>
            </a:r>
            <a:endParaRPr lang="en-GB" sz="800" dirty="0">
              <a:solidFill>
                <a:srgbClr val="123D6B"/>
              </a:solidFill>
            </a:endParaRPr>
          </a:p>
        </p:txBody>
      </p:sp>
      <p:cxnSp>
        <p:nvCxnSpPr>
          <p:cNvPr id="24" name="Straight Arrow Connector 23"/>
          <p:cNvCxnSpPr>
            <a:stCxn id="12" idx="2"/>
            <a:endCxn id="15" idx="0"/>
          </p:cNvCxnSpPr>
          <p:nvPr/>
        </p:nvCxnSpPr>
        <p:spPr bwMode="auto">
          <a:xfrm flipH="1">
            <a:off x="866235" y="3416055"/>
            <a:ext cx="690431" cy="810420"/>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5" name="Straight Arrow Connector 24"/>
          <p:cNvCxnSpPr>
            <a:stCxn id="12" idx="2"/>
            <a:endCxn id="19" idx="0"/>
          </p:cNvCxnSpPr>
          <p:nvPr/>
        </p:nvCxnSpPr>
        <p:spPr bwMode="auto">
          <a:xfrm flipH="1">
            <a:off x="1316852" y="3416055"/>
            <a:ext cx="239814" cy="810345"/>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6" name="Straight Arrow Connector 25"/>
          <p:cNvCxnSpPr>
            <a:stCxn id="12" idx="2"/>
            <a:endCxn id="87" idx="0"/>
          </p:cNvCxnSpPr>
          <p:nvPr/>
        </p:nvCxnSpPr>
        <p:spPr bwMode="auto">
          <a:xfrm>
            <a:off x="1556666" y="3416055"/>
            <a:ext cx="682788" cy="810345"/>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7" name="Straight Arrow Connector 26"/>
          <p:cNvCxnSpPr>
            <a:stCxn id="13" idx="2"/>
            <a:endCxn id="17" idx="0"/>
          </p:cNvCxnSpPr>
          <p:nvPr/>
        </p:nvCxnSpPr>
        <p:spPr bwMode="auto">
          <a:xfrm flipH="1">
            <a:off x="2861993" y="3415844"/>
            <a:ext cx="723294" cy="81055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8" name="Straight Arrow Connector 27"/>
          <p:cNvCxnSpPr>
            <a:stCxn id="13" idx="2"/>
            <a:endCxn id="18" idx="0"/>
          </p:cNvCxnSpPr>
          <p:nvPr/>
        </p:nvCxnSpPr>
        <p:spPr bwMode="auto">
          <a:xfrm flipH="1">
            <a:off x="3344178" y="3415844"/>
            <a:ext cx="241109" cy="81055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9" name="Straight Arrow Connector 28"/>
          <p:cNvCxnSpPr>
            <a:stCxn id="13" idx="2"/>
            <a:endCxn id="21" idx="0"/>
          </p:cNvCxnSpPr>
          <p:nvPr/>
        </p:nvCxnSpPr>
        <p:spPr bwMode="auto">
          <a:xfrm>
            <a:off x="3585287" y="3415844"/>
            <a:ext cx="237959" cy="81055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0" name="Straight Arrow Connector 29"/>
          <p:cNvCxnSpPr>
            <a:stCxn id="14" idx="2"/>
            <a:endCxn id="16" idx="0"/>
          </p:cNvCxnSpPr>
          <p:nvPr/>
        </p:nvCxnSpPr>
        <p:spPr bwMode="auto">
          <a:xfrm flipH="1">
            <a:off x="4864190" y="3415844"/>
            <a:ext cx="711008" cy="81055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1" name="Straight Arrow Connector 30"/>
          <p:cNvCxnSpPr>
            <a:stCxn id="14" idx="2"/>
            <a:endCxn id="20" idx="0"/>
          </p:cNvCxnSpPr>
          <p:nvPr/>
        </p:nvCxnSpPr>
        <p:spPr bwMode="auto">
          <a:xfrm flipH="1">
            <a:off x="5347065" y="3415844"/>
            <a:ext cx="228133" cy="81055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2" name="Straight Arrow Connector 31"/>
          <p:cNvCxnSpPr>
            <a:stCxn id="14" idx="2"/>
            <a:endCxn id="23" idx="0"/>
          </p:cNvCxnSpPr>
          <p:nvPr/>
        </p:nvCxnSpPr>
        <p:spPr bwMode="auto">
          <a:xfrm>
            <a:off x="5575198" y="3415844"/>
            <a:ext cx="229608" cy="81055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3" name="TextBox 32"/>
          <p:cNvSpPr txBox="1"/>
          <p:nvPr/>
        </p:nvSpPr>
        <p:spPr>
          <a:xfrm>
            <a:off x="662537" y="5040530"/>
            <a:ext cx="417600"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$0.4 A </a:t>
            </a:r>
            <a:endParaRPr lang="en-GB" sz="800" dirty="0">
              <a:solidFill>
                <a:srgbClr val="123D6B"/>
              </a:solidFill>
            </a:endParaRPr>
          </a:p>
        </p:txBody>
      </p:sp>
      <p:sp>
        <p:nvSpPr>
          <p:cNvPr id="34" name="TextBox 33"/>
          <p:cNvSpPr txBox="1"/>
          <p:nvPr/>
        </p:nvSpPr>
        <p:spPr>
          <a:xfrm>
            <a:off x="662400" y="5437444"/>
            <a:ext cx="416784"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$0.4 M</a:t>
            </a:r>
            <a:endParaRPr lang="en-GB" sz="800" dirty="0">
              <a:solidFill>
                <a:srgbClr val="123D6B"/>
              </a:solidFill>
            </a:endParaRPr>
          </a:p>
        </p:txBody>
      </p:sp>
      <p:sp>
        <p:nvSpPr>
          <p:cNvPr id="35" name="TextBox 34"/>
          <p:cNvSpPr txBox="1"/>
          <p:nvPr/>
        </p:nvSpPr>
        <p:spPr>
          <a:xfrm>
            <a:off x="662400" y="5832618"/>
            <a:ext cx="416784"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$0.2 S</a:t>
            </a:r>
            <a:endParaRPr lang="en-GB" sz="800" dirty="0">
              <a:solidFill>
                <a:srgbClr val="123D6B"/>
              </a:solidFill>
            </a:endParaRPr>
          </a:p>
        </p:txBody>
      </p:sp>
      <p:sp>
        <p:nvSpPr>
          <p:cNvPr id="36" name="TextBox 35"/>
          <p:cNvSpPr txBox="1"/>
          <p:nvPr/>
        </p:nvSpPr>
        <p:spPr>
          <a:xfrm>
            <a:off x="1121658" y="5040210"/>
            <a:ext cx="417600"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$0.2 </a:t>
            </a:r>
            <a:r>
              <a:rPr lang="en-GB" sz="800" dirty="0">
                <a:solidFill>
                  <a:srgbClr val="123D6B"/>
                </a:solidFill>
              </a:rPr>
              <a:t>A</a:t>
            </a:r>
          </a:p>
        </p:txBody>
      </p:sp>
      <p:sp>
        <p:nvSpPr>
          <p:cNvPr id="37" name="TextBox 36"/>
          <p:cNvSpPr txBox="1"/>
          <p:nvPr/>
        </p:nvSpPr>
        <p:spPr>
          <a:xfrm>
            <a:off x="1123200" y="5436210"/>
            <a:ext cx="416784"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$0.6 M</a:t>
            </a:r>
            <a:endParaRPr lang="en-GB" sz="800" dirty="0">
              <a:solidFill>
                <a:srgbClr val="123D6B"/>
              </a:solidFill>
            </a:endParaRPr>
          </a:p>
        </p:txBody>
      </p:sp>
      <p:sp>
        <p:nvSpPr>
          <p:cNvPr id="38" name="TextBox 37"/>
          <p:cNvSpPr txBox="1"/>
          <p:nvPr/>
        </p:nvSpPr>
        <p:spPr>
          <a:xfrm>
            <a:off x="1123200" y="5832210"/>
            <a:ext cx="416784"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$0.4 S</a:t>
            </a:r>
            <a:endParaRPr lang="en-GB" sz="800" dirty="0">
              <a:solidFill>
                <a:srgbClr val="123D6B"/>
              </a:solidFill>
            </a:endParaRPr>
          </a:p>
        </p:txBody>
      </p:sp>
      <p:sp>
        <p:nvSpPr>
          <p:cNvPr id="39" name="TextBox 38"/>
          <p:cNvSpPr txBox="1"/>
          <p:nvPr/>
        </p:nvSpPr>
        <p:spPr>
          <a:xfrm>
            <a:off x="1580488" y="5040210"/>
            <a:ext cx="417600"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$0.0 A </a:t>
            </a:r>
            <a:endParaRPr lang="en-GB" sz="800" dirty="0">
              <a:solidFill>
                <a:srgbClr val="123D6B"/>
              </a:solidFill>
            </a:endParaRPr>
          </a:p>
        </p:txBody>
      </p:sp>
      <p:sp>
        <p:nvSpPr>
          <p:cNvPr id="40" name="TextBox 39"/>
          <p:cNvSpPr txBox="1"/>
          <p:nvPr/>
        </p:nvSpPr>
        <p:spPr>
          <a:xfrm>
            <a:off x="1580400" y="5436210"/>
            <a:ext cx="416784"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$0.3 M</a:t>
            </a:r>
            <a:endParaRPr lang="en-GB" sz="800" dirty="0">
              <a:solidFill>
                <a:srgbClr val="123D6B"/>
              </a:solidFill>
            </a:endParaRPr>
          </a:p>
        </p:txBody>
      </p:sp>
      <p:sp>
        <p:nvSpPr>
          <p:cNvPr id="41" name="TextBox 40"/>
          <p:cNvSpPr txBox="1"/>
          <p:nvPr/>
        </p:nvSpPr>
        <p:spPr>
          <a:xfrm>
            <a:off x="1580400" y="5832210"/>
            <a:ext cx="416784"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$0.4 S</a:t>
            </a:r>
            <a:endParaRPr lang="en-GB" sz="800" dirty="0">
              <a:solidFill>
                <a:srgbClr val="123D6B"/>
              </a:solidFill>
            </a:endParaRPr>
          </a:p>
        </p:txBody>
      </p:sp>
      <p:sp>
        <p:nvSpPr>
          <p:cNvPr id="42" name="TextBox 41"/>
          <p:cNvSpPr txBox="1"/>
          <p:nvPr/>
        </p:nvSpPr>
        <p:spPr>
          <a:xfrm>
            <a:off x="2647378" y="5040210"/>
            <a:ext cx="417600"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$0.6 A</a:t>
            </a:r>
            <a:endParaRPr lang="en-GB" sz="800" dirty="0">
              <a:solidFill>
                <a:srgbClr val="123D6B"/>
              </a:solidFill>
            </a:endParaRPr>
          </a:p>
        </p:txBody>
      </p:sp>
      <p:sp>
        <p:nvSpPr>
          <p:cNvPr id="43" name="TextBox 42"/>
          <p:cNvSpPr txBox="1"/>
          <p:nvPr/>
        </p:nvSpPr>
        <p:spPr>
          <a:xfrm>
            <a:off x="2646000" y="5436210"/>
            <a:ext cx="416784"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$0.6 M</a:t>
            </a:r>
            <a:endParaRPr lang="en-GB" sz="800" dirty="0">
              <a:solidFill>
                <a:srgbClr val="123D6B"/>
              </a:solidFill>
            </a:endParaRPr>
          </a:p>
        </p:txBody>
      </p:sp>
      <p:sp>
        <p:nvSpPr>
          <p:cNvPr id="44" name="TextBox 43"/>
          <p:cNvSpPr txBox="1"/>
          <p:nvPr/>
        </p:nvSpPr>
        <p:spPr>
          <a:xfrm>
            <a:off x="2646000" y="5832210"/>
            <a:ext cx="416784"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$0.3 S</a:t>
            </a:r>
            <a:endParaRPr lang="en-GB" sz="800" dirty="0">
              <a:solidFill>
                <a:srgbClr val="123D6B"/>
              </a:solidFill>
            </a:endParaRPr>
          </a:p>
        </p:txBody>
      </p:sp>
      <p:sp>
        <p:nvSpPr>
          <p:cNvPr id="45" name="TextBox 44"/>
          <p:cNvSpPr txBox="1"/>
          <p:nvPr/>
        </p:nvSpPr>
        <p:spPr>
          <a:xfrm>
            <a:off x="3121607" y="5040210"/>
            <a:ext cx="417600"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$0.9 A</a:t>
            </a:r>
            <a:endParaRPr lang="en-GB" sz="800" dirty="0">
              <a:solidFill>
                <a:srgbClr val="123D6B"/>
              </a:solidFill>
            </a:endParaRPr>
          </a:p>
        </p:txBody>
      </p:sp>
      <p:sp>
        <p:nvSpPr>
          <p:cNvPr id="46" name="TextBox 45"/>
          <p:cNvSpPr txBox="1"/>
          <p:nvPr/>
        </p:nvSpPr>
        <p:spPr>
          <a:xfrm>
            <a:off x="3121242" y="5436210"/>
            <a:ext cx="416784"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$2.7 M</a:t>
            </a:r>
            <a:endParaRPr lang="en-GB" sz="800" dirty="0">
              <a:solidFill>
                <a:srgbClr val="123D6B"/>
              </a:solidFill>
            </a:endParaRPr>
          </a:p>
        </p:txBody>
      </p:sp>
      <p:sp>
        <p:nvSpPr>
          <p:cNvPr id="47" name="TextBox 46"/>
          <p:cNvSpPr txBox="1"/>
          <p:nvPr/>
        </p:nvSpPr>
        <p:spPr>
          <a:xfrm>
            <a:off x="3121200" y="5832210"/>
            <a:ext cx="416784"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$1.8 S</a:t>
            </a:r>
            <a:endParaRPr lang="en-GB" sz="800" dirty="0">
              <a:solidFill>
                <a:srgbClr val="123D6B"/>
              </a:solidFill>
            </a:endParaRPr>
          </a:p>
        </p:txBody>
      </p:sp>
      <p:sp>
        <p:nvSpPr>
          <p:cNvPr id="48" name="TextBox 47"/>
          <p:cNvSpPr txBox="1"/>
          <p:nvPr/>
        </p:nvSpPr>
        <p:spPr>
          <a:xfrm>
            <a:off x="3598213" y="5040210"/>
            <a:ext cx="417600"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$0.0 A </a:t>
            </a:r>
            <a:endParaRPr lang="en-GB" sz="800" dirty="0">
              <a:solidFill>
                <a:srgbClr val="123D6B"/>
              </a:solidFill>
            </a:endParaRPr>
          </a:p>
        </p:txBody>
      </p:sp>
      <p:sp>
        <p:nvSpPr>
          <p:cNvPr id="49" name="TextBox 48"/>
          <p:cNvSpPr txBox="1"/>
          <p:nvPr/>
        </p:nvSpPr>
        <p:spPr>
          <a:xfrm>
            <a:off x="3589326" y="5436210"/>
            <a:ext cx="416784"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$1.8 M</a:t>
            </a:r>
            <a:endParaRPr lang="en-GB" sz="800" dirty="0">
              <a:solidFill>
                <a:srgbClr val="123D6B"/>
              </a:solidFill>
            </a:endParaRPr>
          </a:p>
        </p:txBody>
      </p:sp>
      <p:sp>
        <p:nvSpPr>
          <p:cNvPr id="50" name="TextBox 49"/>
          <p:cNvSpPr txBox="1"/>
          <p:nvPr/>
        </p:nvSpPr>
        <p:spPr>
          <a:xfrm>
            <a:off x="3589200" y="5832210"/>
            <a:ext cx="416784"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$2.4 S</a:t>
            </a:r>
            <a:endParaRPr lang="en-GB" sz="800" dirty="0">
              <a:solidFill>
                <a:srgbClr val="123D6B"/>
              </a:solidFill>
            </a:endParaRPr>
          </a:p>
        </p:txBody>
      </p:sp>
      <p:sp>
        <p:nvSpPr>
          <p:cNvPr id="51" name="TextBox 50"/>
          <p:cNvSpPr txBox="1"/>
          <p:nvPr/>
        </p:nvSpPr>
        <p:spPr>
          <a:xfrm>
            <a:off x="5132754" y="5041035"/>
            <a:ext cx="417600"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$0.6 A </a:t>
            </a:r>
            <a:endParaRPr lang="en-GB" sz="800" dirty="0">
              <a:solidFill>
                <a:srgbClr val="123D6B"/>
              </a:solidFill>
            </a:endParaRPr>
          </a:p>
        </p:txBody>
      </p:sp>
      <p:sp>
        <p:nvSpPr>
          <p:cNvPr id="52" name="TextBox 51"/>
          <p:cNvSpPr txBox="1"/>
          <p:nvPr/>
        </p:nvSpPr>
        <p:spPr>
          <a:xfrm>
            <a:off x="5139970" y="5436210"/>
            <a:ext cx="416784"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$1.8 M</a:t>
            </a:r>
            <a:endParaRPr lang="en-GB" sz="800" dirty="0">
              <a:solidFill>
                <a:srgbClr val="123D6B"/>
              </a:solidFill>
            </a:endParaRPr>
          </a:p>
        </p:txBody>
      </p:sp>
      <p:sp>
        <p:nvSpPr>
          <p:cNvPr id="53" name="TextBox 52"/>
          <p:cNvSpPr txBox="1"/>
          <p:nvPr/>
        </p:nvSpPr>
        <p:spPr>
          <a:xfrm>
            <a:off x="5132714" y="5832210"/>
            <a:ext cx="416784"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$1.2 S</a:t>
            </a:r>
            <a:endParaRPr lang="en-GB" sz="800" dirty="0">
              <a:solidFill>
                <a:srgbClr val="123D6B"/>
              </a:solidFill>
            </a:endParaRPr>
          </a:p>
        </p:txBody>
      </p:sp>
      <p:sp>
        <p:nvSpPr>
          <p:cNvPr id="54" name="TextBox 53"/>
          <p:cNvSpPr txBox="1"/>
          <p:nvPr/>
        </p:nvSpPr>
        <p:spPr>
          <a:xfrm>
            <a:off x="5591598" y="5040210"/>
            <a:ext cx="417600"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$0.0 A </a:t>
            </a:r>
            <a:endParaRPr lang="en-GB" sz="800" dirty="0">
              <a:solidFill>
                <a:srgbClr val="123D6B"/>
              </a:solidFill>
            </a:endParaRPr>
          </a:p>
        </p:txBody>
      </p:sp>
      <p:sp>
        <p:nvSpPr>
          <p:cNvPr id="55" name="TextBox 54"/>
          <p:cNvSpPr txBox="1"/>
          <p:nvPr/>
        </p:nvSpPr>
        <p:spPr>
          <a:xfrm>
            <a:off x="5598814" y="5436210"/>
            <a:ext cx="416784"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$2.4 M</a:t>
            </a:r>
            <a:endParaRPr lang="en-GB" sz="800" dirty="0">
              <a:solidFill>
                <a:srgbClr val="123D6B"/>
              </a:solidFill>
            </a:endParaRPr>
          </a:p>
        </p:txBody>
      </p:sp>
      <p:sp>
        <p:nvSpPr>
          <p:cNvPr id="56" name="TextBox 55"/>
          <p:cNvSpPr txBox="1"/>
          <p:nvPr/>
        </p:nvSpPr>
        <p:spPr>
          <a:xfrm>
            <a:off x="5598814" y="5832210"/>
            <a:ext cx="416784"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$3.2 S</a:t>
            </a:r>
            <a:endParaRPr lang="en-GB" sz="800" dirty="0">
              <a:solidFill>
                <a:srgbClr val="123D6B"/>
              </a:solidFill>
            </a:endParaRPr>
          </a:p>
        </p:txBody>
      </p:sp>
      <p:cxnSp>
        <p:nvCxnSpPr>
          <p:cNvPr id="57" name="Straight Arrow Connector 56"/>
          <p:cNvCxnSpPr>
            <a:stCxn id="15" idx="2"/>
            <a:endCxn id="33" idx="0"/>
          </p:cNvCxnSpPr>
          <p:nvPr/>
        </p:nvCxnSpPr>
        <p:spPr bwMode="auto">
          <a:xfrm>
            <a:off x="866235" y="4441919"/>
            <a:ext cx="5102" cy="598611"/>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8" name="Straight Arrow Connector 57"/>
          <p:cNvCxnSpPr>
            <a:stCxn id="19" idx="2"/>
            <a:endCxn id="36" idx="0"/>
          </p:cNvCxnSpPr>
          <p:nvPr/>
        </p:nvCxnSpPr>
        <p:spPr bwMode="auto">
          <a:xfrm>
            <a:off x="1316852" y="4441844"/>
            <a:ext cx="13606" cy="59836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9" name="Straight Arrow Connector 58"/>
          <p:cNvCxnSpPr>
            <a:stCxn id="22" idx="2"/>
            <a:endCxn id="39" idx="0"/>
          </p:cNvCxnSpPr>
          <p:nvPr/>
        </p:nvCxnSpPr>
        <p:spPr bwMode="auto">
          <a:xfrm>
            <a:off x="1772391" y="4441844"/>
            <a:ext cx="16897" cy="59836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0" name="Straight Arrow Connector 59"/>
          <p:cNvCxnSpPr>
            <a:stCxn id="17" idx="2"/>
            <a:endCxn id="42" idx="0"/>
          </p:cNvCxnSpPr>
          <p:nvPr/>
        </p:nvCxnSpPr>
        <p:spPr bwMode="auto">
          <a:xfrm flipH="1">
            <a:off x="2856178" y="4441844"/>
            <a:ext cx="5815" cy="59836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1" name="Straight Arrow Connector 60"/>
          <p:cNvCxnSpPr>
            <a:stCxn id="18" idx="2"/>
            <a:endCxn id="45" idx="0"/>
          </p:cNvCxnSpPr>
          <p:nvPr/>
        </p:nvCxnSpPr>
        <p:spPr bwMode="auto">
          <a:xfrm flipH="1">
            <a:off x="3330407" y="4441844"/>
            <a:ext cx="13771" cy="59836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2" name="Straight Arrow Connector 61"/>
          <p:cNvCxnSpPr/>
          <p:nvPr/>
        </p:nvCxnSpPr>
        <p:spPr bwMode="auto">
          <a:xfrm>
            <a:off x="3823246" y="4430232"/>
            <a:ext cx="5283" cy="609978"/>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3" name="Straight Arrow Connector 62"/>
          <p:cNvCxnSpPr>
            <a:stCxn id="20" idx="2"/>
            <a:endCxn id="51" idx="0"/>
          </p:cNvCxnSpPr>
          <p:nvPr/>
        </p:nvCxnSpPr>
        <p:spPr bwMode="auto">
          <a:xfrm flipH="1">
            <a:off x="5341554" y="4441844"/>
            <a:ext cx="5511" cy="599191"/>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4" name="Straight Arrow Connector 63"/>
          <p:cNvCxnSpPr>
            <a:stCxn id="23" idx="2"/>
            <a:endCxn id="54" idx="0"/>
          </p:cNvCxnSpPr>
          <p:nvPr/>
        </p:nvCxnSpPr>
        <p:spPr bwMode="auto">
          <a:xfrm flipH="1">
            <a:off x="5800398" y="4441844"/>
            <a:ext cx="4408" cy="59836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6" name="Rectangle 3"/>
          <p:cNvSpPr txBox="1">
            <a:spLocks noChangeArrowheads="1"/>
          </p:cNvSpPr>
          <p:nvPr/>
        </p:nvSpPr>
        <p:spPr bwMode="auto">
          <a:xfrm>
            <a:off x="754656" y="1755589"/>
            <a:ext cx="1741835" cy="900646"/>
          </a:xfrm>
          <a:prstGeom prst="rect">
            <a:avLst/>
          </a:prstGeom>
          <a:ln/>
          <a:extLst/>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a:lstStyle>
          <a:p>
            <a:pPr marL="0" indent="0">
              <a:buNone/>
            </a:pPr>
            <a:r>
              <a:rPr lang="en-US" sz="800" b="1" kern="0" dirty="0" smtClean="0"/>
              <a:t>Agriculture: $20.2</a:t>
            </a:r>
          </a:p>
          <a:p>
            <a:pPr marL="0" indent="0">
              <a:buNone/>
            </a:pPr>
            <a:r>
              <a:rPr lang="en-US" sz="800" b="1" kern="0" dirty="0" smtClean="0"/>
              <a:t>Manufacturing: $65.9</a:t>
            </a:r>
          </a:p>
          <a:p>
            <a:pPr marL="0" indent="0">
              <a:buNone/>
            </a:pPr>
            <a:r>
              <a:rPr lang="en-US" sz="800" b="1" kern="0" dirty="0" smtClean="0"/>
              <a:t>Services: $55.2</a:t>
            </a:r>
          </a:p>
          <a:p>
            <a:pPr marL="0" indent="0">
              <a:buNone/>
            </a:pPr>
            <a:r>
              <a:rPr lang="en-US" sz="800" b="1" kern="0" dirty="0" smtClean="0"/>
              <a:t>Households: $27.4</a:t>
            </a:r>
          </a:p>
          <a:p>
            <a:pPr marL="0" indent="0">
              <a:buNone/>
            </a:pPr>
            <a:r>
              <a:rPr lang="en-US" sz="800" b="1" kern="0" dirty="0" smtClean="0"/>
              <a:t>Total: $168.7</a:t>
            </a:r>
          </a:p>
          <a:p>
            <a:pPr marL="0" indent="0">
              <a:buNone/>
            </a:pPr>
            <a:r>
              <a:rPr lang="en-US" sz="800" b="1" kern="0" dirty="0" smtClean="0">
                <a:solidFill>
                  <a:srgbClr val="FF0000"/>
                </a:solidFill>
              </a:rPr>
              <a:t>Multiplier: $168.7/$100 = 1.687</a:t>
            </a:r>
            <a:endParaRPr lang="en-US" sz="800" kern="0" dirty="0" smtClean="0">
              <a:solidFill>
                <a:srgbClr val="FF0000"/>
              </a:solidFill>
            </a:endParaRPr>
          </a:p>
        </p:txBody>
      </p:sp>
      <p:cxnSp>
        <p:nvCxnSpPr>
          <p:cNvPr id="83" name="Straight Arrow Connector 82"/>
          <p:cNvCxnSpPr/>
          <p:nvPr/>
        </p:nvCxnSpPr>
        <p:spPr bwMode="auto">
          <a:xfrm>
            <a:off x="1559859" y="3453205"/>
            <a:ext cx="223289" cy="753942"/>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87" name="TextBox 86"/>
          <p:cNvSpPr txBox="1"/>
          <p:nvPr/>
        </p:nvSpPr>
        <p:spPr>
          <a:xfrm>
            <a:off x="2035808" y="4226400"/>
            <a:ext cx="407292" cy="21544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$3 H</a:t>
            </a:r>
            <a:endParaRPr lang="en-GB" sz="800" dirty="0">
              <a:solidFill>
                <a:srgbClr val="123D6B"/>
              </a:solidFill>
            </a:endParaRPr>
          </a:p>
        </p:txBody>
      </p:sp>
      <p:cxnSp>
        <p:nvCxnSpPr>
          <p:cNvPr id="92" name="Straight Arrow Connector 91"/>
          <p:cNvCxnSpPr>
            <a:stCxn id="87" idx="2"/>
            <a:endCxn id="93" idx="0"/>
          </p:cNvCxnSpPr>
          <p:nvPr/>
        </p:nvCxnSpPr>
        <p:spPr bwMode="auto">
          <a:xfrm>
            <a:off x="2239454" y="4441844"/>
            <a:ext cx="3346" cy="59836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93" name="TextBox 92"/>
          <p:cNvSpPr txBox="1"/>
          <p:nvPr/>
        </p:nvSpPr>
        <p:spPr>
          <a:xfrm>
            <a:off x="2034000" y="5040210"/>
            <a:ext cx="417600"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$0.3 A </a:t>
            </a:r>
            <a:endParaRPr lang="en-GB" sz="800" dirty="0">
              <a:solidFill>
                <a:srgbClr val="123D6B"/>
              </a:solidFill>
            </a:endParaRPr>
          </a:p>
        </p:txBody>
      </p:sp>
      <p:sp>
        <p:nvSpPr>
          <p:cNvPr id="94" name="TextBox 93"/>
          <p:cNvSpPr txBox="1"/>
          <p:nvPr/>
        </p:nvSpPr>
        <p:spPr>
          <a:xfrm>
            <a:off x="2034000" y="5436210"/>
            <a:ext cx="416784"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$0.9M</a:t>
            </a:r>
            <a:endParaRPr lang="en-GB" sz="800" dirty="0">
              <a:solidFill>
                <a:srgbClr val="123D6B"/>
              </a:solidFill>
            </a:endParaRPr>
          </a:p>
        </p:txBody>
      </p:sp>
      <p:sp>
        <p:nvSpPr>
          <p:cNvPr id="95" name="TextBox 94"/>
          <p:cNvSpPr txBox="1"/>
          <p:nvPr/>
        </p:nvSpPr>
        <p:spPr>
          <a:xfrm>
            <a:off x="2034000" y="5832210"/>
            <a:ext cx="416784"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$1.2 S</a:t>
            </a:r>
            <a:endParaRPr lang="en-GB" sz="800" dirty="0">
              <a:solidFill>
                <a:srgbClr val="123D6B"/>
              </a:solidFill>
            </a:endParaRPr>
          </a:p>
        </p:txBody>
      </p:sp>
      <p:sp>
        <p:nvSpPr>
          <p:cNvPr id="96" name="TextBox 95"/>
          <p:cNvSpPr txBox="1"/>
          <p:nvPr/>
        </p:nvSpPr>
        <p:spPr>
          <a:xfrm>
            <a:off x="662400" y="6220604"/>
            <a:ext cx="407292"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$0.6 H</a:t>
            </a:r>
            <a:endParaRPr lang="en-GB" sz="800" dirty="0">
              <a:solidFill>
                <a:srgbClr val="123D6B"/>
              </a:solidFill>
            </a:endParaRPr>
          </a:p>
        </p:txBody>
      </p:sp>
      <p:sp>
        <p:nvSpPr>
          <p:cNvPr id="97" name="TextBox 96"/>
          <p:cNvSpPr txBox="1"/>
          <p:nvPr/>
        </p:nvSpPr>
        <p:spPr>
          <a:xfrm>
            <a:off x="1123200" y="6222302"/>
            <a:ext cx="407292"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$0.2H</a:t>
            </a:r>
            <a:endParaRPr lang="en-GB" sz="800" dirty="0">
              <a:solidFill>
                <a:srgbClr val="123D6B"/>
              </a:solidFill>
            </a:endParaRPr>
          </a:p>
        </p:txBody>
      </p:sp>
      <p:sp>
        <p:nvSpPr>
          <p:cNvPr id="98" name="TextBox 97"/>
          <p:cNvSpPr txBox="1"/>
          <p:nvPr/>
        </p:nvSpPr>
        <p:spPr>
          <a:xfrm>
            <a:off x="1580548" y="6220968"/>
            <a:ext cx="417600"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$0.2 H</a:t>
            </a:r>
            <a:endParaRPr lang="en-GB" sz="800" dirty="0">
              <a:solidFill>
                <a:srgbClr val="123D6B"/>
              </a:solidFill>
            </a:endParaRPr>
          </a:p>
        </p:txBody>
      </p:sp>
      <p:sp>
        <p:nvSpPr>
          <p:cNvPr id="99" name="TextBox 98"/>
          <p:cNvSpPr txBox="1"/>
          <p:nvPr/>
        </p:nvSpPr>
        <p:spPr>
          <a:xfrm>
            <a:off x="2034000" y="6220968"/>
            <a:ext cx="407292"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a:t>
            </a:r>
            <a:r>
              <a:rPr lang="en-GB" sz="800" dirty="0">
                <a:solidFill>
                  <a:srgbClr val="123D6B"/>
                </a:solidFill>
              </a:rPr>
              <a:t>0</a:t>
            </a:r>
            <a:r>
              <a:rPr lang="en-GB" sz="800" dirty="0" smtClean="0">
                <a:solidFill>
                  <a:srgbClr val="123D6B"/>
                </a:solidFill>
              </a:rPr>
              <a:t>.0 H</a:t>
            </a:r>
            <a:endParaRPr lang="en-GB" sz="800" dirty="0">
              <a:solidFill>
                <a:srgbClr val="123D6B"/>
              </a:solidFill>
            </a:endParaRPr>
          </a:p>
        </p:txBody>
      </p:sp>
      <p:sp>
        <p:nvSpPr>
          <p:cNvPr id="104" name="TextBox 103"/>
          <p:cNvSpPr txBox="1"/>
          <p:nvPr/>
        </p:nvSpPr>
        <p:spPr>
          <a:xfrm>
            <a:off x="4085000" y="4226400"/>
            <a:ext cx="407292" cy="21544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$3 H</a:t>
            </a:r>
            <a:endParaRPr lang="en-GB" sz="800" dirty="0">
              <a:solidFill>
                <a:srgbClr val="123D6B"/>
              </a:solidFill>
            </a:endParaRPr>
          </a:p>
        </p:txBody>
      </p:sp>
      <p:cxnSp>
        <p:nvCxnSpPr>
          <p:cNvPr id="105" name="Straight Arrow Connector 104"/>
          <p:cNvCxnSpPr>
            <a:stCxn id="13" idx="2"/>
            <a:endCxn id="104" idx="0"/>
          </p:cNvCxnSpPr>
          <p:nvPr/>
        </p:nvCxnSpPr>
        <p:spPr bwMode="auto">
          <a:xfrm>
            <a:off x="3585287" y="3415844"/>
            <a:ext cx="703359" cy="81055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06" name="TextBox 105"/>
          <p:cNvSpPr txBox="1"/>
          <p:nvPr/>
        </p:nvSpPr>
        <p:spPr>
          <a:xfrm>
            <a:off x="4074480" y="5040210"/>
            <a:ext cx="417600"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$0.3 A </a:t>
            </a:r>
            <a:endParaRPr lang="en-GB" sz="800" dirty="0">
              <a:solidFill>
                <a:srgbClr val="123D6B"/>
              </a:solidFill>
            </a:endParaRPr>
          </a:p>
        </p:txBody>
      </p:sp>
      <p:sp>
        <p:nvSpPr>
          <p:cNvPr id="107" name="TextBox 106"/>
          <p:cNvSpPr txBox="1"/>
          <p:nvPr/>
        </p:nvSpPr>
        <p:spPr>
          <a:xfrm>
            <a:off x="4070938" y="5436210"/>
            <a:ext cx="416784"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$0.9 M</a:t>
            </a:r>
            <a:endParaRPr lang="en-GB" sz="800" dirty="0">
              <a:solidFill>
                <a:srgbClr val="123D6B"/>
              </a:solidFill>
            </a:endParaRPr>
          </a:p>
        </p:txBody>
      </p:sp>
      <p:sp>
        <p:nvSpPr>
          <p:cNvPr id="108" name="TextBox 107"/>
          <p:cNvSpPr txBox="1"/>
          <p:nvPr/>
        </p:nvSpPr>
        <p:spPr>
          <a:xfrm>
            <a:off x="4071600" y="5832210"/>
            <a:ext cx="416784"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$1.2 S</a:t>
            </a:r>
            <a:endParaRPr lang="en-GB" sz="800" dirty="0">
              <a:solidFill>
                <a:srgbClr val="123D6B"/>
              </a:solidFill>
            </a:endParaRPr>
          </a:p>
        </p:txBody>
      </p:sp>
      <p:cxnSp>
        <p:nvCxnSpPr>
          <p:cNvPr id="109" name="Straight Arrow Connector 108"/>
          <p:cNvCxnSpPr>
            <a:stCxn id="104" idx="2"/>
            <a:endCxn id="106" idx="0"/>
          </p:cNvCxnSpPr>
          <p:nvPr/>
        </p:nvCxnSpPr>
        <p:spPr bwMode="auto">
          <a:xfrm flipH="1">
            <a:off x="4283280" y="4441844"/>
            <a:ext cx="5366" cy="59836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14" name="TextBox 113"/>
          <p:cNvSpPr txBox="1"/>
          <p:nvPr/>
        </p:nvSpPr>
        <p:spPr>
          <a:xfrm>
            <a:off x="2645321" y="6220968"/>
            <a:ext cx="407292"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$0.9 H</a:t>
            </a:r>
            <a:endParaRPr lang="en-GB" sz="800" dirty="0">
              <a:solidFill>
                <a:srgbClr val="123D6B"/>
              </a:solidFill>
            </a:endParaRPr>
          </a:p>
        </p:txBody>
      </p:sp>
      <p:sp>
        <p:nvSpPr>
          <p:cNvPr id="115" name="TextBox 114"/>
          <p:cNvSpPr txBox="1"/>
          <p:nvPr/>
        </p:nvSpPr>
        <p:spPr>
          <a:xfrm>
            <a:off x="3121242" y="6220968"/>
            <a:ext cx="407292"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$0.9 H</a:t>
            </a:r>
            <a:endParaRPr lang="en-GB" sz="800" dirty="0">
              <a:solidFill>
                <a:srgbClr val="123D6B"/>
              </a:solidFill>
            </a:endParaRPr>
          </a:p>
        </p:txBody>
      </p:sp>
      <p:sp>
        <p:nvSpPr>
          <p:cNvPr id="116" name="TextBox 115"/>
          <p:cNvSpPr txBox="1"/>
          <p:nvPr/>
        </p:nvSpPr>
        <p:spPr>
          <a:xfrm>
            <a:off x="3589326" y="6220968"/>
            <a:ext cx="407292"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$1.2 H</a:t>
            </a:r>
            <a:endParaRPr lang="en-GB" sz="800" dirty="0">
              <a:solidFill>
                <a:srgbClr val="123D6B"/>
              </a:solidFill>
            </a:endParaRPr>
          </a:p>
        </p:txBody>
      </p:sp>
      <p:sp>
        <p:nvSpPr>
          <p:cNvPr id="117" name="TextBox 116"/>
          <p:cNvSpPr txBox="1"/>
          <p:nvPr/>
        </p:nvSpPr>
        <p:spPr>
          <a:xfrm>
            <a:off x="4070150" y="6220968"/>
            <a:ext cx="407292"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$0.0H</a:t>
            </a:r>
            <a:endParaRPr lang="en-GB" sz="800" dirty="0">
              <a:solidFill>
                <a:srgbClr val="123D6B"/>
              </a:solidFill>
            </a:endParaRPr>
          </a:p>
        </p:txBody>
      </p:sp>
      <p:sp>
        <p:nvSpPr>
          <p:cNvPr id="124" name="TextBox 123"/>
          <p:cNvSpPr txBox="1"/>
          <p:nvPr/>
        </p:nvSpPr>
        <p:spPr>
          <a:xfrm>
            <a:off x="6051824" y="4226400"/>
            <a:ext cx="407292" cy="21544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$4 H</a:t>
            </a:r>
            <a:endParaRPr lang="en-GB" sz="800" dirty="0">
              <a:solidFill>
                <a:srgbClr val="123D6B"/>
              </a:solidFill>
            </a:endParaRPr>
          </a:p>
        </p:txBody>
      </p:sp>
      <p:cxnSp>
        <p:nvCxnSpPr>
          <p:cNvPr id="125" name="Straight Arrow Connector 124"/>
          <p:cNvCxnSpPr>
            <a:stCxn id="14" idx="2"/>
            <a:endCxn id="124" idx="0"/>
          </p:cNvCxnSpPr>
          <p:nvPr/>
        </p:nvCxnSpPr>
        <p:spPr bwMode="auto">
          <a:xfrm>
            <a:off x="5575198" y="3415844"/>
            <a:ext cx="680272" cy="81055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26" name="TextBox 125"/>
          <p:cNvSpPr txBox="1"/>
          <p:nvPr/>
        </p:nvSpPr>
        <p:spPr>
          <a:xfrm>
            <a:off x="6043295" y="5040210"/>
            <a:ext cx="417600"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$0.4 A </a:t>
            </a:r>
            <a:endParaRPr lang="en-GB" sz="800" dirty="0">
              <a:solidFill>
                <a:srgbClr val="123D6B"/>
              </a:solidFill>
            </a:endParaRPr>
          </a:p>
        </p:txBody>
      </p:sp>
      <p:sp>
        <p:nvSpPr>
          <p:cNvPr id="127" name="TextBox 126"/>
          <p:cNvSpPr txBox="1"/>
          <p:nvPr/>
        </p:nvSpPr>
        <p:spPr>
          <a:xfrm>
            <a:off x="6060658" y="5436210"/>
            <a:ext cx="416784"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$1.2 M</a:t>
            </a:r>
            <a:endParaRPr lang="en-GB" sz="800" dirty="0">
              <a:solidFill>
                <a:srgbClr val="123D6B"/>
              </a:solidFill>
            </a:endParaRPr>
          </a:p>
        </p:txBody>
      </p:sp>
      <p:sp>
        <p:nvSpPr>
          <p:cNvPr id="128" name="TextBox 127"/>
          <p:cNvSpPr txBox="1"/>
          <p:nvPr/>
        </p:nvSpPr>
        <p:spPr>
          <a:xfrm>
            <a:off x="6062652" y="5832210"/>
            <a:ext cx="416784"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$1.6 S</a:t>
            </a:r>
            <a:endParaRPr lang="en-GB" sz="800" dirty="0">
              <a:solidFill>
                <a:srgbClr val="123D6B"/>
              </a:solidFill>
            </a:endParaRPr>
          </a:p>
        </p:txBody>
      </p:sp>
      <p:cxnSp>
        <p:nvCxnSpPr>
          <p:cNvPr id="129" name="Straight Arrow Connector 128"/>
          <p:cNvCxnSpPr>
            <a:stCxn id="124" idx="2"/>
            <a:endCxn id="126" idx="0"/>
          </p:cNvCxnSpPr>
          <p:nvPr/>
        </p:nvCxnSpPr>
        <p:spPr bwMode="auto">
          <a:xfrm flipH="1">
            <a:off x="6252095" y="4441844"/>
            <a:ext cx="3375" cy="59836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0" name="TextBox 129"/>
          <p:cNvSpPr txBox="1"/>
          <p:nvPr/>
        </p:nvSpPr>
        <p:spPr>
          <a:xfrm>
            <a:off x="6070628" y="6220968"/>
            <a:ext cx="407292"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$0.0 H</a:t>
            </a:r>
            <a:endParaRPr lang="en-GB" sz="800" dirty="0">
              <a:solidFill>
                <a:srgbClr val="123D6B"/>
              </a:solidFill>
            </a:endParaRPr>
          </a:p>
        </p:txBody>
      </p:sp>
      <p:sp>
        <p:nvSpPr>
          <p:cNvPr id="134" name="TextBox 133"/>
          <p:cNvSpPr txBox="1"/>
          <p:nvPr/>
        </p:nvSpPr>
        <p:spPr>
          <a:xfrm>
            <a:off x="5588835" y="6220968"/>
            <a:ext cx="407292"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$1.0 H</a:t>
            </a:r>
            <a:endParaRPr lang="en-GB" sz="800" dirty="0">
              <a:solidFill>
                <a:srgbClr val="123D6B"/>
              </a:solidFill>
            </a:endParaRPr>
          </a:p>
        </p:txBody>
      </p:sp>
      <p:sp>
        <p:nvSpPr>
          <p:cNvPr id="135" name="TextBox 134"/>
          <p:cNvSpPr txBox="1"/>
          <p:nvPr/>
        </p:nvSpPr>
        <p:spPr>
          <a:xfrm>
            <a:off x="5139881" y="6220968"/>
            <a:ext cx="407292"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$1.0 H</a:t>
            </a:r>
            <a:endParaRPr lang="en-GB" sz="800" dirty="0">
              <a:solidFill>
                <a:srgbClr val="123D6B"/>
              </a:solidFill>
            </a:endParaRPr>
          </a:p>
        </p:txBody>
      </p:sp>
      <p:sp>
        <p:nvSpPr>
          <p:cNvPr id="136" name="TextBox 135"/>
          <p:cNvSpPr txBox="1"/>
          <p:nvPr/>
        </p:nvSpPr>
        <p:spPr>
          <a:xfrm>
            <a:off x="7320630" y="3200400"/>
            <a:ext cx="536400" cy="21544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$10 H</a:t>
            </a:r>
            <a:endParaRPr lang="en-GB" sz="800" dirty="0">
              <a:solidFill>
                <a:srgbClr val="123D6B"/>
              </a:solidFill>
            </a:endParaRPr>
          </a:p>
        </p:txBody>
      </p:sp>
      <p:sp>
        <p:nvSpPr>
          <p:cNvPr id="137" name="TextBox 136"/>
          <p:cNvSpPr txBox="1"/>
          <p:nvPr/>
        </p:nvSpPr>
        <p:spPr>
          <a:xfrm>
            <a:off x="6620489" y="4226400"/>
            <a:ext cx="404225" cy="21544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$1 A</a:t>
            </a:r>
            <a:endParaRPr lang="en-GB" sz="800" dirty="0">
              <a:solidFill>
                <a:srgbClr val="123D6B"/>
              </a:solidFill>
            </a:endParaRPr>
          </a:p>
        </p:txBody>
      </p:sp>
      <p:sp>
        <p:nvSpPr>
          <p:cNvPr id="138" name="TextBox 137"/>
          <p:cNvSpPr txBox="1"/>
          <p:nvPr/>
        </p:nvSpPr>
        <p:spPr>
          <a:xfrm>
            <a:off x="7089345" y="4226400"/>
            <a:ext cx="429920" cy="21544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$3 M</a:t>
            </a:r>
            <a:endParaRPr lang="en-GB" sz="800" dirty="0">
              <a:solidFill>
                <a:srgbClr val="123D6B"/>
              </a:solidFill>
            </a:endParaRPr>
          </a:p>
        </p:txBody>
      </p:sp>
      <p:sp>
        <p:nvSpPr>
          <p:cNvPr id="139" name="TextBox 138"/>
          <p:cNvSpPr txBox="1"/>
          <p:nvPr/>
        </p:nvSpPr>
        <p:spPr>
          <a:xfrm>
            <a:off x="7587062" y="4226400"/>
            <a:ext cx="407292" cy="21544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$4 S</a:t>
            </a:r>
            <a:endParaRPr lang="en-GB" sz="800" dirty="0">
              <a:solidFill>
                <a:srgbClr val="123D6B"/>
              </a:solidFill>
            </a:endParaRPr>
          </a:p>
        </p:txBody>
      </p:sp>
      <p:cxnSp>
        <p:nvCxnSpPr>
          <p:cNvPr id="140" name="Straight Arrow Connector 139"/>
          <p:cNvCxnSpPr>
            <a:stCxn id="136" idx="2"/>
            <a:endCxn id="137" idx="0"/>
          </p:cNvCxnSpPr>
          <p:nvPr/>
        </p:nvCxnSpPr>
        <p:spPr bwMode="auto">
          <a:xfrm flipH="1">
            <a:off x="6822602" y="3415844"/>
            <a:ext cx="766228" cy="81055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41" name="Straight Arrow Connector 140"/>
          <p:cNvCxnSpPr>
            <a:stCxn id="136" idx="2"/>
            <a:endCxn id="138" idx="0"/>
          </p:cNvCxnSpPr>
          <p:nvPr/>
        </p:nvCxnSpPr>
        <p:spPr bwMode="auto">
          <a:xfrm flipH="1">
            <a:off x="7304305" y="3415844"/>
            <a:ext cx="284525" cy="81055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42" name="Straight Arrow Connector 141"/>
          <p:cNvCxnSpPr>
            <a:stCxn id="136" idx="2"/>
            <a:endCxn id="139" idx="0"/>
          </p:cNvCxnSpPr>
          <p:nvPr/>
        </p:nvCxnSpPr>
        <p:spPr bwMode="auto">
          <a:xfrm>
            <a:off x="7588830" y="3415844"/>
            <a:ext cx="201878" cy="81055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43" name="TextBox 142"/>
          <p:cNvSpPr txBox="1"/>
          <p:nvPr/>
        </p:nvSpPr>
        <p:spPr>
          <a:xfrm>
            <a:off x="7100752" y="5040210"/>
            <a:ext cx="417600"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$0.3  A</a:t>
            </a:r>
            <a:endParaRPr lang="en-GB" sz="800" dirty="0">
              <a:solidFill>
                <a:srgbClr val="123D6B"/>
              </a:solidFill>
            </a:endParaRPr>
          </a:p>
        </p:txBody>
      </p:sp>
      <p:sp>
        <p:nvSpPr>
          <p:cNvPr id="144" name="TextBox 143"/>
          <p:cNvSpPr txBox="1"/>
          <p:nvPr/>
        </p:nvSpPr>
        <p:spPr>
          <a:xfrm>
            <a:off x="7097210" y="5436210"/>
            <a:ext cx="416784"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$0.9 M</a:t>
            </a:r>
            <a:endParaRPr lang="en-GB" sz="800" dirty="0">
              <a:solidFill>
                <a:srgbClr val="123D6B"/>
              </a:solidFill>
            </a:endParaRPr>
          </a:p>
        </p:txBody>
      </p:sp>
      <p:sp>
        <p:nvSpPr>
          <p:cNvPr id="145" name="TextBox 144"/>
          <p:cNvSpPr txBox="1"/>
          <p:nvPr/>
        </p:nvSpPr>
        <p:spPr>
          <a:xfrm>
            <a:off x="7089954" y="5832210"/>
            <a:ext cx="416784"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$0.6 S</a:t>
            </a:r>
            <a:endParaRPr lang="en-GB" sz="800" dirty="0">
              <a:solidFill>
                <a:srgbClr val="123D6B"/>
              </a:solidFill>
            </a:endParaRPr>
          </a:p>
        </p:txBody>
      </p:sp>
      <p:sp>
        <p:nvSpPr>
          <p:cNvPr id="146" name="TextBox 145"/>
          <p:cNvSpPr txBox="1"/>
          <p:nvPr/>
        </p:nvSpPr>
        <p:spPr>
          <a:xfrm>
            <a:off x="7580247" y="5040210"/>
            <a:ext cx="420884"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$0.0 A</a:t>
            </a:r>
            <a:endParaRPr lang="en-GB" sz="800" dirty="0">
              <a:solidFill>
                <a:srgbClr val="123D6B"/>
              </a:solidFill>
            </a:endParaRPr>
          </a:p>
        </p:txBody>
      </p:sp>
      <p:sp>
        <p:nvSpPr>
          <p:cNvPr id="147" name="TextBox 146"/>
          <p:cNvSpPr txBox="1"/>
          <p:nvPr/>
        </p:nvSpPr>
        <p:spPr>
          <a:xfrm>
            <a:off x="7587463" y="5436210"/>
            <a:ext cx="416784"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$1.2 M</a:t>
            </a:r>
            <a:endParaRPr lang="en-GB" sz="800" dirty="0">
              <a:solidFill>
                <a:srgbClr val="123D6B"/>
              </a:solidFill>
            </a:endParaRPr>
          </a:p>
        </p:txBody>
      </p:sp>
      <p:sp>
        <p:nvSpPr>
          <p:cNvPr id="148" name="TextBox 147"/>
          <p:cNvSpPr txBox="1"/>
          <p:nvPr/>
        </p:nvSpPr>
        <p:spPr>
          <a:xfrm>
            <a:off x="7587463" y="5832210"/>
            <a:ext cx="416784"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$1.6 S</a:t>
            </a:r>
            <a:endParaRPr lang="en-GB" sz="800" dirty="0">
              <a:solidFill>
                <a:srgbClr val="123D6B"/>
              </a:solidFill>
            </a:endParaRPr>
          </a:p>
        </p:txBody>
      </p:sp>
      <p:cxnSp>
        <p:nvCxnSpPr>
          <p:cNvPr id="149" name="Straight Arrow Connector 148"/>
          <p:cNvCxnSpPr>
            <a:stCxn id="138" idx="2"/>
            <a:endCxn id="143" idx="0"/>
          </p:cNvCxnSpPr>
          <p:nvPr/>
        </p:nvCxnSpPr>
        <p:spPr bwMode="auto">
          <a:xfrm>
            <a:off x="7304305" y="4441844"/>
            <a:ext cx="5247" cy="59836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0" name="Straight Arrow Connector 149"/>
          <p:cNvCxnSpPr>
            <a:stCxn id="139" idx="2"/>
            <a:endCxn id="146" idx="0"/>
          </p:cNvCxnSpPr>
          <p:nvPr/>
        </p:nvCxnSpPr>
        <p:spPr bwMode="auto">
          <a:xfrm flipH="1">
            <a:off x="7790689" y="4441844"/>
            <a:ext cx="19" cy="59836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51" name="TextBox 150"/>
          <p:cNvSpPr txBox="1"/>
          <p:nvPr/>
        </p:nvSpPr>
        <p:spPr>
          <a:xfrm>
            <a:off x="8069214" y="4226400"/>
            <a:ext cx="407292" cy="21544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 H</a:t>
            </a:r>
            <a:endParaRPr lang="en-GB" sz="800" dirty="0">
              <a:solidFill>
                <a:srgbClr val="123D6B"/>
              </a:solidFill>
            </a:endParaRPr>
          </a:p>
        </p:txBody>
      </p:sp>
      <p:cxnSp>
        <p:nvCxnSpPr>
          <p:cNvPr id="152" name="Straight Arrow Connector 151"/>
          <p:cNvCxnSpPr>
            <a:stCxn id="136" idx="2"/>
            <a:endCxn id="151" idx="0"/>
          </p:cNvCxnSpPr>
          <p:nvPr/>
        </p:nvCxnSpPr>
        <p:spPr bwMode="auto">
          <a:xfrm>
            <a:off x="7588830" y="3415844"/>
            <a:ext cx="684030" cy="81055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58" name="TextBox 157"/>
          <p:cNvSpPr txBox="1"/>
          <p:nvPr/>
        </p:nvSpPr>
        <p:spPr>
          <a:xfrm>
            <a:off x="7577484" y="6220968"/>
            <a:ext cx="407292"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$0.8H</a:t>
            </a:r>
            <a:endParaRPr lang="en-GB" sz="800" dirty="0">
              <a:solidFill>
                <a:srgbClr val="123D6B"/>
              </a:solidFill>
            </a:endParaRPr>
          </a:p>
        </p:txBody>
      </p:sp>
      <p:sp>
        <p:nvSpPr>
          <p:cNvPr id="159" name="TextBox 158"/>
          <p:cNvSpPr txBox="1"/>
          <p:nvPr/>
        </p:nvSpPr>
        <p:spPr>
          <a:xfrm>
            <a:off x="7097121" y="6220968"/>
            <a:ext cx="407292"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$0.3H</a:t>
            </a:r>
            <a:endParaRPr lang="en-GB" sz="800" dirty="0">
              <a:solidFill>
                <a:srgbClr val="123D6B"/>
              </a:solidFill>
            </a:endParaRPr>
          </a:p>
        </p:txBody>
      </p:sp>
      <p:sp>
        <p:nvSpPr>
          <p:cNvPr id="160" name="TextBox 159"/>
          <p:cNvSpPr txBox="1"/>
          <p:nvPr/>
        </p:nvSpPr>
        <p:spPr>
          <a:xfrm>
            <a:off x="6639094" y="5040210"/>
            <a:ext cx="417600"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800" dirty="0" smtClean="0">
                <a:solidFill>
                  <a:srgbClr val="123D6B"/>
                </a:solidFill>
              </a:rPr>
              <a:t>$0.2 A </a:t>
            </a:r>
            <a:endParaRPr lang="en-GB" sz="800" dirty="0">
              <a:solidFill>
                <a:srgbClr val="123D6B"/>
              </a:solidFill>
            </a:endParaRPr>
          </a:p>
        </p:txBody>
      </p:sp>
      <p:sp>
        <p:nvSpPr>
          <p:cNvPr id="161" name="TextBox 160"/>
          <p:cNvSpPr txBox="1"/>
          <p:nvPr/>
        </p:nvSpPr>
        <p:spPr>
          <a:xfrm>
            <a:off x="6635043" y="5436210"/>
            <a:ext cx="417600"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$0.2 M</a:t>
            </a:r>
            <a:endParaRPr lang="en-GB" sz="800" dirty="0">
              <a:solidFill>
                <a:srgbClr val="123D6B"/>
              </a:solidFill>
            </a:endParaRPr>
          </a:p>
        </p:txBody>
      </p:sp>
      <p:sp>
        <p:nvSpPr>
          <p:cNvPr id="162" name="TextBox 161"/>
          <p:cNvSpPr txBox="1"/>
          <p:nvPr/>
        </p:nvSpPr>
        <p:spPr>
          <a:xfrm>
            <a:off x="6639261" y="5832210"/>
            <a:ext cx="392570" cy="338554"/>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$0.1 S</a:t>
            </a:r>
            <a:endParaRPr lang="en-GB" sz="800" dirty="0">
              <a:solidFill>
                <a:srgbClr val="123D6B"/>
              </a:solidFill>
            </a:endParaRPr>
          </a:p>
        </p:txBody>
      </p:sp>
      <p:sp>
        <p:nvSpPr>
          <p:cNvPr id="163" name="TextBox 162"/>
          <p:cNvSpPr txBox="1"/>
          <p:nvPr/>
        </p:nvSpPr>
        <p:spPr>
          <a:xfrm>
            <a:off x="6646449" y="6220968"/>
            <a:ext cx="385470" cy="338554"/>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800" dirty="0" smtClean="0">
                <a:solidFill>
                  <a:srgbClr val="123D6B"/>
                </a:solidFill>
              </a:rPr>
              <a:t>$0.3 H</a:t>
            </a:r>
            <a:endParaRPr lang="en-GB" sz="800" dirty="0">
              <a:solidFill>
                <a:srgbClr val="123D6B"/>
              </a:solidFill>
            </a:endParaRPr>
          </a:p>
        </p:txBody>
      </p:sp>
      <p:cxnSp>
        <p:nvCxnSpPr>
          <p:cNvPr id="236" name="Straight Arrow Connector 235"/>
          <p:cNvCxnSpPr>
            <a:stCxn id="8" idx="2"/>
          </p:cNvCxnSpPr>
          <p:nvPr/>
        </p:nvCxnSpPr>
        <p:spPr bwMode="auto">
          <a:xfrm>
            <a:off x="4698484" y="2578858"/>
            <a:ext cx="2929510" cy="621542"/>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13" name="Straight Arrow Connector 312"/>
          <p:cNvCxnSpPr>
            <a:stCxn id="137" idx="2"/>
            <a:endCxn id="160" idx="0"/>
          </p:cNvCxnSpPr>
          <p:nvPr/>
        </p:nvCxnSpPr>
        <p:spPr bwMode="auto">
          <a:xfrm>
            <a:off x="6822602" y="4441844"/>
            <a:ext cx="25292" cy="59836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43" name="TextBox 342"/>
          <p:cNvSpPr txBox="1"/>
          <p:nvPr/>
        </p:nvSpPr>
        <p:spPr>
          <a:xfrm>
            <a:off x="5559020" y="2264285"/>
            <a:ext cx="1248076" cy="261610"/>
          </a:xfrm>
          <a:prstGeom prst="rect">
            <a:avLst/>
          </a:prstGeom>
          <a:noFill/>
        </p:spPr>
        <p:txBody>
          <a:bodyPr wrap="square" rtlCol="0">
            <a:spAutoFit/>
          </a:bodyPr>
          <a:lstStyle/>
          <a:p>
            <a:r>
              <a:rPr lang="en-GB" sz="1100" dirty="0" smtClean="0">
                <a:solidFill>
                  <a:srgbClr val="123D6B"/>
                </a:solidFill>
                <a:latin typeface="+mn-lt"/>
              </a:rPr>
              <a:t>Injection</a:t>
            </a:r>
            <a:endParaRPr lang="en-GB" sz="1100" dirty="0">
              <a:solidFill>
                <a:srgbClr val="123D6B"/>
              </a:solidFill>
              <a:latin typeface="+mn-lt"/>
            </a:endParaRPr>
          </a:p>
        </p:txBody>
      </p:sp>
      <p:sp>
        <p:nvSpPr>
          <p:cNvPr id="344" name="TextBox 343"/>
          <p:cNvSpPr txBox="1"/>
          <p:nvPr/>
        </p:nvSpPr>
        <p:spPr>
          <a:xfrm>
            <a:off x="8049849" y="3073491"/>
            <a:ext cx="1248076" cy="261610"/>
          </a:xfrm>
          <a:prstGeom prst="rect">
            <a:avLst/>
          </a:prstGeom>
          <a:noFill/>
        </p:spPr>
        <p:txBody>
          <a:bodyPr wrap="square" rtlCol="0">
            <a:spAutoFit/>
          </a:bodyPr>
          <a:lstStyle/>
          <a:p>
            <a:r>
              <a:rPr lang="en-GB" sz="1100" dirty="0" smtClean="0">
                <a:solidFill>
                  <a:srgbClr val="123D6B"/>
                </a:solidFill>
                <a:latin typeface="+mn-lt"/>
              </a:rPr>
              <a:t>first round</a:t>
            </a:r>
            <a:endParaRPr lang="en-GB" sz="1100" dirty="0">
              <a:solidFill>
                <a:srgbClr val="123D6B"/>
              </a:solidFill>
              <a:latin typeface="+mn-lt"/>
            </a:endParaRPr>
          </a:p>
        </p:txBody>
      </p:sp>
      <p:sp>
        <p:nvSpPr>
          <p:cNvPr id="345" name="TextBox 344"/>
          <p:cNvSpPr txBox="1"/>
          <p:nvPr/>
        </p:nvSpPr>
        <p:spPr>
          <a:xfrm>
            <a:off x="7884368" y="4528704"/>
            <a:ext cx="1248076" cy="261610"/>
          </a:xfrm>
          <a:prstGeom prst="rect">
            <a:avLst/>
          </a:prstGeom>
          <a:noFill/>
        </p:spPr>
        <p:txBody>
          <a:bodyPr wrap="square" rtlCol="0">
            <a:spAutoFit/>
          </a:bodyPr>
          <a:lstStyle/>
          <a:p>
            <a:r>
              <a:rPr lang="en-GB" sz="1100" dirty="0" smtClean="0">
                <a:solidFill>
                  <a:srgbClr val="123D6B"/>
                </a:solidFill>
                <a:latin typeface="+mn-lt"/>
              </a:rPr>
              <a:t>second round</a:t>
            </a:r>
            <a:endParaRPr lang="en-GB" sz="1100" dirty="0">
              <a:solidFill>
                <a:srgbClr val="123D6B"/>
              </a:solidFill>
              <a:latin typeface="+mn-lt"/>
            </a:endParaRPr>
          </a:p>
        </p:txBody>
      </p:sp>
      <p:sp>
        <p:nvSpPr>
          <p:cNvPr id="346" name="TextBox 345"/>
          <p:cNvSpPr txBox="1"/>
          <p:nvPr/>
        </p:nvSpPr>
        <p:spPr>
          <a:xfrm>
            <a:off x="8028384" y="5607458"/>
            <a:ext cx="1248076" cy="261610"/>
          </a:xfrm>
          <a:prstGeom prst="rect">
            <a:avLst/>
          </a:prstGeom>
          <a:noFill/>
        </p:spPr>
        <p:txBody>
          <a:bodyPr wrap="square" rtlCol="0">
            <a:spAutoFit/>
          </a:bodyPr>
          <a:lstStyle/>
          <a:p>
            <a:r>
              <a:rPr lang="en-GB" sz="1100" dirty="0" smtClean="0">
                <a:solidFill>
                  <a:srgbClr val="123D6B"/>
                </a:solidFill>
                <a:latin typeface="+mn-lt"/>
              </a:rPr>
              <a:t>third round</a:t>
            </a:r>
            <a:endParaRPr lang="en-GB" sz="1100" dirty="0">
              <a:solidFill>
                <a:srgbClr val="123D6B"/>
              </a:solidFill>
              <a:latin typeface="+mn-lt"/>
            </a:endParaRPr>
          </a:p>
        </p:txBody>
      </p:sp>
      <p:sp>
        <p:nvSpPr>
          <p:cNvPr id="347" name="Title 1"/>
          <p:cNvSpPr>
            <a:spLocks noGrp="1"/>
          </p:cNvSpPr>
          <p:nvPr>
            <p:ph type="title"/>
          </p:nvPr>
        </p:nvSpPr>
        <p:spPr>
          <a:xfrm>
            <a:off x="611188" y="304800"/>
            <a:ext cx="7848600" cy="1143000"/>
          </a:xfrm>
        </p:spPr>
        <p:txBody>
          <a:bodyPr/>
          <a:lstStyle/>
          <a:p>
            <a:r>
              <a:rPr lang="en-GB" dirty="0" smtClean="0"/>
              <a:t>Output Multiplier </a:t>
            </a:r>
            <a:r>
              <a:rPr lang="en-GB" dirty="0"/>
              <a:t>T</a:t>
            </a:r>
            <a:r>
              <a:rPr lang="en-GB" dirty="0" smtClean="0"/>
              <a:t>ype II</a:t>
            </a:r>
            <a:endParaRPr lang="en-GB" dirty="0"/>
          </a:p>
        </p:txBody>
      </p:sp>
      <p:graphicFrame>
        <p:nvGraphicFramePr>
          <p:cNvPr id="348" name="Table 347"/>
          <p:cNvGraphicFramePr>
            <a:graphicFrameLocks noGrp="1"/>
          </p:cNvGraphicFramePr>
          <p:nvPr>
            <p:extLst>
              <p:ext uri="{D42A27DB-BD31-4B8C-83A1-F6EECF244321}">
                <p14:modId xmlns:p14="http://schemas.microsoft.com/office/powerpoint/2010/main" xmlns="" val="3186745040"/>
              </p:ext>
            </p:extLst>
          </p:nvPr>
        </p:nvGraphicFramePr>
        <p:xfrm>
          <a:off x="6841864" y="1668761"/>
          <a:ext cx="1974599" cy="1148340"/>
        </p:xfrm>
        <a:graphic>
          <a:graphicData uri="http://schemas.openxmlformats.org/drawingml/2006/table">
            <a:tbl>
              <a:tblPr firstRow="1" bandRow="1">
                <a:tableStyleId>{C4B1156A-380E-4F78-BDF5-A606A8083BF9}</a:tableStyleId>
              </a:tblPr>
              <a:tblGrid>
                <a:gridCol w="419548"/>
                <a:gridCol w="344244"/>
                <a:gridCol w="441064"/>
                <a:gridCol w="430306"/>
                <a:gridCol w="339437"/>
              </a:tblGrid>
              <a:tr h="223502">
                <a:tc>
                  <a:txBody>
                    <a:bodyPr/>
                    <a:lstStyle/>
                    <a:p>
                      <a:r>
                        <a:rPr lang="en-GB" sz="800" b="0" dirty="0" smtClean="0">
                          <a:solidFill>
                            <a:srgbClr val="123D6B"/>
                          </a:solidFill>
                        </a:rPr>
                        <a:t>I/O</a:t>
                      </a:r>
                      <a:endParaRPr lang="en-GB" sz="800" b="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b="0" dirty="0" err="1" smtClean="0">
                          <a:solidFill>
                            <a:srgbClr val="123D6B"/>
                          </a:solidFill>
                        </a:rPr>
                        <a:t>Agr</a:t>
                      </a:r>
                      <a:endParaRPr lang="en-GB" sz="800" b="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b="0" dirty="0" err="1" smtClean="0">
                          <a:solidFill>
                            <a:srgbClr val="123D6B"/>
                          </a:solidFill>
                        </a:rPr>
                        <a:t>Manf</a:t>
                      </a:r>
                      <a:endParaRPr lang="en-GB" sz="800" b="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b="0" dirty="0" err="1" smtClean="0">
                          <a:solidFill>
                            <a:srgbClr val="123D6B"/>
                          </a:solidFill>
                        </a:rPr>
                        <a:t>Serv</a:t>
                      </a:r>
                      <a:endParaRPr lang="en-GB" sz="800" b="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b="0" dirty="0" smtClean="0">
                          <a:solidFill>
                            <a:srgbClr val="123D6B"/>
                          </a:solidFill>
                        </a:rPr>
                        <a:t>HH</a:t>
                      </a:r>
                      <a:endParaRPr lang="en-GB" sz="800" b="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r>
              <a:tr h="223502">
                <a:tc>
                  <a:txBody>
                    <a:bodyPr/>
                    <a:lstStyle/>
                    <a:p>
                      <a:r>
                        <a:rPr lang="en-GB" sz="800" dirty="0" err="1" smtClean="0">
                          <a:solidFill>
                            <a:srgbClr val="123D6B"/>
                          </a:solidFill>
                        </a:rPr>
                        <a:t>Agr</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0.2</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0.1</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0.0</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0.1</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r>
              <a:tr h="223502">
                <a:tc>
                  <a:txBody>
                    <a:bodyPr/>
                    <a:lstStyle/>
                    <a:p>
                      <a:r>
                        <a:rPr lang="en-GB" sz="800" dirty="0" err="1" smtClean="0">
                          <a:solidFill>
                            <a:srgbClr val="123D6B"/>
                          </a:solidFill>
                        </a:rPr>
                        <a:t>Manf</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0.2</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0.3</a:t>
                      </a: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0.3</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0.3</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r>
              <a:tr h="254332">
                <a:tc>
                  <a:txBody>
                    <a:bodyPr/>
                    <a:lstStyle/>
                    <a:p>
                      <a:r>
                        <a:rPr lang="en-GB" sz="800" dirty="0" err="1" smtClean="0">
                          <a:solidFill>
                            <a:srgbClr val="123D6B"/>
                          </a:solidFill>
                        </a:rPr>
                        <a:t>Serv</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0.1</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0.2</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0.4</a:t>
                      </a: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0.4</a:t>
                      </a: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r>
              <a:tr h="223502">
                <a:tc>
                  <a:txBody>
                    <a:bodyPr/>
                    <a:lstStyle/>
                    <a:p>
                      <a:r>
                        <a:rPr lang="en-GB" sz="800" dirty="0" smtClean="0">
                          <a:solidFill>
                            <a:srgbClr val="123D6B"/>
                          </a:solidFill>
                        </a:rPr>
                        <a:t>HH</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0.3</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0.1</a:t>
                      </a:r>
                      <a:endParaRPr lang="en-GB" sz="800"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0.2</a:t>
                      </a: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c>
                  <a:txBody>
                    <a:bodyPr/>
                    <a:lstStyle/>
                    <a:p>
                      <a:r>
                        <a:rPr lang="en-GB" sz="800" dirty="0" smtClean="0">
                          <a:solidFill>
                            <a:srgbClr val="123D6B"/>
                          </a:solidFill>
                        </a:rPr>
                        <a:t>0.0</a:t>
                      </a: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lnB w="12700" cap="flat" cmpd="sng" algn="ctr">
                      <a:solidFill>
                        <a:srgbClr val="123D6B"/>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xmlns="" val="3125439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6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5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6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4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4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6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6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13"/>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4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5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5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3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3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37"/>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40"/>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4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41"/>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52"/>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3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236"/>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87" grpId="0" animBg="1"/>
      <p:bldP spid="93" grpId="0" animBg="1"/>
      <p:bldP spid="94" grpId="0" animBg="1"/>
      <p:bldP spid="95" grpId="0" animBg="1"/>
      <p:bldP spid="96" grpId="0" animBg="1"/>
      <p:bldP spid="97" grpId="0" animBg="1"/>
      <p:bldP spid="98" grpId="0" animBg="1"/>
      <p:bldP spid="99" grpId="0" animBg="1"/>
      <p:bldP spid="104" grpId="0" animBg="1"/>
      <p:bldP spid="106" grpId="0" animBg="1"/>
      <p:bldP spid="107" grpId="0" animBg="1"/>
      <p:bldP spid="108" grpId="0" animBg="1"/>
      <p:bldP spid="114" grpId="0" animBg="1"/>
      <p:bldP spid="115" grpId="0" animBg="1"/>
      <p:bldP spid="116" grpId="0" animBg="1"/>
      <p:bldP spid="117" grpId="0" animBg="1"/>
      <p:bldP spid="124" grpId="0" animBg="1"/>
      <p:bldP spid="126" grpId="0" animBg="1"/>
      <p:bldP spid="127" grpId="0" animBg="1"/>
      <p:bldP spid="128" grpId="0" animBg="1"/>
      <p:bldP spid="130" grpId="0" animBg="1"/>
      <p:bldP spid="134" grpId="0" animBg="1"/>
      <p:bldP spid="135" grpId="0" animBg="1"/>
      <p:bldP spid="136" grpId="0" animBg="1"/>
      <p:bldP spid="137" grpId="0" animBg="1"/>
      <p:bldP spid="138" grpId="0" animBg="1"/>
      <p:bldP spid="139" grpId="0" animBg="1"/>
      <p:bldP spid="143" grpId="0" animBg="1"/>
      <p:bldP spid="144" grpId="0" animBg="1"/>
      <p:bldP spid="145" grpId="0" animBg="1"/>
      <p:bldP spid="146" grpId="0" animBg="1"/>
      <p:bldP spid="147" grpId="0" animBg="1"/>
      <p:bldP spid="148" grpId="0" animBg="1"/>
      <p:bldP spid="151" grpId="0" animBg="1"/>
      <p:bldP spid="158" grpId="0" animBg="1"/>
      <p:bldP spid="159" grpId="0" animBg="1"/>
      <p:bldP spid="160" grpId="0" animBg="1"/>
      <p:bldP spid="161" grpId="0" animBg="1"/>
      <p:bldP spid="162" grpId="0" animBg="1"/>
      <p:bldP spid="16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Output Multiplier</a:t>
            </a:r>
            <a:endParaRPr lang="en-GB" dirty="0"/>
          </a:p>
        </p:txBody>
      </p:sp>
      <p:sp>
        <p:nvSpPr>
          <p:cNvPr id="72" name="Rectangle 4"/>
          <p:cNvSpPr>
            <a:spLocks noChangeArrowheads="1"/>
          </p:cNvSpPr>
          <p:nvPr/>
        </p:nvSpPr>
        <p:spPr bwMode="auto">
          <a:xfrm>
            <a:off x="611188" y="1557338"/>
            <a:ext cx="7546975" cy="2447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lr>
                <a:srgbClr val="123D6B"/>
              </a:buClr>
              <a:buChar char="•"/>
              <a:defRPr sz="2700" b="1">
                <a:solidFill>
                  <a:srgbClr val="123D6B"/>
                </a:solidFill>
                <a:latin typeface="Arial" panose="020B0604020202020204" pitchFamily="34" charset="0"/>
              </a:defRPr>
            </a:lvl1pPr>
            <a:lvl2pPr marL="742950" indent="-285750">
              <a:spcBef>
                <a:spcPct val="20000"/>
              </a:spcBef>
              <a:buClr>
                <a:srgbClr val="123D6B"/>
              </a:buClr>
              <a:buChar char="–"/>
              <a:defRPr sz="2000" b="1">
                <a:solidFill>
                  <a:srgbClr val="123D6B"/>
                </a:solidFill>
                <a:latin typeface="Arial" panose="020B0604020202020204" pitchFamily="34" charset="0"/>
              </a:defRPr>
            </a:lvl2pPr>
            <a:lvl3pPr marL="1143000" indent="-228600">
              <a:spcBef>
                <a:spcPct val="20000"/>
              </a:spcBef>
              <a:buClr>
                <a:srgbClr val="123D6B"/>
              </a:buClr>
              <a:buChar char="•"/>
              <a:defRPr sz="1600" b="1">
                <a:solidFill>
                  <a:srgbClr val="123D6B"/>
                </a:solidFill>
                <a:latin typeface="Arial" panose="020B0604020202020204" pitchFamily="34" charset="0"/>
              </a:defRPr>
            </a:lvl3pPr>
            <a:lvl4pPr marL="1600200" indent="-228600">
              <a:spcBef>
                <a:spcPct val="20000"/>
              </a:spcBef>
              <a:buClr>
                <a:srgbClr val="123D6B"/>
              </a:buClr>
              <a:buChar char="–"/>
              <a:defRPr sz="1600" b="1">
                <a:solidFill>
                  <a:srgbClr val="123D6B"/>
                </a:solidFill>
                <a:latin typeface="Arial" panose="020B0604020202020204" pitchFamily="34" charset="0"/>
              </a:defRPr>
            </a:lvl4pPr>
            <a:lvl5pPr marL="2057400" indent="-228600">
              <a:spcBef>
                <a:spcPct val="20000"/>
              </a:spcBef>
              <a:buClr>
                <a:srgbClr val="123D6B"/>
              </a:buClr>
              <a:buChar char="»"/>
              <a:defRPr sz="1600" b="1">
                <a:solidFill>
                  <a:srgbClr val="123D6B"/>
                </a:solidFill>
                <a:latin typeface="Arial" panose="020B0604020202020204" pitchFamily="34" charset="0"/>
              </a:defRPr>
            </a:lvl5pPr>
            <a:lvl6pPr marL="2514600" indent="-228600" eaLnBrk="0" fontAlgn="base" hangingPunct="0">
              <a:spcBef>
                <a:spcPct val="20000"/>
              </a:spcBef>
              <a:spcAft>
                <a:spcPct val="0"/>
              </a:spcAft>
              <a:buClr>
                <a:srgbClr val="123D6B"/>
              </a:buClr>
              <a:buChar char="»"/>
              <a:defRPr sz="1600" b="1">
                <a:solidFill>
                  <a:srgbClr val="123D6B"/>
                </a:solidFill>
                <a:latin typeface="Arial" panose="020B0604020202020204" pitchFamily="34" charset="0"/>
              </a:defRPr>
            </a:lvl6pPr>
            <a:lvl7pPr marL="2971800" indent="-228600" eaLnBrk="0" fontAlgn="base" hangingPunct="0">
              <a:spcBef>
                <a:spcPct val="20000"/>
              </a:spcBef>
              <a:spcAft>
                <a:spcPct val="0"/>
              </a:spcAft>
              <a:buClr>
                <a:srgbClr val="123D6B"/>
              </a:buClr>
              <a:buChar char="»"/>
              <a:defRPr sz="1600" b="1">
                <a:solidFill>
                  <a:srgbClr val="123D6B"/>
                </a:solidFill>
                <a:latin typeface="Arial" panose="020B0604020202020204" pitchFamily="34" charset="0"/>
              </a:defRPr>
            </a:lvl7pPr>
            <a:lvl8pPr marL="3429000" indent="-228600" eaLnBrk="0" fontAlgn="base" hangingPunct="0">
              <a:spcBef>
                <a:spcPct val="20000"/>
              </a:spcBef>
              <a:spcAft>
                <a:spcPct val="0"/>
              </a:spcAft>
              <a:buClr>
                <a:srgbClr val="123D6B"/>
              </a:buClr>
              <a:buChar char="»"/>
              <a:defRPr sz="1600" b="1">
                <a:solidFill>
                  <a:srgbClr val="123D6B"/>
                </a:solidFill>
                <a:latin typeface="Arial" panose="020B0604020202020204" pitchFamily="34" charset="0"/>
              </a:defRPr>
            </a:lvl8pPr>
            <a:lvl9pPr marL="3886200" indent="-228600" eaLnBrk="0" fontAlgn="base" hangingPunct="0">
              <a:spcBef>
                <a:spcPct val="20000"/>
              </a:spcBef>
              <a:spcAft>
                <a:spcPct val="0"/>
              </a:spcAft>
              <a:buClr>
                <a:srgbClr val="123D6B"/>
              </a:buClr>
              <a:buChar char="»"/>
              <a:defRPr sz="1600" b="1">
                <a:solidFill>
                  <a:srgbClr val="123D6B"/>
                </a:solidFill>
                <a:latin typeface="Arial" panose="020B0604020202020204" pitchFamily="34" charset="0"/>
              </a:defRPr>
            </a:lvl9pPr>
          </a:lstStyle>
          <a:p>
            <a:pPr>
              <a:buFontTx/>
              <a:buNone/>
            </a:pPr>
            <a:r>
              <a:rPr lang="en-GB" b="0" dirty="0"/>
              <a:t>Output multiplier = total impact on output /</a:t>
            </a:r>
          </a:p>
          <a:p>
            <a:pPr>
              <a:buFontTx/>
              <a:buNone/>
            </a:pPr>
            <a:r>
              <a:rPr lang="en-GB" b="0" dirty="0"/>
              <a:t>                              </a:t>
            </a:r>
            <a:r>
              <a:rPr lang="en-GB" b="0" dirty="0" smtClean="0"/>
              <a:t>direct </a:t>
            </a:r>
            <a:r>
              <a:rPr lang="en-GB" b="0" dirty="0"/>
              <a:t>impact on output</a:t>
            </a:r>
          </a:p>
          <a:p>
            <a:pPr>
              <a:buFontTx/>
              <a:buNone/>
            </a:pPr>
            <a:endParaRPr lang="en-GB" sz="1600" b="0" dirty="0"/>
          </a:p>
          <a:p>
            <a:pPr>
              <a:buFontTx/>
              <a:buNone/>
            </a:pPr>
            <a:r>
              <a:rPr lang="en-GB" sz="1600" b="0" dirty="0"/>
              <a:t>Where,</a:t>
            </a:r>
          </a:p>
          <a:p>
            <a:pPr>
              <a:buFontTx/>
              <a:buNone/>
            </a:pPr>
            <a:r>
              <a:rPr lang="en-GB" sz="1600" b="0" dirty="0"/>
              <a:t>total impact on output   =  direct + indirect impact on output</a:t>
            </a:r>
          </a:p>
          <a:p>
            <a:pPr>
              <a:buFontTx/>
              <a:buNone/>
            </a:pPr>
            <a:r>
              <a:rPr lang="en-GB" sz="1600" b="0" dirty="0"/>
              <a:t>direct impact on output = shock values</a:t>
            </a:r>
          </a:p>
          <a:p>
            <a:pPr>
              <a:buFontTx/>
              <a:buNone/>
            </a:pPr>
            <a:endParaRPr lang="en-GB" dirty="0"/>
          </a:p>
        </p:txBody>
      </p:sp>
      <p:sp>
        <p:nvSpPr>
          <p:cNvPr id="74" name="Rectangle 6"/>
          <p:cNvSpPr>
            <a:spLocks noChangeArrowheads="1"/>
          </p:cNvSpPr>
          <p:nvPr/>
        </p:nvSpPr>
        <p:spPr bwMode="auto">
          <a:xfrm>
            <a:off x="762000" y="4410075"/>
            <a:ext cx="7546975" cy="2447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lr>
                <a:srgbClr val="123D6B"/>
              </a:buClr>
              <a:buChar char="•"/>
              <a:defRPr sz="2700" b="1">
                <a:solidFill>
                  <a:srgbClr val="123D6B"/>
                </a:solidFill>
                <a:latin typeface="Arial" panose="020B0604020202020204" pitchFamily="34" charset="0"/>
              </a:defRPr>
            </a:lvl1pPr>
            <a:lvl2pPr marL="742950" indent="-285750">
              <a:spcBef>
                <a:spcPct val="20000"/>
              </a:spcBef>
              <a:buClr>
                <a:srgbClr val="123D6B"/>
              </a:buClr>
              <a:buChar char="–"/>
              <a:defRPr sz="2000" b="1">
                <a:solidFill>
                  <a:srgbClr val="123D6B"/>
                </a:solidFill>
                <a:latin typeface="Arial" panose="020B0604020202020204" pitchFamily="34" charset="0"/>
              </a:defRPr>
            </a:lvl2pPr>
            <a:lvl3pPr marL="1143000" indent="-228600">
              <a:spcBef>
                <a:spcPct val="20000"/>
              </a:spcBef>
              <a:buClr>
                <a:srgbClr val="123D6B"/>
              </a:buClr>
              <a:buChar char="•"/>
              <a:defRPr sz="1600" b="1">
                <a:solidFill>
                  <a:srgbClr val="123D6B"/>
                </a:solidFill>
                <a:latin typeface="Arial" panose="020B0604020202020204" pitchFamily="34" charset="0"/>
              </a:defRPr>
            </a:lvl3pPr>
            <a:lvl4pPr marL="1600200" indent="-228600">
              <a:spcBef>
                <a:spcPct val="20000"/>
              </a:spcBef>
              <a:buClr>
                <a:srgbClr val="123D6B"/>
              </a:buClr>
              <a:buChar char="–"/>
              <a:defRPr sz="1600" b="1">
                <a:solidFill>
                  <a:srgbClr val="123D6B"/>
                </a:solidFill>
                <a:latin typeface="Arial" panose="020B0604020202020204" pitchFamily="34" charset="0"/>
              </a:defRPr>
            </a:lvl4pPr>
            <a:lvl5pPr marL="2057400" indent="-228600">
              <a:spcBef>
                <a:spcPct val="20000"/>
              </a:spcBef>
              <a:buClr>
                <a:srgbClr val="123D6B"/>
              </a:buClr>
              <a:buChar char="»"/>
              <a:defRPr sz="1600" b="1">
                <a:solidFill>
                  <a:srgbClr val="123D6B"/>
                </a:solidFill>
                <a:latin typeface="Arial" panose="020B0604020202020204" pitchFamily="34" charset="0"/>
              </a:defRPr>
            </a:lvl5pPr>
            <a:lvl6pPr marL="2514600" indent="-228600" eaLnBrk="0" fontAlgn="base" hangingPunct="0">
              <a:spcBef>
                <a:spcPct val="20000"/>
              </a:spcBef>
              <a:spcAft>
                <a:spcPct val="0"/>
              </a:spcAft>
              <a:buClr>
                <a:srgbClr val="123D6B"/>
              </a:buClr>
              <a:buChar char="»"/>
              <a:defRPr sz="1600" b="1">
                <a:solidFill>
                  <a:srgbClr val="123D6B"/>
                </a:solidFill>
                <a:latin typeface="Arial" panose="020B0604020202020204" pitchFamily="34" charset="0"/>
              </a:defRPr>
            </a:lvl6pPr>
            <a:lvl7pPr marL="2971800" indent="-228600" eaLnBrk="0" fontAlgn="base" hangingPunct="0">
              <a:spcBef>
                <a:spcPct val="20000"/>
              </a:spcBef>
              <a:spcAft>
                <a:spcPct val="0"/>
              </a:spcAft>
              <a:buClr>
                <a:srgbClr val="123D6B"/>
              </a:buClr>
              <a:buChar char="»"/>
              <a:defRPr sz="1600" b="1">
                <a:solidFill>
                  <a:srgbClr val="123D6B"/>
                </a:solidFill>
                <a:latin typeface="Arial" panose="020B0604020202020204" pitchFamily="34" charset="0"/>
              </a:defRPr>
            </a:lvl7pPr>
            <a:lvl8pPr marL="3429000" indent="-228600" eaLnBrk="0" fontAlgn="base" hangingPunct="0">
              <a:spcBef>
                <a:spcPct val="20000"/>
              </a:spcBef>
              <a:spcAft>
                <a:spcPct val="0"/>
              </a:spcAft>
              <a:buClr>
                <a:srgbClr val="123D6B"/>
              </a:buClr>
              <a:buChar char="»"/>
              <a:defRPr sz="1600" b="1">
                <a:solidFill>
                  <a:srgbClr val="123D6B"/>
                </a:solidFill>
                <a:latin typeface="Arial" panose="020B0604020202020204" pitchFamily="34" charset="0"/>
              </a:defRPr>
            </a:lvl8pPr>
            <a:lvl9pPr marL="3886200" indent="-228600" eaLnBrk="0" fontAlgn="base" hangingPunct="0">
              <a:spcBef>
                <a:spcPct val="20000"/>
              </a:spcBef>
              <a:spcAft>
                <a:spcPct val="0"/>
              </a:spcAft>
              <a:buClr>
                <a:srgbClr val="123D6B"/>
              </a:buClr>
              <a:buChar char="»"/>
              <a:defRPr sz="1600" b="1">
                <a:solidFill>
                  <a:srgbClr val="123D6B"/>
                </a:solidFill>
                <a:latin typeface="Arial" panose="020B0604020202020204" pitchFamily="34" charset="0"/>
              </a:defRPr>
            </a:lvl9pPr>
          </a:lstStyle>
          <a:p>
            <a:pPr>
              <a:buFontTx/>
              <a:buNone/>
            </a:pPr>
            <a:r>
              <a:rPr lang="en-GB" b="0" dirty="0"/>
              <a:t>Total impact on output = (I-IO)</a:t>
            </a:r>
            <a:r>
              <a:rPr lang="en-GB" b="0" baseline="30000" dirty="0"/>
              <a:t>-1</a:t>
            </a:r>
            <a:r>
              <a:rPr lang="en-GB" b="0" dirty="0"/>
              <a:t> *S</a:t>
            </a:r>
          </a:p>
          <a:p>
            <a:pPr>
              <a:buFontTx/>
              <a:buNone/>
            </a:pPr>
            <a:endParaRPr lang="en-GB" sz="1600" b="0" dirty="0"/>
          </a:p>
          <a:p>
            <a:pPr>
              <a:buFontTx/>
              <a:buNone/>
            </a:pPr>
            <a:r>
              <a:rPr lang="en-GB" sz="1600" b="0" dirty="0"/>
              <a:t>Where,</a:t>
            </a:r>
          </a:p>
          <a:p>
            <a:pPr>
              <a:buFontTx/>
              <a:buNone/>
            </a:pPr>
            <a:r>
              <a:rPr lang="en-GB" sz="1600" b="0" dirty="0"/>
              <a:t>I    =  identity matrix</a:t>
            </a:r>
          </a:p>
          <a:p>
            <a:pPr>
              <a:buFontTx/>
              <a:buNone/>
            </a:pPr>
            <a:r>
              <a:rPr lang="en-GB" sz="1600" b="0" dirty="0"/>
              <a:t>IO =  domestic input-output table (in coefficients)</a:t>
            </a:r>
          </a:p>
          <a:p>
            <a:pPr>
              <a:buFontTx/>
              <a:buNone/>
            </a:pPr>
            <a:r>
              <a:rPr lang="en-GB" sz="1600" b="0" dirty="0"/>
              <a:t>S  =  value of shocks</a:t>
            </a:r>
            <a:endParaRPr lang="en-GB" b="0" dirty="0"/>
          </a:p>
        </p:txBody>
      </p:sp>
    </p:spTree>
    <p:extLst>
      <p:ext uri="{BB962C8B-B14F-4D97-AF65-F5344CB8AC3E}">
        <p14:creationId xmlns:p14="http://schemas.microsoft.com/office/powerpoint/2010/main" xmlns="" val="3619264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Value Added Multiplier</a:t>
            </a:r>
            <a:endParaRPr lang="en-GB" dirty="0"/>
          </a:p>
        </p:txBody>
      </p:sp>
      <p:sp>
        <p:nvSpPr>
          <p:cNvPr id="72" name="Rectangle 4"/>
          <p:cNvSpPr>
            <a:spLocks noChangeArrowheads="1"/>
          </p:cNvSpPr>
          <p:nvPr/>
        </p:nvSpPr>
        <p:spPr bwMode="auto">
          <a:xfrm>
            <a:off x="467544" y="1916832"/>
            <a:ext cx="8496944" cy="12235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lr>
                <a:srgbClr val="123D6B"/>
              </a:buClr>
              <a:buChar char="•"/>
              <a:defRPr sz="2700" b="1">
                <a:solidFill>
                  <a:srgbClr val="123D6B"/>
                </a:solidFill>
                <a:latin typeface="Arial" panose="020B0604020202020204" pitchFamily="34" charset="0"/>
              </a:defRPr>
            </a:lvl1pPr>
            <a:lvl2pPr marL="742950" indent="-285750">
              <a:spcBef>
                <a:spcPct val="20000"/>
              </a:spcBef>
              <a:buClr>
                <a:srgbClr val="123D6B"/>
              </a:buClr>
              <a:buChar char="–"/>
              <a:defRPr sz="2000" b="1">
                <a:solidFill>
                  <a:srgbClr val="123D6B"/>
                </a:solidFill>
                <a:latin typeface="Arial" panose="020B0604020202020204" pitchFamily="34" charset="0"/>
              </a:defRPr>
            </a:lvl2pPr>
            <a:lvl3pPr marL="1143000" indent="-228600">
              <a:spcBef>
                <a:spcPct val="20000"/>
              </a:spcBef>
              <a:buClr>
                <a:srgbClr val="123D6B"/>
              </a:buClr>
              <a:buChar char="•"/>
              <a:defRPr sz="1600" b="1">
                <a:solidFill>
                  <a:srgbClr val="123D6B"/>
                </a:solidFill>
                <a:latin typeface="Arial" panose="020B0604020202020204" pitchFamily="34" charset="0"/>
              </a:defRPr>
            </a:lvl3pPr>
            <a:lvl4pPr marL="1600200" indent="-228600">
              <a:spcBef>
                <a:spcPct val="20000"/>
              </a:spcBef>
              <a:buClr>
                <a:srgbClr val="123D6B"/>
              </a:buClr>
              <a:buChar char="–"/>
              <a:defRPr sz="1600" b="1">
                <a:solidFill>
                  <a:srgbClr val="123D6B"/>
                </a:solidFill>
                <a:latin typeface="Arial" panose="020B0604020202020204" pitchFamily="34" charset="0"/>
              </a:defRPr>
            </a:lvl4pPr>
            <a:lvl5pPr marL="2057400" indent="-228600">
              <a:spcBef>
                <a:spcPct val="20000"/>
              </a:spcBef>
              <a:buClr>
                <a:srgbClr val="123D6B"/>
              </a:buClr>
              <a:buChar char="»"/>
              <a:defRPr sz="1600" b="1">
                <a:solidFill>
                  <a:srgbClr val="123D6B"/>
                </a:solidFill>
                <a:latin typeface="Arial" panose="020B0604020202020204" pitchFamily="34" charset="0"/>
              </a:defRPr>
            </a:lvl5pPr>
            <a:lvl6pPr marL="2514600" indent="-228600" eaLnBrk="0" fontAlgn="base" hangingPunct="0">
              <a:spcBef>
                <a:spcPct val="20000"/>
              </a:spcBef>
              <a:spcAft>
                <a:spcPct val="0"/>
              </a:spcAft>
              <a:buClr>
                <a:srgbClr val="123D6B"/>
              </a:buClr>
              <a:buChar char="»"/>
              <a:defRPr sz="1600" b="1">
                <a:solidFill>
                  <a:srgbClr val="123D6B"/>
                </a:solidFill>
                <a:latin typeface="Arial" panose="020B0604020202020204" pitchFamily="34" charset="0"/>
              </a:defRPr>
            </a:lvl6pPr>
            <a:lvl7pPr marL="2971800" indent="-228600" eaLnBrk="0" fontAlgn="base" hangingPunct="0">
              <a:spcBef>
                <a:spcPct val="20000"/>
              </a:spcBef>
              <a:spcAft>
                <a:spcPct val="0"/>
              </a:spcAft>
              <a:buClr>
                <a:srgbClr val="123D6B"/>
              </a:buClr>
              <a:buChar char="»"/>
              <a:defRPr sz="1600" b="1">
                <a:solidFill>
                  <a:srgbClr val="123D6B"/>
                </a:solidFill>
                <a:latin typeface="Arial" panose="020B0604020202020204" pitchFamily="34" charset="0"/>
              </a:defRPr>
            </a:lvl7pPr>
            <a:lvl8pPr marL="3429000" indent="-228600" eaLnBrk="0" fontAlgn="base" hangingPunct="0">
              <a:spcBef>
                <a:spcPct val="20000"/>
              </a:spcBef>
              <a:spcAft>
                <a:spcPct val="0"/>
              </a:spcAft>
              <a:buClr>
                <a:srgbClr val="123D6B"/>
              </a:buClr>
              <a:buChar char="»"/>
              <a:defRPr sz="1600" b="1">
                <a:solidFill>
                  <a:srgbClr val="123D6B"/>
                </a:solidFill>
                <a:latin typeface="Arial" panose="020B0604020202020204" pitchFamily="34" charset="0"/>
              </a:defRPr>
            </a:lvl8pPr>
            <a:lvl9pPr marL="3886200" indent="-228600" eaLnBrk="0" fontAlgn="base" hangingPunct="0">
              <a:spcBef>
                <a:spcPct val="20000"/>
              </a:spcBef>
              <a:spcAft>
                <a:spcPct val="0"/>
              </a:spcAft>
              <a:buClr>
                <a:srgbClr val="123D6B"/>
              </a:buClr>
              <a:buChar char="»"/>
              <a:defRPr sz="1600" b="1">
                <a:solidFill>
                  <a:srgbClr val="123D6B"/>
                </a:solidFill>
                <a:latin typeface="Arial" panose="020B0604020202020204" pitchFamily="34" charset="0"/>
              </a:defRPr>
            </a:lvl9pPr>
          </a:lstStyle>
          <a:p>
            <a:r>
              <a:rPr lang="en-GB" b="0" dirty="0" smtClean="0"/>
              <a:t>Value added multipliers are preferred over output multipliers as they eliminate double counting of expenditures</a:t>
            </a:r>
          </a:p>
          <a:p>
            <a:pPr>
              <a:buFontTx/>
              <a:buNone/>
            </a:pPr>
            <a:endParaRPr lang="en-GB" b="0" dirty="0"/>
          </a:p>
          <a:p>
            <a:pPr>
              <a:buFontTx/>
              <a:buNone/>
            </a:pPr>
            <a:r>
              <a:rPr lang="en-GB" b="0" dirty="0" smtClean="0"/>
              <a:t>Value Added multiplier </a:t>
            </a:r>
            <a:r>
              <a:rPr lang="en-GB" b="0" dirty="0"/>
              <a:t>= </a:t>
            </a:r>
            <a:endParaRPr lang="en-GB" b="0" dirty="0" smtClean="0"/>
          </a:p>
          <a:p>
            <a:pPr>
              <a:buFontTx/>
              <a:buNone/>
            </a:pPr>
            <a:endParaRPr lang="en-GB" b="0" dirty="0" smtClean="0"/>
          </a:p>
          <a:p>
            <a:pPr>
              <a:buFontTx/>
              <a:buNone/>
            </a:pPr>
            <a:r>
              <a:rPr lang="en-GB" b="0" dirty="0" smtClean="0"/>
              <a:t>total (direct +indirect) value added / direct value added of initial industry</a:t>
            </a:r>
            <a:endParaRPr lang="en-GB" b="0" dirty="0"/>
          </a:p>
          <a:p>
            <a:pPr>
              <a:buFontTx/>
              <a:buNone/>
            </a:pPr>
            <a:endParaRPr lang="en-GB" sz="1600" b="0" dirty="0"/>
          </a:p>
          <a:p>
            <a:pPr>
              <a:buFontTx/>
              <a:buNone/>
            </a:pPr>
            <a:endParaRPr lang="en-GB" dirty="0"/>
          </a:p>
        </p:txBody>
      </p:sp>
    </p:spTree>
    <p:extLst>
      <p:ext uri="{BB962C8B-B14F-4D97-AF65-F5344CB8AC3E}">
        <p14:creationId xmlns:p14="http://schemas.microsoft.com/office/powerpoint/2010/main" xmlns="" val="416267081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Value Added Multiplier </a:t>
            </a:r>
            <a:r>
              <a:rPr lang="en-GB" smtClean="0"/>
              <a:t>Type I </a:t>
            </a:r>
            <a:endParaRPr lang="en-GB" dirty="0"/>
          </a:p>
        </p:txBody>
      </p:sp>
      <p:sp>
        <p:nvSpPr>
          <p:cNvPr id="4" name="Rectangle 3"/>
          <p:cNvSpPr/>
          <p:nvPr/>
        </p:nvSpPr>
        <p:spPr bwMode="auto">
          <a:xfrm>
            <a:off x="225022" y="1553420"/>
            <a:ext cx="8668753" cy="338554"/>
          </a:xfrm>
          <a:prstGeom prst="rect">
            <a:avLst/>
          </a:prstGeom>
          <a:solidFill>
            <a:srgbClr val="CCFFCC"/>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5" name="Rectangle 4"/>
          <p:cNvSpPr/>
          <p:nvPr/>
        </p:nvSpPr>
        <p:spPr bwMode="auto">
          <a:xfrm>
            <a:off x="226336" y="2353142"/>
            <a:ext cx="8667439" cy="338554"/>
          </a:xfrm>
          <a:prstGeom prst="rect">
            <a:avLst/>
          </a:prstGeom>
          <a:solidFill>
            <a:srgbClr val="CCFFFF"/>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6" name="Rectangle 5"/>
          <p:cNvSpPr/>
          <p:nvPr/>
        </p:nvSpPr>
        <p:spPr bwMode="auto">
          <a:xfrm>
            <a:off x="226336" y="3087710"/>
            <a:ext cx="8667440" cy="338554"/>
          </a:xfrm>
          <a:prstGeom prst="rect">
            <a:avLst/>
          </a:prstGeom>
          <a:solidFill>
            <a:srgbClr val="FFCCCC"/>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7" name="Rectangle 6"/>
          <p:cNvSpPr/>
          <p:nvPr/>
        </p:nvSpPr>
        <p:spPr bwMode="auto">
          <a:xfrm>
            <a:off x="226336" y="4145461"/>
            <a:ext cx="8667439" cy="338554"/>
          </a:xfrm>
          <a:prstGeom prst="rect">
            <a:avLst/>
          </a:prstGeom>
          <a:solidFill>
            <a:srgbClr val="FFFFCC"/>
          </a:solidFill>
          <a:ln w="9525" cap="flat" cmpd="sng" algn="ctr">
            <a:noFill/>
            <a:prstDash val="solid"/>
            <a:round/>
            <a:headEnd type="none" w="med" len="med"/>
            <a:tailEnd type="triangle" w="med" len="med"/>
          </a:ln>
          <a:effectLs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9" name="TextBox 8"/>
          <p:cNvSpPr txBox="1"/>
          <p:nvPr/>
        </p:nvSpPr>
        <p:spPr>
          <a:xfrm>
            <a:off x="2643739" y="1641730"/>
            <a:ext cx="2237532" cy="52322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400" dirty="0" smtClean="0">
                <a:solidFill>
                  <a:srgbClr val="123D6B"/>
                </a:solidFill>
              </a:rPr>
              <a:t>$100 increase in manufacturing demand</a:t>
            </a:r>
            <a:endParaRPr lang="en-GB" sz="1400" dirty="0">
              <a:solidFill>
                <a:srgbClr val="123D6B"/>
              </a:solidFill>
            </a:endParaRPr>
          </a:p>
        </p:txBody>
      </p:sp>
      <p:cxnSp>
        <p:nvCxnSpPr>
          <p:cNvPr id="10" name="Straight Arrow Connector 9"/>
          <p:cNvCxnSpPr>
            <a:stCxn id="9" idx="2"/>
            <a:endCxn id="13" idx="0"/>
          </p:cNvCxnSpPr>
          <p:nvPr/>
        </p:nvCxnSpPr>
        <p:spPr bwMode="auto">
          <a:xfrm flipH="1">
            <a:off x="1350461" y="2164950"/>
            <a:ext cx="2412044" cy="590473"/>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1" name="Straight Arrow Connector 10"/>
          <p:cNvCxnSpPr>
            <a:stCxn id="9" idx="2"/>
            <a:endCxn id="14" idx="0"/>
          </p:cNvCxnSpPr>
          <p:nvPr/>
        </p:nvCxnSpPr>
        <p:spPr bwMode="auto">
          <a:xfrm flipH="1">
            <a:off x="3759863" y="2164950"/>
            <a:ext cx="2642" cy="573291"/>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 name="Straight Arrow Connector 11"/>
          <p:cNvCxnSpPr>
            <a:stCxn id="9" idx="2"/>
            <a:endCxn id="15" idx="0"/>
          </p:cNvCxnSpPr>
          <p:nvPr/>
        </p:nvCxnSpPr>
        <p:spPr bwMode="auto">
          <a:xfrm>
            <a:off x="3762505" y="2164950"/>
            <a:ext cx="2391624" cy="590473"/>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 name="TextBox 12"/>
          <p:cNvSpPr txBox="1"/>
          <p:nvPr/>
        </p:nvSpPr>
        <p:spPr>
          <a:xfrm>
            <a:off x="1026425" y="2755423"/>
            <a:ext cx="648072"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400" dirty="0" smtClean="0">
                <a:solidFill>
                  <a:srgbClr val="123D6B"/>
                </a:solidFill>
              </a:rPr>
              <a:t>$10 A</a:t>
            </a:r>
            <a:endParaRPr lang="en-GB" sz="1400" dirty="0">
              <a:solidFill>
                <a:srgbClr val="123D6B"/>
              </a:solidFill>
            </a:endParaRPr>
          </a:p>
        </p:txBody>
      </p:sp>
      <p:sp>
        <p:nvSpPr>
          <p:cNvPr id="14" name="TextBox 13"/>
          <p:cNvSpPr txBox="1"/>
          <p:nvPr/>
        </p:nvSpPr>
        <p:spPr>
          <a:xfrm>
            <a:off x="3417825" y="2738241"/>
            <a:ext cx="684076"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$30 M</a:t>
            </a:r>
            <a:endParaRPr lang="en-GB" sz="1400" dirty="0">
              <a:solidFill>
                <a:srgbClr val="123D6B"/>
              </a:solidFill>
            </a:endParaRPr>
          </a:p>
        </p:txBody>
      </p:sp>
      <p:sp>
        <p:nvSpPr>
          <p:cNvPr id="15" name="TextBox 14"/>
          <p:cNvSpPr txBox="1"/>
          <p:nvPr/>
        </p:nvSpPr>
        <p:spPr>
          <a:xfrm>
            <a:off x="5830093" y="2755423"/>
            <a:ext cx="648072" cy="307777"/>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$20 S</a:t>
            </a:r>
            <a:endParaRPr lang="en-GB" sz="1400" dirty="0">
              <a:solidFill>
                <a:srgbClr val="123D6B"/>
              </a:solidFill>
            </a:endParaRPr>
          </a:p>
        </p:txBody>
      </p:sp>
      <p:sp>
        <p:nvSpPr>
          <p:cNvPr id="16" name="TextBox 15"/>
          <p:cNvSpPr txBox="1"/>
          <p:nvPr/>
        </p:nvSpPr>
        <p:spPr>
          <a:xfrm>
            <a:off x="303479" y="3490613"/>
            <a:ext cx="648072"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400" dirty="0" smtClean="0">
                <a:solidFill>
                  <a:srgbClr val="123D6B"/>
                </a:solidFill>
              </a:rPr>
              <a:t>$2 A</a:t>
            </a:r>
            <a:endParaRPr lang="en-GB" sz="1400" dirty="0">
              <a:solidFill>
                <a:srgbClr val="123D6B"/>
              </a:solidFill>
            </a:endParaRPr>
          </a:p>
        </p:txBody>
      </p:sp>
      <p:sp>
        <p:nvSpPr>
          <p:cNvPr id="17" name="TextBox 16"/>
          <p:cNvSpPr txBox="1"/>
          <p:nvPr/>
        </p:nvSpPr>
        <p:spPr>
          <a:xfrm>
            <a:off x="5083870" y="3492000"/>
            <a:ext cx="648072"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400" dirty="0" smtClean="0">
                <a:solidFill>
                  <a:srgbClr val="123D6B"/>
                </a:solidFill>
              </a:rPr>
              <a:t>$0 A</a:t>
            </a:r>
            <a:endParaRPr lang="en-GB" sz="1400" dirty="0">
              <a:solidFill>
                <a:srgbClr val="123D6B"/>
              </a:solidFill>
            </a:endParaRPr>
          </a:p>
        </p:txBody>
      </p:sp>
      <p:sp>
        <p:nvSpPr>
          <p:cNvPr id="18" name="TextBox 17"/>
          <p:cNvSpPr txBox="1"/>
          <p:nvPr/>
        </p:nvSpPr>
        <p:spPr>
          <a:xfrm>
            <a:off x="2701636" y="3492000"/>
            <a:ext cx="648072" cy="30777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400" dirty="0" smtClean="0">
                <a:solidFill>
                  <a:srgbClr val="123D6B"/>
                </a:solidFill>
              </a:rPr>
              <a:t>$3 A</a:t>
            </a:r>
            <a:endParaRPr lang="en-GB" sz="1400" dirty="0">
              <a:solidFill>
                <a:srgbClr val="123D6B"/>
              </a:solidFill>
            </a:endParaRPr>
          </a:p>
        </p:txBody>
      </p:sp>
      <p:sp>
        <p:nvSpPr>
          <p:cNvPr id="19" name="TextBox 18"/>
          <p:cNvSpPr txBox="1"/>
          <p:nvPr/>
        </p:nvSpPr>
        <p:spPr>
          <a:xfrm>
            <a:off x="3439341" y="3492000"/>
            <a:ext cx="648000"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$9 M</a:t>
            </a:r>
            <a:endParaRPr lang="en-GB" sz="1400" dirty="0">
              <a:solidFill>
                <a:srgbClr val="123D6B"/>
              </a:solidFill>
            </a:endParaRPr>
          </a:p>
        </p:txBody>
      </p:sp>
      <p:sp>
        <p:nvSpPr>
          <p:cNvPr id="20" name="TextBox 19"/>
          <p:cNvSpPr txBox="1"/>
          <p:nvPr/>
        </p:nvSpPr>
        <p:spPr>
          <a:xfrm>
            <a:off x="1028182" y="3492000"/>
            <a:ext cx="648000"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$2 M</a:t>
            </a:r>
            <a:endParaRPr lang="en-GB" sz="1400" dirty="0">
              <a:solidFill>
                <a:srgbClr val="123D6B"/>
              </a:solidFill>
            </a:endParaRPr>
          </a:p>
        </p:txBody>
      </p:sp>
      <p:sp>
        <p:nvSpPr>
          <p:cNvPr id="21" name="TextBox 20"/>
          <p:cNvSpPr txBox="1"/>
          <p:nvPr/>
        </p:nvSpPr>
        <p:spPr>
          <a:xfrm>
            <a:off x="5833607" y="3492000"/>
            <a:ext cx="648000" cy="30777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$6 M</a:t>
            </a:r>
            <a:endParaRPr lang="en-GB" sz="1400" dirty="0">
              <a:solidFill>
                <a:srgbClr val="123D6B"/>
              </a:solidFill>
            </a:endParaRPr>
          </a:p>
        </p:txBody>
      </p:sp>
      <p:sp>
        <p:nvSpPr>
          <p:cNvPr id="22" name="TextBox 21"/>
          <p:cNvSpPr txBox="1"/>
          <p:nvPr/>
        </p:nvSpPr>
        <p:spPr>
          <a:xfrm>
            <a:off x="4188836" y="3492000"/>
            <a:ext cx="648072" cy="307777"/>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$6 S</a:t>
            </a:r>
            <a:endParaRPr lang="en-GB" sz="1400" dirty="0">
              <a:solidFill>
                <a:srgbClr val="123D6B"/>
              </a:solidFill>
            </a:endParaRPr>
          </a:p>
        </p:txBody>
      </p:sp>
      <p:sp>
        <p:nvSpPr>
          <p:cNvPr id="23" name="TextBox 22"/>
          <p:cNvSpPr txBox="1"/>
          <p:nvPr/>
        </p:nvSpPr>
        <p:spPr>
          <a:xfrm>
            <a:off x="1768885" y="3492000"/>
            <a:ext cx="648072" cy="307777"/>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$1 S</a:t>
            </a:r>
            <a:endParaRPr lang="en-GB" sz="1400" dirty="0">
              <a:solidFill>
                <a:srgbClr val="123D6B"/>
              </a:solidFill>
            </a:endParaRPr>
          </a:p>
        </p:txBody>
      </p:sp>
      <p:sp>
        <p:nvSpPr>
          <p:cNvPr id="24" name="TextBox 23"/>
          <p:cNvSpPr txBox="1"/>
          <p:nvPr/>
        </p:nvSpPr>
        <p:spPr>
          <a:xfrm>
            <a:off x="6582663" y="3492000"/>
            <a:ext cx="648072" cy="307777"/>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400" dirty="0" smtClean="0">
                <a:solidFill>
                  <a:srgbClr val="123D6B"/>
                </a:solidFill>
              </a:rPr>
              <a:t>$8 S</a:t>
            </a:r>
            <a:endParaRPr lang="en-GB" sz="1400" dirty="0">
              <a:solidFill>
                <a:srgbClr val="123D6B"/>
              </a:solidFill>
            </a:endParaRPr>
          </a:p>
        </p:txBody>
      </p:sp>
      <p:cxnSp>
        <p:nvCxnSpPr>
          <p:cNvPr id="25" name="Straight Arrow Connector 24"/>
          <p:cNvCxnSpPr>
            <a:stCxn id="13" idx="2"/>
            <a:endCxn id="16" idx="0"/>
          </p:cNvCxnSpPr>
          <p:nvPr/>
        </p:nvCxnSpPr>
        <p:spPr bwMode="auto">
          <a:xfrm flipH="1">
            <a:off x="627515" y="3063200"/>
            <a:ext cx="722946" cy="427413"/>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6" name="Straight Arrow Connector 25"/>
          <p:cNvCxnSpPr>
            <a:stCxn id="13" idx="2"/>
            <a:endCxn id="20" idx="0"/>
          </p:cNvCxnSpPr>
          <p:nvPr/>
        </p:nvCxnSpPr>
        <p:spPr bwMode="auto">
          <a:xfrm>
            <a:off x="1350461" y="3063200"/>
            <a:ext cx="1721" cy="428800"/>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7" name="Straight Arrow Connector 26"/>
          <p:cNvCxnSpPr>
            <a:stCxn id="13" idx="2"/>
            <a:endCxn id="23" idx="0"/>
          </p:cNvCxnSpPr>
          <p:nvPr/>
        </p:nvCxnSpPr>
        <p:spPr bwMode="auto">
          <a:xfrm>
            <a:off x="1350461" y="3063200"/>
            <a:ext cx="742460" cy="428800"/>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8" name="Straight Arrow Connector 27"/>
          <p:cNvCxnSpPr>
            <a:stCxn id="14" idx="2"/>
            <a:endCxn id="18" idx="0"/>
          </p:cNvCxnSpPr>
          <p:nvPr/>
        </p:nvCxnSpPr>
        <p:spPr bwMode="auto">
          <a:xfrm flipH="1">
            <a:off x="3025672" y="3046018"/>
            <a:ext cx="734191" cy="445982"/>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9" name="Straight Arrow Connector 28"/>
          <p:cNvCxnSpPr>
            <a:stCxn id="14" idx="2"/>
            <a:endCxn id="19" idx="0"/>
          </p:cNvCxnSpPr>
          <p:nvPr/>
        </p:nvCxnSpPr>
        <p:spPr bwMode="auto">
          <a:xfrm>
            <a:off x="3759863" y="3046018"/>
            <a:ext cx="3478" cy="445982"/>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0" name="Straight Arrow Connector 29"/>
          <p:cNvCxnSpPr>
            <a:stCxn id="14" idx="2"/>
            <a:endCxn id="22" idx="0"/>
          </p:cNvCxnSpPr>
          <p:nvPr/>
        </p:nvCxnSpPr>
        <p:spPr bwMode="auto">
          <a:xfrm>
            <a:off x="3759863" y="3046018"/>
            <a:ext cx="753009" cy="445982"/>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1" name="Straight Arrow Connector 30"/>
          <p:cNvCxnSpPr>
            <a:stCxn id="15" idx="2"/>
            <a:endCxn id="17" idx="0"/>
          </p:cNvCxnSpPr>
          <p:nvPr/>
        </p:nvCxnSpPr>
        <p:spPr bwMode="auto">
          <a:xfrm flipH="1">
            <a:off x="5407906" y="3063200"/>
            <a:ext cx="746223" cy="428800"/>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2" name="Straight Arrow Connector 31"/>
          <p:cNvCxnSpPr>
            <a:stCxn id="15" idx="2"/>
            <a:endCxn id="21" idx="0"/>
          </p:cNvCxnSpPr>
          <p:nvPr/>
        </p:nvCxnSpPr>
        <p:spPr bwMode="auto">
          <a:xfrm>
            <a:off x="6154129" y="3063200"/>
            <a:ext cx="3478" cy="428800"/>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3" name="Straight Arrow Connector 32"/>
          <p:cNvCxnSpPr>
            <a:stCxn id="15" idx="2"/>
            <a:endCxn id="24" idx="0"/>
          </p:cNvCxnSpPr>
          <p:nvPr/>
        </p:nvCxnSpPr>
        <p:spPr bwMode="auto">
          <a:xfrm>
            <a:off x="6154129" y="3063200"/>
            <a:ext cx="752570" cy="428800"/>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4" name="TextBox 33"/>
          <p:cNvSpPr txBox="1"/>
          <p:nvPr/>
        </p:nvSpPr>
        <p:spPr>
          <a:xfrm>
            <a:off x="281849" y="4307841"/>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$0.4 A</a:t>
            </a:r>
            <a:endParaRPr lang="en-GB" sz="1200" dirty="0">
              <a:solidFill>
                <a:srgbClr val="123D6B"/>
              </a:solidFill>
            </a:endParaRPr>
          </a:p>
        </p:txBody>
      </p:sp>
      <p:sp>
        <p:nvSpPr>
          <p:cNvPr id="35" name="TextBox 34"/>
          <p:cNvSpPr txBox="1"/>
          <p:nvPr/>
        </p:nvSpPr>
        <p:spPr>
          <a:xfrm>
            <a:off x="280800" y="4672481"/>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$0.4 M</a:t>
            </a:r>
            <a:endParaRPr lang="en-GB" sz="1200" dirty="0">
              <a:solidFill>
                <a:srgbClr val="123D6B"/>
              </a:solidFill>
            </a:endParaRPr>
          </a:p>
        </p:txBody>
      </p:sp>
      <p:sp>
        <p:nvSpPr>
          <p:cNvPr id="36" name="TextBox 35"/>
          <p:cNvSpPr txBox="1"/>
          <p:nvPr/>
        </p:nvSpPr>
        <p:spPr>
          <a:xfrm>
            <a:off x="280800" y="5035381"/>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$0.2 S</a:t>
            </a:r>
            <a:endParaRPr lang="en-GB" sz="1200" dirty="0">
              <a:solidFill>
                <a:srgbClr val="123D6B"/>
              </a:solidFill>
            </a:endParaRPr>
          </a:p>
        </p:txBody>
      </p:sp>
      <p:sp>
        <p:nvSpPr>
          <p:cNvPr id="37" name="TextBox 36"/>
          <p:cNvSpPr txBox="1"/>
          <p:nvPr/>
        </p:nvSpPr>
        <p:spPr>
          <a:xfrm>
            <a:off x="1020753" y="4307841"/>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$0.2 A</a:t>
            </a:r>
            <a:endParaRPr lang="en-GB" sz="1200" dirty="0">
              <a:solidFill>
                <a:srgbClr val="123D6B"/>
              </a:solidFill>
            </a:endParaRPr>
          </a:p>
        </p:txBody>
      </p:sp>
      <p:sp>
        <p:nvSpPr>
          <p:cNvPr id="38" name="TextBox 37"/>
          <p:cNvSpPr txBox="1"/>
          <p:nvPr/>
        </p:nvSpPr>
        <p:spPr>
          <a:xfrm>
            <a:off x="1022400" y="4672481"/>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$0.6 M</a:t>
            </a:r>
            <a:endParaRPr lang="en-GB" sz="1200" dirty="0">
              <a:solidFill>
                <a:srgbClr val="123D6B"/>
              </a:solidFill>
            </a:endParaRPr>
          </a:p>
        </p:txBody>
      </p:sp>
      <p:sp>
        <p:nvSpPr>
          <p:cNvPr id="39" name="TextBox 38"/>
          <p:cNvSpPr txBox="1"/>
          <p:nvPr/>
        </p:nvSpPr>
        <p:spPr>
          <a:xfrm>
            <a:off x="1022400" y="5035381"/>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$0.4 S</a:t>
            </a:r>
            <a:endParaRPr lang="en-GB" sz="1200" dirty="0">
              <a:solidFill>
                <a:srgbClr val="123D6B"/>
              </a:solidFill>
            </a:endParaRPr>
          </a:p>
        </p:txBody>
      </p:sp>
      <p:sp>
        <p:nvSpPr>
          <p:cNvPr id="40" name="TextBox 39"/>
          <p:cNvSpPr txBox="1"/>
          <p:nvPr/>
        </p:nvSpPr>
        <p:spPr>
          <a:xfrm>
            <a:off x="1768771" y="4307841"/>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 A</a:t>
            </a:r>
            <a:endParaRPr lang="en-GB" sz="1200" dirty="0">
              <a:solidFill>
                <a:srgbClr val="123D6B"/>
              </a:solidFill>
            </a:endParaRPr>
          </a:p>
        </p:txBody>
      </p:sp>
      <p:sp>
        <p:nvSpPr>
          <p:cNvPr id="41" name="TextBox 40"/>
          <p:cNvSpPr txBox="1"/>
          <p:nvPr/>
        </p:nvSpPr>
        <p:spPr>
          <a:xfrm>
            <a:off x="1767600" y="4672481"/>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$0.3 M</a:t>
            </a:r>
            <a:endParaRPr lang="en-GB" sz="1200" dirty="0">
              <a:solidFill>
                <a:srgbClr val="123D6B"/>
              </a:solidFill>
            </a:endParaRPr>
          </a:p>
        </p:txBody>
      </p:sp>
      <p:sp>
        <p:nvSpPr>
          <p:cNvPr id="42" name="TextBox 41"/>
          <p:cNvSpPr txBox="1"/>
          <p:nvPr/>
        </p:nvSpPr>
        <p:spPr>
          <a:xfrm>
            <a:off x="1767600" y="5035381"/>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$0.4 S</a:t>
            </a:r>
            <a:endParaRPr lang="en-GB" sz="1200" dirty="0">
              <a:solidFill>
                <a:srgbClr val="123D6B"/>
              </a:solidFill>
            </a:endParaRPr>
          </a:p>
        </p:txBody>
      </p:sp>
      <p:sp>
        <p:nvSpPr>
          <p:cNvPr id="43" name="TextBox 42"/>
          <p:cNvSpPr txBox="1"/>
          <p:nvPr/>
        </p:nvSpPr>
        <p:spPr>
          <a:xfrm>
            <a:off x="2690878" y="4307523"/>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$0.6 A</a:t>
            </a:r>
            <a:endParaRPr lang="en-GB" sz="1200" dirty="0">
              <a:solidFill>
                <a:srgbClr val="123D6B"/>
              </a:solidFill>
            </a:endParaRPr>
          </a:p>
        </p:txBody>
      </p:sp>
      <p:sp>
        <p:nvSpPr>
          <p:cNvPr id="44" name="TextBox 43"/>
          <p:cNvSpPr txBox="1"/>
          <p:nvPr/>
        </p:nvSpPr>
        <p:spPr>
          <a:xfrm>
            <a:off x="2698134" y="4672926"/>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$0.6 M</a:t>
            </a:r>
            <a:endParaRPr lang="en-GB" sz="1200" dirty="0">
              <a:solidFill>
                <a:srgbClr val="123D6B"/>
              </a:solidFill>
            </a:endParaRPr>
          </a:p>
        </p:txBody>
      </p:sp>
      <p:sp>
        <p:nvSpPr>
          <p:cNvPr id="45" name="TextBox 44"/>
          <p:cNvSpPr txBox="1"/>
          <p:nvPr/>
        </p:nvSpPr>
        <p:spPr>
          <a:xfrm>
            <a:off x="2698134" y="5036652"/>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$0.3 S</a:t>
            </a:r>
            <a:endParaRPr lang="en-GB" sz="1200" dirty="0">
              <a:solidFill>
                <a:srgbClr val="123D6B"/>
              </a:solidFill>
            </a:endParaRPr>
          </a:p>
        </p:txBody>
      </p:sp>
      <p:sp>
        <p:nvSpPr>
          <p:cNvPr id="46" name="TextBox 45"/>
          <p:cNvSpPr txBox="1"/>
          <p:nvPr/>
        </p:nvSpPr>
        <p:spPr>
          <a:xfrm>
            <a:off x="3433109" y="4309200"/>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$0.9 A</a:t>
            </a:r>
            <a:endParaRPr lang="en-GB" sz="1200" dirty="0">
              <a:solidFill>
                <a:srgbClr val="123D6B"/>
              </a:solidFill>
            </a:endParaRPr>
          </a:p>
        </p:txBody>
      </p:sp>
      <p:sp>
        <p:nvSpPr>
          <p:cNvPr id="47" name="TextBox 46"/>
          <p:cNvSpPr txBox="1"/>
          <p:nvPr/>
        </p:nvSpPr>
        <p:spPr>
          <a:xfrm>
            <a:off x="3440365" y="4672926"/>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$2.7 M</a:t>
            </a:r>
            <a:endParaRPr lang="en-GB" sz="1200" dirty="0">
              <a:solidFill>
                <a:srgbClr val="123D6B"/>
              </a:solidFill>
            </a:endParaRPr>
          </a:p>
        </p:txBody>
      </p:sp>
      <p:sp>
        <p:nvSpPr>
          <p:cNvPr id="48" name="TextBox 47"/>
          <p:cNvSpPr txBox="1"/>
          <p:nvPr/>
        </p:nvSpPr>
        <p:spPr>
          <a:xfrm>
            <a:off x="3440365" y="5036652"/>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$1.8 S</a:t>
            </a:r>
            <a:endParaRPr lang="en-GB" sz="1200" dirty="0">
              <a:solidFill>
                <a:srgbClr val="123D6B"/>
              </a:solidFill>
            </a:endParaRPr>
          </a:p>
        </p:txBody>
      </p:sp>
      <p:sp>
        <p:nvSpPr>
          <p:cNvPr id="49" name="TextBox 48"/>
          <p:cNvSpPr txBox="1"/>
          <p:nvPr/>
        </p:nvSpPr>
        <p:spPr>
          <a:xfrm>
            <a:off x="4188836" y="4309200"/>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 A</a:t>
            </a:r>
            <a:endParaRPr lang="en-GB" sz="1200" dirty="0">
              <a:solidFill>
                <a:srgbClr val="123D6B"/>
              </a:solidFill>
            </a:endParaRPr>
          </a:p>
        </p:txBody>
      </p:sp>
      <p:sp>
        <p:nvSpPr>
          <p:cNvPr id="50" name="TextBox 49"/>
          <p:cNvSpPr txBox="1"/>
          <p:nvPr/>
        </p:nvSpPr>
        <p:spPr>
          <a:xfrm>
            <a:off x="4196092" y="4672926"/>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$1.8 M</a:t>
            </a:r>
            <a:endParaRPr lang="en-GB" sz="1200" dirty="0">
              <a:solidFill>
                <a:srgbClr val="123D6B"/>
              </a:solidFill>
            </a:endParaRPr>
          </a:p>
        </p:txBody>
      </p:sp>
      <p:sp>
        <p:nvSpPr>
          <p:cNvPr id="51" name="TextBox 50"/>
          <p:cNvSpPr txBox="1"/>
          <p:nvPr/>
        </p:nvSpPr>
        <p:spPr>
          <a:xfrm>
            <a:off x="4196092" y="5036652"/>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$2.4 S</a:t>
            </a:r>
            <a:endParaRPr lang="en-GB" sz="1200" dirty="0">
              <a:solidFill>
                <a:srgbClr val="123D6B"/>
              </a:solidFill>
            </a:endParaRPr>
          </a:p>
        </p:txBody>
      </p:sp>
      <p:sp>
        <p:nvSpPr>
          <p:cNvPr id="52" name="TextBox 51"/>
          <p:cNvSpPr txBox="1"/>
          <p:nvPr/>
        </p:nvSpPr>
        <p:spPr>
          <a:xfrm>
            <a:off x="5812091" y="4309200"/>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$0.6 A</a:t>
            </a:r>
            <a:endParaRPr lang="en-GB" sz="1200" dirty="0">
              <a:solidFill>
                <a:srgbClr val="123D6B"/>
              </a:solidFill>
            </a:endParaRPr>
          </a:p>
        </p:txBody>
      </p:sp>
      <p:sp>
        <p:nvSpPr>
          <p:cNvPr id="53" name="TextBox 52"/>
          <p:cNvSpPr txBox="1"/>
          <p:nvPr/>
        </p:nvSpPr>
        <p:spPr>
          <a:xfrm>
            <a:off x="5819347" y="4672926"/>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$1.8 M</a:t>
            </a:r>
            <a:endParaRPr lang="en-GB" sz="1200" dirty="0">
              <a:solidFill>
                <a:srgbClr val="123D6B"/>
              </a:solidFill>
            </a:endParaRPr>
          </a:p>
        </p:txBody>
      </p:sp>
      <p:sp>
        <p:nvSpPr>
          <p:cNvPr id="54" name="TextBox 53"/>
          <p:cNvSpPr txBox="1"/>
          <p:nvPr/>
        </p:nvSpPr>
        <p:spPr>
          <a:xfrm>
            <a:off x="5812091" y="5036652"/>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$1.2 S</a:t>
            </a:r>
            <a:endParaRPr lang="en-GB" sz="1200" dirty="0">
              <a:solidFill>
                <a:srgbClr val="123D6B"/>
              </a:solidFill>
            </a:endParaRPr>
          </a:p>
        </p:txBody>
      </p:sp>
      <p:sp>
        <p:nvSpPr>
          <p:cNvPr id="55" name="TextBox 54"/>
          <p:cNvSpPr txBox="1"/>
          <p:nvPr/>
        </p:nvSpPr>
        <p:spPr>
          <a:xfrm>
            <a:off x="6582663" y="4307841"/>
            <a:ext cx="669702" cy="27699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200" dirty="0" smtClean="0">
                <a:solidFill>
                  <a:srgbClr val="123D6B"/>
                </a:solidFill>
              </a:rPr>
              <a:t>$0 A</a:t>
            </a:r>
            <a:endParaRPr lang="en-GB" sz="1200" dirty="0">
              <a:solidFill>
                <a:srgbClr val="123D6B"/>
              </a:solidFill>
            </a:endParaRPr>
          </a:p>
        </p:txBody>
      </p:sp>
      <p:sp>
        <p:nvSpPr>
          <p:cNvPr id="56" name="TextBox 55"/>
          <p:cNvSpPr txBox="1"/>
          <p:nvPr/>
        </p:nvSpPr>
        <p:spPr>
          <a:xfrm>
            <a:off x="6589919" y="4672481"/>
            <a:ext cx="669600"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$2.4 M</a:t>
            </a:r>
            <a:endParaRPr lang="en-GB" sz="1200" dirty="0">
              <a:solidFill>
                <a:srgbClr val="123D6B"/>
              </a:solidFill>
            </a:endParaRPr>
          </a:p>
        </p:txBody>
      </p:sp>
      <p:sp>
        <p:nvSpPr>
          <p:cNvPr id="57" name="TextBox 56"/>
          <p:cNvSpPr txBox="1"/>
          <p:nvPr/>
        </p:nvSpPr>
        <p:spPr>
          <a:xfrm>
            <a:off x="6589919" y="5036652"/>
            <a:ext cx="669600" cy="276999"/>
          </a:xfrm>
          <a:prstGeom prst="rect">
            <a:avLst/>
          </a:prstGeom>
          <a:ln>
            <a:solidFill>
              <a:srgbClr val="FFC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1200" dirty="0" smtClean="0">
                <a:solidFill>
                  <a:srgbClr val="123D6B"/>
                </a:solidFill>
              </a:rPr>
              <a:t>$3.2 S</a:t>
            </a:r>
            <a:endParaRPr lang="en-GB" sz="1200" dirty="0">
              <a:solidFill>
                <a:srgbClr val="123D6B"/>
              </a:solidFill>
            </a:endParaRPr>
          </a:p>
        </p:txBody>
      </p:sp>
      <p:cxnSp>
        <p:nvCxnSpPr>
          <p:cNvPr id="58" name="Straight Arrow Connector 57"/>
          <p:cNvCxnSpPr>
            <a:stCxn id="16" idx="2"/>
            <a:endCxn id="34" idx="0"/>
          </p:cNvCxnSpPr>
          <p:nvPr/>
        </p:nvCxnSpPr>
        <p:spPr bwMode="auto">
          <a:xfrm flipH="1">
            <a:off x="616700" y="3798390"/>
            <a:ext cx="10815" cy="509451"/>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9" name="Straight Arrow Connector 58"/>
          <p:cNvCxnSpPr>
            <a:stCxn id="20" idx="2"/>
            <a:endCxn id="37" idx="0"/>
          </p:cNvCxnSpPr>
          <p:nvPr/>
        </p:nvCxnSpPr>
        <p:spPr bwMode="auto">
          <a:xfrm>
            <a:off x="1352182" y="3799777"/>
            <a:ext cx="3422" cy="508064"/>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0" name="Straight Arrow Connector 59"/>
          <p:cNvCxnSpPr>
            <a:stCxn id="23" idx="2"/>
            <a:endCxn id="40" idx="0"/>
          </p:cNvCxnSpPr>
          <p:nvPr/>
        </p:nvCxnSpPr>
        <p:spPr bwMode="auto">
          <a:xfrm>
            <a:off x="2092921" y="3799777"/>
            <a:ext cx="10701" cy="508064"/>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1" name="Straight Arrow Connector 60"/>
          <p:cNvCxnSpPr>
            <a:stCxn id="18" idx="2"/>
            <a:endCxn id="43" idx="0"/>
          </p:cNvCxnSpPr>
          <p:nvPr/>
        </p:nvCxnSpPr>
        <p:spPr bwMode="auto">
          <a:xfrm>
            <a:off x="3025672" y="3799777"/>
            <a:ext cx="57" cy="507746"/>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2" name="Straight Arrow Connector 61"/>
          <p:cNvCxnSpPr>
            <a:stCxn id="19" idx="2"/>
            <a:endCxn id="46" idx="0"/>
          </p:cNvCxnSpPr>
          <p:nvPr/>
        </p:nvCxnSpPr>
        <p:spPr bwMode="auto">
          <a:xfrm>
            <a:off x="3763341" y="3799777"/>
            <a:ext cx="4619" cy="509423"/>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3" name="Straight Arrow Connector 62"/>
          <p:cNvCxnSpPr>
            <a:stCxn id="22" idx="2"/>
            <a:endCxn id="49" idx="0"/>
          </p:cNvCxnSpPr>
          <p:nvPr/>
        </p:nvCxnSpPr>
        <p:spPr bwMode="auto">
          <a:xfrm>
            <a:off x="4512872" y="3799777"/>
            <a:ext cx="10815" cy="509423"/>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4" name="Straight Arrow Connector 63"/>
          <p:cNvCxnSpPr>
            <a:stCxn id="21" idx="2"/>
            <a:endCxn id="52" idx="0"/>
          </p:cNvCxnSpPr>
          <p:nvPr/>
        </p:nvCxnSpPr>
        <p:spPr bwMode="auto">
          <a:xfrm flipH="1">
            <a:off x="6146942" y="3799777"/>
            <a:ext cx="10665" cy="509423"/>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5" name="Straight Arrow Connector 64"/>
          <p:cNvCxnSpPr>
            <a:stCxn id="24" idx="2"/>
            <a:endCxn id="55" idx="0"/>
          </p:cNvCxnSpPr>
          <p:nvPr/>
        </p:nvCxnSpPr>
        <p:spPr bwMode="auto">
          <a:xfrm>
            <a:off x="6906699" y="3799777"/>
            <a:ext cx="10815" cy="508064"/>
          </a:xfrm>
          <a:prstGeom prst="straightConnector1">
            <a:avLst/>
          </a:prstGeom>
          <a:noFill/>
          <a:ln w="9525" cap="flat" cmpd="sng" algn="ctr">
            <a:solidFill>
              <a:srgbClr val="123D6B"/>
            </a:solidFill>
            <a:prstDash val="solid"/>
            <a:round/>
            <a:headEnd type="none" w="med" len="med"/>
            <a:tailEnd type="arrow"/>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67" name="Rectangle 3"/>
          <p:cNvSpPr txBox="1">
            <a:spLocks noChangeArrowheads="1"/>
          </p:cNvSpPr>
          <p:nvPr/>
        </p:nvSpPr>
        <p:spPr bwMode="auto">
          <a:xfrm>
            <a:off x="1486153" y="5795951"/>
            <a:ext cx="3157855" cy="225337"/>
          </a:xfrm>
          <a:prstGeom prst="rect">
            <a:avLst/>
          </a:prstGeom>
          <a:ln>
            <a:solidFill>
              <a:srgbClr val="123D6B"/>
            </a:solidFill>
          </a:ln>
          <a:extLst/>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a:lstStyle>
          <a:p>
            <a:pPr marL="0" indent="0">
              <a:buNone/>
            </a:pPr>
            <a:r>
              <a:rPr lang="en-US" sz="1000" b="1" kern="0" dirty="0" smtClean="0">
                <a:solidFill>
                  <a:srgbClr val="FF0000"/>
                </a:solidFill>
              </a:rPr>
              <a:t>Value Added Multiplier: $($40+23+13.8)/$40= 1.92</a:t>
            </a:r>
          </a:p>
          <a:p>
            <a:pPr marL="0" indent="0">
              <a:buNone/>
            </a:pPr>
            <a:endParaRPr lang="en-US" kern="0" dirty="0" smtClean="0">
              <a:solidFill>
                <a:srgbClr val="FF0000"/>
              </a:solidFill>
            </a:endParaRPr>
          </a:p>
        </p:txBody>
      </p:sp>
      <p:sp>
        <p:nvSpPr>
          <p:cNvPr id="73" name="Right Brace 72"/>
          <p:cNvSpPr/>
          <p:nvPr/>
        </p:nvSpPr>
        <p:spPr bwMode="auto">
          <a:xfrm>
            <a:off x="6171907" y="1773284"/>
            <a:ext cx="516553" cy="354925"/>
          </a:xfrm>
          <a:prstGeom prst="rightBrace">
            <a:avLst/>
          </a:prstGeom>
          <a:noFill/>
          <a:ln w="9525" cap="flat" cmpd="sng" algn="ctr">
            <a:solidFill>
              <a:srgbClr val="123D6B"/>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75" name="TextBox 74"/>
          <p:cNvSpPr txBox="1"/>
          <p:nvPr/>
        </p:nvSpPr>
        <p:spPr>
          <a:xfrm>
            <a:off x="6631260" y="2048485"/>
            <a:ext cx="2237532" cy="52322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400" dirty="0" smtClean="0">
                <a:solidFill>
                  <a:srgbClr val="123D6B"/>
                </a:solidFill>
              </a:rPr>
              <a:t>Value Added = $100-$60 = $40</a:t>
            </a:r>
            <a:endParaRPr lang="en-GB" sz="1400" dirty="0">
              <a:solidFill>
                <a:srgbClr val="123D6B"/>
              </a:solidFill>
            </a:endParaRPr>
          </a:p>
        </p:txBody>
      </p:sp>
      <p:sp>
        <p:nvSpPr>
          <p:cNvPr id="78" name="Right Brace 77"/>
          <p:cNvSpPr/>
          <p:nvPr/>
        </p:nvSpPr>
        <p:spPr bwMode="auto">
          <a:xfrm>
            <a:off x="7284615" y="2720823"/>
            <a:ext cx="373470" cy="354925"/>
          </a:xfrm>
          <a:prstGeom prst="rightBrace">
            <a:avLst/>
          </a:prstGeom>
          <a:noFill/>
          <a:ln w="9525" cap="flat" cmpd="sng" algn="ctr">
            <a:solidFill>
              <a:srgbClr val="123D6B"/>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80" name="TextBox 79"/>
          <p:cNvSpPr txBox="1"/>
          <p:nvPr/>
        </p:nvSpPr>
        <p:spPr>
          <a:xfrm>
            <a:off x="7846698" y="3083160"/>
            <a:ext cx="908257" cy="307777"/>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400" dirty="0" smtClean="0">
                <a:solidFill>
                  <a:srgbClr val="123D6B"/>
                </a:solidFill>
              </a:rPr>
              <a:t>= $23</a:t>
            </a:r>
            <a:endParaRPr lang="en-GB" sz="1400" dirty="0">
              <a:solidFill>
                <a:srgbClr val="123D6B"/>
              </a:solidFill>
            </a:endParaRPr>
          </a:p>
        </p:txBody>
      </p:sp>
      <p:sp>
        <p:nvSpPr>
          <p:cNvPr id="81" name="Right Brace 80"/>
          <p:cNvSpPr/>
          <p:nvPr/>
        </p:nvSpPr>
        <p:spPr bwMode="auto">
          <a:xfrm>
            <a:off x="7286422" y="3646618"/>
            <a:ext cx="483775" cy="354925"/>
          </a:xfrm>
          <a:prstGeom prst="rightBrace">
            <a:avLst/>
          </a:prstGeom>
          <a:noFill/>
          <a:ln w="9525" cap="flat" cmpd="sng" algn="ctr">
            <a:solidFill>
              <a:srgbClr val="123D6B"/>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0" fontAlgn="base" latinLnBrk="0" hangingPunct="0">
              <a:lnSpc>
                <a:spcPct val="100000"/>
              </a:lnSpc>
              <a:spcBef>
                <a:spcPct val="50000"/>
              </a:spcBef>
              <a:spcAft>
                <a:spcPct val="0"/>
              </a:spcAft>
              <a:buClrTx/>
              <a:buSzTx/>
              <a:buFontTx/>
              <a:buNone/>
              <a:tabLst/>
            </a:pPr>
            <a:endParaRPr kumimoji="0" lang="en-GB" sz="1600" b="0" i="0" u="none" strike="noStrike" cap="none" normalizeH="0" baseline="0" smtClean="0">
              <a:ln>
                <a:noFill/>
              </a:ln>
              <a:solidFill>
                <a:srgbClr val="123D6B"/>
              </a:solidFill>
              <a:effectLst/>
              <a:latin typeface="+mn-lt"/>
            </a:endParaRPr>
          </a:p>
        </p:txBody>
      </p:sp>
      <p:sp>
        <p:nvSpPr>
          <p:cNvPr id="82" name="TextBox 81"/>
          <p:cNvSpPr txBox="1"/>
          <p:nvPr/>
        </p:nvSpPr>
        <p:spPr>
          <a:xfrm>
            <a:off x="7849105" y="3932870"/>
            <a:ext cx="908257" cy="307777"/>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GB" sz="1400" dirty="0" smtClean="0">
                <a:solidFill>
                  <a:srgbClr val="123D6B"/>
                </a:solidFill>
              </a:rPr>
              <a:t>= $13.8</a:t>
            </a:r>
          </a:p>
        </p:txBody>
      </p:sp>
    </p:spTree>
    <p:extLst>
      <p:ext uri="{BB962C8B-B14F-4D97-AF65-F5344CB8AC3E}">
        <p14:creationId xmlns:p14="http://schemas.microsoft.com/office/powerpoint/2010/main" xmlns="" val="1463282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9"/>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3"/>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4"/>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5"/>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56"/>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6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64"/>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63"/>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62"/>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61"/>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60"/>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59"/>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58"/>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6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Other Type of Multipliers</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xmlns="" val="595777968"/>
              </p:ext>
            </p:extLst>
          </p:nvPr>
        </p:nvGraphicFramePr>
        <p:xfrm>
          <a:off x="587846" y="1844824"/>
          <a:ext cx="8138192" cy="3696413"/>
        </p:xfrm>
        <a:graphic>
          <a:graphicData uri="http://schemas.openxmlformats.org/drawingml/2006/table">
            <a:tbl>
              <a:tblPr firstRow="1" bandRow="1">
                <a:tableStyleId>{91EBBBCC-DAD2-459C-BE2E-F6DE35CF9A28}</a:tableStyleId>
              </a:tblPr>
              <a:tblGrid>
                <a:gridCol w="2261096"/>
                <a:gridCol w="5877096"/>
              </a:tblGrid>
              <a:tr h="528059">
                <a:tc>
                  <a:txBody>
                    <a:bodyPr/>
                    <a:lstStyle/>
                    <a:p>
                      <a:r>
                        <a:rPr lang="en-GB" dirty="0" smtClean="0"/>
                        <a:t>Multiplier</a:t>
                      </a:r>
                      <a:endParaRPr lang="en-GB" dirty="0"/>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solidFill>
                      <a:srgbClr val="123D6B"/>
                    </a:solidFill>
                  </a:tcPr>
                </a:tc>
                <a:tc>
                  <a:txBody>
                    <a:bodyPr/>
                    <a:lstStyle/>
                    <a:p>
                      <a:r>
                        <a:rPr lang="en-GB" dirty="0" smtClean="0"/>
                        <a:t>Definitions</a:t>
                      </a:r>
                      <a:endParaRPr lang="en-GB" dirty="0"/>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T w="12700" cap="flat" cmpd="sng" algn="ctr">
                      <a:solidFill>
                        <a:srgbClr val="123D6B"/>
                      </a:solidFill>
                      <a:prstDash val="solid"/>
                      <a:round/>
                      <a:headEnd type="none" w="med" len="med"/>
                      <a:tailEnd type="none" w="med" len="med"/>
                    </a:lnT>
                    <a:solidFill>
                      <a:srgbClr val="123D6B"/>
                    </a:solidFill>
                  </a:tcPr>
                </a:tc>
              </a:tr>
              <a:tr h="528059">
                <a:tc>
                  <a:txBody>
                    <a:bodyPr/>
                    <a:lstStyle/>
                    <a:p>
                      <a:endParaRPr lang="en-GB"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c>
                  <a:txBody>
                    <a:bodyPr/>
                    <a:lstStyle/>
                    <a:p>
                      <a:endParaRPr lang="en-GB"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r>
              <a:tr h="528059">
                <a:tc>
                  <a:txBody>
                    <a:bodyPr/>
                    <a:lstStyle/>
                    <a:p>
                      <a:r>
                        <a:rPr lang="en-GB" dirty="0" smtClean="0">
                          <a:solidFill>
                            <a:srgbClr val="123D6B"/>
                          </a:solidFill>
                        </a:rPr>
                        <a:t>Output</a:t>
                      </a:r>
                      <a:endParaRPr lang="en-GB"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c>
                  <a:txBody>
                    <a:bodyPr/>
                    <a:lstStyle/>
                    <a:p>
                      <a:r>
                        <a:rPr lang="en-GB" dirty="0" smtClean="0">
                          <a:solidFill>
                            <a:srgbClr val="123D6B"/>
                          </a:solidFill>
                        </a:rPr>
                        <a:t>Total industry output per $1</a:t>
                      </a:r>
                      <a:r>
                        <a:rPr lang="en-GB" baseline="0" dirty="0" smtClean="0">
                          <a:solidFill>
                            <a:srgbClr val="123D6B"/>
                          </a:solidFill>
                        </a:rPr>
                        <a:t> change in final demand</a:t>
                      </a:r>
                      <a:endParaRPr lang="en-GB"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r>
              <a:tr h="528059">
                <a:tc>
                  <a:txBody>
                    <a:bodyPr/>
                    <a:lstStyle/>
                    <a:p>
                      <a:r>
                        <a:rPr lang="en-GB" dirty="0" smtClean="0">
                          <a:solidFill>
                            <a:srgbClr val="123D6B"/>
                          </a:solidFill>
                        </a:rPr>
                        <a:t>Value added</a:t>
                      </a:r>
                      <a:endParaRPr lang="en-GB"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c>
                  <a:txBody>
                    <a:bodyPr/>
                    <a:lstStyle/>
                    <a:p>
                      <a:r>
                        <a:rPr lang="en-GB" dirty="0" smtClean="0">
                          <a:solidFill>
                            <a:srgbClr val="123D6B"/>
                          </a:solidFill>
                        </a:rPr>
                        <a:t>Total value added per $1</a:t>
                      </a:r>
                      <a:r>
                        <a:rPr lang="en-GB" baseline="0" dirty="0" smtClean="0">
                          <a:solidFill>
                            <a:srgbClr val="123D6B"/>
                          </a:solidFill>
                        </a:rPr>
                        <a:t> change in final demand</a:t>
                      </a:r>
                      <a:endParaRPr lang="en-GB"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r>
              <a:tr h="528059">
                <a:tc>
                  <a:txBody>
                    <a:bodyPr/>
                    <a:lstStyle/>
                    <a:p>
                      <a:r>
                        <a:rPr lang="en-GB" dirty="0" smtClean="0">
                          <a:solidFill>
                            <a:srgbClr val="123D6B"/>
                          </a:solidFill>
                        </a:rPr>
                        <a:t>Earning </a:t>
                      </a:r>
                      <a:endParaRPr lang="en-GB"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c>
                  <a:txBody>
                    <a:bodyPr/>
                    <a:lstStyle/>
                    <a:p>
                      <a:r>
                        <a:rPr lang="en-GB" dirty="0" smtClean="0">
                          <a:solidFill>
                            <a:srgbClr val="123D6B"/>
                          </a:solidFill>
                        </a:rPr>
                        <a:t>Total</a:t>
                      </a:r>
                      <a:r>
                        <a:rPr lang="en-GB" baseline="0" dirty="0" smtClean="0">
                          <a:solidFill>
                            <a:srgbClr val="123D6B"/>
                          </a:solidFill>
                        </a:rPr>
                        <a:t> household earnings per $1 change in final demand</a:t>
                      </a:r>
                      <a:endParaRPr lang="en-GB"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r>
              <a:tr h="528059">
                <a:tc>
                  <a:txBody>
                    <a:bodyPr/>
                    <a:lstStyle/>
                    <a:p>
                      <a:r>
                        <a:rPr lang="en-GB" dirty="0" smtClean="0">
                          <a:solidFill>
                            <a:srgbClr val="123D6B"/>
                          </a:solidFill>
                        </a:rPr>
                        <a:t>Employment</a:t>
                      </a:r>
                      <a:endParaRPr lang="en-GB"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c>
                  <a:txBody>
                    <a:bodyPr/>
                    <a:lstStyle/>
                    <a:p>
                      <a:r>
                        <a:rPr lang="en-GB" dirty="0" smtClean="0">
                          <a:solidFill>
                            <a:srgbClr val="123D6B"/>
                          </a:solidFill>
                        </a:rPr>
                        <a:t>Total number</a:t>
                      </a:r>
                      <a:r>
                        <a:rPr lang="en-GB" baseline="0" dirty="0" smtClean="0">
                          <a:solidFill>
                            <a:srgbClr val="123D6B"/>
                          </a:solidFill>
                        </a:rPr>
                        <a:t> of jobs per $1 change in final demand</a:t>
                      </a:r>
                      <a:endParaRPr lang="en-GB" dirty="0">
                        <a:solidFill>
                          <a:srgbClr val="123D6B"/>
                        </a:solidFill>
                      </a:endParaRPr>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tcPr>
                </a:tc>
              </a:tr>
              <a:tr h="528059">
                <a:tc>
                  <a:txBody>
                    <a:bodyPr/>
                    <a:lstStyle/>
                    <a:p>
                      <a:endParaRPr lang="en-GB" dirty="0"/>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B w="12700" cap="flat" cmpd="sng" algn="ctr">
                      <a:solidFill>
                        <a:srgbClr val="123D6B"/>
                      </a:solidFill>
                      <a:prstDash val="solid"/>
                      <a:round/>
                      <a:headEnd type="none" w="med" len="med"/>
                      <a:tailEnd type="none" w="med" len="med"/>
                    </a:lnB>
                  </a:tcPr>
                </a:tc>
                <a:tc>
                  <a:txBody>
                    <a:bodyPr/>
                    <a:lstStyle/>
                    <a:p>
                      <a:endParaRPr lang="en-GB" dirty="0"/>
                    </a:p>
                  </a:txBody>
                  <a:tcPr>
                    <a:lnL w="12700" cap="flat" cmpd="sng" algn="ctr">
                      <a:solidFill>
                        <a:srgbClr val="123D6B"/>
                      </a:solidFill>
                      <a:prstDash val="solid"/>
                      <a:round/>
                      <a:headEnd type="none" w="med" len="med"/>
                      <a:tailEnd type="none" w="med" len="med"/>
                    </a:lnL>
                    <a:lnR w="12700" cap="flat" cmpd="sng" algn="ctr">
                      <a:solidFill>
                        <a:srgbClr val="123D6B"/>
                      </a:solidFill>
                      <a:prstDash val="solid"/>
                      <a:round/>
                      <a:headEnd type="none" w="med" len="med"/>
                      <a:tailEnd type="none" w="med" len="med"/>
                    </a:lnR>
                    <a:lnB w="12700" cap="flat" cmpd="sng" algn="ctr">
                      <a:solidFill>
                        <a:srgbClr val="123D6B"/>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xmlns="" val="24897604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Is I-O Analysis Enough?</a:t>
            </a:r>
            <a:endParaRPr lang="en-GB" dirty="0"/>
          </a:p>
        </p:txBody>
      </p:sp>
      <p:sp>
        <p:nvSpPr>
          <p:cNvPr id="4" name="Content Placeholder 3"/>
          <p:cNvSpPr>
            <a:spLocks noGrp="1"/>
          </p:cNvSpPr>
          <p:nvPr>
            <p:ph idx="1"/>
          </p:nvPr>
        </p:nvSpPr>
        <p:spPr>
          <a:xfrm>
            <a:off x="611188" y="1676400"/>
            <a:ext cx="7848600" cy="2976736"/>
          </a:xfrm>
        </p:spPr>
        <p:txBody>
          <a:bodyPr/>
          <a:lstStyle/>
          <a:p>
            <a:pPr marL="0" indent="0">
              <a:buNone/>
            </a:pPr>
            <a:r>
              <a:rPr lang="en-GB" dirty="0" smtClean="0"/>
              <a:t>Yes for closed economy, static supply-chain analysis. But…</a:t>
            </a:r>
          </a:p>
          <a:p>
            <a:pPr lvl="1"/>
            <a:r>
              <a:rPr lang="en-GB" dirty="0" smtClean="0"/>
              <a:t>production techniques and supply chains may change</a:t>
            </a:r>
          </a:p>
          <a:p>
            <a:pPr lvl="1"/>
            <a:r>
              <a:rPr lang="en-GB" dirty="0" smtClean="0"/>
              <a:t>labour input requirements may change</a:t>
            </a:r>
          </a:p>
          <a:p>
            <a:pPr lvl="1"/>
            <a:r>
              <a:rPr lang="en-GB" dirty="0" smtClean="0"/>
              <a:t>consumption patterns may change</a:t>
            </a:r>
          </a:p>
          <a:p>
            <a:pPr lvl="1"/>
            <a:r>
              <a:rPr lang="en-GB" dirty="0" smtClean="0"/>
              <a:t>import propensity may change</a:t>
            </a:r>
          </a:p>
          <a:p>
            <a:pPr lvl="1"/>
            <a:r>
              <a:rPr lang="en-GB" dirty="0" smtClean="0"/>
              <a:t>no supply constraints</a:t>
            </a:r>
          </a:p>
          <a:p>
            <a:pPr lvl="1"/>
            <a:r>
              <a:rPr lang="en-GB" dirty="0" smtClean="0"/>
              <a:t>assume constant returns to scale</a:t>
            </a:r>
          </a:p>
          <a:p>
            <a:pPr lvl="1"/>
            <a:r>
              <a:rPr lang="en-GB" dirty="0" smtClean="0"/>
              <a:t>price and quality effects are not captured</a:t>
            </a:r>
          </a:p>
          <a:p>
            <a:pPr marL="0" indent="0">
              <a:buNone/>
            </a:pPr>
            <a:r>
              <a:rPr lang="en-GB" sz="2000" dirty="0" smtClean="0"/>
              <a:t>Linked to </a:t>
            </a:r>
            <a:r>
              <a:rPr lang="en-GB" sz="3600" dirty="0" smtClean="0"/>
              <a:t>macroeconomic modelling</a:t>
            </a:r>
            <a:r>
              <a:rPr lang="en-GB" dirty="0" smtClean="0"/>
              <a:t> </a:t>
            </a:r>
            <a:r>
              <a:rPr lang="en-GB" sz="2000" dirty="0" smtClean="0"/>
              <a:t>for more </a:t>
            </a:r>
            <a:r>
              <a:rPr lang="en-GB" sz="3600" dirty="0" smtClean="0"/>
              <a:t>complete</a:t>
            </a:r>
            <a:r>
              <a:rPr lang="en-GB" dirty="0" smtClean="0"/>
              <a:t> </a:t>
            </a:r>
            <a:r>
              <a:rPr lang="en-GB" sz="2000" dirty="0" smtClean="0"/>
              <a:t>and</a:t>
            </a:r>
            <a:r>
              <a:rPr lang="en-GB" dirty="0" smtClean="0"/>
              <a:t> </a:t>
            </a:r>
            <a:r>
              <a:rPr lang="en-GB" sz="3600" dirty="0" smtClean="0"/>
              <a:t>dynamic</a:t>
            </a:r>
            <a:r>
              <a:rPr lang="en-GB" dirty="0" smtClean="0"/>
              <a:t> </a:t>
            </a:r>
            <a:r>
              <a:rPr lang="en-GB" sz="2000" dirty="0" smtClean="0"/>
              <a:t>analysis</a:t>
            </a:r>
          </a:p>
          <a:p>
            <a:pPr marL="457200" lvl="1" indent="0">
              <a:buNone/>
            </a:pPr>
            <a:endParaRPr lang="en-GB" dirty="0" smtClean="0"/>
          </a:p>
          <a:p>
            <a:pPr marL="0" indent="0">
              <a:buNone/>
            </a:pPr>
            <a:endParaRPr lang="en-GB" dirty="0"/>
          </a:p>
        </p:txBody>
      </p:sp>
    </p:spTree>
    <p:extLst>
      <p:ext uri="{BB962C8B-B14F-4D97-AF65-F5344CB8AC3E}">
        <p14:creationId xmlns:p14="http://schemas.microsoft.com/office/powerpoint/2010/main" xmlns="" val="4986584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Some National Accounts Data Sources</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xmlns="" val="1972811179"/>
              </p:ext>
            </p:extLst>
          </p:nvPr>
        </p:nvGraphicFramePr>
        <p:xfrm>
          <a:off x="791072" y="2060848"/>
          <a:ext cx="7488831" cy="3745480"/>
        </p:xfrm>
        <a:graphic>
          <a:graphicData uri="http://schemas.openxmlformats.org/drawingml/2006/table">
            <a:tbl>
              <a:tblPr firstRow="1" bandRow="1">
                <a:tableStyleId>{85BE263C-DBD7-4A20-BB59-AAB30ACAA65A}</a:tableStyleId>
              </a:tblPr>
              <a:tblGrid>
                <a:gridCol w="1800200"/>
                <a:gridCol w="2663274"/>
                <a:gridCol w="3025357"/>
              </a:tblGrid>
              <a:tr h="414312">
                <a:tc>
                  <a:txBody>
                    <a:bodyPr/>
                    <a:lstStyle/>
                    <a:p>
                      <a:r>
                        <a:rPr lang="en-GB" sz="1600" dirty="0" smtClean="0"/>
                        <a:t>Source</a:t>
                      </a:r>
                      <a:endParaRPr lang="en-GB" sz="1600" dirty="0"/>
                    </a:p>
                  </a:txBody>
                  <a:tcPr>
                    <a:solidFill>
                      <a:srgbClr val="123D6B"/>
                    </a:solidFill>
                  </a:tcPr>
                </a:tc>
                <a:tc>
                  <a:txBody>
                    <a:bodyPr/>
                    <a:lstStyle/>
                    <a:p>
                      <a:r>
                        <a:rPr lang="en-GB" sz="1600" dirty="0" smtClean="0"/>
                        <a:t>Coverage</a:t>
                      </a:r>
                      <a:endParaRPr lang="en-GB" sz="1600" dirty="0"/>
                    </a:p>
                  </a:txBody>
                  <a:tcPr>
                    <a:solidFill>
                      <a:srgbClr val="123D6B"/>
                    </a:solidFill>
                  </a:tcPr>
                </a:tc>
                <a:tc>
                  <a:txBody>
                    <a:bodyPr/>
                    <a:lstStyle/>
                    <a:p>
                      <a:r>
                        <a:rPr lang="en-GB" sz="1600" dirty="0" smtClean="0"/>
                        <a:t>Break</a:t>
                      </a:r>
                      <a:r>
                        <a:rPr lang="en-GB" sz="1600" baseline="0" dirty="0" smtClean="0"/>
                        <a:t> down by sectors?</a:t>
                      </a:r>
                      <a:endParaRPr lang="en-GB" sz="1600" dirty="0"/>
                    </a:p>
                  </a:txBody>
                  <a:tcPr>
                    <a:solidFill>
                      <a:srgbClr val="123D6B"/>
                    </a:solidFill>
                  </a:tcPr>
                </a:tc>
              </a:tr>
              <a:tr h="647008">
                <a:tc>
                  <a:txBody>
                    <a:bodyPr/>
                    <a:lstStyle/>
                    <a:p>
                      <a:r>
                        <a:rPr lang="en-GB" sz="1600" dirty="0" smtClean="0">
                          <a:solidFill>
                            <a:srgbClr val="123D6B"/>
                          </a:solidFill>
                        </a:rPr>
                        <a:t>Eurostat</a:t>
                      </a:r>
                      <a:endParaRPr lang="en-GB" sz="1600" dirty="0">
                        <a:solidFill>
                          <a:srgbClr val="123D6B"/>
                        </a:solidFill>
                      </a:endParaRPr>
                    </a:p>
                  </a:txBody>
                  <a:tcPr/>
                </a:tc>
                <a:tc>
                  <a:txBody>
                    <a:bodyPr/>
                    <a:lstStyle/>
                    <a:p>
                      <a:r>
                        <a:rPr lang="en-GB" sz="1600" dirty="0" smtClean="0">
                          <a:solidFill>
                            <a:srgbClr val="123D6B"/>
                          </a:solidFill>
                        </a:rPr>
                        <a:t>EU and</a:t>
                      </a:r>
                      <a:r>
                        <a:rPr lang="en-GB" sz="1600" baseline="0" dirty="0" smtClean="0">
                          <a:solidFill>
                            <a:srgbClr val="123D6B"/>
                          </a:solidFill>
                        </a:rPr>
                        <a:t> candidate countries</a:t>
                      </a:r>
                      <a:endParaRPr lang="en-GB" sz="1600" dirty="0">
                        <a:solidFill>
                          <a:srgbClr val="123D6B"/>
                        </a:solidFill>
                      </a:endParaRPr>
                    </a:p>
                  </a:txBody>
                  <a:tcPr/>
                </a:tc>
                <a:tc>
                  <a:txBody>
                    <a:bodyPr/>
                    <a:lstStyle/>
                    <a:p>
                      <a:r>
                        <a:rPr lang="en-GB" sz="1600" dirty="0" smtClean="0">
                          <a:solidFill>
                            <a:srgbClr val="123D6B"/>
                          </a:solidFill>
                        </a:rPr>
                        <a:t>Yes</a:t>
                      </a:r>
                      <a:endParaRPr lang="en-GB" sz="1600" dirty="0">
                        <a:solidFill>
                          <a:srgbClr val="123D6B"/>
                        </a:solidFill>
                      </a:endParaRPr>
                    </a:p>
                  </a:txBody>
                  <a:tcPr/>
                </a:tc>
              </a:tr>
              <a:tr h="594864">
                <a:tc>
                  <a:txBody>
                    <a:bodyPr/>
                    <a:lstStyle/>
                    <a:p>
                      <a:r>
                        <a:rPr lang="en-GB" sz="1600" dirty="0" smtClean="0">
                          <a:solidFill>
                            <a:srgbClr val="123D6B"/>
                          </a:solidFill>
                        </a:rPr>
                        <a:t>OECD</a:t>
                      </a:r>
                      <a:endParaRPr lang="en-GB" sz="1600" dirty="0">
                        <a:solidFill>
                          <a:srgbClr val="123D6B"/>
                        </a:solidFill>
                      </a:endParaRPr>
                    </a:p>
                  </a:txBody>
                  <a:tcPr/>
                </a:tc>
                <a:tc>
                  <a:txBody>
                    <a:bodyPr/>
                    <a:lstStyle/>
                    <a:p>
                      <a:r>
                        <a:rPr lang="en-GB" sz="1600" dirty="0" smtClean="0">
                          <a:solidFill>
                            <a:srgbClr val="123D6B"/>
                          </a:solidFill>
                        </a:rPr>
                        <a:t>OECD</a:t>
                      </a:r>
                      <a:r>
                        <a:rPr lang="en-GB" sz="1600" baseline="0" dirty="0" smtClean="0">
                          <a:solidFill>
                            <a:srgbClr val="123D6B"/>
                          </a:solidFill>
                        </a:rPr>
                        <a:t> members and some non-OECD members</a:t>
                      </a:r>
                      <a:endParaRPr lang="en-GB" sz="1600" dirty="0">
                        <a:solidFill>
                          <a:srgbClr val="123D6B"/>
                        </a:solidFill>
                      </a:endParaRPr>
                    </a:p>
                  </a:txBody>
                  <a:tcPr/>
                </a:tc>
                <a:tc>
                  <a:txBody>
                    <a:bodyPr/>
                    <a:lstStyle/>
                    <a:p>
                      <a:r>
                        <a:rPr lang="en-GB" sz="1600" dirty="0" smtClean="0">
                          <a:solidFill>
                            <a:srgbClr val="123D6B"/>
                          </a:solidFill>
                        </a:rPr>
                        <a:t>Yes</a:t>
                      </a:r>
                      <a:endParaRPr lang="en-GB" sz="1600" dirty="0">
                        <a:solidFill>
                          <a:srgbClr val="123D6B"/>
                        </a:solidFill>
                      </a:endParaRPr>
                    </a:p>
                  </a:txBody>
                  <a:tcPr/>
                </a:tc>
              </a:tr>
              <a:tr h="432048">
                <a:tc>
                  <a:txBody>
                    <a:bodyPr/>
                    <a:lstStyle/>
                    <a:p>
                      <a:r>
                        <a:rPr lang="en-GB" sz="1600" dirty="0" smtClean="0">
                          <a:solidFill>
                            <a:srgbClr val="123D6B"/>
                          </a:solidFill>
                        </a:rPr>
                        <a:t>World</a:t>
                      </a:r>
                      <a:r>
                        <a:rPr lang="en-GB" sz="1600" baseline="0" dirty="0" smtClean="0">
                          <a:solidFill>
                            <a:srgbClr val="123D6B"/>
                          </a:solidFill>
                        </a:rPr>
                        <a:t> Bank</a:t>
                      </a:r>
                      <a:endParaRPr lang="en-GB" sz="1600" dirty="0">
                        <a:solidFill>
                          <a:srgbClr val="123D6B"/>
                        </a:solidFill>
                      </a:endParaRPr>
                    </a:p>
                  </a:txBody>
                  <a:tcPr/>
                </a:tc>
                <a:tc>
                  <a:txBody>
                    <a:bodyPr/>
                    <a:lstStyle/>
                    <a:p>
                      <a:r>
                        <a:rPr lang="en-GB" sz="1600" dirty="0" smtClean="0">
                          <a:solidFill>
                            <a:srgbClr val="123D6B"/>
                          </a:solidFill>
                        </a:rPr>
                        <a:t>Global</a:t>
                      </a:r>
                      <a:endParaRPr lang="en-GB" sz="1600" dirty="0">
                        <a:solidFill>
                          <a:srgbClr val="123D6B"/>
                        </a:solidFill>
                      </a:endParaRPr>
                    </a:p>
                  </a:txBody>
                  <a:tcPr/>
                </a:tc>
                <a:tc>
                  <a:txBody>
                    <a:bodyPr/>
                    <a:lstStyle/>
                    <a:p>
                      <a:r>
                        <a:rPr lang="en-GB" sz="1600" dirty="0" smtClean="0">
                          <a:solidFill>
                            <a:srgbClr val="123D6B"/>
                          </a:solidFill>
                        </a:rPr>
                        <a:t>No aggregates only</a:t>
                      </a:r>
                      <a:endParaRPr lang="en-GB" sz="1600" dirty="0">
                        <a:solidFill>
                          <a:srgbClr val="123D6B"/>
                        </a:solidFill>
                      </a:endParaRPr>
                    </a:p>
                  </a:txBody>
                  <a:tcPr/>
                </a:tc>
              </a:tr>
              <a:tr h="414312">
                <a:tc>
                  <a:txBody>
                    <a:bodyPr/>
                    <a:lstStyle/>
                    <a:p>
                      <a:r>
                        <a:rPr lang="en-GB" sz="1600" dirty="0" smtClean="0">
                          <a:solidFill>
                            <a:srgbClr val="123D6B"/>
                          </a:solidFill>
                        </a:rPr>
                        <a:t>WIOD</a:t>
                      </a:r>
                      <a:endParaRPr lang="en-GB" sz="1600" dirty="0">
                        <a:solidFill>
                          <a:srgbClr val="123D6B"/>
                        </a:solidFill>
                      </a:endParaRPr>
                    </a:p>
                  </a:txBody>
                  <a:tcPr/>
                </a:tc>
                <a:tc>
                  <a:txBody>
                    <a:bodyPr/>
                    <a:lstStyle/>
                    <a:p>
                      <a:r>
                        <a:rPr lang="en-GB" sz="1600" dirty="0" smtClean="0">
                          <a:solidFill>
                            <a:srgbClr val="123D6B"/>
                          </a:solidFill>
                        </a:rPr>
                        <a:t>Major</a:t>
                      </a:r>
                      <a:r>
                        <a:rPr lang="en-GB" sz="1600" baseline="0" dirty="0" smtClean="0">
                          <a:solidFill>
                            <a:srgbClr val="123D6B"/>
                          </a:solidFill>
                        </a:rPr>
                        <a:t> world economy</a:t>
                      </a:r>
                      <a:endParaRPr lang="en-GB" sz="1600" dirty="0">
                        <a:solidFill>
                          <a:srgbClr val="123D6B"/>
                        </a:solidFill>
                      </a:endParaRPr>
                    </a:p>
                  </a:txBody>
                  <a:tcPr/>
                </a:tc>
                <a:tc>
                  <a:txBody>
                    <a:bodyPr/>
                    <a:lstStyle/>
                    <a:p>
                      <a:r>
                        <a:rPr lang="en-GB" sz="1600" dirty="0" smtClean="0">
                          <a:solidFill>
                            <a:srgbClr val="123D6B"/>
                          </a:solidFill>
                        </a:rPr>
                        <a:t>Yes</a:t>
                      </a:r>
                      <a:endParaRPr lang="en-GB" sz="1600" dirty="0">
                        <a:solidFill>
                          <a:srgbClr val="123D6B"/>
                        </a:solidFill>
                      </a:endParaRPr>
                    </a:p>
                  </a:txBody>
                  <a:tcPr/>
                </a:tc>
              </a:tr>
              <a:tr h="414312">
                <a:tc>
                  <a:txBody>
                    <a:bodyPr/>
                    <a:lstStyle/>
                    <a:p>
                      <a:r>
                        <a:rPr lang="en-GB" sz="1600" dirty="0" err="1" smtClean="0">
                          <a:solidFill>
                            <a:srgbClr val="123D6B"/>
                          </a:solidFill>
                        </a:rPr>
                        <a:t>UNStat</a:t>
                      </a:r>
                      <a:endParaRPr lang="en-GB" sz="1600" dirty="0">
                        <a:solidFill>
                          <a:srgbClr val="123D6B"/>
                        </a:solidFill>
                      </a:endParaRPr>
                    </a:p>
                  </a:txBody>
                  <a:tcPr/>
                </a:tc>
                <a:tc>
                  <a:txBody>
                    <a:bodyPr/>
                    <a:lstStyle/>
                    <a:p>
                      <a:r>
                        <a:rPr lang="en-GB" sz="1600" dirty="0" smtClean="0">
                          <a:solidFill>
                            <a:srgbClr val="123D6B"/>
                          </a:solidFill>
                        </a:rPr>
                        <a:t>Global</a:t>
                      </a:r>
                      <a:endParaRPr lang="en-GB" sz="1600" dirty="0">
                        <a:solidFill>
                          <a:srgbClr val="123D6B"/>
                        </a:solidFill>
                      </a:endParaRPr>
                    </a:p>
                  </a:txBody>
                  <a:tcPr/>
                </a:tc>
                <a:tc>
                  <a:txBody>
                    <a:bodyPr/>
                    <a:lstStyle/>
                    <a:p>
                      <a:r>
                        <a:rPr lang="en-GB" sz="1600" dirty="0" smtClean="0">
                          <a:solidFill>
                            <a:srgbClr val="123D6B"/>
                          </a:solidFill>
                        </a:rPr>
                        <a:t>Some</a:t>
                      </a:r>
                      <a:endParaRPr lang="en-GB" sz="1600" dirty="0">
                        <a:solidFill>
                          <a:srgbClr val="123D6B"/>
                        </a:solidFill>
                      </a:endParaRPr>
                    </a:p>
                  </a:txBody>
                  <a:tcPr/>
                </a:tc>
              </a:tr>
              <a:tr h="414312">
                <a:tc>
                  <a:txBody>
                    <a:bodyPr/>
                    <a:lstStyle/>
                    <a:p>
                      <a:r>
                        <a:rPr lang="en-GB" sz="1600" dirty="0" smtClean="0">
                          <a:solidFill>
                            <a:srgbClr val="123D6B"/>
                          </a:solidFill>
                        </a:rPr>
                        <a:t>GTAP</a:t>
                      </a:r>
                      <a:endParaRPr lang="en-GB" sz="1600" dirty="0">
                        <a:solidFill>
                          <a:srgbClr val="123D6B"/>
                        </a:solidFill>
                      </a:endParaRPr>
                    </a:p>
                  </a:txBody>
                  <a:tcPr/>
                </a:tc>
                <a:tc>
                  <a:txBody>
                    <a:bodyPr/>
                    <a:lstStyle/>
                    <a:p>
                      <a:r>
                        <a:rPr lang="en-GB" sz="1600" dirty="0" smtClean="0">
                          <a:solidFill>
                            <a:srgbClr val="123D6B"/>
                          </a:solidFill>
                        </a:rPr>
                        <a:t>Global</a:t>
                      </a:r>
                      <a:endParaRPr lang="en-GB" sz="1600" dirty="0">
                        <a:solidFill>
                          <a:srgbClr val="123D6B"/>
                        </a:solidFill>
                      </a:endParaRPr>
                    </a:p>
                  </a:txBody>
                  <a:tcPr/>
                </a:tc>
                <a:tc>
                  <a:txBody>
                    <a:bodyPr/>
                    <a:lstStyle/>
                    <a:p>
                      <a:r>
                        <a:rPr lang="en-GB" sz="1600" dirty="0" smtClean="0">
                          <a:solidFill>
                            <a:srgbClr val="123D6B"/>
                          </a:solidFill>
                        </a:rPr>
                        <a:t>Yes</a:t>
                      </a:r>
                      <a:endParaRPr lang="en-GB" sz="1600" dirty="0">
                        <a:solidFill>
                          <a:srgbClr val="123D6B"/>
                        </a:solidFill>
                      </a:endParaRPr>
                    </a:p>
                  </a:txBody>
                  <a:tcPr/>
                </a:tc>
              </a:tr>
              <a:tr h="414312">
                <a:tc>
                  <a:txBody>
                    <a:bodyPr/>
                    <a:lstStyle/>
                    <a:p>
                      <a:r>
                        <a:rPr lang="en-GB" sz="1600" dirty="0" smtClean="0">
                          <a:solidFill>
                            <a:srgbClr val="123D6B"/>
                          </a:solidFill>
                        </a:rPr>
                        <a:t>National</a:t>
                      </a:r>
                      <a:r>
                        <a:rPr lang="en-GB" sz="1600" baseline="0" dirty="0" smtClean="0">
                          <a:solidFill>
                            <a:srgbClr val="123D6B"/>
                          </a:solidFill>
                        </a:rPr>
                        <a:t> Sources</a:t>
                      </a:r>
                      <a:endParaRPr lang="en-GB" sz="1600" dirty="0">
                        <a:solidFill>
                          <a:srgbClr val="123D6B"/>
                        </a:solidFill>
                      </a:endParaRPr>
                    </a:p>
                  </a:txBody>
                  <a:tcPr>
                    <a:lnB w="12700" cap="flat" cmpd="sng" algn="ctr">
                      <a:solidFill>
                        <a:srgbClr val="123D6B"/>
                      </a:solidFill>
                      <a:prstDash val="solid"/>
                      <a:round/>
                      <a:headEnd type="none" w="med" len="med"/>
                      <a:tailEnd type="none" w="med" len="med"/>
                    </a:lnB>
                  </a:tcPr>
                </a:tc>
                <a:tc>
                  <a:txBody>
                    <a:bodyPr/>
                    <a:lstStyle/>
                    <a:p>
                      <a:r>
                        <a:rPr lang="en-GB" sz="1600" dirty="0" smtClean="0">
                          <a:solidFill>
                            <a:srgbClr val="123D6B"/>
                          </a:solidFill>
                        </a:rPr>
                        <a:t>Single country</a:t>
                      </a:r>
                      <a:endParaRPr lang="en-GB" sz="1600" dirty="0">
                        <a:solidFill>
                          <a:srgbClr val="123D6B"/>
                        </a:solidFill>
                      </a:endParaRPr>
                    </a:p>
                  </a:txBody>
                  <a:tcPr>
                    <a:lnB w="12700" cap="flat" cmpd="sng" algn="ctr">
                      <a:solidFill>
                        <a:srgbClr val="123D6B"/>
                      </a:solidFill>
                      <a:prstDash val="solid"/>
                      <a:round/>
                      <a:headEnd type="none" w="med" len="med"/>
                      <a:tailEnd type="none" w="med" len="med"/>
                    </a:lnB>
                  </a:tcPr>
                </a:tc>
                <a:tc>
                  <a:txBody>
                    <a:bodyPr/>
                    <a:lstStyle/>
                    <a:p>
                      <a:r>
                        <a:rPr lang="en-GB" sz="1600" dirty="0" smtClean="0">
                          <a:solidFill>
                            <a:srgbClr val="123D6B"/>
                          </a:solidFill>
                        </a:rPr>
                        <a:t>Yes</a:t>
                      </a:r>
                      <a:r>
                        <a:rPr lang="en-GB" sz="1600" baseline="0" dirty="0" smtClean="0">
                          <a:solidFill>
                            <a:srgbClr val="123D6B"/>
                          </a:solidFill>
                        </a:rPr>
                        <a:t> and no</a:t>
                      </a:r>
                      <a:endParaRPr lang="en-GB" sz="1600" dirty="0">
                        <a:solidFill>
                          <a:srgbClr val="123D6B"/>
                        </a:solidFill>
                      </a:endParaRPr>
                    </a:p>
                  </a:txBody>
                  <a:tcPr>
                    <a:lnB w="12700" cap="flat" cmpd="sng" algn="ctr">
                      <a:solidFill>
                        <a:srgbClr val="123D6B"/>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xmlns="" val="11621031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ChangeArrowheads="1"/>
          </p:cNvSpPr>
          <p:nvPr/>
        </p:nvSpPr>
        <p:spPr bwMode="auto">
          <a:xfrm>
            <a:off x="914400" y="304800"/>
            <a:ext cx="7402513"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p>
            <a:pPr>
              <a:spcBef>
                <a:spcPct val="0"/>
              </a:spcBef>
            </a:pPr>
            <a:r>
              <a:rPr lang="en-GB" sz="3500" dirty="0" smtClean="0">
                <a:solidFill>
                  <a:srgbClr val="123D6B"/>
                </a:solidFill>
                <a:latin typeface="Arial" charset="0"/>
              </a:rPr>
              <a:t>Data Classification</a:t>
            </a:r>
            <a:endParaRPr lang="en-GB" sz="3500" dirty="0">
              <a:solidFill>
                <a:srgbClr val="123D6B"/>
              </a:solidFill>
              <a:latin typeface="Arial" charset="0"/>
            </a:endParaRPr>
          </a:p>
        </p:txBody>
      </p:sp>
      <p:graphicFrame>
        <p:nvGraphicFramePr>
          <p:cNvPr id="40" name="Table 39"/>
          <p:cNvGraphicFramePr>
            <a:graphicFrameLocks noGrp="1"/>
          </p:cNvGraphicFramePr>
          <p:nvPr>
            <p:extLst>
              <p:ext uri="{D42A27DB-BD31-4B8C-83A1-F6EECF244321}">
                <p14:modId xmlns:p14="http://schemas.microsoft.com/office/powerpoint/2010/main" xmlns="" val="1880316255"/>
              </p:ext>
            </p:extLst>
          </p:nvPr>
        </p:nvGraphicFramePr>
        <p:xfrm>
          <a:off x="611560" y="1772816"/>
          <a:ext cx="5293096" cy="3497293"/>
        </p:xfrm>
        <a:graphic>
          <a:graphicData uri="http://schemas.openxmlformats.org/drawingml/2006/table">
            <a:tbl>
              <a:tblPr firstRow="1" bandRow="1">
                <a:tableStyleId>{85BE263C-DBD7-4A20-BB59-AAB30ACAA65A}</a:tableStyleId>
              </a:tblPr>
              <a:tblGrid>
                <a:gridCol w="3459471"/>
                <a:gridCol w="1833625"/>
              </a:tblGrid>
              <a:tr h="372941">
                <a:tc>
                  <a:txBody>
                    <a:bodyPr/>
                    <a:lstStyle/>
                    <a:p>
                      <a:r>
                        <a:rPr lang="en-GB" sz="1600" dirty="0" smtClean="0"/>
                        <a:t>Variable</a:t>
                      </a:r>
                      <a:endParaRPr lang="en-GB" sz="1600" dirty="0"/>
                    </a:p>
                  </a:txBody>
                  <a:tcPr>
                    <a:solidFill>
                      <a:srgbClr val="123D6B"/>
                    </a:solidFill>
                  </a:tcPr>
                </a:tc>
                <a:tc>
                  <a:txBody>
                    <a:bodyPr/>
                    <a:lstStyle/>
                    <a:p>
                      <a:r>
                        <a:rPr lang="en-GB" sz="1600" dirty="0" smtClean="0"/>
                        <a:t>Classifi</a:t>
                      </a:r>
                      <a:r>
                        <a:rPr lang="en-GB" sz="1600" baseline="0" dirty="0" smtClean="0"/>
                        <a:t>cation</a:t>
                      </a:r>
                      <a:endParaRPr lang="en-GB" sz="1600" dirty="0"/>
                    </a:p>
                  </a:txBody>
                  <a:tcPr>
                    <a:solidFill>
                      <a:srgbClr val="123D6B"/>
                    </a:solidFill>
                  </a:tcPr>
                </a:tc>
              </a:tr>
              <a:tr h="390544">
                <a:tc>
                  <a:txBody>
                    <a:bodyPr/>
                    <a:lstStyle/>
                    <a:p>
                      <a:r>
                        <a:rPr lang="en-GB" sz="1600" dirty="0" smtClean="0">
                          <a:solidFill>
                            <a:srgbClr val="123D6B"/>
                          </a:solidFill>
                        </a:rPr>
                        <a:t>IO</a:t>
                      </a:r>
                      <a:endParaRPr lang="en-GB" sz="1600" dirty="0">
                        <a:solidFill>
                          <a:srgbClr val="123D6B"/>
                        </a:solidFill>
                      </a:endParaRPr>
                    </a:p>
                  </a:txBody>
                  <a:tcPr/>
                </a:tc>
                <a:tc>
                  <a:txBody>
                    <a:bodyPr/>
                    <a:lstStyle/>
                    <a:p>
                      <a:r>
                        <a:rPr lang="en-GB" sz="1600" dirty="0" smtClean="0">
                          <a:solidFill>
                            <a:srgbClr val="123D6B"/>
                          </a:solidFill>
                        </a:rPr>
                        <a:t>NACE</a:t>
                      </a:r>
                      <a:endParaRPr lang="en-GB" sz="1600" dirty="0">
                        <a:solidFill>
                          <a:srgbClr val="123D6B"/>
                        </a:solidFill>
                      </a:endParaRPr>
                    </a:p>
                  </a:txBody>
                  <a:tcPr/>
                </a:tc>
              </a:tr>
              <a:tr h="390544">
                <a:tc>
                  <a:txBody>
                    <a:bodyPr/>
                    <a:lstStyle/>
                    <a:p>
                      <a:r>
                        <a:rPr lang="en-GB" sz="1600" dirty="0" smtClean="0">
                          <a:solidFill>
                            <a:srgbClr val="123D6B"/>
                          </a:solidFill>
                        </a:rPr>
                        <a:t>Output/ Value</a:t>
                      </a:r>
                      <a:r>
                        <a:rPr lang="en-GB" sz="1600" baseline="0" dirty="0" smtClean="0">
                          <a:solidFill>
                            <a:srgbClr val="123D6B"/>
                          </a:solidFill>
                        </a:rPr>
                        <a:t> Added</a:t>
                      </a:r>
                      <a:endParaRPr lang="en-GB" sz="1600" dirty="0">
                        <a:solidFill>
                          <a:srgbClr val="123D6B"/>
                        </a:solidFill>
                      </a:endParaRPr>
                    </a:p>
                  </a:txBody>
                  <a:tcPr/>
                </a:tc>
                <a:tc>
                  <a:txBody>
                    <a:bodyPr/>
                    <a:lstStyle/>
                    <a:p>
                      <a:r>
                        <a:rPr lang="en-GB" sz="1600" dirty="0" smtClean="0">
                          <a:solidFill>
                            <a:srgbClr val="123D6B"/>
                          </a:solidFill>
                        </a:rPr>
                        <a:t>NACE</a:t>
                      </a:r>
                      <a:endParaRPr lang="en-GB" sz="1600" dirty="0">
                        <a:solidFill>
                          <a:srgbClr val="123D6B"/>
                        </a:solidFill>
                      </a:endParaRPr>
                    </a:p>
                  </a:txBody>
                  <a:tcPr/>
                </a:tc>
              </a:tr>
              <a:tr h="390544">
                <a:tc>
                  <a:txBody>
                    <a:bodyPr/>
                    <a:lstStyle/>
                    <a:p>
                      <a:r>
                        <a:rPr lang="en-GB" sz="1600" dirty="0" smtClean="0">
                          <a:solidFill>
                            <a:srgbClr val="123D6B"/>
                          </a:solidFill>
                        </a:rPr>
                        <a:t>Household</a:t>
                      </a:r>
                      <a:r>
                        <a:rPr lang="en-GB" sz="1600" baseline="0" dirty="0" smtClean="0">
                          <a:solidFill>
                            <a:srgbClr val="123D6B"/>
                          </a:solidFill>
                        </a:rPr>
                        <a:t> consumption</a:t>
                      </a:r>
                      <a:endParaRPr lang="en-GB" sz="1600" dirty="0">
                        <a:solidFill>
                          <a:srgbClr val="123D6B"/>
                        </a:solidFill>
                      </a:endParaRPr>
                    </a:p>
                  </a:txBody>
                  <a:tcPr/>
                </a:tc>
                <a:tc>
                  <a:txBody>
                    <a:bodyPr/>
                    <a:lstStyle/>
                    <a:p>
                      <a:r>
                        <a:rPr lang="en-GB" sz="1600" dirty="0" smtClean="0">
                          <a:solidFill>
                            <a:srgbClr val="123D6B"/>
                          </a:solidFill>
                        </a:rPr>
                        <a:t>COICOP</a:t>
                      </a:r>
                      <a:endParaRPr lang="en-GB" sz="1600" dirty="0">
                        <a:solidFill>
                          <a:srgbClr val="123D6B"/>
                        </a:solidFill>
                      </a:endParaRPr>
                    </a:p>
                  </a:txBody>
                  <a:tcPr/>
                </a:tc>
              </a:tr>
              <a:tr h="390544">
                <a:tc>
                  <a:txBody>
                    <a:bodyPr/>
                    <a:lstStyle/>
                    <a:p>
                      <a:r>
                        <a:rPr lang="en-GB" sz="1600" dirty="0" smtClean="0">
                          <a:solidFill>
                            <a:srgbClr val="123D6B"/>
                          </a:solidFill>
                        </a:rPr>
                        <a:t>Government</a:t>
                      </a:r>
                      <a:r>
                        <a:rPr lang="en-GB" sz="1600" baseline="0" dirty="0" smtClean="0">
                          <a:solidFill>
                            <a:srgbClr val="123D6B"/>
                          </a:solidFill>
                        </a:rPr>
                        <a:t> spending</a:t>
                      </a:r>
                      <a:endParaRPr lang="en-GB" sz="1600" dirty="0">
                        <a:solidFill>
                          <a:srgbClr val="123D6B"/>
                        </a:solidFill>
                      </a:endParaRPr>
                    </a:p>
                  </a:txBody>
                  <a:tcPr/>
                </a:tc>
                <a:tc>
                  <a:txBody>
                    <a:bodyPr/>
                    <a:lstStyle/>
                    <a:p>
                      <a:r>
                        <a:rPr lang="en-GB" sz="1600" dirty="0" smtClean="0">
                          <a:solidFill>
                            <a:srgbClr val="123D6B"/>
                          </a:solidFill>
                        </a:rPr>
                        <a:t>COFOG</a:t>
                      </a:r>
                      <a:endParaRPr lang="en-GB" sz="1600" dirty="0">
                        <a:solidFill>
                          <a:srgbClr val="123D6B"/>
                        </a:solidFill>
                      </a:endParaRPr>
                    </a:p>
                  </a:txBody>
                  <a:tcPr/>
                </a:tc>
              </a:tr>
              <a:tr h="390544">
                <a:tc>
                  <a:txBody>
                    <a:bodyPr/>
                    <a:lstStyle/>
                    <a:p>
                      <a:r>
                        <a:rPr lang="en-GB" sz="1600" dirty="0" smtClean="0">
                          <a:solidFill>
                            <a:srgbClr val="123D6B"/>
                          </a:solidFill>
                        </a:rPr>
                        <a:t>Investment (made)</a:t>
                      </a:r>
                      <a:endParaRPr lang="en-GB" sz="1600" dirty="0">
                        <a:solidFill>
                          <a:srgbClr val="123D6B"/>
                        </a:solidFill>
                      </a:endParaRPr>
                    </a:p>
                  </a:txBody>
                  <a:tcPr/>
                </a:tc>
                <a:tc>
                  <a:txBody>
                    <a:bodyPr/>
                    <a:lstStyle/>
                    <a:p>
                      <a:r>
                        <a:rPr lang="en-GB" sz="1600" dirty="0" smtClean="0">
                          <a:solidFill>
                            <a:srgbClr val="123D6B"/>
                          </a:solidFill>
                        </a:rPr>
                        <a:t>NACE</a:t>
                      </a:r>
                      <a:endParaRPr lang="en-GB" sz="1600" dirty="0">
                        <a:solidFill>
                          <a:srgbClr val="123D6B"/>
                        </a:solidFill>
                      </a:endParaRPr>
                    </a:p>
                  </a:txBody>
                  <a:tcPr/>
                </a:tc>
              </a:tr>
              <a:tr h="390544">
                <a:tc>
                  <a:txBody>
                    <a:bodyPr/>
                    <a:lstStyle/>
                    <a:p>
                      <a:r>
                        <a:rPr lang="en-GB" sz="1600" dirty="0" smtClean="0">
                          <a:solidFill>
                            <a:srgbClr val="123D6B"/>
                          </a:solidFill>
                        </a:rPr>
                        <a:t>Import/</a:t>
                      </a:r>
                      <a:r>
                        <a:rPr lang="en-GB" sz="1600" baseline="0" dirty="0" smtClean="0">
                          <a:solidFill>
                            <a:srgbClr val="123D6B"/>
                          </a:solidFill>
                        </a:rPr>
                        <a:t> Export</a:t>
                      </a:r>
                      <a:endParaRPr lang="en-GB" sz="1600" dirty="0">
                        <a:solidFill>
                          <a:srgbClr val="123D6B"/>
                        </a:solidFill>
                      </a:endParaRPr>
                    </a:p>
                  </a:txBody>
                  <a:tcPr/>
                </a:tc>
                <a:tc>
                  <a:txBody>
                    <a:bodyPr/>
                    <a:lstStyle/>
                    <a:p>
                      <a:r>
                        <a:rPr lang="en-GB" sz="1600" dirty="0" smtClean="0">
                          <a:solidFill>
                            <a:srgbClr val="123D6B"/>
                          </a:solidFill>
                        </a:rPr>
                        <a:t>NACE</a:t>
                      </a:r>
                      <a:endParaRPr lang="en-GB" sz="1600" dirty="0">
                        <a:solidFill>
                          <a:srgbClr val="123D6B"/>
                        </a:solidFill>
                      </a:endParaRPr>
                    </a:p>
                  </a:txBody>
                  <a:tcPr/>
                </a:tc>
              </a:tr>
              <a:tr h="390544">
                <a:tc>
                  <a:txBody>
                    <a:bodyPr/>
                    <a:lstStyle/>
                    <a:p>
                      <a:r>
                        <a:rPr lang="en-GB" sz="1600" dirty="0" smtClean="0">
                          <a:solidFill>
                            <a:srgbClr val="123D6B"/>
                          </a:solidFill>
                        </a:rPr>
                        <a:t>Compensation</a:t>
                      </a:r>
                      <a:r>
                        <a:rPr lang="en-GB" sz="1600" baseline="0" dirty="0" smtClean="0">
                          <a:solidFill>
                            <a:srgbClr val="123D6B"/>
                          </a:solidFill>
                        </a:rPr>
                        <a:t> of employees</a:t>
                      </a:r>
                      <a:endParaRPr lang="en-GB" sz="1600" dirty="0">
                        <a:solidFill>
                          <a:srgbClr val="123D6B"/>
                        </a:solidFill>
                      </a:endParaRPr>
                    </a:p>
                  </a:txBody>
                  <a:tcPr/>
                </a:tc>
                <a:tc>
                  <a:txBody>
                    <a:bodyPr/>
                    <a:lstStyle/>
                    <a:p>
                      <a:r>
                        <a:rPr lang="en-GB" sz="1600" dirty="0" smtClean="0">
                          <a:solidFill>
                            <a:srgbClr val="123D6B"/>
                          </a:solidFill>
                        </a:rPr>
                        <a:t>NACE</a:t>
                      </a:r>
                      <a:endParaRPr lang="en-GB" sz="1600" dirty="0">
                        <a:solidFill>
                          <a:srgbClr val="123D6B"/>
                        </a:solidFill>
                      </a:endParaRPr>
                    </a:p>
                  </a:txBody>
                  <a:tcPr/>
                </a:tc>
              </a:tr>
              <a:tr h="390544">
                <a:tc>
                  <a:txBody>
                    <a:bodyPr/>
                    <a:lstStyle/>
                    <a:p>
                      <a:r>
                        <a:rPr lang="en-GB" sz="1600" dirty="0" smtClean="0">
                          <a:solidFill>
                            <a:srgbClr val="123D6B"/>
                          </a:solidFill>
                        </a:rPr>
                        <a:t>Employment</a:t>
                      </a:r>
                      <a:endParaRPr lang="en-GB" sz="1600" dirty="0">
                        <a:solidFill>
                          <a:srgbClr val="123D6B"/>
                        </a:solidFill>
                      </a:endParaRPr>
                    </a:p>
                  </a:txBody>
                  <a:tcPr>
                    <a:lnB w="12700" cap="flat" cmpd="sng" algn="ctr">
                      <a:solidFill>
                        <a:srgbClr val="123D6B"/>
                      </a:solidFill>
                      <a:prstDash val="solid"/>
                      <a:round/>
                      <a:headEnd type="none" w="med" len="med"/>
                      <a:tailEnd type="none" w="med" len="med"/>
                    </a:lnB>
                  </a:tcPr>
                </a:tc>
                <a:tc>
                  <a:txBody>
                    <a:bodyPr/>
                    <a:lstStyle/>
                    <a:p>
                      <a:r>
                        <a:rPr lang="en-GB" sz="1600" dirty="0" smtClean="0">
                          <a:solidFill>
                            <a:srgbClr val="123D6B"/>
                          </a:solidFill>
                        </a:rPr>
                        <a:t>NACE</a:t>
                      </a:r>
                      <a:endParaRPr lang="en-GB" sz="1600" dirty="0">
                        <a:solidFill>
                          <a:srgbClr val="123D6B"/>
                        </a:solidFill>
                      </a:endParaRPr>
                    </a:p>
                  </a:txBody>
                  <a:tcPr>
                    <a:lnB w="12700" cap="flat" cmpd="sng" algn="ctr">
                      <a:solidFill>
                        <a:srgbClr val="123D6B"/>
                      </a:solidFill>
                      <a:prstDash val="solid"/>
                      <a:round/>
                      <a:headEnd type="none" w="med" len="med"/>
                      <a:tailEnd type="none" w="med" len="med"/>
                    </a:lnB>
                  </a:tcPr>
                </a:tc>
              </a:tr>
            </a:tbl>
          </a:graphicData>
        </a:graphic>
      </p:graphicFrame>
      <p:sp>
        <p:nvSpPr>
          <p:cNvPr id="41" name="Content Placeholder 2"/>
          <p:cNvSpPr txBox="1">
            <a:spLocks/>
          </p:cNvSpPr>
          <p:nvPr/>
        </p:nvSpPr>
        <p:spPr>
          <a:xfrm>
            <a:off x="6012160" y="1988840"/>
            <a:ext cx="2951684" cy="3394720"/>
          </a:xfrm>
          <a:prstGeom prst="rect">
            <a:avLst/>
          </a:prstGeom>
        </p:spPr>
        <p:txBody>
          <a:bodyPr/>
          <a:lstStyle>
            <a:lvl1pPr marL="342900" indent="-342900" algn="l" rtl="0" eaLnBrk="1" fontAlgn="base" hangingPunct="1">
              <a:spcBef>
                <a:spcPct val="20000"/>
              </a:spcBef>
              <a:spcAft>
                <a:spcPct val="0"/>
              </a:spcAft>
              <a:buClr>
                <a:srgbClr val="123D6B"/>
              </a:buClr>
              <a:buChar char="•"/>
              <a:defRPr sz="2700">
                <a:solidFill>
                  <a:srgbClr val="123D6B"/>
                </a:solidFill>
                <a:latin typeface="+mn-lt"/>
                <a:ea typeface="+mn-ea"/>
                <a:cs typeface="+mn-cs"/>
              </a:defRPr>
            </a:lvl1pPr>
            <a:lvl2pPr marL="742950" indent="-285750" algn="l" rtl="0" eaLnBrk="1" fontAlgn="base" hangingPunct="1">
              <a:spcBef>
                <a:spcPct val="20000"/>
              </a:spcBef>
              <a:spcAft>
                <a:spcPct val="0"/>
              </a:spcAft>
              <a:buClr>
                <a:srgbClr val="123D6B"/>
              </a:buClr>
              <a:buChar char="–"/>
              <a:defRPr sz="2000">
                <a:solidFill>
                  <a:srgbClr val="123D6B"/>
                </a:solidFill>
                <a:latin typeface="+mn-lt"/>
              </a:defRPr>
            </a:lvl2pPr>
            <a:lvl3pPr marL="1143000" indent="-228600" algn="l" rtl="0" eaLnBrk="1" fontAlgn="base" hangingPunct="1">
              <a:spcBef>
                <a:spcPct val="20000"/>
              </a:spcBef>
              <a:spcAft>
                <a:spcPct val="0"/>
              </a:spcAft>
              <a:buClr>
                <a:srgbClr val="123D6B"/>
              </a:buClr>
              <a:buChar char="•"/>
              <a:defRPr sz="1600">
                <a:solidFill>
                  <a:srgbClr val="123D6B"/>
                </a:solidFill>
                <a:latin typeface="+mn-lt"/>
              </a:defRPr>
            </a:lvl3pPr>
            <a:lvl4pPr marL="1600200" indent="-228600" algn="l" rtl="0" eaLnBrk="1" fontAlgn="base" hangingPunct="1">
              <a:spcBef>
                <a:spcPct val="20000"/>
              </a:spcBef>
              <a:spcAft>
                <a:spcPct val="0"/>
              </a:spcAft>
              <a:buClr>
                <a:srgbClr val="123D6B"/>
              </a:buClr>
              <a:buChar char="–"/>
              <a:defRPr sz="1600">
                <a:solidFill>
                  <a:srgbClr val="123D6B"/>
                </a:solidFill>
                <a:latin typeface="+mn-lt"/>
              </a:defRPr>
            </a:lvl4pPr>
            <a:lvl5pPr marL="2057400" indent="-228600" algn="l" rtl="0" eaLnBrk="1" fontAlgn="base" hangingPunct="1">
              <a:spcBef>
                <a:spcPct val="20000"/>
              </a:spcBef>
              <a:spcAft>
                <a:spcPct val="0"/>
              </a:spcAft>
              <a:buClr>
                <a:srgbClr val="123D6B"/>
              </a:buClr>
              <a:buChar char="»"/>
              <a:defRPr sz="1600">
                <a:solidFill>
                  <a:srgbClr val="123D6B"/>
                </a:solidFill>
                <a:latin typeface="+mn-lt"/>
              </a:defRPr>
            </a:lvl5pPr>
            <a:lvl6pPr marL="2514600" indent="-228600" algn="l" rtl="0" eaLnBrk="1" fontAlgn="base" hangingPunct="1">
              <a:spcBef>
                <a:spcPct val="20000"/>
              </a:spcBef>
              <a:spcAft>
                <a:spcPct val="0"/>
              </a:spcAft>
              <a:buClr>
                <a:srgbClr val="123D6B"/>
              </a:buClr>
              <a:buChar char="»"/>
              <a:defRPr sz="1600" b="1">
                <a:solidFill>
                  <a:srgbClr val="123D6B"/>
                </a:solidFill>
                <a:latin typeface="+mn-lt"/>
              </a:defRPr>
            </a:lvl6pPr>
            <a:lvl7pPr marL="2971800" indent="-228600" algn="l" rtl="0" eaLnBrk="1" fontAlgn="base" hangingPunct="1">
              <a:spcBef>
                <a:spcPct val="20000"/>
              </a:spcBef>
              <a:spcAft>
                <a:spcPct val="0"/>
              </a:spcAft>
              <a:buClr>
                <a:srgbClr val="123D6B"/>
              </a:buClr>
              <a:buChar char="»"/>
              <a:defRPr sz="1600" b="1">
                <a:solidFill>
                  <a:srgbClr val="123D6B"/>
                </a:solidFill>
                <a:latin typeface="+mn-lt"/>
              </a:defRPr>
            </a:lvl7pPr>
            <a:lvl8pPr marL="3429000" indent="-228600" algn="l" rtl="0" eaLnBrk="1" fontAlgn="base" hangingPunct="1">
              <a:spcBef>
                <a:spcPct val="20000"/>
              </a:spcBef>
              <a:spcAft>
                <a:spcPct val="0"/>
              </a:spcAft>
              <a:buClr>
                <a:srgbClr val="123D6B"/>
              </a:buClr>
              <a:buChar char="»"/>
              <a:defRPr sz="1600" b="1">
                <a:solidFill>
                  <a:srgbClr val="123D6B"/>
                </a:solidFill>
                <a:latin typeface="+mn-lt"/>
              </a:defRPr>
            </a:lvl8pPr>
            <a:lvl9pPr marL="3886200" indent="-228600" algn="l" rtl="0" eaLnBrk="1" fontAlgn="base" hangingPunct="1">
              <a:spcBef>
                <a:spcPct val="20000"/>
              </a:spcBef>
              <a:spcAft>
                <a:spcPct val="0"/>
              </a:spcAft>
              <a:buClr>
                <a:srgbClr val="123D6B"/>
              </a:buClr>
              <a:buChar char="»"/>
              <a:defRPr sz="1600" b="1">
                <a:solidFill>
                  <a:srgbClr val="123D6B"/>
                </a:solidFill>
                <a:latin typeface="+mn-lt"/>
              </a:defRPr>
            </a:lvl9pPr>
          </a:lstStyle>
          <a:p>
            <a:pPr marL="0" indent="0">
              <a:buNone/>
            </a:pPr>
            <a:r>
              <a:rPr lang="en-GB" sz="2400" kern="0" dirty="0" smtClean="0"/>
              <a:t>Conversions needed for</a:t>
            </a:r>
          </a:p>
          <a:p>
            <a:pPr lvl="1"/>
            <a:r>
              <a:rPr lang="en-GB" kern="0" dirty="0" smtClean="0"/>
              <a:t>government</a:t>
            </a:r>
          </a:p>
          <a:p>
            <a:pPr lvl="1"/>
            <a:r>
              <a:rPr lang="en-GB" kern="0" dirty="0" smtClean="0"/>
              <a:t>investment</a:t>
            </a:r>
          </a:p>
          <a:p>
            <a:pPr lvl="1"/>
            <a:r>
              <a:rPr lang="en-GB" kern="0" dirty="0" smtClean="0"/>
              <a:t>household spending</a:t>
            </a:r>
            <a:endParaRPr lang="en-GB" kern="0" dirty="0"/>
          </a:p>
          <a:p>
            <a:pPr marL="457200" lvl="1" indent="0">
              <a:buNone/>
            </a:pPr>
            <a:endParaRPr lang="en-GB" kern="0" dirty="0" smtClean="0"/>
          </a:p>
        </p:txBody>
      </p:sp>
    </p:spTree>
    <p:extLst>
      <p:ext uri="{BB962C8B-B14F-4D97-AF65-F5344CB8AC3E}">
        <p14:creationId xmlns:p14="http://schemas.microsoft.com/office/powerpoint/2010/main" xmlns="" val="353006237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Summary</a:t>
            </a:r>
            <a:endParaRPr lang="en-GB" dirty="0"/>
          </a:p>
        </p:txBody>
      </p:sp>
      <p:sp>
        <p:nvSpPr>
          <p:cNvPr id="3" name="Content Placeholder 2"/>
          <p:cNvSpPr>
            <a:spLocks noGrp="1"/>
          </p:cNvSpPr>
          <p:nvPr>
            <p:ph idx="1"/>
          </p:nvPr>
        </p:nvSpPr>
        <p:spPr/>
        <p:txBody>
          <a:bodyPr/>
          <a:lstStyle/>
          <a:p>
            <a:r>
              <a:rPr lang="en-GB" dirty="0" smtClean="0"/>
              <a:t>System of National Accounts provides a fundamental framework for macroeconomic models</a:t>
            </a:r>
          </a:p>
          <a:p>
            <a:endParaRPr lang="en-GB" dirty="0" smtClean="0"/>
          </a:p>
          <a:p>
            <a:r>
              <a:rPr lang="en-GB" dirty="0" smtClean="0"/>
              <a:t>Linking SNA</a:t>
            </a:r>
            <a:r>
              <a:rPr lang="en-GB" dirty="0"/>
              <a:t> </a:t>
            </a:r>
            <a:r>
              <a:rPr lang="en-GB" dirty="0" smtClean="0"/>
              <a:t>and IO to macroeconomic models produces a dynamic, completed, complex yet consistent tool for forecasting and scenario analysis</a:t>
            </a:r>
          </a:p>
          <a:p>
            <a:endParaRPr lang="en-GB" dirty="0" smtClean="0"/>
          </a:p>
          <a:p>
            <a:r>
              <a:rPr lang="en-GB" dirty="0" smtClean="0"/>
              <a:t>Macroeconomic</a:t>
            </a:r>
            <a:r>
              <a:rPr lang="en-GB" dirty="0" smtClean="0">
                <a:solidFill>
                  <a:srgbClr val="FF0000"/>
                </a:solidFill>
              </a:rPr>
              <a:t> </a:t>
            </a:r>
            <a:r>
              <a:rPr lang="en-GB" dirty="0" smtClean="0"/>
              <a:t>modelling  = IO + additional analysis</a:t>
            </a:r>
          </a:p>
          <a:p>
            <a:endParaRPr lang="en-GB" dirty="0"/>
          </a:p>
        </p:txBody>
      </p:sp>
    </p:spTree>
    <p:extLst>
      <p:ext uri="{BB962C8B-B14F-4D97-AF65-F5344CB8AC3E}">
        <p14:creationId xmlns:p14="http://schemas.microsoft.com/office/powerpoint/2010/main" xmlns="" val="773470910"/>
      </p:ext>
    </p:extLst>
  </p:cSld>
  <p:clrMapOvr>
    <a:masterClrMapping/>
  </p:clrMapOvr>
  <p:timing>
    <p:tnLst>
      <p:par>
        <p:cTn id="1" dur="indefinite" restart="never" nodeType="tmRoot"/>
      </p:par>
    </p:tnLst>
  </p:timing>
</p:sld>
</file>

<file path=ppt/theme/theme1.xml><?xml version="1.0" encoding="utf-8"?>
<a:theme xmlns:a="http://schemas.openxmlformats.org/drawingml/2006/main" name="_CE Master">
  <a:themeElements>
    <a:clrScheme name="CE template fracta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E template fract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003966"/>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GB" sz="16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solidFill>
            <a:srgbClr val="003966"/>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GB" sz="16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CE template fracta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E template fractal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E template fractal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E template fractal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E template fracta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E template fracta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E template fracta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_CE Master</Template>
  <TotalTime>8003</TotalTime>
  <Words>2007</Words>
  <Application>Microsoft Office PowerPoint</Application>
  <PresentationFormat>화면 슬라이드 쇼(4:3)</PresentationFormat>
  <Paragraphs>522</Paragraphs>
  <Slides>31</Slides>
  <Notes>31</Notes>
  <HiddenSlides>0</HiddenSlides>
  <MMClips>0</MMClips>
  <ScaleCrop>false</ScaleCrop>
  <HeadingPairs>
    <vt:vector size="4" baseType="variant">
      <vt:variant>
        <vt:lpstr>테마</vt:lpstr>
      </vt:variant>
      <vt:variant>
        <vt:i4>1</vt:i4>
      </vt:variant>
      <vt:variant>
        <vt:lpstr>슬라이드 제목</vt:lpstr>
      </vt:variant>
      <vt:variant>
        <vt:i4>31</vt:i4>
      </vt:variant>
    </vt:vector>
  </HeadingPairs>
  <TitlesOfParts>
    <vt:vector size="32" baseType="lpstr">
      <vt:lpstr>_CE Master</vt:lpstr>
      <vt:lpstr>Introduction to the Economics of Macro-Modelling and the System of National Accounts</vt:lpstr>
      <vt:lpstr>Overview</vt:lpstr>
      <vt:lpstr>Introduction to macroeconomic modelling</vt:lpstr>
      <vt:lpstr>Economic models, macroeconomic models and macrosectoral models</vt:lpstr>
      <vt:lpstr>Why use macro-economic models?</vt:lpstr>
      <vt:lpstr>Case example</vt:lpstr>
      <vt:lpstr>Case example (cont.)</vt:lpstr>
      <vt:lpstr>슬라이드 8</vt:lpstr>
      <vt:lpstr>History of the National Accounts</vt:lpstr>
      <vt:lpstr>System of National Accounts</vt:lpstr>
      <vt:lpstr>SNA Concepts in Macro-Modelling</vt:lpstr>
      <vt:lpstr>Gross Domestic Product (GDP)</vt:lpstr>
      <vt:lpstr>Components of GDP in Expenditure Approach </vt:lpstr>
      <vt:lpstr>Components of GDP in Income Approach </vt:lpstr>
      <vt:lpstr>Components of GDP in Production Approach</vt:lpstr>
      <vt:lpstr>GDP Limitations</vt:lpstr>
      <vt:lpstr>Input-Output Tables</vt:lpstr>
      <vt:lpstr>Input-Output Tables</vt:lpstr>
      <vt:lpstr>슬라이드 19</vt:lpstr>
      <vt:lpstr>Input-Output Analysis</vt:lpstr>
      <vt:lpstr>Multipliers</vt:lpstr>
      <vt:lpstr>Output Multiplier Type I </vt:lpstr>
      <vt:lpstr>Output Multiplier Type II</vt:lpstr>
      <vt:lpstr>Output Multiplier</vt:lpstr>
      <vt:lpstr>Value Added Multiplier</vt:lpstr>
      <vt:lpstr>Value Added Multiplier Type I </vt:lpstr>
      <vt:lpstr>Other Type of Multipliers</vt:lpstr>
      <vt:lpstr>Is I-O Analysis Enough?</vt:lpstr>
      <vt:lpstr>Some National Accounts Data Sources</vt:lpstr>
      <vt:lpstr>슬라이드 30</vt:lpstr>
      <vt:lpstr>Summary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to the economics of the Idiom model - E3ME</dc:title>
  <dc:subject>CE</dc:subject>
  <dc:creator>Alicia Higson</dc:creator>
  <cp:lastModifiedBy>KEI 김이진</cp:lastModifiedBy>
  <cp:revision>196</cp:revision>
  <cp:lastPrinted>2014-03-19T15:36:45Z</cp:lastPrinted>
  <dcterms:created xsi:type="dcterms:W3CDTF">2013-03-21T17:00:02Z</dcterms:created>
  <dcterms:modified xsi:type="dcterms:W3CDTF">2015-09-02T00:45:51Z</dcterms:modified>
</cp:coreProperties>
</file>