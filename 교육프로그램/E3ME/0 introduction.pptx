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3" r:id="rId2"/>
    <p:sldId id="274" r:id="rId3"/>
    <p:sldId id="275" r:id="rId4"/>
    <p:sldId id="276" r:id="rId5"/>
    <p:sldId id="277" r:id="rId6"/>
  </p:sldIdLst>
  <p:sldSz cx="9144000" cy="6858000" type="screen4x3"/>
  <p:notesSz cx="7086600" cy="10223500"/>
  <p:defaultTextStyle>
    <a:defPPr>
      <a:defRPr lang="en-GB"/>
    </a:defPPr>
    <a:lvl1pPr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966"/>
    <a:srgbClr val="00CC66"/>
    <a:srgbClr val="0066FF"/>
    <a:srgbClr val="ACD5FA"/>
    <a:srgbClr val="00D9FF"/>
    <a:srgbClr val="000099"/>
    <a:srgbClr val="85AECD"/>
    <a:srgbClr val="63C4EF"/>
    <a:srgbClr val="34B2EA"/>
    <a:srgbClr val="1386B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3" autoAdjust="0"/>
    <p:restoredTop sz="95178" autoAdjust="0"/>
  </p:normalViewPr>
  <p:slideViewPr>
    <p:cSldViewPr>
      <p:cViewPr varScale="1">
        <p:scale>
          <a:sx n="105" d="100"/>
          <a:sy n="105" d="100"/>
        </p:scale>
        <p:origin x="-33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3078" y="96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defTabSz="989013">
              <a:defRPr sz="1300" b="1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6375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 b="1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defTabSz="989013">
              <a:defRPr sz="1300" b="1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6375" y="9712325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 b="1"/>
            </a:lvl1pPr>
          </a:lstStyle>
          <a:p>
            <a:fld id="{D8365A7D-569D-44E6-9B9B-5614E5050D3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4945097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defTabSz="989013">
              <a:spcBef>
                <a:spcPct val="0"/>
              </a:spcBef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algn="r" defTabSz="989013">
              <a:spcBef>
                <a:spcPct val="0"/>
              </a:spcBef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766763"/>
            <a:ext cx="5111750" cy="38338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6163"/>
            <a:ext cx="5670550" cy="46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0738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defTabSz="989013">
              <a:spcBef>
                <a:spcPct val="0"/>
              </a:spcBef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4788" y="9710738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algn="r" defTabSz="989013">
              <a:spcBef>
                <a:spcPct val="0"/>
              </a:spcBef>
              <a:defRPr sz="1300"/>
            </a:lvl1pPr>
          </a:lstStyle>
          <a:p>
            <a:fld id="{DE3A532D-40ED-4248-94BE-8131414BADC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077324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89013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89013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89013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89013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89013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89013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89013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89013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89013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C1C404B-0A94-4E2F-BEBA-948BED962C6C}" type="slidenum">
              <a:rPr lang="en-GB" sz="1300" smtClean="0"/>
              <a:pPr/>
              <a:t>1</a:t>
            </a:fld>
            <a:endParaRPr lang="en-GB" sz="130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dirty="0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02806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5B20AE-35F3-45CA-AE17-1DA026086EA7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950835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Mention</a:t>
            </a:r>
            <a:r>
              <a:rPr lang="en-GB" baseline="0" dirty="0" smtClean="0"/>
              <a:t> who the main clients are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5B20AE-35F3-45CA-AE17-1DA026086EA7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922098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Mention</a:t>
            </a:r>
            <a:r>
              <a:rPr lang="en-GB" baseline="0" dirty="0" smtClean="0"/>
              <a:t> who the main clients are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5B20AE-35F3-45CA-AE17-1DA026086EA7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796946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9" descr="slide fractal b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80975"/>
            <a:ext cx="7858125" cy="667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0"/>
          <p:cNvSpPr>
            <a:spLocks noChangeArrowheads="1"/>
          </p:cNvSpPr>
          <p:nvPr/>
        </p:nvSpPr>
        <p:spPr bwMode="auto">
          <a:xfrm>
            <a:off x="217488" y="241300"/>
            <a:ext cx="8686800" cy="6400800"/>
          </a:xfrm>
          <a:prstGeom prst="rect">
            <a:avLst/>
          </a:prstGeom>
          <a:noFill/>
          <a:ln w="15875">
            <a:solidFill>
              <a:srgbClr val="6399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>
                    <a:alpha val="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3113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971550" y="1916113"/>
            <a:ext cx="7772400" cy="1400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GB" noProof="0" dirty="0" smtClean="0"/>
          </a:p>
        </p:txBody>
      </p:sp>
      <p:sp>
        <p:nvSpPr>
          <p:cNvPr id="3114" name="Rectangle 4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71550" y="3357563"/>
            <a:ext cx="7056438" cy="1066800"/>
          </a:xfrm>
        </p:spPr>
        <p:txBody>
          <a:bodyPr/>
          <a:lstStyle>
            <a:lvl1pPr marL="0" indent="0">
              <a:buFontTx/>
              <a:buNone/>
              <a:defRPr sz="2400" b="0"/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en-GB" noProof="0" smtClean="0"/>
          </a:p>
        </p:txBody>
      </p:sp>
      <p:sp>
        <p:nvSpPr>
          <p:cNvPr id="7" name="Rectangle 43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5508625" y="6165850"/>
            <a:ext cx="3235325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123D6B"/>
                </a:solidFill>
                <a:latin typeface="+mn-lt"/>
              </a:defRPr>
            </a:lvl1pPr>
          </a:lstStyle>
          <a:p>
            <a:pPr>
              <a:defRPr/>
            </a:pPr>
            <a:fld id="{26C5B1F8-D667-413D-87D8-D5401D22D17A}" type="datetime2">
              <a:rPr lang="en-GB"/>
              <a:pPr>
                <a:defRPr/>
              </a:pPr>
              <a:t>Wednesday, 02 September 2015</a:t>
            </a:fld>
            <a:endParaRPr lang="en-GB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906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1E50935-1F4B-4F2B-AA2D-720A4CEAE4AC}" type="slidenum">
              <a:rPr lang="en-GB"/>
              <a:pPr/>
              <a:t>‹#›</a:t>
            </a:fld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72200" y="366710"/>
            <a:ext cx="2511872" cy="59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06716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34CA3C-8277-4095-BEE1-9173CC75D60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0298273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3D7021-93C3-4B72-A313-64418C9727A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962011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6764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6764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AEDFAF-C440-42FB-87DE-F268809DC94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81251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834AA5-1901-46D0-985C-ED8F63F858F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1910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25ECA8-C72F-4980-B38C-8591975B1A0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50667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A9B736-00FB-479E-974D-21694B5F318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840743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0C914F-F243-49B6-9BBF-787C123EA34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285616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8D710F-D3F2-4FB7-93BE-998402DEB04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1562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E73F1A-729F-4BDA-A5BC-2F8CEC4BD33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274575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7638" y="304800"/>
            <a:ext cx="196215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04800"/>
            <a:ext cx="573405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F8D1D9-7AE8-431D-9172-2DD182D4469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859002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2" descr="slide fractal front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74625"/>
            <a:ext cx="7858125" cy="667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9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304800"/>
            <a:ext cx="7848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GB" smtClean="0"/>
          </a:p>
        </p:txBody>
      </p:sp>
      <p:sp>
        <p:nvSpPr>
          <p:cNvPr id="1028" name="Rectangle 3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676400"/>
            <a:ext cx="7848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smtClean="0"/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0113" y="6172200"/>
            <a:ext cx="1766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8F2FF93D-E87F-48E2-B7E7-DFAC2B411425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030" name="Rectangle 41"/>
          <p:cNvSpPr>
            <a:spLocks noChangeArrowheads="1"/>
          </p:cNvSpPr>
          <p:nvPr/>
        </p:nvSpPr>
        <p:spPr bwMode="auto">
          <a:xfrm>
            <a:off x="217488" y="241300"/>
            <a:ext cx="8686800" cy="6400800"/>
          </a:xfrm>
          <a:prstGeom prst="rect">
            <a:avLst/>
          </a:prstGeom>
          <a:noFill/>
          <a:ln w="15875">
            <a:solidFill>
              <a:srgbClr val="6399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>
                    <a:alpha val="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1031" name="Line 43"/>
          <p:cNvSpPr>
            <a:spLocks noChangeShapeType="1"/>
          </p:cNvSpPr>
          <p:nvPr/>
        </p:nvSpPr>
        <p:spPr bwMode="auto">
          <a:xfrm>
            <a:off x="611188" y="1484313"/>
            <a:ext cx="7848600" cy="0"/>
          </a:xfrm>
          <a:prstGeom prst="line">
            <a:avLst/>
          </a:prstGeom>
          <a:noFill/>
          <a:ln w="50800">
            <a:solidFill>
              <a:srgbClr val="6399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pic>
        <p:nvPicPr>
          <p:cNvPr id="1032" name="Picture 44" descr="cambridge_econometrics_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24713" y="6230938"/>
            <a:ext cx="1595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123D6B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123D6B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123D6B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123D6B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•"/>
        <a:defRPr sz="2700">
          <a:solidFill>
            <a:srgbClr val="123D6B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–"/>
        <a:defRPr sz="2000">
          <a:solidFill>
            <a:srgbClr val="123D6B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•"/>
        <a:defRPr sz="1600">
          <a:solidFill>
            <a:srgbClr val="123D6B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–"/>
        <a:defRPr sz="1600">
          <a:solidFill>
            <a:srgbClr val="123D6B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>
          <a:solidFill>
            <a:srgbClr val="123D6B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 b="1">
          <a:solidFill>
            <a:srgbClr val="123D6B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 b="1">
          <a:solidFill>
            <a:srgbClr val="123D6B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 b="1">
          <a:solidFill>
            <a:srgbClr val="123D6B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 b="1">
          <a:solidFill>
            <a:srgbClr val="123D6B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sl.panoramio.com/photo/34994872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1550" y="2060575"/>
            <a:ext cx="7772400" cy="1400175"/>
          </a:xfrm>
        </p:spPr>
        <p:txBody>
          <a:bodyPr/>
          <a:lstStyle/>
          <a:p>
            <a:r>
              <a:rPr lang="en-GB" dirty="0" smtClean="0"/>
              <a:t>Introduction to Cambridge Econometrics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 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6444208" y="6172200"/>
            <a:ext cx="24711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r>
              <a:rPr lang="en-GB" sz="1400" dirty="0" smtClean="0">
                <a:solidFill>
                  <a:srgbClr val="123D6B"/>
                </a:solidFill>
                <a:latin typeface="Arial" charset="0"/>
              </a:rPr>
              <a:t>September 2015</a:t>
            </a:r>
            <a:endParaRPr lang="en-GB" sz="1400" dirty="0">
              <a:solidFill>
                <a:srgbClr val="123D6B"/>
              </a:solidFill>
              <a:latin typeface="Arial" charset="0"/>
            </a:endParaRPr>
          </a:p>
        </p:txBody>
      </p:sp>
      <p:sp>
        <p:nvSpPr>
          <p:cNvPr id="3078" name="Text Box 7"/>
          <p:cNvSpPr txBox="1">
            <a:spLocks noChangeArrowheads="1"/>
          </p:cNvSpPr>
          <p:nvPr/>
        </p:nvSpPr>
        <p:spPr bwMode="auto">
          <a:xfrm>
            <a:off x="999829" y="5175175"/>
            <a:ext cx="72009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400" dirty="0" smtClean="0">
                <a:solidFill>
                  <a:srgbClr val="003966"/>
                </a:solidFill>
                <a:latin typeface="Arial" charset="0"/>
              </a:rPr>
              <a:t>Hector Pollitt</a:t>
            </a:r>
            <a:endParaRPr lang="en-GB" sz="2400" dirty="0">
              <a:solidFill>
                <a:srgbClr val="003966"/>
              </a:solidFill>
              <a:latin typeface="Arial" charset="0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/>
        </p:nvSpPr>
        <p:spPr bwMode="auto">
          <a:xfrm>
            <a:off x="972344" y="3573016"/>
            <a:ext cx="70564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FontTx/>
              <a:buNone/>
              <a:defRPr sz="2400" b="0">
                <a:solidFill>
                  <a:srgbClr val="123D6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–"/>
              <a:defRPr sz="2000" b="1">
                <a:solidFill>
                  <a:srgbClr val="123D6B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•"/>
              <a:defRPr sz="1600" b="1">
                <a:solidFill>
                  <a:srgbClr val="123D6B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–"/>
              <a:defRPr sz="1600" b="1">
                <a:solidFill>
                  <a:srgbClr val="123D6B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9pPr>
          </a:lstStyle>
          <a:p>
            <a:pPr>
              <a:spcBef>
                <a:spcPct val="50000"/>
              </a:spcBef>
              <a:buClrTx/>
            </a:pPr>
            <a:endParaRPr lang="en-GB" dirty="0" smtClean="0">
              <a:latin typeface="+mj-lt"/>
              <a:cs typeface="Times New Roman" pitchFamily="18" charset="0"/>
            </a:endParaRPr>
          </a:p>
          <a:p>
            <a:r>
              <a:rPr lang="en-GB" dirty="0" smtClean="0">
                <a:latin typeface="+mj-lt"/>
                <a:cs typeface="Times New Roman" pitchFamily="18" charset="0"/>
              </a:rPr>
              <a:t>Cambridge Econometrics training course</a:t>
            </a:r>
          </a:p>
          <a:p>
            <a:r>
              <a:rPr lang="en-GB" dirty="0" smtClean="0">
                <a:latin typeface="+mj-lt"/>
                <a:cs typeface="Times New Roman" pitchFamily="18" charset="0"/>
              </a:rPr>
              <a:t>(presentation not to be made public)</a:t>
            </a:r>
          </a:p>
          <a:p>
            <a:endParaRPr lang="en-GB" dirty="0">
              <a:latin typeface="+mj-lt"/>
              <a:cs typeface="Times New Roman" pitchFamily="18" charset="0"/>
            </a:endParaRPr>
          </a:p>
          <a:p>
            <a:endParaRPr lang="en-GB" dirty="0" smtClean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5995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Background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600472"/>
          </a:xfrm>
        </p:spPr>
        <p:txBody>
          <a:bodyPr/>
          <a:lstStyle/>
          <a:p>
            <a:r>
              <a:rPr lang="en-GB" sz="2600" dirty="0" smtClean="0"/>
              <a:t>Cambridge Econometrics (CE)</a:t>
            </a:r>
          </a:p>
          <a:p>
            <a:pPr lvl="1"/>
            <a:endParaRPr lang="en-GB" dirty="0" smtClean="0"/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611189" y="2348879"/>
            <a:ext cx="3096716" cy="4038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•"/>
              <a:defRPr sz="2700">
                <a:solidFill>
                  <a:srgbClr val="123D6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–"/>
              <a:defRPr sz="2000">
                <a:solidFill>
                  <a:srgbClr val="123D6B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•"/>
              <a:defRPr sz="1600">
                <a:solidFill>
                  <a:srgbClr val="123D6B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–"/>
              <a:defRPr sz="1600">
                <a:solidFill>
                  <a:srgbClr val="123D6B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>
                <a:solidFill>
                  <a:srgbClr val="123D6B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9pPr>
          </a:lstStyle>
          <a:p>
            <a:r>
              <a:rPr lang="en-GB" sz="2600" dirty="0" smtClean="0"/>
              <a:t>History</a:t>
            </a:r>
          </a:p>
          <a:p>
            <a:pPr lvl="1"/>
            <a:r>
              <a:rPr lang="en-GB" sz="1900" dirty="0" smtClean="0"/>
              <a:t>UK forecasting</a:t>
            </a:r>
          </a:p>
          <a:p>
            <a:pPr lvl="1"/>
            <a:r>
              <a:rPr lang="en-GB" sz="1900" dirty="0" smtClean="0"/>
              <a:t>macro-modelling</a:t>
            </a:r>
          </a:p>
          <a:p>
            <a:pPr lvl="1"/>
            <a:r>
              <a:rPr lang="en-GB" sz="1900" dirty="0" smtClean="0"/>
              <a:t>regional modelling</a:t>
            </a:r>
          </a:p>
          <a:p>
            <a:pPr lvl="1"/>
            <a:r>
              <a:rPr lang="en-GB" sz="1900" dirty="0" smtClean="0"/>
              <a:t>E3 linkages</a:t>
            </a:r>
          </a:p>
          <a:p>
            <a:pPr lvl="1"/>
            <a:r>
              <a:rPr lang="en-GB" sz="1900" dirty="0" smtClean="0"/>
              <a:t>European analysis</a:t>
            </a:r>
          </a:p>
          <a:p>
            <a:pPr lvl="1"/>
            <a:r>
              <a:rPr lang="en-GB" sz="1900" dirty="0" smtClean="0"/>
              <a:t>global analysis</a:t>
            </a:r>
          </a:p>
          <a:p>
            <a:pPr lvl="1"/>
            <a:endParaRPr lang="en-GB" dirty="0" smtClean="0"/>
          </a:p>
        </p:txBody>
      </p:sp>
      <p:pic>
        <p:nvPicPr>
          <p:cNvPr id="1026" name="Picture 2" descr="Cambridge Econometrics, Cambridge, U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39580" y="2374485"/>
            <a:ext cx="4835251" cy="362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9552" y="6309320"/>
            <a:ext cx="496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3966"/>
                </a:solidFill>
                <a:latin typeface="+mn-lt"/>
                <a:hlinkClick r:id="rId4"/>
              </a:rPr>
              <a:t>https://</a:t>
            </a:r>
            <a:r>
              <a:rPr lang="en-GB" dirty="0" smtClean="0">
                <a:solidFill>
                  <a:srgbClr val="003966"/>
                </a:solidFill>
                <a:latin typeface="+mn-lt"/>
                <a:hlinkClick r:id="rId4"/>
              </a:rPr>
              <a:t>ssl.panoramio.com/photo/34994872</a:t>
            </a:r>
            <a:r>
              <a:rPr lang="en-GB" dirty="0" smtClean="0">
                <a:solidFill>
                  <a:srgbClr val="003966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54907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8066" y="3491952"/>
            <a:ext cx="1008112" cy="1440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386821" y="3491952"/>
            <a:ext cx="1008112" cy="14401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394933" y="3490750"/>
            <a:ext cx="1008112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3403045" y="3490750"/>
            <a:ext cx="1008112" cy="1440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411157" y="3491952"/>
            <a:ext cx="1008112" cy="14401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6427381" y="3491952"/>
            <a:ext cx="1008112" cy="14401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5419269" y="3491952"/>
            <a:ext cx="1008112" cy="14401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119588" y="3280593"/>
            <a:ext cx="566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1975</a:t>
            </a:r>
            <a:endParaRPr lang="en-GB" sz="1200" dirty="0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594733" y="1403172"/>
            <a:ext cx="0" cy="2160788"/>
          </a:xfrm>
          <a:prstGeom prst="line">
            <a:avLst/>
          </a:prstGeom>
          <a:ln>
            <a:headEnd type="oval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3978" y="1006666"/>
            <a:ext cx="1663765" cy="2092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000" b="1" dirty="0" smtClean="0"/>
              <a:t>1978</a:t>
            </a:r>
            <a:r>
              <a:rPr lang="en-GB" sz="1000" dirty="0" smtClean="0"/>
              <a:t> Spin-off from the University of Cambridge Department of Applied Economics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O</a:t>
            </a:r>
            <a:r>
              <a:rPr lang="en-GB" sz="1000" dirty="0" smtClean="0"/>
              <a:t>rigins in the </a:t>
            </a:r>
            <a:r>
              <a:rPr lang="en-GB" sz="1000" b="1" dirty="0" smtClean="0"/>
              <a:t>‘Growth Project’ </a:t>
            </a:r>
            <a:r>
              <a:rPr lang="en-GB" sz="1000" dirty="0" smtClean="0"/>
              <a:t>led by Nobel Laureate Prof Sir Richard Stone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 smtClean="0"/>
              <a:t>pioneered the development of </a:t>
            </a:r>
            <a:r>
              <a:rPr lang="en-GB" sz="1000" b="1" dirty="0" smtClean="0"/>
              <a:t>detailed sectoral modelling </a:t>
            </a:r>
            <a:r>
              <a:rPr lang="en-GB" sz="1000" dirty="0" smtClean="0"/>
              <a:t>in an input-output framework </a:t>
            </a:r>
            <a:r>
              <a:rPr lang="en-GB" sz="1000" b="1" dirty="0" smtClean="0"/>
              <a:t>MDM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824" y="3214953"/>
            <a:ext cx="566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1980</a:t>
            </a:r>
            <a:endParaRPr lang="en-GB" sz="12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1386821" y="3563960"/>
            <a:ext cx="0" cy="2231594"/>
          </a:xfrm>
          <a:prstGeom prst="line">
            <a:avLst/>
          </a:prstGeom>
          <a:ln>
            <a:headEnd type="oval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20825" y="3635968"/>
            <a:ext cx="566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1985</a:t>
            </a:r>
            <a:endParaRPr lang="en-GB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173854" y="3214953"/>
            <a:ext cx="566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1990</a:t>
            </a:r>
            <a:endParaRPr lang="en-GB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4127803" y="3634766"/>
            <a:ext cx="566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1995</a:t>
            </a:r>
            <a:endParaRPr lang="en-GB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5135915" y="3214953"/>
            <a:ext cx="566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2000</a:t>
            </a:r>
            <a:endParaRPr lang="en-GB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6144027" y="3675283"/>
            <a:ext cx="566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2005</a:t>
            </a:r>
            <a:endParaRPr lang="en-GB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7152139" y="3214953"/>
            <a:ext cx="566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2010</a:t>
            </a:r>
            <a:endParaRPr lang="en-GB" sz="1200" dirty="0"/>
          </a:p>
        </p:txBody>
      </p:sp>
      <p:sp>
        <p:nvSpPr>
          <p:cNvPr id="35" name="Rectangle 34"/>
          <p:cNvSpPr/>
          <p:nvPr/>
        </p:nvSpPr>
        <p:spPr>
          <a:xfrm>
            <a:off x="7435493" y="3490750"/>
            <a:ext cx="1008112" cy="14401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5923325" y="1401970"/>
            <a:ext cx="0" cy="2160788"/>
          </a:xfrm>
          <a:prstGeom prst="line">
            <a:avLst/>
          </a:prstGeom>
          <a:ln>
            <a:headEnd type="oval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18181" y="1092936"/>
            <a:ext cx="1307205" cy="2400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000" b="1" dirty="0" smtClean="0"/>
              <a:t>2003 CE 25th anniversary.                      </a:t>
            </a:r>
            <a:r>
              <a:rPr lang="en-GB" sz="1000" dirty="0" smtClean="0"/>
              <a:t>Terry Barker sets up charitable trust fund to ensure CE's independence and principles. </a:t>
            </a:r>
          </a:p>
          <a:p>
            <a:r>
              <a:rPr lang="en-GB" sz="1000" b="1" dirty="0" smtClean="0"/>
              <a:t>New Thinking in Economics:</a:t>
            </a:r>
          </a:p>
          <a:p>
            <a:r>
              <a:rPr lang="en-GB" sz="1000" dirty="0" smtClean="0"/>
              <a:t>‘to advance education in the field of economics for the benefit of the public’</a:t>
            </a:r>
          </a:p>
          <a:p>
            <a:endParaRPr lang="en-GB" sz="1000" dirty="0" smtClean="0"/>
          </a:p>
          <a:p>
            <a:endParaRPr lang="en-GB" sz="1000" dirty="0" smtClean="0"/>
          </a:p>
        </p:txBody>
      </p:sp>
      <p:sp>
        <p:nvSpPr>
          <p:cNvPr id="42" name="TextBox 41"/>
          <p:cNvSpPr txBox="1"/>
          <p:nvPr/>
        </p:nvSpPr>
        <p:spPr>
          <a:xfrm>
            <a:off x="3879496" y="4991896"/>
            <a:ext cx="1000265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000" b="1" dirty="0" smtClean="0"/>
              <a:t>1993 </a:t>
            </a:r>
            <a:r>
              <a:rPr lang="en-GB" sz="1000" dirty="0" smtClean="0"/>
              <a:t>Start of part-EC funded research project to build </a:t>
            </a:r>
            <a:r>
              <a:rPr lang="en-GB" sz="1000" b="1" dirty="0" smtClean="0"/>
              <a:t>E3ME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8244408" y="3573016"/>
            <a:ext cx="0" cy="2231594"/>
          </a:xfrm>
          <a:prstGeom prst="line">
            <a:avLst/>
          </a:prstGeom>
          <a:ln>
            <a:headEnd type="oval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90051" y="4530231"/>
            <a:ext cx="1222831" cy="263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000" b="1" dirty="0" smtClean="0"/>
              <a:t>Today </a:t>
            </a:r>
            <a:r>
              <a:rPr lang="en-GB" sz="1000" dirty="0" smtClean="0"/>
              <a:t>30 staff based in Cambridge. </a:t>
            </a:r>
            <a:r>
              <a:rPr lang="en-GB" sz="1000" b="1" dirty="0" smtClean="0"/>
              <a:t>International reputation </a:t>
            </a:r>
            <a:r>
              <a:rPr lang="en-GB" sz="1000" dirty="0" smtClean="0"/>
              <a:t>in the application of whole-economy, sectoral modelling, particularly the </a:t>
            </a:r>
            <a:r>
              <a:rPr lang="en-GB" sz="1000" u="sng" dirty="0" smtClean="0"/>
              <a:t>global</a:t>
            </a:r>
            <a:r>
              <a:rPr lang="en-GB" sz="1000" dirty="0" smtClean="0"/>
              <a:t> E3ME model</a:t>
            </a:r>
          </a:p>
          <a:p>
            <a:endParaRPr lang="en-GB" sz="1000" dirty="0" smtClean="0"/>
          </a:p>
          <a:p>
            <a:endParaRPr lang="en-GB" sz="1000" dirty="0" smtClean="0"/>
          </a:p>
          <a:p>
            <a:endParaRPr lang="en-GB" sz="1000" dirty="0" smtClean="0"/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3563888" y="1412228"/>
            <a:ext cx="0" cy="2160788"/>
          </a:xfrm>
          <a:prstGeom prst="line">
            <a:avLst/>
          </a:prstGeom>
          <a:ln>
            <a:headEnd type="oval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907101" y="3573016"/>
            <a:ext cx="0" cy="2231594"/>
          </a:xfrm>
          <a:prstGeom prst="line">
            <a:avLst/>
          </a:prstGeom>
          <a:ln>
            <a:headEnd type="oval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593419" y="1339642"/>
            <a:ext cx="1663765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000" b="1" dirty="0" smtClean="0"/>
              <a:t>Early 1990s </a:t>
            </a:r>
            <a:r>
              <a:rPr lang="en-GB" sz="1000" dirty="0" smtClean="0"/>
              <a:t>Expansion of scope of CE’s work to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 smtClean="0"/>
              <a:t>European Regional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 smtClean="0"/>
              <a:t>UK Energy, Environment and Economy service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 smtClean="0"/>
              <a:t>More tailored project work</a:t>
            </a:r>
          </a:p>
          <a:p>
            <a:r>
              <a:rPr lang="en-GB" sz="1000" dirty="0" smtClean="0"/>
              <a:t>Company grows from  10 to 25 staff.</a:t>
            </a:r>
          </a:p>
        </p:txBody>
      </p:sp>
      <p:cxnSp>
        <p:nvCxnSpPr>
          <p:cNvPr id="72" name="Straight Connector 71"/>
          <p:cNvCxnSpPr/>
          <p:nvPr/>
        </p:nvCxnSpPr>
        <p:spPr>
          <a:xfrm>
            <a:off x="1396177" y="3866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396178" y="4148550"/>
            <a:ext cx="2006867" cy="8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3403335" y="3869374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3457207" y="4148550"/>
            <a:ext cx="1962061" cy="8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5425144" y="3847414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V="1">
            <a:off x="5463686" y="4148550"/>
            <a:ext cx="2852730" cy="8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5425144" y="3847414"/>
            <a:ext cx="0" cy="309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3457207" y="3858394"/>
            <a:ext cx="0" cy="309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5463686" y="3842986"/>
            <a:ext cx="0" cy="309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5520505" y="3938382"/>
            <a:ext cx="301167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i="1" dirty="0" smtClean="0"/>
              <a:t>The move to more consultancy projects </a:t>
            </a:r>
            <a:endParaRPr lang="en-GB" sz="1100" i="1" dirty="0"/>
          </a:p>
        </p:txBody>
      </p:sp>
      <p:sp>
        <p:nvSpPr>
          <p:cNvPr id="97" name="Rectangle 96"/>
          <p:cNvSpPr/>
          <p:nvPr/>
        </p:nvSpPr>
        <p:spPr>
          <a:xfrm>
            <a:off x="3400518" y="3938382"/>
            <a:ext cx="301167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i="1" dirty="0" smtClean="0"/>
              <a:t>Product and model developments</a:t>
            </a:r>
            <a:endParaRPr lang="en-GB" sz="1100" i="1" dirty="0"/>
          </a:p>
        </p:txBody>
      </p:sp>
      <p:sp>
        <p:nvSpPr>
          <p:cNvPr id="98" name="Rectangle 97"/>
          <p:cNvSpPr/>
          <p:nvPr/>
        </p:nvSpPr>
        <p:spPr>
          <a:xfrm>
            <a:off x="1435860" y="3929006"/>
            <a:ext cx="301167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i="1" dirty="0" smtClean="0"/>
              <a:t>Early stage of the company</a:t>
            </a:r>
            <a:endParaRPr lang="en-GB" sz="1100" i="1" dirty="0"/>
          </a:p>
        </p:txBody>
      </p:sp>
      <p:sp>
        <p:nvSpPr>
          <p:cNvPr id="48" name="TextBox 47"/>
          <p:cNvSpPr txBox="1"/>
          <p:nvPr/>
        </p:nvSpPr>
        <p:spPr>
          <a:xfrm>
            <a:off x="1363521" y="4364574"/>
            <a:ext cx="1663765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000" b="1" dirty="0" smtClean="0"/>
              <a:t>1980s </a:t>
            </a:r>
            <a:r>
              <a:rPr lang="en-GB" sz="1000" dirty="0" smtClean="0"/>
              <a:t>CE’s work focuses mainly on annual subscription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 smtClean="0"/>
              <a:t>UK Industrial service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 smtClean="0"/>
              <a:t>UK Regional service</a:t>
            </a:r>
            <a:endParaRPr lang="en-GB" sz="1000" dirty="0"/>
          </a:p>
          <a:p>
            <a:r>
              <a:rPr lang="en-GB" sz="1000" dirty="0" smtClean="0"/>
              <a:t>and selected projects, notably the EC-funded HERMES project (in effect, a predecessor for </a:t>
            </a:r>
            <a:r>
              <a:rPr lang="en-GB" sz="1000" b="1" dirty="0" smtClean="0"/>
              <a:t>E3ME</a:t>
            </a:r>
            <a:r>
              <a:rPr lang="en-GB" sz="10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131780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Your Presenter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4114800"/>
          </a:xfrm>
        </p:spPr>
        <p:txBody>
          <a:bodyPr/>
          <a:lstStyle/>
          <a:p>
            <a:r>
              <a:rPr lang="en-GB" sz="2600" dirty="0" smtClean="0"/>
              <a:t>Heads the International Modelling team at CE and the E3ME model</a:t>
            </a:r>
          </a:p>
          <a:p>
            <a:r>
              <a:rPr lang="en-GB" sz="2600" dirty="0" smtClean="0"/>
              <a:t>An economist by background</a:t>
            </a:r>
          </a:p>
          <a:p>
            <a:r>
              <a:rPr lang="en-GB" sz="2600" dirty="0" smtClean="0"/>
              <a:t>Leads on research/consultancy concerning:</a:t>
            </a:r>
          </a:p>
          <a:p>
            <a:pPr lvl="1"/>
            <a:r>
              <a:rPr lang="en-GB" sz="1900" dirty="0" smtClean="0"/>
              <a:t>energy/climate policy</a:t>
            </a:r>
          </a:p>
          <a:p>
            <a:pPr lvl="1"/>
            <a:r>
              <a:rPr lang="en-GB" sz="1900" dirty="0" smtClean="0"/>
              <a:t>resource efficiency policy</a:t>
            </a:r>
          </a:p>
          <a:p>
            <a:pPr lvl="1"/>
            <a:r>
              <a:rPr lang="en-GB" sz="1900" dirty="0" smtClean="0"/>
              <a:t>labour market analysis and forecasting</a:t>
            </a:r>
          </a:p>
          <a:p>
            <a:pPr lvl="1"/>
            <a:r>
              <a:rPr lang="en-GB" sz="1900" dirty="0" smtClean="0"/>
              <a:t>model review exercises</a:t>
            </a:r>
          </a:p>
          <a:p>
            <a:pPr lvl="1"/>
            <a:r>
              <a:rPr lang="en-GB" sz="1900" dirty="0" smtClean="0"/>
              <a:t>training provision</a:t>
            </a:r>
          </a:p>
          <a:p>
            <a:pPr lvl="1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xmlns="" val="335026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Book…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563888" y="1676400"/>
            <a:ext cx="4594275" cy="4114800"/>
          </a:xfrm>
        </p:spPr>
        <p:txBody>
          <a:bodyPr/>
          <a:lstStyle/>
          <a:p>
            <a:r>
              <a:rPr lang="en-GB" sz="2600" dirty="0" smtClean="0"/>
              <a:t>A set of essays on future climate policy in East Asia, focusing on:</a:t>
            </a:r>
          </a:p>
          <a:p>
            <a:pPr lvl="1"/>
            <a:r>
              <a:rPr lang="en-GB" sz="1900" dirty="0" smtClean="0"/>
              <a:t>the energy system</a:t>
            </a:r>
          </a:p>
          <a:p>
            <a:pPr lvl="1"/>
            <a:r>
              <a:rPr lang="en-GB" sz="1900" dirty="0" smtClean="0"/>
              <a:t>Environmental Tax Reform</a:t>
            </a:r>
          </a:p>
          <a:p>
            <a:pPr lvl="1"/>
            <a:r>
              <a:rPr lang="en-GB" sz="1900" dirty="0" smtClean="0"/>
              <a:t>Sustainable trade</a:t>
            </a:r>
          </a:p>
          <a:p>
            <a:pPr lvl="1"/>
            <a:endParaRPr lang="en-GB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9552" y="1844824"/>
            <a:ext cx="270510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2010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 template fractal">
  <a:themeElements>
    <a:clrScheme name="CE template frac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E template fract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3966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3966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003966"/>
            </a:solidFill>
            <a:latin typeface="+mn-lt"/>
          </a:defRPr>
        </a:defPPr>
      </a:lstStyle>
    </a:txDef>
  </a:objectDefaults>
  <a:extraClrSchemeLst>
    <a:extraClrScheme>
      <a:clrScheme name="CE template frac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E template fracta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_CE Master.potx" id="{B418EDE2-BB5C-49FB-AED5-F6DB2883E30F}" vid="{8E99BD35-CFC4-4866-A4CF-BD53EFB811B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_CE Master</Template>
  <TotalTime>35</TotalTime>
  <Words>318</Words>
  <Application>Microsoft Office PowerPoint</Application>
  <PresentationFormat>화면 슬라이드 쇼(4:3)</PresentationFormat>
  <Paragraphs>66</Paragraphs>
  <Slides>5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CE template fractal</vt:lpstr>
      <vt:lpstr>Introduction to Cambridge Econometrics</vt:lpstr>
      <vt:lpstr>Background</vt:lpstr>
      <vt:lpstr>슬라이드 3</vt:lpstr>
      <vt:lpstr>Your Presenter</vt:lpstr>
      <vt:lpstr>The Book…</vt:lpstr>
    </vt:vector>
  </TitlesOfParts>
  <Company>Cambridge Econometrics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Cambridge Econometrics</dc:title>
  <dc:subject>CE</dc:subject>
  <dc:creator>Hector Pollitt</dc:creator>
  <cp:lastModifiedBy>KEI 김이진</cp:lastModifiedBy>
  <cp:revision>2</cp:revision>
  <dcterms:created xsi:type="dcterms:W3CDTF">2015-08-09T14:23:45Z</dcterms:created>
  <dcterms:modified xsi:type="dcterms:W3CDTF">2015-09-02T00:44:37Z</dcterms:modified>
</cp:coreProperties>
</file>